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63" r:id="rId3"/>
  </p:sldMasterIdLst>
  <p:notesMasterIdLst>
    <p:notesMasterId r:id="rId60"/>
  </p:notesMasterIdLst>
  <p:sldIdLst>
    <p:sldId id="256" r:id="rId4"/>
    <p:sldId id="258" r:id="rId5"/>
    <p:sldId id="259" r:id="rId6"/>
    <p:sldId id="260" r:id="rId7"/>
    <p:sldId id="261" r:id="rId8"/>
    <p:sldId id="262" r:id="rId9"/>
    <p:sldId id="263" r:id="rId10"/>
    <p:sldId id="264" r:id="rId11"/>
    <p:sldId id="265" r:id="rId12"/>
    <p:sldId id="266" r:id="rId13"/>
    <p:sldId id="320" r:id="rId14"/>
    <p:sldId id="257" r:id="rId15"/>
    <p:sldId id="296" r:id="rId16"/>
    <p:sldId id="292" r:id="rId17"/>
    <p:sldId id="297" r:id="rId18"/>
    <p:sldId id="278" r:id="rId19"/>
    <p:sldId id="301" r:id="rId20"/>
    <p:sldId id="302" r:id="rId21"/>
    <p:sldId id="293" r:id="rId22"/>
    <p:sldId id="303" r:id="rId23"/>
    <p:sldId id="304" r:id="rId24"/>
    <p:sldId id="289" r:id="rId25"/>
    <p:sldId id="305" r:id="rId26"/>
    <p:sldId id="285" r:id="rId27"/>
    <p:sldId id="286" r:id="rId28"/>
    <p:sldId id="287" r:id="rId29"/>
    <p:sldId id="269" r:id="rId30"/>
    <p:sldId id="270" r:id="rId31"/>
    <p:sldId id="272" r:id="rId32"/>
    <p:sldId id="294" r:id="rId33"/>
    <p:sldId id="306" r:id="rId34"/>
    <p:sldId id="298" r:id="rId35"/>
    <p:sldId id="299" r:id="rId36"/>
    <p:sldId id="300" r:id="rId37"/>
    <p:sldId id="295" r:id="rId38"/>
    <p:sldId id="274" r:id="rId39"/>
    <p:sldId id="291" r:id="rId40"/>
    <p:sldId id="307" r:id="rId41"/>
    <p:sldId id="308" r:id="rId42"/>
    <p:sldId id="309" r:id="rId43"/>
    <p:sldId id="310" r:id="rId44"/>
    <p:sldId id="311" r:id="rId45"/>
    <p:sldId id="312" r:id="rId46"/>
    <p:sldId id="277" r:id="rId47"/>
    <p:sldId id="313" r:id="rId48"/>
    <p:sldId id="314" r:id="rId49"/>
    <p:sldId id="275" r:id="rId50"/>
    <p:sldId id="267" r:id="rId51"/>
    <p:sldId id="315" r:id="rId52"/>
    <p:sldId id="268" r:id="rId53"/>
    <p:sldId id="316" r:id="rId54"/>
    <p:sldId id="317" r:id="rId55"/>
    <p:sldId id="271" r:id="rId56"/>
    <p:sldId id="318" r:id="rId57"/>
    <p:sldId id="273" r:id="rId58"/>
    <p:sldId id="319" r:id="rId5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7DA8"/>
    <a:srgbClr val="558BB1"/>
    <a:srgbClr val="2B6F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64" autoAdjust="0"/>
    <p:restoredTop sz="72253" autoAdjust="0"/>
  </p:normalViewPr>
  <p:slideViewPr>
    <p:cSldViewPr snapToGrid="0">
      <p:cViewPr varScale="1">
        <p:scale>
          <a:sx n="81" d="100"/>
          <a:sy n="81" d="100"/>
        </p:scale>
        <p:origin x="60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Others</c:v>
                </c:pt>
              </c:strCache>
            </c:strRef>
          </c:tx>
          <c:spPr>
            <a:solidFill>
              <a:srgbClr val="FFD977"/>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lang="zh-CN" sz="16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120K</c:v>
                </c:pt>
                <c:pt idx="1">
                  <c:v>60K</c:v>
                </c:pt>
                <c:pt idx="2">
                  <c:v>20K</c:v>
                </c:pt>
              </c:strCache>
            </c:strRef>
          </c:cat>
          <c:val>
            <c:numRef>
              <c:f>Sheet1!$B$2:$B$4</c:f>
              <c:numCache>
                <c:formatCode>General</c:formatCode>
                <c:ptCount val="3"/>
                <c:pt idx="0">
                  <c:v>6</c:v>
                </c:pt>
                <c:pt idx="1">
                  <c:v>15</c:v>
                </c:pt>
                <c:pt idx="2">
                  <c:v>27</c:v>
                </c:pt>
              </c:numCache>
            </c:numRef>
          </c:val>
          <c:extLst>
            <c:ext xmlns:c16="http://schemas.microsoft.com/office/drawing/2014/chart" uri="{C3380CC4-5D6E-409C-BE32-E72D297353CC}">
              <c16:uniqueId val="{00000000-83D9-4698-BE5D-11660B6A26E0}"/>
            </c:ext>
          </c:extLst>
        </c:ser>
        <c:ser>
          <c:idx val="1"/>
          <c:order val="1"/>
          <c:tx>
            <c:strRef>
              <c:f>Sheet1!$C$1</c:f>
              <c:strCache>
                <c:ptCount val="1"/>
                <c:pt idx="0">
                  <c:v>Linear</c:v>
                </c:pt>
              </c:strCache>
            </c:strRef>
          </c:tx>
          <c:spPr>
            <a:solidFill>
              <a:srgbClr val="03C7FE"/>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lang="zh-CN" sz="16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120K</c:v>
                </c:pt>
                <c:pt idx="1">
                  <c:v>60K</c:v>
                </c:pt>
                <c:pt idx="2">
                  <c:v>20K</c:v>
                </c:pt>
              </c:strCache>
            </c:strRef>
          </c:cat>
          <c:val>
            <c:numRef>
              <c:f>Sheet1!$C$2:$C$4</c:f>
              <c:numCache>
                <c:formatCode>General</c:formatCode>
                <c:ptCount val="3"/>
                <c:pt idx="0">
                  <c:v>12</c:v>
                </c:pt>
                <c:pt idx="1">
                  <c:v>12</c:v>
                </c:pt>
                <c:pt idx="2">
                  <c:v>22</c:v>
                </c:pt>
              </c:numCache>
            </c:numRef>
          </c:val>
          <c:extLst>
            <c:ext xmlns:c16="http://schemas.microsoft.com/office/drawing/2014/chart" uri="{C3380CC4-5D6E-409C-BE32-E72D297353CC}">
              <c16:uniqueId val="{00000001-83D9-4698-BE5D-11660B6A26E0}"/>
            </c:ext>
          </c:extLst>
        </c:ser>
        <c:ser>
          <c:idx val="2"/>
          <c:order val="2"/>
          <c:tx>
            <c:strRef>
              <c:f>Sheet1!$D$1</c:f>
              <c:strCache>
                <c:ptCount val="1"/>
                <c:pt idx="0">
                  <c:v>Attention</c:v>
                </c:pt>
              </c:strCache>
            </c:strRef>
          </c:tx>
          <c:spPr>
            <a:solidFill>
              <a:srgbClr val="FF6150"/>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lang="zh-CN" sz="16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120K</c:v>
                </c:pt>
                <c:pt idx="1">
                  <c:v>60K</c:v>
                </c:pt>
                <c:pt idx="2">
                  <c:v>20K</c:v>
                </c:pt>
              </c:strCache>
            </c:strRef>
          </c:cat>
          <c:val>
            <c:numRef>
              <c:f>Sheet1!$D$2:$D$4</c:f>
              <c:numCache>
                <c:formatCode>General</c:formatCode>
                <c:ptCount val="3"/>
                <c:pt idx="0">
                  <c:v>82</c:v>
                </c:pt>
                <c:pt idx="1">
                  <c:v>73</c:v>
                </c:pt>
                <c:pt idx="2">
                  <c:v>51</c:v>
                </c:pt>
              </c:numCache>
            </c:numRef>
          </c:val>
          <c:extLst>
            <c:ext xmlns:c16="http://schemas.microsoft.com/office/drawing/2014/chart" uri="{C3380CC4-5D6E-409C-BE32-E72D297353CC}">
              <c16:uniqueId val="{00000002-83D9-4698-BE5D-11660B6A26E0}"/>
            </c:ext>
          </c:extLst>
        </c:ser>
        <c:dLbls>
          <c:showLegendKey val="0"/>
          <c:showVal val="1"/>
          <c:showCatName val="0"/>
          <c:showSerName val="0"/>
          <c:showPercent val="0"/>
          <c:showBubbleSize val="0"/>
        </c:dLbls>
        <c:gapWidth val="75"/>
        <c:overlap val="100"/>
        <c:axId val="941413184"/>
        <c:axId val="941414976"/>
      </c:barChart>
      <c:catAx>
        <c:axId val="941413184"/>
        <c:scaling>
          <c:orientation val="minMax"/>
        </c:scaling>
        <c:delete val="0"/>
        <c:axPos val="l"/>
        <c:title>
          <c:tx>
            <c:rich>
              <a:bodyPr rot="-5400000" spcFirstLastPara="1" vertOverflow="ellipsis" vert="horz" wrap="square" anchor="ctr" anchorCtr="1"/>
              <a:lstStyle/>
              <a:p>
                <a:pPr>
                  <a:defRPr lang="zh-CN" sz="1800" b="0" i="0" u="none" strike="noStrike" kern="1200" baseline="0">
                    <a:solidFill>
                      <a:schemeClr val="tx1"/>
                    </a:solidFill>
                    <a:latin typeface="+mn-lt"/>
                    <a:ea typeface="+mn-ea"/>
                    <a:cs typeface="+mn-cs"/>
                  </a:defRPr>
                </a:pPr>
                <a:r>
                  <a:rPr lang="en-US" sz="1800" dirty="0">
                    <a:solidFill>
                      <a:schemeClr val="tx1"/>
                    </a:solidFill>
                  </a:rPr>
                  <a:t>Context Length</a:t>
                </a:r>
              </a:p>
            </c:rich>
          </c:tx>
          <c:overlay val="0"/>
          <c:spPr>
            <a:noFill/>
            <a:ln>
              <a:noFill/>
            </a:ln>
            <a:effectLst/>
          </c:spPr>
          <c:txPr>
            <a:bodyPr rot="-5400000" spcFirstLastPara="1"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solidFill>
                <a:latin typeface="+mn-lt"/>
                <a:ea typeface="+mn-ea"/>
                <a:cs typeface="+mn-cs"/>
              </a:defRPr>
            </a:pPr>
            <a:endParaRPr lang="zh-CN"/>
          </a:p>
        </c:txPr>
        <c:crossAx val="941414976"/>
        <c:crosses val="autoZero"/>
        <c:auto val="1"/>
        <c:lblAlgn val="ctr"/>
        <c:lblOffset val="100"/>
        <c:noMultiLvlLbl val="0"/>
      </c:catAx>
      <c:valAx>
        <c:axId val="941414976"/>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solidFill>
              <a:schemeClr val="tx1">
                <a:lumMod val="15000"/>
                <a:lumOff val="85000"/>
              </a:schemeClr>
            </a:solidFill>
            <a:prstDash val="solid"/>
          </a:ln>
          <a:effectLst/>
        </c:spPr>
        <c:txPr>
          <a:bodyPr rot="-60000000" spcFirstLastPara="1" vertOverflow="ellipsis" vert="horz" wrap="square" anchor="ctr" anchorCtr="1"/>
          <a:lstStyle/>
          <a:p>
            <a:pPr>
              <a:defRPr lang="zh-CN" sz="1600" b="0" i="0" u="none" strike="noStrike" kern="1200" baseline="0">
                <a:solidFill>
                  <a:schemeClr val="tx1"/>
                </a:solidFill>
                <a:latin typeface="+mn-lt"/>
                <a:ea typeface="+mn-ea"/>
                <a:cs typeface="+mn-cs"/>
              </a:defRPr>
            </a:pPr>
            <a:endParaRPr lang="zh-CN"/>
          </a:p>
        </c:txPr>
        <c:crossAx val="9414131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extLst>
      <c:ext uri="{0b15fc19-7d7d-44ad-8c2d-2c3a37ce22c3}">
        <chartProps xmlns="https://web.wps.cn/et/2018/main" chartId="{0c68bd6d-fd5b-4701-8367-8d8699f52302}"/>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916914962841201"/>
          <c:y val="0.102802223024145"/>
          <c:w val="0.86083085193789199"/>
          <c:h val="0.72885257694265504"/>
        </c:manualLayout>
      </c:layout>
      <c:barChart>
        <c:barDir val="col"/>
        <c:grouping val="stacked"/>
        <c:varyColors val="0"/>
        <c:ser>
          <c:idx val="0"/>
          <c:order val="0"/>
          <c:tx>
            <c:strRef>
              <c:f>Sheet1!$B$1</c:f>
              <c:strCache>
                <c:ptCount val="1"/>
                <c:pt idx="0">
                  <c:v>Series1</c:v>
                </c:pt>
              </c:strCache>
            </c:strRef>
          </c:tx>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noFill/>
              <a:round/>
            </a:ln>
            <a:effectLst/>
          </c:spPr>
          <c:invertIfNegative val="0"/>
          <c:dPt>
            <c:idx val="0"/>
            <c:invertIfNegative val="0"/>
            <c:bubble3D val="0"/>
            <c:spPr>
              <a:solidFill>
                <a:srgbClr val="FF4500"/>
              </a:solidFill>
              <a:ln w="9525" cap="flat" cmpd="sng" algn="ctr">
                <a:noFill/>
                <a:round/>
              </a:ln>
              <a:effectLst/>
            </c:spPr>
            <c:extLst>
              <c:ext xmlns:c16="http://schemas.microsoft.com/office/drawing/2014/chart" uri="{C3380CC4-5D6E-409C-BE32-E72D297353CC}">
                <c16:uniqueId val="{00000001-0307-438E-9D65-6CE227E73411}"/>
              </c:ext>
            </c:extLst>
          </c:dPt>
          <c:dPt>
            <c:idx val="1"/>
            <c:invertIfNegative val="0"/>
            <c:bubble3D val="0"/>
            <c:spPr>
              <a:solidFill>
                <a:srgbClr val="FFC000"/>
              </a:solidFill>
              <a:ln w="9525" cap="flat" cmpd="sng" algn="ctr">
                <a:noFill/>
                <a:round/>
              </a:ln>
              <a:effectLst/>
            </c:spPr>
            <c:extLst>
              <c:ext xmlns:c16="http://schemas.microsoft.com/office/drawing/2014/chart" uri="{C3380CC4-5D6E-409C-BE32-E72D297353CC}">
                <c16:uniqueId val="{00000003-0307-438E-9D65-6CE227E73411}"/>
              </c:ext>
            </c:extLst>
          </c:dPt>
          <c:dPt>
            <c:idx val="2"/>
            <c:invertIfNegative val="0"/>
            <c:bubble3D val="0"/>
            <c:spPr>
              <a:solidFill>
                <a:srgbClr val="0070C0"/>
              </a:solidFill>
              <a:ln w="9525" cap="flat" cmpd="sng" algn="ctr">
                <a:noFill/>
                <a:round/>
              </a:ln>
              <a:effectLst/>
            </c:spPr>
            <c:extLst>
              <c:ext xmlns:c16="http://schemas.microsoft.com/office/drawing/2014/chart" uri="{C3380CC4-5D6E-409C-BE32-E72D297353CC}">
                <c16:uniqueId val="{00000005-0307-438E-9D65-6CE227E73411}"/>
              </c:ext>
            </c:extLst>
          </c:dPt>
          <c:dPt>
            <c:idx val="3"/>
            <c:invertIfNegative val="0"/>
            <c:bubble3D val="0"/>
            <c:spPr>
              <a:solidFill>
                <a:schemeClr val="accent6">
                  <a:lumMod val="75000"/>
                </a:schemeClr>
              </a:solidFill>
              <a:ln w="9525" cap="flat" cmpd="sng" algn="ctr">
                <a:noFill/>
                <a:round/>
              </a:ln>
              <a:effectLst/>
            </c:spPr>
            <c:extLst>
              <c:ext xmlns:c16="http://schemas.microsoft.com/office/drawing/2014/chart" uri="{C3380CC4-5D6E-409C-BE32-E72D297353CC}">
                <c16:uniqueId val="{00000007-0307-438E-9D65-6CE227E73411}"/>
              </c:ext>
            </c:extLst>
          </c:dPt>
          <c:cat>
            <c:strRef>
              <c:f>Sheet1!$A$2:$A$5</c:f>
              <c:strCache>
                <c:ptCount val="4"/>
                <c:pt idx="0">
                  <c:v>Baseline</c:v>
                </c:pt>
                <c:pt idx="1">
                  <c:v>+Shared 
Prefix</c:v>
                </c:pt>
                <c:pt idx="2">
                  <c:v>+Task 
Division</c:v>
                </c:pt>
                <c:pt idx="3">
                  <c:v>+Parallel
 Reduce</c:v>
                </c:pt>
              </c:strCache>
            </c:strRef>
          </c:cat>
          <c:val>
            <c:numRef>
              <c:f>Sheet1!$B$2:$B$5</c:f>
              <c:numCache>
                <c:formatCode>General</c:formatCode>
                <c:ptCount val="4"/>
                <c:pt idx="0">
                  <c:v>37</c:v>
                </c:pt>
                <c:pt idx="1">
                  <c:v>16.663</c:v>
                </c:pt>
                <c:pt idx="2">
                  <c:v>5.9249999999999998</c:v>
                </c:pt>
                <c:pt idx="3">
                  <c:v>3.5070000000000001</c:v>
                </c:pt>
              </c:numCache>
            </c:numRef>
          </c:val>
          <c:extLst>
            <c:ext xmlns:c16="http://schemas.microsoft.com/office/drawing/2014/chart" uri="{C3380CC4-5D6E-409C-BE32-E72D297353CC}">
              <c16:uniqueId val="{00000008-0307-438E-9D65-6CE227E73411}"/>
            </c:ext>
          </c:extLst>
        </c:ser>
        <c:dLbls>
          <c:showLegendKey val="0"/>
          <c:showVal val="0"/>
          <c:showCatName val="0"/>
          <c:showSerName val="0"/>
          <c:showPercent val="0"/>
          <c:showBubbleSize val="0"/>
        </c:dLbls>
        <c:gapWidth val="52"/>
        <c:overlap val="100"/>
        <c:serLines>
          <c:spPr>
            <a:ln w="9525">
              <a:solidFill>
                <a:schemeClr val="tx1">
                  <a:lumMod val="35000"/>
                  <a:lumOff val="65000"/>
                </a:schemeClr>
              </a:solidFill>
              <a:prstDash val="dash"/>
            </a:ln>
            <a:effectLst/>
          </c:spPr>
        </c:serLines>
        <c:axId val="377976704"/>
        <c:axId val="377978416"/>
      </c:barChart>
      <c:catAx>
        <c:axId val="377976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400" b="0" i="0" u="none" strike="noStrike" kern="1200" baseline="0">
                <a:solidFill>
                  <a:schemeClr val="tx1"/>
                </a:solidFill>
                <a:latin typeface="+mn-lt"/>
                <a:ea typeface="+mn-ea"/>
                <a:cs typeface="+mn-cs"/>
              </a:defRPr>
            </a:pPr>
            <a:endParaRPr lang="zh-CN"/>
          </a:p>
        </c:txPr>
        <c:crossAx val="377978416"/>
        <c:crosses val="autoZero"/>
        <c:auto val="1"/>
        <c:lblAlgn val="ctr"/>
        <c:lblOffset val="100"/>
        <c:noMultiLvlLbl val="0"/>
      </c:catAx>
      <c:valAx>
        <c:axId val="3779784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600" b="0" i="0" u="none" strike="noStrike" kern="1200" cap="all" baseline="0">
                    <a:solidFill>
                      <a:schemeClr val="tx1"/>
                    </a:solidFill>
                    <a:latin typeface="+mn-lt"/>
                    <a:ea typeface="+mn-ea"/>
                    <a:cs typeface="+mn-cs"/>
                  </a:defRPr>
                </a:pPr>
                <a:r>
                  <a:rPr lang="en-US" altLang="zh-CN" sz="1600" cap="none" baseline="0" dirty="0">
                    <a:solidFill>
                      <a:schemeClr val="tx1"/>
                    </a:solidFill>
                  </a:rPr>
                  <a:t>Time(</a:t>
                </a:r>
                <a:r>
                  <a:rPr lang="en-US" altLang="zh-CN" sz="1600" cap="none" baseline="0" dirty="0" err="1">
                    <a:solidFill>
                      <a:schemeClr val="tx1"/>
                    </a:solidFill>
                  </a:rPr>
                  <a:t>ms</a:t>
                </a:r>
                <a:r>
                  <a:rPr lang="en-US" altLang="zh-CN" sz="1600" cap="none" baseline="0" dirty="0">
                    <a:solidFill>
                      <a:schemeClr val="tx1"/>
                    </a:solidFill>
                  </a:rPr>
                  <a:t>)</a:t>
                </a:r>
                <a:endParaRPr lang="zh-CN" altLang="en-US" sz="1600" dirty="0">
                  <a:solidFill>
                    <a:schemeClr val="tx1"/>
                  </a:solidFill>
                </a:endParaRPr>
              </a:p>
            </c:rich>
          </c:tx>
          <c:layout>
            <c:manualLayout>
              <c:xMode val="edge"/>
              <c:yMode val="edge"/>
              <c:x val="0"/>
              <c:y val="0.30113211625294101"/>
            </c:manualLayout>
          </c:layout>
          <c:overlay val="0"/>
          <c:spPr>
            <a:noFill/>
            <a:ln>
              <a:noFill/>
            </a:ln>
            <a:effectLst/>
          </c:spPr>
          <c:txPr>
            <a:bodyPr rot="-5400000" spcFirstLastPara="1" vertOverflow="ellipsis" vert="horz" wrap="square" anchor="ctr" anchorCtr="1"/>
            <a:lstStyle/>
            <a:p>
              <a:pPr>
                <a:defRPr lang="zh-CN" sz="1600" b="0" i="0" u="none" strike="noStrike" kern="1200" cap="all" baseline="0">
                  <a:solidFill>
                    <a:schemeClr val="tx1"/>
                  </a:solidFill>
                  <a:latin typeface="+mn-lt"/>
                  <a:ea typeface="+mn-ea"/>
                  <a:cs typeface="+mn-cs"/>
                </a:defRPr>
              </a:pPr>
              <a:endParaRPr lang="zh-C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400" b="0" i="0" u="none" strike="noStrike" kern="1200" baseline="0">
                <a:solidFill>
                  <a:schemeClr val="tx1"/>
                </a:solidFill>
                <a:latin typeface="+mn-lt"/>
                <a:ea typeface="+mn-ea"/>
                <a:cs typeface="+mn-cs"/>
              </a:defRPr>
            </a:pPr>
            <a:endParaRPr lang="zh-CN"/>
          </a:p>
        </c:txPr>
        <c:crossAx val="377976704"/>
        <c:crosses val="autoZero"/>
        <c:crossBetween val="between"/>
      </c:valAx>
      <c:spPr>
        <a:noFill/>
        <a:ln>
          <a:solidFill>
            <a:srgbClr val="D9D9D9"/>
          </a:solidFill>
        </a:ln>
        <a:effectLst/>
      </c:spPr>
    </c:plotArea>
    <c:plotVisOnly val="1"/>
    <c:dispBlanksAs val="gap"/>
    <c:showDLblsOverMax val="0"/>
    <c:extLst>
      <c:ext uri="{0b15fc19-7d7d-44ad-8c2d-2c3a37ce22c3}">
        <chartProps xmlns="https://web.wps.cn/et/2018/main" chartId="{6213a11f-05ed-4d36-92a2-f92821879d20}"/>
      </c:ext>
    </c:extLst>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01">
  <cs:axisTitle>
    <cs:lnRef idx="0"/>
    <cs:fillRef idx="0"/>
    <cs:effectRef idx="0"/>
    <cs:fontRef idx="minor">
      <a:schemeClr val="tx1">
        <a:lumMod val="50000"/>
        <a:lumOff val="50000"/>
      </a:schemeClr>
    </cs:fontRef>
    <cs:defRPr sz="1195"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50000"/>
        <a:lumOff val="50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5"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5"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D23B-34CE-6847-3698-EC125CE23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CFDA9-E085-5D3C-1AD2-A2FB3C202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A3DCD-5CD3-800A-03C8-43F9A77C5F3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01C83B6-724D-A315-26DD-8D919E384FE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38195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me start from two observations on LLM serving trends nowadays:</a:t>
            </a:r>
          </a:p>
          <a:p>
            <a:endParaRPr lang="en-US" dirty="0"/>
          </a:p>
          <a:p>
            <a:r>
              <a:rPr lang="en-US" dirty="0"/>
              <a:t>First, context length is increasing dramatically.</a:t>
            </a:r>
          </a:p>
          <a:p>
            <a:r>
              <a:rPr lang="en-US" dirty="0"/>
              <a:t>Modern agentic systems may involve extremely long contexts, especially when those requests are combined with retrieval and multi-turn conversations.</a:t>
            </a:r>
          </a:p>
          <a:p>
            <a:endParaRPr lang="en-US" dirty="0"/>
          </a:p>
          <a:p>
            <a:r>
              <a:rPr lang="en-US" dirty="0"/>
              <a:t>Second, as context length grows, attention layer increasingly dominates computation, becoming the main bottleneck in LLM serving.</a:t>
            </a:r>
          </a:p>
          <a:p>
            <a:endParaRPr lang="en-US" dirty="0"/>
          </a:p>
          <a:p>
            <a:r>
              <a:rPr lang="en-US" dirty="0"/>
              <a:t>And in the above serving trends, prefix sharing workloads are becoming increasingly common.</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t>And before we dive into, we need to answer one question first.</a:t>
            </a:r>
          </a:p>
          <a:p>
            <a:r>
              <a:rPr lang="en-US" dirty="0"/>
              <a:t>Why is prefix sharing workload so important among all those long-context workloads?</a:t>
            </a:r>
          </a:p>
          <a:p>
            <a:endParaRPr lang="en-US" sz="1200" b="0" dirty="0"/>
          </a:p>
          <a:p>
            <a:r>
              <a:rPr lang="en-US" sz="1200" b="0" dirty="0"/>
              <a:t>Here I quote 3 typical long-context datasets from top-tier machine learning conferences.</a:t>
            </a:r>
          </a:p>
          <a:p>
            <a:r>
              <a:rPr lang="en-US" sz="1200" b="0" dirty="0"/>
              <a:t>You can see that the prefix sharing rate</a:t>
            </a:r>
            <a:r>
              <a:rPr lang="zh-CN" altLang="en-US" sz="1200" b="0" dirty="0"/>
              <a:t> </a:t>
            </a:r>
            <a:r>
              <a:rPr lang="en-US" altLang="zh-CN" sz="1200" b="0" dirty="0"/>
              <a:t>here</a:t>
            </a:r>
            <a:r>
              <a:rPr lang="en-US" sz="1200" b="0" dirty="0"/>
              <a:t> is extremely high and can even achieve 90% in some scenarios.</a:t>
            </a:r>
          </a:p>
          <a:p>
            <a:endParaRPr lang="en-US" sz="1200" b="0" dirty="0"/>
          </a:p>
          <a:p>
            <a:r>
              <a:rPr lang="en-US" sz="1200" b="0" dirty="0"/>
              <a:t>And in many real-world LLM serving scenarios, requests are also not independent—they often share a proportion of prefix tokens.</a:t>
            </a:r>
          </a:p>
          <a:p>
            <a:r>
              <a:rPr lang="en-US" sz="1200" b="0" dirty="0"/>
              <a:t>Such workloads are very popular in cases like multi-turn chat or tree-of-thought reasoning.</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3274" y="4400550"/>
            <a:ext cx="5486400" cy="360045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0" i="0" dirty="0"/>
              <a:t>And actually, the researchers have done a lot of work about KV cache reuse in this field</a:t>
            </a:r>
            <a:r>
              <a:rPr lang="zh-CN" altLang="en-US" b="0" i="0" dirty="0"/>
              <a:t> </a:t>
            </a:r>
            <a:r>
              <a:rPr lang="en-US" altLang="zh-CN" b="0" i="0" dirty="0"/>
              <a:t>to solve this problem</a:t>
            </a:r>
            <a:r>
              <a:rPr lang="en-US" b="0" i="0" dirty="0"/>
              <a:t>. During the prefill stage, it’s common to share KV cache to reduce redundant computation across request.</a:t>
            </a:r>
          </a:p>
          <a:p>
            <a:pPr marL="0" marR="0" lvl="0" indent="0" algn="l" defTabSz="914400" rtl="0" eaLnBrk="1" fontAlgn="auto" latinLnBrk="0" hangingPunct="1">
              <a:lnSpc>
                <a:spcPct val="100000"/>
              </a:lnSpc>
              <a:spcBef>
                <a:spcPts val="0"/>
              </a:spcBef>
              <a:spcAft>
                <a:spcPts val="0"/>
              </a:spcAft>
              <a:buClrTx/>
              <a:buSzTx/>
              <a:buFontTx/>
              <a:buNone/>
              <a:defRPr/>
            </a:pPr>
            <a:endParaRPr lang="en-US" b="0" i="0" dirty="0"/>
          </a:p>
          <a:p>
            <a:pPr marL="0" marR="0" lvl="0" indent="0" algn="l" defTabSz="914400" rtl="0" eaLnBrk="1" fontAlgn="auto" latinLnBrk="0" hangingPunct="1">
              <a:lnSpc>
                <a:spcPct val="100000"/>
              </a:lnSpc>
              <a:spcBef>
                <a:spcPts val="0"/>
              </a:spcBef>
              <a:spcAft>
                <a:spcPts val="0"/>
              </a:spcAft>
              <a:buClrTx/>
              <a:buSzTx/>
              <a:buFontTx/>
              <a:buNone/>
              <a:defRPr/>
            </a:pPr>
            <a:r>
              <a:rPr lang="en-US" b="0" i="0" dirty="0"/>
              <a:t>For example, here, suppose the user first send request 1, with content "What day is it today". Then in the prefill stage, the KV cache for all these five tokens will be computed.</a:t>
            </a:r>
          </a:p>
          <a:p>
            <a:pPr marL="0" marR="0" lvl="0" indent="0" algn="l" defTabSz="914400" rtl="0" eaLnBrk="1" fontAlgn="auto" latinLnBrk="0" hangingPunct="1">
              <a:lnSpc>
                <a:spcPct val="100000"/>
              </a:lnSpc>
              <a:spcBef>
                <a:spcPts val="0"/>
              </a:spcBef>
              <a:spcAft>
                <a:spcPts val="0"/>
              </a:spcAft>
              <a:buClrTx/>
              <a:buSzTx/>
              <a:buFontTx/>
              <a:buNone/>
              <a:defRPr/>
            </a:pPr>
            <a:endParaRPr lang="en-US" b="0" i="0" dirty="0"/>
          </a:p>
          <a:p>
            <a:pPr marL="0" marR="0" lvl="0" indent="0" algn="l" defTabSz="914400" rtl="0" eaLnBrk="1" fontAlgn="auto" latinLnBrk="0" hangingPunct="1">
              <a:lnSpc>
                <a:spcPct val="100000"/>
              </a:lnSpc>
              <a:spcBef>
                <a:spcPts val="0"/>
              </a:spcBef>
              <a:spcAft>
                <a:spcPts val="0"/>
              </a:spcAft>
              <a:buClrTx/>
              <a:buSzTx/>
              <a:buFontTx/>
              <a:buNone/>
              <a:defRPr/>
            </a:pPr>
            <a:r>
              <a:rPr lang="en-US" b="0" i="0" dirty="0"/>
              <a:t>And then, suppose the user send the following request 2, with content "What day is it tomorrow". Then with the KV cache reuse enabled, the KV cache for the first 4 tokens won't need to be computed again. We only need to compute the KV cache for the last token "tomorrow".</a:t>
            </a:r>
          </a:p>
          <a:p>
            <a:pPr marL="0" marR="0" lvl="0" indent="0" algn="l" defTabSz="914400" rtl="0" eaLnBrk="1" fontAlgn="auto" latinLnBrk="0" hangingPunct="1">
              <a:lnSpc>
                <a:spcPct val="100000"/>
              </a:lnSpc>
              <a:spcBef>
                <a:spcPts val="0"/>
              </a:spcBef>
              <a:spcAft>
                <a:spcPts val="0"/>
              </a:spcAft>
              <a:buClrTx/>
              <a:buSzTx/>
              <a:buFontTx/>
              <a:buNone/>
              <a:defRPr/>
            </a:pPr>
            <a:r>
              <a:rPr lang="en-US" b="0" i="0" dirty="0"/>
              <a:t>So the number of tokens we need to compute reduced from 5 tokens to 1 token.</a:t>
            </a:r>
          </a:p>
          <a:p>
            <a:pPr marL="0" marR="0" lvl="0" indent="0" algn="l" defTabSz="914400" rtl="0" eaLnBrk="1" fontAlgn="auto" latinLnBrk="0" hangingPunct="1">
              <a:lnSpc>
                <a:spcPct val="100000"/>
              </a:lnSpc>
              <a:spcBef>
                <a:spcPts val="0"/>
              </a:spcBef>
              <a:spcAft>
                <a:spcPts val="0"/>
              </a:spcAft>
              <a:buClrTx/>
              <a:buSzTx/>
              <a:buFontTx/>
              <a:buNone/>
              <a:defRPr/>
            </a:pPr>
            <a:r>
              <a:rPr lang="en-US" b="0" i="0" dirty="0"/>
              <a:t>Existing solutions like Radix Attention and Paged Attention or </a:t>
            </a:r>
            <a:r>
              <a:rPr lang="en-US" b="0" i="0" dirty="0" err="1"/>
              <a:t>LMCache</a:t>
            </a:r>
            <a:r>
              <a:rPr lang="en-US" b="0" i="0" dirty="0"/>
              <a:t> already did this work well at prefill stage.</a:t>
            </a:r>
          </a:p>
          <a:p>
            <a:pPr marL="0" marR="0" lvl="0" indent="0" algn="l" defTabSz="914400" rtl="0" eaLnBrk="1" fontAlgn="auto" latinLnBrk="0" hangingPunct="1">
              <a:lnSpc>
                <a:spcPct val="100000"/>
              </a:lnSpc>
              <a:spcBef>
                <a:spcPts val="0"/>
              </a:spcBef>
              <a:spcAft>
                <a:spcPts val="0"/>
              </a:spcAft>
              <a:buClrTx/>
              <a:buSzTx/>
              <a:buFontTx/>
              <a:buNone/>
              <a:defRPr/>
            </a:pPr>
            <a:endParaRPr lang="en-US" b="0" i="0" dirty="0"/>
          </a:p>
          <a:p>
            <a:pPr marL="0" marR="0" lvl="0" indent="0" algn="l" defTabSz="914400" rtl="0" eaLnBrk="1" fontAlgn="auto" latinLnBrk="0" hangingPunct="1">
              <a:lnSpc>
                <a:spcPct val="100000"/>
              </a:lnSpc>
              <a:spcBef>
                <a:spcPts val="0"/>
              </a:spcBef>
              <a:spcAft>
                <a:spcPts val="0"/>
              </a:spcAft>
              <a:buClrTx/>
              <a:buSzTx/>
              <a:buFontTx/>
              <a:buNone/>
              <a:defRPr/>
            </a:pPr>
            <a:r>
              <a:rPr lang="en-US" b="0" i="0" dirty="0"/>
              <a:t>However, in decode stage, this problem is under-explored.</a:t>
            </a:r>
          </a:p>
          <a:p>
            <a:pPr marL="0" marR="0" lvl="0" indent="0" algn="l" defTabSz="914400" rtl="0" eaLnBrk="1" fontAlgn="auto" latinLnBrk="0" hangingPunct="1">
              <a:lnSpc>
                <a:spcPct val="100000"/>
              </a:lnSpc>
              <a:spcBef>
                <a:spcPts val="0"/>
              </a:spcBef>
              <a:spcAft>
                <a:spcPts val="0"/>
              </a:spcAft>
              <a:buClrTx/>
              <a:buSzTx/>
              <a:buFontTx/>
              <a:buNone/>
              <a:defRPr/>
            </a:pPr>
            <a:endParaRPr lang="en-US" b="0" i="0" dirty="0"/>
          </a:p>
          <a:p>
            <a:pPr marL="0" marR="0" lvl="0" indent="0" algn="l" defTabSz="914400" rtl="0" eaLnBrk="1" fontAlgn="auto" latinLnBrk="0" hangingPunct="1">
              <a:lnSpc>
                <a:spcPct val="100000"/>
              </a:lnSpc>
              <a:spcBef>
                <a:spcPts val="0"/>
              </a:spcBef>
              <a:spcAft>
                <a:spcPts val="0"/>
              </a:spcAft>
              <a:buClrTx/>
              <a:buSzTx/>
              <a:buFontTx/>
              <a:buNone/>
              <a:defRPr/>
            </a:pPr>
            <a:r>
              <a:rPr lang="en-US" b="0" i="0" dirty="0"/>
              <a:t>The main problem is that when serving typical autoregressive model, we compute one token per request in decode stage. </a:t>
            </a:r>
          </a:p>
          <a:p>
            <a:pPr marL="0" marR="0" lvl="0" indent="0" algn="l" defTabSz="914400" rtl="0" eaLnBrk="1" fontAlgn="auto" latinLnBrk="0" hangingPunct="1">
              <a:lnSpc>
                <a:spcPct val="100000"/>
              </a:lnSpc>
              <a:spcBef>
                <a:spcPts val="0"/>
              </a:spcBef>
              <a:spcAft>
                <a:spcPts val="0"/>
              </a:spcAft>
              <a:buClrTx/>
              <a:buSzTx/>
              <a:buFontTx/>
              <a:buNone/>
              <a:defRPr/>
            </a:pPr>
            <a:endParaRPr lang="en-US" b="0" i="0" dirty="0"/>
          </a:p>
          <a:p>
            <a:pPr marL="0" marR="0" lvl="0" indent="0" algn="l" defTabSz="914400" rtl="0" eaLnBrk="1" fontAlgn="auto" latinLnBrk="0" hangingPunct="1">
              <a:lnSpc>
                <a:spcPct val="100000"/>
              </a:lnSpc>
              <a:spcBef>
                <a:spcPts val="0"/>
              </a:spcBef>
              <a:spcAft>
                <a:spcPts val="0"/>
              </a:spcAft>
              <a:buClrTx/>
              <a:buSzTx/>
              <a:buFontTx/>
              <a:buNone/>
              <a:defRPr/>
            </a:pPr>
            <a:r>
              <a:rPr lang="en-US" b="0" i="0" dirty="0"/>
              <a:t>It seems that we cannot further reduce computations use similar techniques from prefill stage.</a:t>
            </a:r>
          </a:p>
          <a:p>
            <a:pPr marL="0" marR="0" lvl="0" indent="0" algn="l" defTabSz="914400" rtl="0" eaLnBrk="1" fontAlgn="auto" latinLnBrk="0" hangingPunct="1">
              <a:lnSpc>
                <a:spcPct val="100000"/>
              </a:lnSpc>
              <a:spcBef>
                <a:spcPts val="0"/>
              </a:spcBef>
              <a:spcAft>
                <a:spcPts val="0"/>
              </a:spcAft>
              <a:buClrTx/>
              <a:buSzTx/>
              <a:buFontTx/>
              <a:buNone/>
              <a:defRPr/>
            </a:pPr>
            <a:r>
              <a:rPr lang="en-US" b="0" i="0" dirty="0"/>
              <a:t>Can we still reuse KV cache in decode stage?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To answer this question, we need to further look at the attention mechanism on GPU.</a:t>
            </a:r>
          </a:p>
          <a:p>
            <a:endParaRPr lang="en-US" b="0" dirty="0"/>
          </a:p>
          <a:p>
            <a:r>
              <a:rPr lang="en-US" b="0" dirty="0"/>
              <a:t>Here we use an example of 4 requests in decode stage.</a:t>
            </a:r>
          </a:p>
          <a:p>
            <a:r>
              <a:rPr lang="en-US" b="0" dirty="0"/>
              <a:t>And in the figure, the red bars denote thread blocks on GPU while rectangles denote KV cache.</a:t>
            </a:r>
          </a:p>
          <a:p>
            <a:endParaRPr lang="en-US" b="0" dirty="0"/>
          </a:p>
          <a:p>
            <a:r>
              <a:rPr lang="en-US" b="0" dirty="0"/>
              <a:t>In traditional attention kernel like Flash Attention, we assign each request to a thread block on GPU.</a:t>
            </a:r>
          </a:p>
          <a:p>
            <a:endParaRPr lang="en-US" b="0" dirty="0"/>
          </a:p>
          <a:p>
            <a:r>
              <a:rPr lang="en-US" b="0" dirty="0"/>
              <a:t>And then, each thread block accesses the KV cache of the corresponding request and compute the output.</a:t>
            </a:r>
          </a:p>
          <a:p>
            <a:endParaRPr lang="en-US" dirty="0"/>
          </a:p>
          <a:p>
            <a:r>
              <a:rPr lang="en-US" b="0" dirty="0"/>
              <a:t>The naive execution leads to multiple thread blocks repeatedly loading the same KV cache,</a:t>
            </a:r>
          </a:p>
          <a:p>
            <a:pPr marL="0" marR="0" lvl="0" indent="0" algn="l" defTabSz="914400" rtl="0" eaLnBrk="1" fontAlgn="auto" latinLnBrk="0" hangingPunct="1">
              <a:lnSpc>
                <a:spcPct val="100000"/>
              </a:lnSpc>
              <a:spcBef>
                <a:spcPts val="0"/>
              </a:spcBef>
              <a:spcAft>
                <a:spcPts val="0"/>
              </a:spcAft>
              <a:buClrTx/>
              <a:buSzTx/>
              <a:buFontTx/>
              <a:buNone/>
              <a:defRPr/>
            </a:pPr>
            <a:r>
              <a:rPr lang="en-US" b="0" dirty="0"/>
              <a:t>You can see the grey areas in the figure.</a:t>
            </a:r>
          </a:p>
          <a:p>
            <a:r>
              <a:rPr lang="en-US" b="0" dirty="0"/>
              <a:t>causing, for example, 3× more memory accesses to Document A’s KV cache.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0" dirty="0"/>
              <a:t>However, once we turned the requests into a prefix tree, the first challenge is how can we organize dependencies across the prefix tree and across GPU thread blocks.</a:t>
            </a:r>
          </a:p>
          <a:p>
            <a:endParaRPr lang="en-US" dirty="0"/>
          </a:p>
          <a:p>
            <a:r>
              <a:rPr lang="en-US" dirty="0"/>
              <a:t>Our solution here is to divide the whole attention computing mechanisms into two stages.</a:t>
            </a:r>
          </a:p>
          <a:p>
            <a:endParaRPr lang="en-US" dirty="0"/>
          </a:p>
          <a:p>
            <a:r>
              <a:rPr lang="en-US" dirty="0"/>
              <a:t>In stage 1, we assign each prefix part to a dedicated thread block as the red bar denoted in the figure.</a:t>
            </a:r>
          </a:p>
          <a:p>
            <a:endParaRPr lang="en-US" dirty="0"/>
          </a:p>
          <a:p>
            <a:r>
              <a:rPr lang="en-US" dirty="0"/>
              <a:t>So you can see that, in the first stage, those thread blocks on GPU will read the KV cache and compute the partial output. And those partial output can be reused across different requests, further reduce computation.</a:t>
            </a:r>
          </a:p>
          <a:p>
            <a:endParaRPr lang="en-US" dirty="0"/>
          </a:p>
          <a:p>
            <a:r>
              <a:rPr lang="en-US" dirty="0"/>
              <a:t>And this is exactly the difference between us and other solutions like </a:t>
            </a:r>
            <a:r>
              <a:rPr lang="en-US" dirty="0" err="1"/>
              <a:t>LMCache</a:t>
            </a:r>
            <a:r>
              <a:rPr lang="en-US" dirty="0"/>
              <a:t>, we reuse the partial output from KV cache, while </a:t>
            </a:r>
            <a:r>
              <a:rPr lang="en-US" dirty="0" err="1"/>
              <a:t>LMCache</a:t>
            </a:r>
            <a:r>
              <a:rPr lang="en-US" dirty="0"/>
              <a:t> reuse KV cache directly.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0" dirty="0"/>
              <a:t>However, once we turned the requests into a prefix tree, the first challenge is how can we organize dependencies across the prefix tree and across GPU thread blocks.</a:t>
            </a:r>
          </a:p>
          <a:p>
            <a:endParaRPr lang="en-US" dirty="0"/>
          </a:p>
          <a:p>
            <a:r>
              <a:rPr lang="en-US" dirty="0"/>
              <a:t>Our solution here is to divide the whole attention computing mechanisms into two stages.</a:t>
            </a:r>
          </a:p>
          <a:p>
            <a:endParaRPr lang="en-US" dirty="0"/>
          </a:p>
          <a:p>
            <a:r>
              <a:rPr lang="en-US" dirty="0"/>
              <a:t>In stage 1, we assign each prefix part to a dedicated thread block as the red bar denoted in the figure.</a:t>
            </a:r>
          </a:p>
          <a:p>
            <a:endParaRPr lang="en-US" dirty="0"/>
          </a:p>
          <a:p>
            <a:r>
              <a:rPr lang="en-US" dirty="0"/>
              <a:t>So you can see that, in the first stage, those </a:t>
            </a:r>
            <a:r>
              <a:rPr lang="en-US" dirty="0" err="1"/>
              <a:t>threadblocks</a:t>
            </a:r>
            <a:r>
              <a:rPr lang="en-US" dirty="0"/>
              <a:t> on GPU will read the KV cache and compute the partial output. And those partial output can be reused across different requests, further reduce computation.</a:t>
            </a:r>
          </a:p>
          <a:p>
            <a:endParaRPr lang="en-US" dirty="0"/>
          </a:p>
          <a:p>
            <a:r>
              <a:rPr lang="en-US" dirty="0"/>
              <a:t>And this is exactly the difference between us and other solutions like </a:t>
            </a:r>
            <a:r>
              <a:rPr lang="en-US" dirty="0" err="1"/>
              <a:t>LMCache</a:t>
            </a:r>
            <a:r>
              <a:rPr lang="en-US" dirty="0"/>
              <a:t>, we reuse the partial output from KV cache, while </a:t>
            </a:r>
            <a:r>
              <a:rPr lang="en-US" dirty="0" err="1"/>
              <a:t>LMCache</a:t>
            </a:r>
            <a:r>
              <a:rPr lang="en-US" dirty="0"/>
              <a:t> reuse KV cache directly.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0" dirty="0"/>
              <a:t>So, to implement our insight, we need to form a prefix tree out of previous requests.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0" dirty="0"/>
              <a:t>However, once we turned the requests into a prefix tree, the first challenge is how can we organize dependencies across the prefix tree and across GPU thread blocks.</a:t>
            </a:r>
          </a:p>
          <a:p>
            <a:endParaRPr lang="en-US" dirty="0"/>
          </a:p>
          <a:p>
            <a:r>
              <a:rPr lang="en-US" dirty="0"/>
              <a:t>Our solution here is to divide the whole attention computing mechanisms into two stages.</a:t>
            </a:r>
          </a:p>
          <a:p>
            <a:endParaRPr lang="en-US" dirty="0"/>
          </a:p>
          <a:p>
            <a:r>
              <a:rPr lang="en-US" dirty="0"/>
              <a:t>In stage 1, we assign each prefix part to a dedicated thread block as the red bar denoted in the figure.</a:t>
            </a:r>
          </a:p>
          <a:p>
            <a:endParaRPr lang="en-US" dirty="0"/>
          </a:p>
          <a:p>
            <a:r>
              <a:rPr lang="en-US" dirty="0"/>
              <a:t>So you can see that, in the first stage, those </a:t>
            </a:r>
            <a:r>
              <a:rPr lang="en-US" dirty="0" err="1"/>
              <a:t>threadblocks</a:t>
            </a:r>
            <a:r>
              <a:rPr lang="en-US" dirty="0"/>
              <a:t> on GPU will read the KV cache and compute the partial output. And those partial output can be reused across different requests, further reduce computation.</a:t>
            </a:r>
          </a:p>
          <a:p>
            <a:endParaRPr lang="en-US" dirty="0"/>
          </a:p>
          <a:p>
            <a:r>
              <a:rPr lang="en-US" dirty="0"/>
              <a:t>And this is exactly the difference between us and other solutions like </a:t>
            </a:r>
            <a:r>
              <a:rPr lang="en-US" dirty="0" err="1"/>
              <a:t>LMCache</a:t>
            </a:r>
            <a:r>
              <a:rPr lang="en-US" dirty="0"/>
              <a:t>, we reuse the partial output from KV cache, while </a:t>
            </a:r>
            <a:r>
              <a:rPr lang="en-US" dirty="0" err="1"/>
              <a:t>LMCache</a:t>
            </a:r>
            <a:r>
              <a:rPr lang="en-US" dirty="0"/>
              <a:t> reuse KV cache directly.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comes to the second part, after we acquired those partial outputs, we need to reduce those outputs.</a:t>
            </a:r>
          </a:p>
          <a:p>
            <a:endParaRPr lang="en-US" dirty="0"/>
          </a:p>
          <a:p>
            <a:r>
              <a:rPr lang="en-US" dirty="0"/>
              <a:t>In stage 2, we reduce those outputs layer by layer.</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However, there still exists one problem, which is workload imbalance.</a:t>
            </a:r>
          </a:p>
          <a:p>
            <a:r>
              <a:rPr lang="en-US" b="0" dirty="0"/>
              <a:t>We assume all those documents are equally long in previous setup.</a:t>
            </a:r>
          </a:p>
          <a:p>
            <a:endParaRPr lang="en-US" b="0" dirty="0"/>
          </a:p>
          <a:p>
            <a:r>
              <a:rPr lang="en-US" b="0" dirty="0"/>
              <a:t>And if you consider the example here, you can see that the document is a lot longer than the questions.</a:t>
            </a:r>
          </a:p>
          <a:p>
            <a:r>
              <a:rPr lang="en-US" b="0" dirty="0"/>
              <a:t>If tasks are assigned naively, some GPU SMs can be free while others are busy, leading to severe tail effects; Instead, we want a balanced schedule across SMs.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a task partition algorithm to partition long workloads into smaller ones and distribute them onto different thread blocks.</a:t>
            </a:r>
          </a:p>
          <a:p>
            <a:r>
              <a:rPr lang="en-US" dirty="0"/>
              <a:t>This way, we’ll not only have a more balanced workload distribution but also a higher SM occupancy on GPU.</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all these together, we got the whole workflow of Codec.</a:t>
            </a:r>
          </a:p>
          <a:p>
            <a:r>
              <a:rPr lang="en-US" dirty="0"/>
              <a:t>In the first step, we organize a batch of requests into a prefix tree.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we divide compute tasks and assign them to different thread blocks on GPU.</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after all the metadata needed are prepared.</a:t>
            </a:r>
          </a:p>
          <a:p>
            <a:r>
              <a:rPr lang="en-US" dirty="0"/>
              <a:t>We can execute the attention kernel on GPU.</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workflow of </a:t>
            </a:r>
            <a:r>
              <a:rPr lang="en-US" dirty="0" err="1"/>
              <a:t>FlashForge</a:t>
            </a:r>
            <a:r>
              <a:rPr lang="en-US" dirty="0"/>
              <a: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Calibri" panose="020F0502020204030204" pitchFamily="34" charset="0"/>
                <a:ea typeface="+mn-ea"/>
                <a:cs typeface="+mn-cs"/>
              </a:rPr>
              <a:t>The evaluation shows that we achieves up to 2.9x throughput speedup on </a:t>
            </a:r>
            <a:r>
              <a:rPr lang="en-US" sz="1200" b="0" i="0" kern="1200" dirty="0" err="1">
                <a:solidFill>
                  <a:schemeClr val="tx1"/>
                </a:solidFill>
                <a:effectLst/>
                <a:latin typeface="Calibri" panose="020F0502020204030204" pitchFamily="34" charset="0"/>
                <a:ea typeface="+mn-ea"/>
                <a:cs typeface="+mn-cs"/>
              </a:rPr>
              <a:t>vLLM</a:t>
            </a:r>
            <a:r>
              <a:rPr lang="en-US" sz="1200" b="0" i="0" kern="1200" dirty="0">
                <a:solidFill>
                  <a:schemeClr val="tx1"/>
                </a:solidFill>
                <a:effectLst/>
                <a:latin typeface="Calibri" panose="020F0502020204030204" pitchFamily="34" charset="0"/>
                <a:ea typeface="+mn-ea"/>
                <a:cs typeface="+mn-cs"/>
              </a:rPr>
              <a:t>.</a:t>
            </a:r>
          </a:p>
          <a:p>
            <a:r>
              <a:rPr lang="en-US" sz="1200" b="0" i="0" kern="1200" dirty="0">
                <a:solidFill>
                  <a:schemeClr val="tx1"/>
                </a:solidFill>
                <a:effectLst/>
                <a:latin typeface="Calibri" panose="020F0502020204030204" pitchFamily="34" charset="0"/>
                <a:ea typeface="+mn-ea"/>
                <a:cs typeface="+mn-cs"/>
              </a:rPr>
              <a:t>And the ablation study also shows the effectiveness of our task division algorithm to mitigate workload imbalance.</a:t>
            </a:r>
          </a:p>
          <a:p>
            <a:endParaRPr lang="en-US" sz="1200" b="0" i="0" kern="1200" dirty="0">
              <a:solidFill>
                <a:schemeClr val="tx1"/>
              </a:solidFill>
              <a:effectLst/>
              <a:latin typeface="Calibri" panose="020F0502020204030204" pitchFamily="34" charset="0"/>
              <a:ea typeface="+mn-ea"/>
              <a:cs typeface="+mn-cs"/>
            </a:endParaRPr>
          </a:p>
          <a:p>
            <a:r>
              <a:rPr lang="en-US" sz="1200" b="0" i="0" kern="1200" dirty="0">
                <a:solidFill>
                  <a:schemeClr val="tx1"/>
                </a:solidFill>
                <a:effectLst/>
                <a:latin typeface="Calibri" panose="020F0502020204030204" pitchFamily="34" charset="0"/>
                <a:ea typeface="+mn-ea"/>
                <a:cs typeface="+mn-cs"/>
              </a:rPr>
              <a:t>Any questions here?</a:t>
            </a:r>
          </a:p>
          <a:p>
            <a:endParaRPr lang="en-US" sz="1200" b="0" i="0" kern="1200" dirty="0">
              <a:solidFill>
                <a:schemeClr val="tx1"/>
              </a:solidFill>
              <a:effectLst/>
              <a:latin typeface="Calibri" panose="020F0502020204030204" pitchFamily="34" charset="0"/>
              <a:ea typeface="+mn-ea"/>
              <a:cs typeface="+mn-cs"/>
            </a:endParaRPr>
          </a:p>
          <a:p>
            <a:r>
              <a:rPr lang="en-US" sz="1200" b="0" i="0" kern="1200" dirty="0">
                <a:solidFill>
                  <a:schemeClr val="tx1"/>
                </a:solidFill>
                <a:effectLst/>
                <a:latin typeface="Calibri" panose="020F0502020204030204" pitchFamily="34" charset="0"/>
                <a:ea typeface="+mn-ea"/>
                <a:cs typeface="+mn-cs"/>
              </a:rPr>
              <a:t>This techniques can also be used in semi-AR </a:t>
            </a:r>
            <a:r>
              <a:rPr lang="en-US" sz="1200" b="0" i="0" kern="1200" dirty="0" err="1">
                <a:solidFill>
                  <a:schemeClr val="tx1"/>
                </a:solidFill>
                <a:effectLst/>
                <a:latin typeface="Calibri" panose="020F0502020204030204" pitchFamily="34" charset="0"/>
                <a:ea typeface="+mn-ea"/>
                <a:cs typeface="+mn-cs"/>
              </a:rPr>
              <a:t>dllm</a:t>
            </a:r>
            <a:r>
              <a:rPr lang="en-US" sz="1200" b="0" i="0" kern="1200" dirty="0">
                <a:solidFill>
                  <a:schemeClr val="tx1"/>
                </a:solidFill>
                <a:effectLst/>
                <a:latin typeface="Calibri" panose="020F0502020204030204" pitchFamily="34" charset="0"/>
                <a:ea typeface="+mn-ea"/>
                <a:cs typeface="+mn-cs"/>
              </a:rPr>
              <a:t>. You can just see those KV blocks as the prefix node in the prefix tree.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C229BE6-AC20-0E48-BB64-C4D7CA3C1B2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Removed design principle:</a:t>
            </a:r>
          </a:p>
          <a:p>
            <a:r>
              <a:rPr lang="en-US"/>
              <a:t>Prediction is useful only if the scheduler converts it into low-overhead, memory-safe migration decisions.</a:t>
            </a:r>
          </a:p>
          <a:p>
            <a:r>
              <a:rPr lang="en-US"/>
              <a:t>Detailed challenge context: prompt-only predictors may be intrusive, weak for long context, or too costly; migration must reduce future imbalance without triggering OOM.</a:t>
            </a:r>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内容">
    <p:bg>
      <p:bgPr>
        <a:solidFill>
          <a:srgbClr val="FFFFFF"/>
        </a:solidFill>
        <a:effectLst/>
      </p:bgPr>
    </p:bg>
    <p:spTree>
      <p:nvGrpSpPr>
        <p:cNvPr id="1" name=""/>
        <p:cNvGrpSpPr/>
        <p:nvPr/>
      </p:nvGrpSpPr>
      <p:grpSpPr>
        <a:xfrm>
          <a:off x="0" y="0"/>
          <a:ext cx="0" cy="0"/>
          <a:chOff x="0" y="0"/>
          <a:chExt cx="0" cy="0"/>
        </a:xfrm>
      </p:grpSpPr>
      <p:sp>
        <p:nvSpPr>
          <p:cNvPr id="1048698" name="日期占位符 2"/>
          <p:cNvSpPr>
            <a:spLocks noGrp="1"/>
          </p:cNvSpPr>
          <p:nvPr>
            <p:ph type="dt" idx="10"/>
          </p:nvPr>
        </p:nvSpPr>
        <p:spPr/>
        <p:txBody>
          <a:bodyPr/>
          <a:lstStyle/>
          <a:p>
            <a:endParaRPr/>
          </a:p>
        </p:txBody>
      </p:sp>
      <p:sp>
        <p:nvSpPr>
          <p:cNvPr id="1048699" name="页脚占位符 3"/>
          <p:cNvSpPr>
            <a:spLocks noGrp="1"/>
          </p:cNvSpPr>
          <p:nvPr>
            <p:ph type="ftr" idx="11"/>
          </p:nvPr>
        </p:nvSpPr>
        <p:spPr/>
        <p:txBody>
          <a:bodyPr/>
          <a:lstStyle/>
          <a:p>
            <a:endParaRPr/>
          </a:p>
        </p:txBody>
      </p:sp>
    </p:spTree>
    <p:extLst>
      <p:ext uri="{BB962C8B-B14F-4D97-AF65-F5344CB8AC3E}">
        <p14:creationId xmlns:p14="http://schemas.microsoft.com/office/powerpoint/2010/main" val="2429106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2A7BA4-17E1-7E48-8968-64474BF658D2}"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3281032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2A7BA4-17E1-7E48-8968-64474BF658D2}"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1527368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2A7BA4-17E1-7E48-8968-64474BF658D2}"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2680765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2A7BA4-17E1-7E48-8968-64474BF658D2}"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3542560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2A7BA4-17E1-7E48-8968-64474BF658D2}"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384076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2A7BA4-17E1-7E48-8968-64474BF658D2}"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3380319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2A7BA4-17E1-7E48-8968-64474BF658D2}"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3770812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2A7BA4-17E1-7E48-8968-64474BF658D2}"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1193739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2A7BA4-17E1-7E48-8968-64474BF658D2}"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1154140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2A7BA4-17E1-7E48-8968-64474BF658D2}"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4284295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2A7BA4-17E1-7E48-8968-64474BF658D2}"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5D42-52AC-4645-A1B7-B033587837D1}" type="slidenum">
              <a:rPr lang="en-US" smtClean="0"/>
              <a:t>‹#›</a:t>
            </a:fld>
            <a:endParaRPr lang="en-US"/>
          </a:p>
        </p:txBody>
      </p:sp>
    </p:spTree>
    <p:extLst>
      <p:ext uri="{BB962C8B-B14F-4D97-AF65-F5344CB8AC3E}">
        <p14:creationId xmlns:p14="http://schemas.microsoft.com/office/powerpoint/2010/main" val="3311642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floodgate">
    <p:bg>
      <p:bgPr>
        <a:solidFill>
          <a:schemeClr val="bg1"/>
        </a:solid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608400" y="608400"/>
            <a:ext cx="10969200" cy="705600"/>
          </a:xfrm>
          <a:prstGeom prst="rect">
            <a:avLst/>
          </a:prstGeom>
        </p:spPr>
        <p:txBody>
          <a:bodyPr vert="horz" lIns="90170" tIns="46990" rIns="90170" bIns="46990" anchor="ctr">
            <a:noAutofit/>
          </a:bodyPr>
          <a:lstStyle>
            <a:lvl1pPr>
              <a:buNone/>
              <a:defRPr sz="4000" spc="0">
                <a:solidFill>
                  <a:srgbClr val="4A194E"/>
                </a:solidFill>
              </a:defRPr>
            </a:lvl1pPr>
          </a:lstStyle>
          <a:p>
            <a:endParaRPr/>
          </a:p>
        </p:txBody>
      </p:sp>
      <p:sp>
        <p:nvSpPr>
          <p:cNvPr id="8" name="文本占位符 2"/>
          <p:cNvSpPr>
            <a:spLocks noGrp="1"/>
          </p:cNvSpPr>
          <p:nvPr>
            <p:ph idx="1"/>
          </p:nvPr>
        </p:nvSpPr>
        <p:spPr>
          <a:xfrm>
            <a:off x="608400" y="1490400"/>
            <a:ext cx="10969200" cy="4759200"/>
          </a:xfrm>
          <a:prstGeom prst="rect">
            <a:avLst/>
          </a:prstGeom>
        </p:spPr>
        <p:txBody>
          <a:bodyPr vert="horz" lIns="90000" tIns="46800" rIns="90000" bIns="46800">
            <a:normAutofit/>
          </a:bodyPr>
          <a:lstStyle>
            <a:lvl1pPr>
              <a:lnSpc>
                <a:spcPct val="100000"/>
              </a:lnSpc>
              <a:buNone/>
              <a:defRPr sz="2800" spc="0">
                <a:solidFill>
                  <a:schemeClr val="tx1"/>
                </a:solidFill>
              </a:defRPr>
            </a:lvl1pPr>
            <a:lvl2pPr>
              <a:lnSpc>
                <a:spcPct val="100000"/>
              </a:lnSpc>
              <a:buNone/>
              <a:defRPr sz="2400" spc="0">
                <a:solidFill>
                  <a:schemeClr val="tx1"/>
                </a:solidFill>
              </a:defRPr>
            </a:lvl2pPr>
            <a:lvl3pPr>
              <a:lnSpc>
                <a:spcPct val="100000"/>
              </a:lnSpc>
              <a:buNone/>
              <a:defRPr sz="2000" spc="0">
                <a:solidFill>
                  <a:schemeClr val="tx1"/>
                </a:solidFill>
              </a:defRPr>
            </a:lvl3pPr>
            <a:lvl4pPr>
              <a:lnSpc>
                <a:spcPct val="100000"/>
              </a:lnSpc>
              <a:buNone/>
              <a:defRPr sz="1800" spc="0">
                <a:solidFill>
                  <a:schemeClr val="tx1"/>
                </a:solidFill>
              </a:defRPr>
            </a:lvl4pPr>
            <a:lvl5pPr>
              <a:lnSpc>
                <a:spcPct val="100000"/>
              </a:lnSpc>
              <a:buNone/>
              <a:defRPr sz="1600" spc="0">
                <a:solidFill>
                  <a:schemeClr val="tx1"/>
                </a:solidFill>
              </a:defRPr>
            </a:lvl5pPr>
          </a:lstStyle>
          <a:p>
            <a:endParaRPr/>
          </a:p>
        </p:txBody>
      </p:sp>
    </p:spTree>
    <p:extLst>
      <p:ext uri="{BB962C8B-B14F-4D97-AF65-F5344CB8AC3E}">
        <p14:creationId xmlns:p14="http://schemas.microsoft.com/office/powerpoint/2010/main" val="2947069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标题幻灯片">
    <p:bg>
      <p:bgPr>
        <a:gradFill>
          <a:gsLst>
            <a:gs pos="0">
              <a:srgbClr val="3E2146"/>
            </a:gs>
            <a:gs pos="53000">
              <a:srgbClr val="5C0C5C"/>
            </a:gs>
            <a:gs pos="100000">
              <a:srgbClr val="8C4BA0"/>
            </a:gs>
          </a:gsLst>
          <a:lin ang="5400000"/>
        </a:gradFill>
        <a:effectLst/>
      </p:bgPr>
    </p:bg>
    <p:spTree>
      <p:nvGrpSpPr>
        <p:cNvPr id="1" name=""/>
        <p:cNvGrpSpPr/>
        <p:nvPr/>
      </p:nvGrpSpPr>
      <p:grpSpPr>
        <a:xfrm>
          <a:off x="0" y="0"/>
          <a:ext cx="0" cy="0"/>
          <a:chOff x="0" y="0"/>
          <a:chExt cx="0" cy="0"/>
        </a:xfrm>
      </p:grpSpPr>
      <p:sp>
        <p:nvSpPr>
          <p:cNvPr id="19" name="标题 30"/>
          <p:cNvSpPr>
            <a:spLocks noGrp="1"/>
          </p:cNvSpPr>
          <p:nvPr>
            <p:ph type="title"/>
          </p:nvPr>
        </p:nvSpPr>
        <p:spPr>
          <a:xfrm>
            <a:off x="501649" y="1826225"/>
            <a:ext cx="2806701" cy="3139475"/>
          </a:xfrm>
          <a:prstGeom prst="rect">
            <a:avLst/>
          </a:prstGeom>
        </p:spPr>
        <p:txBody>
          <a:bodyPr anchor="ctr">
            <a:noAutofit/>
          </a:bodyPr>
          <a:lstStyle>
            <a:lvl1pPr algn="ctr">
              <a:buNone/>
              <a:defRPr sz="4000" b="1">
                <a:solidFill>
                  <a:schemeClr val="bg1"/>
                </a:solidFill>
                <a:latin typeface="+mj-ea"/>
                <a:ea typeface="+mj-ea"/>
                <a:cs typeface="+mj-ea"/>
              </a:defRPr>
            </a:lvl1pPr>
          </a:lstStyle>
          <a:p>
            <a:endParaRPr/>
          </a:p>
        </p:txBody>
      </p:sp>
    </p:spTree>
    <p:extLst>
      <p:ext uri="{BB962C8B-B14F-4D97-AF65-F5344CB8AC3E}">
        <p14:creationId xmlns:p14="http://schemas.microsoft.com/office/powerpoint/2010/main" val="4108245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_标题幻灯片">
    <p:bg>
      <p:bgPr>
        <a:gradFill>
          <a:gsLst>
            <a:gs pos="0">
              <a:srgbClr val="3E2146"/>
            </a:gs>
            <a:gs pos="53000">
              <a:srgbClr val="5C0C5C"/>
            </a:gs>
            <a:gs pos="100000">
              <a:srgbClr val="8C4BA0"/>
            </a:gs>
          </a:gsLst>
          <a:lin ang="5400000"/>
        </a:gradFill>
        <a:effectLst/>
      </p:bgPr>
    </p:bg>
    <p:spTree>
      <p:nvGrpSpPr>
        <p:cNvPr id="1" name=""/>
        <p:cNvGrpSpPr/>
        <p:nvPr/>
      </p:nvGrpSpPr>
      <p:grpSpPr>
        <a:xfrm>
          <a:off x="0" y="0"/>
          <a:ext cx="0" cy="0"/>
          <a:chOff x="0" y="0"/>
          <a:chExt cx="0" cy="0"/>
        </a:xfrm>
      </p:grpSpPr>
      <p:sp>
        <p:nvSpPr>
          <p:cNvPr id="19" name="标题 30"/>
          <p:cNvSpPr>
            <a:spLocks noGrp="1"/>
          </p:cNvSpPr>
          <p:nvPr>
            <p:ph type="title"/>
          </p:nvPr>
        </p:nvSpPr>
        <p:spPr>
          <a:xfrm>
            <a:off x="501649" y="1826225"/>
            <a:ext cx="2806701" cy="3139475"/>
          </a:xfrm>
          <a:prstGeom prst="rect">
            <a:avLst/>
          </a:prstGeom>
        </p:spPr>
        <p:txBody>
          <a:bodyPr anchor="ctr">
            <a:noAutofit/>
          </a:bodyPr>
          <a:lstStyle>
            <a:lvl1pPr algn="ctr">
              <a:buNone/>
              <a:defRPr sz="4000" b="1">
                <a:solidFill>
                  <a:schemeClr val="bg1"/>
                </a:solidFill>
                <a:latin typeface="+mj-ea"/>
                <a:ea typeface="+mj-ea"/>
                <a:cs typeface="+mj-ea"/>
              </a:defRPr>
            </a:lvl1pPr>
          </a:lstStyle>
          <a:p>
            <a:endParaRPr/>
          </a:p>
        </p:txBody>
      </p:sp>
    </p:spTree>
    <p:extLst>
      <p:ext uri="{BB962C8B-B14F-4D97-AF65-F5344CB8AC3E}">
        <p14:creationId xmlns:p14="http://schemas.microsoft.com/office/powerpoint/2010/main" val="2504642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3_标题和内容">
    <p:bg>
      <p:bgPr>
        <a:solidFill>
          <a:schemeClr val="bg1"/>
        </a:solid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608400" y="608400"/>
            <a:ext cx="10969200" cy="705600"/>
          </a:xfrm>
          <a:prstGeom prst="rect">
            <a:avLst/>
          </a:prstGeom>
        </p:spPr>
        <p:txBody>
          <a:bodyPr vert="horz" lIns="90170" tIns="46990" rIns="90170" bIns="46990" anchor="ctr">
            <a:noAutofit/>
          </a:bodyPr>
          <a:lstStyle>
            <a:lvl1pPr>
              <a:buNone/>
              <a:defRPr sz="4000" spc="0">
                <a:solidFill>
                  <a:srgbClr val="4A194E"/>
                </a:solidFill>
              </a:defRPr>
            </a:lvl1pPr>
          </a:lstStyle>
          <a:p>
            <a:endParaRPr/>
          </a:p>
        </p:txBody>
      </p:sp>
      <p:sp>
        <p:nvSpPr>
          <p:cNvPr id="8" name="文本占位符 2"/>
          <p:cNvSpPr>
            <a:spLocks noGrp="1"/>
          </p:cNvSpPr>
          <p:nvPr>
            <p:ph idx="1"/>
          </p:nvPr>
        </p:nvSpPr>
        <p:spPr>
          <a:xfrm>
            <a:off x="608400" y="1490400"/>
            <a:ext cx="10969200" cy="4759200"/>
          </a:xfrm>
          <a:prstGeom prst="rect">
            <a:avLst/>
          </a:prstGeom>
        </p:spPr>
        <p:txBody>
          <a:bodyPr vert="horz" lIns="90000" tIns="46800" rIns="90000" bIns="46800">
            <a:normAutofit/>
          </a:bodyPr>
          <a:lstStyle>
            <a:lvl1pPr>
              <a:lnSpc>
                <a:spcPct val="100000"/>
              </a:lnSpc>
              <a:buNone/>
              <a:defRPr sz="2800" spc="0">
                <a:solidFill>
                  <a:schemeClr val="tx1"/>
                </a:solidFill>
              </a:defRPr>
            </a:lvl1pPr>
            <a:lvl2pPr>
              <a:lnSpc>
                <a:spcPct val="100000"/>
              </a:lnSpc>
              <a:buNone/>
              <a:defRPr sz="2400" spc="0">
                <a:solidFill>
                  <a:schemeClr val="tx1"/>
                </a:solidFill>
              </a:defRPr>
            </a:lvl2pPr>
            <a:lvl3pPr>
              <a:lnSpc>
                <a:spcPct val="100000"/>
              </a:lnSpc>
              <a:buNone/>
              <a:defRPr sz="2000" spc="0">
                <a:solidFill>
                  <a:schemeClr val="tx1"/>
                </a:solidFill>
              </a:defRPr>
            </a:lvl3pPr>
            <a:lvl4pPr>
              <a:lnSpc>
                <a:spcPct val="100000"/>
              </a:lnSpc>
              <a:buNone/>
              <a:defRPr sz="1800" spc="0">
                <a:solidFill>
                  <a:schemeClr val="tx1"/>
                </a:solidFill>
              </a:defRPr>
            </a:lvl4pPr>
            <a:lvl5pPr>
              <a:lnSpc>
                <a:spcPct val="100000"/>
              </a:lnSpc>
              <a:buNone/>
              <a:defRPr sz="1600" spc="0">
                <a:solidFill>
                  <a:schemeClr val="tx1"/>
                </a:solidFill>
              </a:defRPr>
            </a:lvl5pPr>
          </a:lstStyle>
          <a:p>
            <a:endParaRPr/>
          </a:p>
        </p:txBody>
      </p:sp>
    </p:spTree>
    <p:extLst>
      <p:ext uri="{BB962C8B-B14F-4D97-AF65-F5344CB8AC3E}">
        <p14:creationId xmlns:p14="http://schemas.microsoft.com/office/powerpoint/2010/main" val="296451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cSld name="比较">
    <p:bg>
      <p:bgPr>
        <a:solidFill>
          <a:srgbClr val="FFFFFF"/>
        </a:solidFill>
        <a:effectLst/>
      </p:bgPr>
    </p:bg>
    <p:spTree>
      <p:nvGrpSpPr>
        <p:cNvPr id="1" name=""/>
        <p:cNvGrpSpPr/>
        <p:nvPr/>
      </p:nvGrpSpPr>
      <p:grpSpPr>
        <a:xfrm>
          <a:off x="0" y="0"/>
          <a:ext cx="0" cy="0"/>
          <a:chOff x="0" y="0"/>
          <a:chExt cx="0" cy="0"/>
        </a:xfrm>
      </p:grpSpPr>
      <p:sp>
        <p:nvSpPr>
          <p:cNvPr id="1048723" name="标题 1"/>
          <p:cNvSpPr>
            <a:spLocks noGrp="1"/>
          </p:cNvSpPr>
          <p:nvPr>
            <p:ph type="title"/>
          </p:nvPr>
        </p:nvSpPr>
        <p:spPr>
          <a:xfrm>
            <a:off x="608400" y="608400"/>
            <a:ext cx="10969200" cy="705600"/>
          </a:xfrm>
        </p:spPr>
        <p:txBody>
          <a:bodyPr vert="horz" lIns="90000" tIns="46800" rIns="90000" bIns="46800" anchor="ctr">
            <a:normAutofit/>
          </a:bodyPr>
          <a:lstStyle>
            <a:lvl1pPr marL="0" algn="l">
              <a:lnSpc>
                <a:spcPct val="100000"/>
              </a:lnSpc>
              <a:buNone/>
              <a:defRPr sz="3600" b="1" i="0" u="none" spc="300">
                <a:solidFill>
                  <a:schemeClr val="tx1">
                    <a:lumMod val="85000"/>
                    <a:lumOff val="15000"/>
                  </a:schemeClr>
                </a:solidFill>
                <a:latin typeface="Arial" panose="020B0604020202090204"/>
                <a:ea typeface="Arial" panose="020B0604020202090204"/>
                <a:cs typeface="Arial" panose="020B0604020202090204"/>
              </a:defRPr>
            </a:lvl1pPr>
          </a:lstStyle>
          <a:p>
            <a:endParaRPr/>
          </a:p>
        </p:txBody>
      </p:sp>
      <p:sp>
        <p:nvSpPr>
          <p:cNvPr id="1048724" name="文本占位符 2"/>
          <p:cNvSpPr>
            <a:spLocks noGrp="1"/>
          </p:cNvSpPr>
          <p:nvPr>
            <p:ph type="body" idx="1"/>
          </p:nvPr>
        </p:nvSpPr>
        <p:spPr>
          <a:xfrm>
            <a:off x="608400" y="1429200"/>
            <a:ext cx="5342400" cy="381600"/>
          </a:xfrm>
        </p:spPr>
        <p:txBody>
          <a:bodyPr lIns="101600" tIns="38100" rIns="76200" bIns="38100" anchor="t">
            <a:normAutofit/>
          </a:bodyPr>
          <a:lstStyle>
            <a:lvl1pPr marL="0" indent="0">
              <a:lnSpc>
                <a:spcPct val="100000"/>
              </a:lnSpc>
              <a:spcAft>
                <a:spcPts val="0"/>
              </a:spcAft>
              <a:buNone/>
              <a:defRPr sz="2000" b="1" u="none" spc="200">
                <a:solidFill>
                  <a:schemeClr val="tx1">
                    <a:lumMod val="75000"/>
                    <a:lumOff val="25000"/>
                  </a:schemeClr>
                </a:solidFill>
                <a:latin typeface="Arial" panose="020B0604020202090204"/>
                <a:ea typeface="Arial" panose="020B0604020202090204"/>
                <a:cs typeface="Arial" panose="020B060402020209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endParaRPr/>
          </a:p>
        </p:txBody>
      </p:sp>
      <p:sp>
        <p:nvSpPr>
          <p:cNvPr id="1048726" name="文本占位符 4"/>
          <p:cNvSpPr>
            <a:spLocks noGrp="1"/>
          </p:cNvSpPr>
          <p:nvPr>
            <p:ph type="body" idx="3"/>
          </p:nvPr>
        </p:nvSpPr>
        <p:spPr>
          <a:xfrm>
            <a:off x="6235750" y="1421729"/>
            <a:ext cx="5342400" cy="381600"/>
          </a:xfrm>
        </p:spPr>
        <p:txBody>
          <a:bodyPr vert="horz" lIns="101600" tIns="38100" rIns="76200" bIns="38100" anchor="t">
            <a:normAutofit/>
          </a:bodyPr>
          <a:lstStyle>
            <a:lvl1pPr marL="0" indent="0" algn="l">
              <a:lnSpc>
                <a:spcPct val="100000"/>
              </a:lnSpc>
              <a:spcBef>
                <a:spcPts val="0"/>
              </a:spcBef>
              <a:spcAft>
                <a:spcPts val="0"/>
              </a:spcAft>
              <a:buNone/>
              <a:defRPr sz="2000" b="1" i="0" u="none" spc="200">
                <a:solidFill>
                  <a:schemeClr val="tx1">
                    <a:lumMod val="75000"/>
                    <a:lumOff val="25000"/>
                  </a:schemeClr>
                </a:solidFill>
                <a:latin typeface="Arial" panose="020B0604020202090204"/>
                <a:ea typeface="Arial" panose="020B0604020202090204"/>
                <a:cs typeface="Arial" panose="020B060402020209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endParaRPr/>
          </a:p>
        </p:txBody>
      </p:sp>
      <p:sp>
        <p:nvSpPr>
          <p:cNvPr id="1048728" name="日期占位符 6"/>
          <p:cNvSpPr>
            <a:spLocks noGrp="1"/>
          </p:cNvSpPr>
          <p:nvPr>
            <p:ph type="dt" idx="10"/>
          </p:nvPr>
        </p:nvSpPr>
        <p:spPr/>
        <p:txBody>
          <a:bodyPr/>
          <a:lstStyle/>
          <a:p>
            <a:endParaRPr dirty="0"/>
          </a:p>
        </p:txBody>
      </p:sp>
      <p:sp>
        <p:nvSpPr>
          <p:cNvPr id="1048729" name="页脚占位符 7"/>
          <p:cNvSpPr>
            <a:spLocks noGrp="1"/>
          </p:cNvSpPr>
          <p:nvPr>
            <p:ph type="ftr" idx="11"/>
          </p:nvPr>
        </p:nvSpPr>
        <p:spPr/>
        <p:txBody>
          <a:bodyPr/>
          <a:lstStyle/>
          <a:p>
            <a:endParaRPr dirty="0"/>
          </a:p>
        </p:txBody>
      </p:sp>
    </p:spTree>
    <p:extLst>
      <p:ext uri="{BB962C8B-B14F-4D97-AF65-F5344CB8AC3E}">
        <p14:creationId xmlns:p14="http://schemas.microsoft.com/office/powerpoint/2010/main" val="3529604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cSld name="竖排标题与文本">
    <p:bg>
      <p:bgPr>
        <a:solidFill>
          <a:srgbClr val="FFFFFF"/>
        </a:solidFill>
        <a:effectLst/>
      </p:bgPr>
    </p:bg>
    <p:spTree>
      <p:nvGrpSpPr>
        <p:cNvPr id="1" name=""/>
        <p:cNvGrpSpPr/>
        <p:nvPr/>
      </p:nvGrpSpPr>
      <p:grpSpPr>
        <a:xfrm>
          <a:off x="0" y="0"/>
          <a:ext cx="0" cy="0"/>
          <a:chOff x="0" y="0"/>
          <a:chExt cx="0" cy="0"/>
        </a:xfrm>
      </p:grpSpPr>
      <p:sp>
        <p:nvSpPr>
          <p:cNvPr id="1048708" name="竖排标题 1"/>
          <p:cNvSpPr>
            <a:spLocks noGrp="1"/>
          </p:cNvSpPr>
          <p:nvPr>
            <p:ph type="title"/>
          </p:nvPr>
        </p:nvSpPr>
        <p:spPr>
          <a:xfrm>
            <a:off x="10234800" y="914400"/>
            <a:ext cx="1044000" cy="5029200"/>
          </a:xfrm>
        </p:spPr>
        <p:txBody>
          <a:bodyPr vert="eaVert" lIns="90000" tIns="46800" rIns="90000" bIns="46800" anchor="ctr">
            <a:normAutofit/>
          </a:bodyPr>
          <a:lstStyle>
            <a:lvl1pPr marL="0" algn="l">
              <a:lnSpc>
                <a:spcPct val="100000"/>
              </a:lnSpc>
              <a:spcAft>
                <a:spcPts val="0"/>
              </a:spcAft>
              <a:buNone/>
              <a:defRPr sz="2800" b="1" i="0" u="none" spc="300">
                <a:solidFill>
                  <a:schemeClr val="tx1">
                    <a:lumMod val="85000"/>
                    <a:lumOff val="15000"/>
                  </a:schemeClr>
                </a:solidFill>
                <a:latin typeface="Arial" panose="020B0604020202090204"/>
                <a:ea typeface="Arial" panose="020B0604020202090204"/>
                <a:cs typeface="Arial" panose="020B0604020202090204"/>
              </a:defRPr>
            </a:lvl1pPr>
          </a:lstStyle>
          <a:p>
            <a:endParaRPr/>
          </a:p>
        </p:txBody>
      </p:sp>
      <p:sp>
        <p:nvSpPr>
          <p:cNvPr id="1048709" name="竖排文字占位符 2"/>
          <p:cNvSpPr>
            <a:spLocks noGrp="1"/>
          </p:cNvSpPr>
          <p:nvPr>
            <p:ph type="body" idx="1"/>
          </p:nvPr>
        </p:nvSpPr>
        <p:spPr>
          <a:xfrm>
            <a:off x="914400" y="914400"/>
            <a:ext cx="9169200" cy="5029200"/>
          </a:xfrm>
        </p:spPr>
        <p:txBody>
          <a:bodyPr vert="eaVert" lIns="46800" tIns="46800" rIns="46800" bIns="46800"/>
          <a:lstStyle>
            <a:lvl1pPr marL="228600" indent="-228600">
              <a:lnSpc>
                <a:spcPct val="130000"/>
              </a:lnSpc>
              <a:spcAft>
                <a:spcPts val="1000"/>
              </a:spcAft>
              <a:buChar char="●"/>
              <a:defRPr u="none" spc="150">
                <a:solidFill>
                  <a:schemeClr val="tx1">
                    <a:lumMod val="65000"/>
                    <a:lumOff val="35000"/>
                  </a:schemeClr>
                </a:solidFill>
              </a:defRPr>
            </a:lvl1pPr>
            <a:lvl2pPr marL="685800" indent="-228600">
              <a:lnSpc>
                <a:spcPct val="120000"/>
              </a:lnSpc>
              <a:spcAft>
                <a:spcPts val="600"/>
              </a:spcAft>
              <a:buChar char="●"/>
              <a:defRPr u="none" spc="150">
                <a:solidFill>
                  <a:schemeClr val="tx1">
                    <a:lumMod val="65000"/>
                    <a:lumOff val="35000"/>
                  </a:schemeClr>
                </a:solidFill>
              </a:defRPr>
            </a:lvl2pPr>
            <a:lvl3pPr marL="1143000" indent="-228600">
              <a:lnSpc>
                <a:spcPct val="120000"/>
              </a:lnSpc>
              <a:spcAft>
                <a:spcPts val="600"/>
              </a:spcAft>
              <a:buChar char="●"/>
              <a:defRPr u="none" spc="150">
                <a:solidFill>
                  <a:schemeClr val="tx1">
                    <a:lumMod val="65000"/>
                    <a:lumOff val="35000"/>
                  </a:schemeClr>
                </a:solidFill>
              </a:defRPr>
            </a:lvl3pPr>
            <a:lvl4pPr marL="1600200" indent="-228600">
              <a:lnSpc>
                <a:spcPct val="120000"/>
              </a:lnSpc>
              <a:spcAft>
                <a:spcPts val="300"/>
              </a:spcAft>
              <a:buChar char=""/>
              <a:defRPr u="none" spc="150">
                <a:solidFill>
                  <a:schemeClr val="tx1">
                    <a:lumMod val="65000"/>
                    <a:lumOff val="35000"/>
                  </a:schemeClr>
                </a:solidFill>
              </a:defRPr>
            </a:lvl4pPr>
            <a:lvl5pPr marL="2057400" indent="-228600">
              <a:lnSpc>
                <a:spcPct val="120000"/>
              </a:lnSpc>
              <a:spcAft>
                <a:spcPts val="300"/>
              </a:spcAft>
              <a:buChar char="•"/>
              <a:defRPr u="none" spc="150">
                <a:solidFill>
                  <a:schemeClr val="tx1">
                    <a:lumMod val="65000"/>
                    <a:lumOff val="35000"/>
                  </a:schemeClr>
                </a:solidFill>
              </a:defRPr>
            </a:lvl5pPr>
          </a:lstStyle>
          <a:p>
            <a:endParaRPr/>
          </a:p>
        </p:txBody>
      </p:sp>
      <p:sp>
        <p:nvSpPr>
          <p:cNvPr id="1048710" name="日期占位符 3"/>
          <p:cNvSpPr>
            <a:spLocks noGrp="1"/>
          </p:cNvSpPr>
          <p:nvPr>
            <p:ph type="dt" idx="10"/>
          </p:nvPr>
        </p:nvSpPr>
        <p:spPr/>
        <p:txBody>
          <a:bodyPr/>
          <a:lstStyle/>
          <a:p>
            <a:endParaRPr dirty="0"/>
          </a:p>
        </p:txBody>
      </p:sp>
      <p:sp>
        <p:nvSpPr>
          <p:cNvPr id="1048711" name="页脚占位符 4"/>
          <p:cNvSpPr>
            <a:spLocks noGrp="1"/>
          </p:cNvSpPr>
          <p:nvPr>
            <p:ph type="ftr" idx="11"/>
          </p:nvPr>
        </p:nvSpPr>
        <p:spPr/>
        <p:txBody>
          <a:bodyPr/>
          <a:lstStyle/>
          <a:p>
            <a:endParaRPr dirty="0"/>
          </a:p>
        </p:txBody>
      </p:sp>
    </p:spTree>
    <p:extLst>
      <p:ext uri="{BB962C8B-B14F-4D97-AF65-F5344CB8AC3E}">
        <p14:creationId xmlns:p14="http://schemas.microsoft.com/office/powerpoint/2010/main" val="3677645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节标题">
    <p:bg>
      <p:bgPr>
        <a:solidFill>
          <a:srgbClr val="FFFFFF"/>
        </a:solidFill>
        <a:effectLst/>
      </p:bgPr>
    </p:bg>
    <p:spTree>
      <p:nvGrpSpPr>
        <p:cNvPr id="1" name=""/>
        <p:cNvGrpSpPr/>
        <p:nvPr/>
      </p:nvGrpSpPr>
      <p:grpSpPr>
        <a:xfrm>
          <a:off x="0" y="0"/>
          <a:ext cx="0" cy="0"/>
          <a:chOff x="0" y="0"/>
          <a:chExt cx="0" cy="0"/>
        </a:xfrm>
      </p:grpSpPr>
      <p:sp>
        <p:nvSpPr>
          <p:cNvPr id="1048718" name="标题 1"/>
          <p:cNvSpPr>
            <a:spLocks noGrp="1"/>
          </p:cNvSpPr>
          <p:nvPr>
            <p:ph type="title"/>
          </p:nvPr>
        </p:nvSpPr>
        <p:spPr>
          <a:xfrm>
            <a:off x="1990800" y="3848400"/>
            <a:ext cx="7768800" cy="766800"/>
          </a:xfrm>
        </p:spPr>
        <p:txBody>
          <a:bodyPr lIns="90000" tIns="46800" rIns="90000" bIns="46800" anchor="b">
            <a:normAutofit/>
          </a:bodyPr>
          <a:lstStyle>
            <a:lvl1pPr>
              <a:buNone/>
              <a:defRPr sz="4400" b="1" i="0" u="none" spc="300">
                <a:solidFill>
                  <a:schemeClr val="tx1">
                    <a:lumMod val="85000"/>
                    <a:lumOff val="15000"/>
                  </a:schemeClr>
                </a:solidFill>
              </a:defRPr>
            </a:lvl1pPr>
          </a:lstStyle>
          <a:p>
            <a:endParaRPr/>
          </a:p>
        </p:txBody>
      </p:sp>
      <p:sp>
        <p:nvSpPr>
          <p:cNvPr id="1048719" name="文本占位符 2"/>
          <p:cNvSpPr>
            <a:spLocks noGrp="1"/>
          </p:cNvSpPr>
          <p:nvPr>
            <p:ph type="body" idx="1"/>
          </p:nvPr>
        </p:nvSpPr>
        <p:spPr>
          <a:xfrm>
            <a:off x="1990800" y="4615200"/>
            <a:ext cx="7768800" cy="867600"/>
          </a:xfrm>
        </p:spPr>
        <p:txBody>
          <a:bodyPr lIns="90000" tIns="46800" rIns="90000" bIns="46800">
            <a:normAutofit/>
          </a:bodyPr>
          <a:lstStyle>
            <a:lvl1pPr marL="0" indent="0">
              <a:lnSpc>
                <a:spcPct val="130000"/>
              </a:lnSpc>
              <a:buNone/>
              <a:defRPr sz="1800" b="0" i="0" u="none" spc="150">
                <a:solidFill>
                  <a:schemeClr val="tx1">
                    <a:lumMod val="65000"/>
                    <a:lumOff val="35000"/>
                  </a:schemeClr>
                </a:solidFill>
                <a:latin typeface="Arial" panose="020B0604020202090204"/>
                <a:ea typeface="Arial" panose="020B0604020202090204"/>
                <a:cs typeface="Arial" panose="020B0604020202090204"/>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endParaRPr/>
          </a:p>
        </p:txBody>
      </p:sp>
      <p:sp>
        <p:nvSpPr>
          <p:cNvPr id="1048720" name="日期占位符 3"/>
          <p:cNvSpPr>
            <a:spLocks noGrp="1"/>
          </p:cNvSpPr>
          <p:nvPr>
            <p:ph type="dt" idx="10"/>
          </p:nvPr>
        </p:nvSpPr>
        <p:spPr/>
        <p:txBody>
          <a:bodyPr/>
          <a:lstStyle/>
          <a:p>
            <a:endParaRPr dirty="0"/>
          </a:p>
        </p:txBody>
      </p:sp>
      <p:sp>
        <p:nvSpPr>
          <p:cNvPr id="1048721" name="页脚占位符 4"/>
          <p:cNvSpPr>
            <a:spLocks noGrp="1"/>
          </p:cNvSpPr>
          <p:nvPr>
            <p:ph type="ftr" idx="11"/>
          </p:nvPr>
        </p:nvSpPr>
        <p:spPr/>
        <p:txBody>
          <a:bodyPr/>
          <a:lstStyle/>
          <a:p>
            <a:endParaRPr dirty="0"/>
          </a:p>
        </p:txBody>
      </p:sp>
    </p:spTree>
    <p:extLst>
      <p:ext uri="{BB962C8B-B14F-4D97-AF65-F5344CB8AC3E}">
        <p14:creationId xmlns:p14="http://schemas.microsoft.com/office/powerpoint/2010/main" val="40928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末尾幻灯片">
    <p:bg>
      <p:bgPr>
        <a:solidFill>
          <a:srgbClr val="FFFFFF"/>
        </a:solidFill>
        <a:effectLst/>
      </p:bgPr>
    </p:bg>
    <p:spTree>
      <p:nvGrpSpPr>
        <p:cNvPr id="1" name=""/>
        <p:cNvGrpSpPr/>
        <p:nvPr/>
      </p:nvGrpSpPr>
      <p:grpSpPr>
        <a:xfrm>
          <a:off x="0" y="0"/>
          <a:ext cx="0" cy="0"/>
          <a:chOff x="0" y="0"/>
          <a:chExt cx="0" cy="0"/>
        </a:xfrm>
      </p:grpSpPr>
      <p:sp>
        <p:nvSpPr>
          <p:cNvPr id="1048693" name="日期占位符 2"/>
          <p:cNvSpPr>
            <a:spLocks noGrp="1"/>
          </p:cNvSpPr>
          <p:nvPr>
            <p:ph type="dt" idx="10"/>
          </p:nvPr>
        </p:nvSpPr>
        <p:spPr/>
        <p:txBody>
          <a:bodyPr/>
          <a:lstStyle/>
          <a:p>
            <a:endParaRPr dirty="0"/>
          </a:p>
        </p:txBody>
      </p:sp>
      <p:sp>
        <p:nvSpPr>
          <p:cNvPr id="1048694" name="页脚占位符 3"/>
          <p:cNvSpPr>
            <a:spLocks noGrp="1"/>
          </p:cNvSpPr>
          <p:nvPr>
            <p:ph type="ftr" idx="11"/>
          </p:nvPr>
        </p:nvSpPr>
        <p:spPr/>
        <p:txBody>
          <a:bodyPr/>
          <a:lstStyle/>
          <a:p>
            <a:endParaRPr dirty="0"/>
          </a:p>
        </p:txBody>
      </p:sp>
      <p:sp>
        <p:nvSpPr>
          <p:cNvPr id="1048696" name="标题 1"/>
          <p:cNvSpPr>
            <a:spLocks noGrp="1"/>
          </p:cNvSpPr>
          <p:nvPr>
            <p:ph type="title"/>
          </p:nvPr>
        </p:nvSpPr>
        <p:spPr>
          <a:xfrm>
            <a:off x="1198800" y="2484000"/>
            <a:ext cx="9799200" cy="1018800"/>
          </a:xfrm>
        </p:spPr>
        <p:txBody>
          <a:bodyPr vert="horz" lIns="90000" tIns="46800" rIns="90000" bIns="46800" anchor="t">
            <a:normAutofit/>
          </a:bodyPr>
          <a:lstStyle>
            <a:lvl1pPr marL="0" algn="ctr">
              <a:lnSpc>
                <a:spcPct val="100000"/>
              </a:lnSpc>
              <a:buNone/>
              <a:defRPr sz="6000" b="1" i="0" u="none" spc="300">
                <a:solidFill>
                  <a:schemeClr val="tx1">
                    <a:lumMod val="85000"/>
                    <a:lumOff val="15000"/>
                  </a:schemeClr>
                </a:solidFill>
                <a:latin typeface="Arial" panose="020B0604020202090204"/>
                <a:ea typeface="Arial" panose="020B0604020202090204"/>
                <a:cs typeface="Arial" panose="020B0604020202090204"/>
              </a:defRPr>
            </a:lvl1pPr>
          </a:lstStyle>
          <a:p>
            <a:endParaRPr/>
          </a:p>
        </p:txBody>
      </p:sp>
      <p:sp>
        <p:nvSpPr>
          <p:cNvPr id="1048697" name="文本占位符 6"/>
          <p:cNvSpPr>
            <a:spLocks noGrp="1"/>
          </p:cNvSpPr>
          <p:nvPr>
            <p:ph type="body" idx="13"/>
          </p:nvPr>
        </p:nvSpPr>
        <p:spPr>
          <a:xfrm>
            <a:off x="1198800" y="3560400"/>
            <a:ext cx="9799200" cy="471600"/>
          </a:xfrm>
        </p:spPr>
        <p:txBody>
          <a:bodyPr lIns="90000" tIns="46800" rIns="90000" bIns="46800">
            <a:normAutofit/>
          </a:bodyPr>
          <a:lstStyle>
            <a:lvl1pPr marL="0" indent="0" algn="ctr">
              <a:lnSpc>
                <a:spcPct val="110000"/>
              </a:lnSpc>
              <a:buNone/>
              <a:defRPr sz="2400" spc="200">
                <a:solidFill>
                  <a:schemeClr val="tx1">
                    <a:lumMod val="65000"/>
                    <a:lumOff val="35000"/>
                  </a:schemeClr>
                </a:solidFill>
              </a:defRPr>
            </a:lvl1pPr>
          </a:lstStyle>
          <a:p>
            <a:endParaRPr/>
          </a:p>
        </p:txBody>
      </p:sp>
    </p:spTree>
    <p:extLst>
      <p:ext uri="{BB962C8B-B14F-4D97-AF65-F5344CB8AC3E}">
        <p14:creationId xmlns:p14="http://schemas.microsoft.com/office/powerpoint/2010/main" val="1250998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endParaRPr/>
          </a:p>
        </p:txBody>
      </p:sp>
      <p:sp>
        <p:nvSpPr>
          <p:cNvPr id="3" name="日期占位符 2"/>
          <p:cNvSpPr>
            <a:spLocks noGrp="1"/>
          </p:cNvSpPr>
          <p:nvPr>
            <p:ph type="dt" idx="10"/>
          </p:nvPr>
        </p:nvSpPr>
        <p:spPr/>
        <p:txBody>
          <a:bodyPr/>
          <a:lstStyle/>
          <a:p>
            <a:endParaRPr dirty="0"/>
          </a:p>
        </p:txBody>
      </p:sp>
      <p:sp>
        <p:nvSpPr>
          <p:cNvPr id="4" name="页脚占位符 3"/>
          <p:cNvSpPr>
            <a:spLocks noGrp="1"/>
          </p:cNvSpPr>
          <p:nvPr>
            <p:ph type="ftr" idx="11"/>
          </p:nvPr>
        </p:nvSpPr>
        <p:spPr/>
        <p:txBody>
          <a:bodyPr/>
          <a:lstStyle/>
          <a:p>
            <a:endParaRPr dirty="0"/>
          </a:p>
        </p:txBody>
      </p:sp>
    </p:spTree>
    <p:extLst>
      <p:ext uri="{BB962C8B-B14F-4D97-AF65-F5344CB8AC3E}">
        <p14:creationId xmlns:p14="http://schemas.microsoft.com/office/powerpoint/2010/main" val="384690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5" name="日期占位符 4"/>
          <p:cNvSpPr>
            <a:spLocks noGrp="1"/>
          </p:cNvSpPr>
          <p:nvPr>
            <p:ph type="dt" idx="10"/>
          </p:nvPr>
        </p:nvSpPr>
        <p:spPr/>
        <p:txBody>
          <a:bodyPr/>
          <a:lstStyle/>
          <a:p>
            <a:endParaRPr dirty="0"/>
          </a:p>
        </p:txBody>
      </p:sp>
      <p:sp>
        <p:nvSpPr>
          <p:cNvPr id="6" name="页脚占位符 5"/>
          <p:cNvSpPr>
            <a:spLocks noGrp="1"/>
          </p:cNvSpPr>
          <p:nvPr>
            <p:ph type="ftr" idx="11"/>
          </p:nvPr>
        </p:nvSpPr>
        <p:spPr/>
        <p:txBody>
          <a:bodyPr/>
          <a:lstStyle/>
          <a:p>
            <a:endParaRPr dirty="0"/>
          </a:p>
        </p:txBody>
      </p:sp>
      <p:sp>
        <p:nvSpPr>
          <p:cNvPr id="16" name="标题 30"/>
          <p:cNvSpPr>
            <a:spLocks noGrp="1"/>
          </p:cNvSpPr>
          <p:nvPr>
            <p:ph type="title"/>
          </p:nvPr>
        </p:nvSpPr>
        <p:spPr>
          <a:xfrm>
            <a:off x="838200" y="238574"/>
            <a:ext cx="10515600" cy="652815"/>
          </a:xfrm>
          <a:prstGeom prst="rect">
            <a:avLst/>
          </a:prstGeom>
        </p:spPr>
        <p:txBody>
          <a:bodyPr anchor="ctr">
            <a:noAutofit/>
          </a:bodyPr>
          <a:lstStyle>
            <a:lvl1pPr algn="l">
              <a:buNone/>
              <a:defRPr sz="4000" b="1">
                <a:solidFill>
                  <a:schemeClr val="bg1"/>
                </a:solidFill>
                <a:latin typeface="+mj-ea"/>
                <a:ea typeface="+mj-ea"/>
                <a:cs typeface="+mj-ea"/>
              </a:defRPr>
            </a:lvl1pPr>
          </a:lstStyle>
          <a:p>
            <a:endParaRPr/>
          </a:p>
        </p:txBody>
      </p:sp>
    </p:spTree>
    <p:extLst>
      <p:ext uri="{BB962C8B-B14F-4D97-AF65-F5344CB8AC3E}">
        <p14:creationId xmlns:p14="http://schemas.microsoft.com/office/powerpoint/2010/main" val="783752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目录">
    <p:bg>
      <p:bgPr>
        <a:solidFill>
          <a:srgbClr val="FFFFFF"/>
        </a:solidFill>
        <a:effectLst/>
      </p:bgPr>
    </p:bg>
    <p:spTree>
      <p:nvGrpSpPr>
        <p:cNvPr id="1" name=""/>
        <p:cNvGrpSpPr/>
        <p:nvPr/>
      </p:nvGrpSpPr>
      <p:grpSpPr>
        <a:xfrm>
          <a:off x="0" y="0"/>
          <a:ext cx="0" cy="0"/>
          <a:chOff x="0" y="0"/>
          <a:chExt cx="0" cy="0"/>
        </a:xfrm>
      </p:grpSpPr>
      <p:sp>
        <p:nvSpPr>
          <p:cNvPr id="1048714" name="日期占位符 1"/>
          <p:cNvSpPr>
            <a:spLocks noGrp="1"/>
          </p:cNvSpPr>
          <p:nvPr>
            <p:ph type="dt" idx="10"/>
          </p:nvPr>
        </p:nvSpPr>
        <p:spPr/>
        <p:txBody>
          <a:bodyPr/>
          <a:lstStyle/>
          <a:p>
            <a:endParaRPr dirty="0"/>
          </a:p>
        </p:txBody>
      </p:sp>
      <p:sp>
        <p:nvSpPr>
          <p:cNvPr id="1048715" name="页脚占位符 2"/>
          <p:cNvSpPr>
            <a:spLocks noGrp="1"/>
          </p:cNvSpPr>
          <p:nvPr>
            <p:ph type="ftr" idx="11"/>
          </p:nvPr>
        </p:nvSpPr>
        <p:spPr/>
        <p:txBody>
          <a:bodyPr/>
          <a:lstStyle/>
          <a:p>
            <a:endParaRPr dirty="0"/>
          </a:p>
        </p:txBody>
      </p:sp>
    </p:spTree>
    <p:extLst>
      <p:ext uri="{BB962C8B-B14F-4D97-AF65-F5344CB8AC3E}">
        <p14:creationId xmlns:p14="http://schemas.microsoft.com/office/powerpoint/2010/main" val="283173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buNone/>
              <a:defRPr sz="2800" b="0" i="0">
                <a:solidFill>
                  <a:schemeClr val="bg1"/>
                </a:solidFill>
                <a:latin typeface="Garamond"/>
                <a:ea typeface="Garamond"/>
                <a:cs typeface="Garamond"/>
              </a:defRPr>
            </a:lvl1pPr>
          </a:lstStyle>
          <a:p>
            <a:endParaRPr/>
          </a:p>
        </p:txBody>
      </p:sp>
      <p:sp>
        <p:nvSpPr>
          <p:cNvPr id="3" name="Holder 3"/>
          <p:cNvSpPr>
            <a:spLocks noGrp="1"/>
          </p:cNvSpPr>
          <p:nvPr>
            <p:ph idx="2"/>
          </p:nvPr>
        </p:nvSpPr>
        <p:spPr>
          <a:xfrm>
            <a:off x="609602" y="1577340"/>
            <a:ext cx="5303519" cy="441339"/>
          </a:xfrm>
          <a:prstGeom prst="rect">
            <a:avLst/>
          </a:prstGeom>
        </p:spPr>
        <p:txBody>
          <a:bodyPr wrap="square" lIns="0" tIns="0" rIns="0" bIns="0">
            <a:spAutoFit/>
          </a:bodyPr>
          <a:lstStyle>
            <a:lvl1pPr>
              <a:buNone/>
              <a:defRPr/>
            </a:lvl1pPr>
          </a:lstStyle>
          <a:p>
            <a:endParaRPr/>
          </a:p>
        </p:txBody>
      </p:sp>
      <p:sp>
        <p:nvSpPr>
          <p:cNvPr id="4" name="Holder 4"/>
          <p:cNvSpPr>
            <a:spLocks noGrp="1"/>
          </p:cNvSpPr>
          <p:nvPr>
            <p:ph idx="3"/>
          </p:nvPr>
        </p:nvSpPr>
        <p:spPr>
          <a:xfrm>
            <a:off x="6278881" y="1577340"/>
            <a:ext cx="5303519" cy="441339"/>
          </a:xfrm>
          <a:prstGeom prst="rect">
            <a:avLst/>
          </a:prstGeom>
        </p:spPr>
        <p:txBody>
          <a:bodyPr wrap="square" lIns="0" tIns="0" rIns="0" bIns="0">
            <a:spAutoFit/>
          </a:bodyPr>
          <a:lstStyle>
            <a:lvl1pPr>
              <a:buNone/>
              <a:defRPr/>
            </a:lvl1pPr>
          </a:lstStyle>
          <a:p>
            <a:endParaRPr/>
          </a:p>
        </p:txBody>
      </p:sp>
      <p:sp>
        <p:nvSpPr>
          <p:cNvPr id="5" name="Holder 5"/>
          <p:cNvSpPr>
            <a:spLocks noGrp="1"/>
          </p:cNvSpPr>
          <p:nvPr>
            <p:ph type="ftr" idx="5"/>
          </p:nvPr>
        </p:nvSpPr>
        <p:spPr/>
        <p:txBody>
          <a:bodyPr lIns="0" tIns="0" rIns="0" bIns="0"/>
          <a:lstStyle>
            <a:lvl1pPr algn="ctr">
              <a:buNone/>
              <a:defRPr>
                <a:solidFill>
                  <a:schemeClr val="tx1">
                    <a:tint val="75000"/>
                  </a:schemeClr>
                </a:solidFill>
              </a:defRPr>
            </a:lvl1pPr>
          </a:lstStyle>
          <a:p>
            <a:endParaRPr dirty="0"/>
          </a:p>
        </p:txBody>
      </p:sp>
      <p:sp>
        <p:nvSpPr>
          <p:cNvPr id="6" name="Holder 6"/>
          <p:cNvSpPr>
            <a:spLocks noGrp="1"/>
          </p:cNvSpPr>
          <p:nvPr>
            <p:ph type="dt" idx="6"/>
          </p:nvPr>
        </p:nvSpPr>
        <p:spPr/>
        <p:txBody>
          <a:bodyPr lIns="0" tIns="0" rIns="0" bIns="0"/>
          <a:lstStyle>
            <a:lvl1pPr algn="l">
              <a:buNone/>
              <a:defRPr>
                <a:solidFill>
                  <a:schemeClr val="tx1">
                    <a:tint val="75000"/>
                  </a:schemeClr>
                </a:solidFill>
              </a:defRPr>
            </a:lvl1pPr>
          </a:lstStyle>
          <a:p>
            <a:endParaRPr dirty="0"/>
          </a:p>
        </p:txBody>
      </p:sp>
    </p:spTree>
    <p:extLst>
      <p:ext uri="{BB962C8B-B14F-4D97-AF65-F5344CB8AC3E}">
        <p14:creationId xmlns:p14="http://schemas.microsoft.com/office/powerpoint/2010/main" val="129229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occ">
    <p:bg>
      <p:bgPr>
        <a:solidFill>
          <a:schemeClr val="bg1"/>
        </a:solid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608400" y="608400"/>
            <a:ext cx="10969200" cy="705600"/>
          </a:xfrm>
          <a:prstGeom prst="rect">
            <a:avLst/>
          </a:prstGeom>
        </p:spPr>
        <p:txBody>
          <a:bodyPr vert="horz" lIns="90170" tIns="46990" rIns="90170" bIns="46990" anchor="ctr">
            <a:noAutofit/>
          </a:bodyPr>
          <a:lstStyle>
            <a:lvl1pPr>
              <a:buNone/>
              <a:defRPr sz="4000" spc="0">
                <a:solidFill>
                  <a:srgbClr val="4A194E"/>
                </a:solidFill>
              </a:defRPr>
            </a:lvl1pPr>
          </a:lstStyle>
          <a:p>
            <a:endParaRPr/>
          </a:p>
        </p:txBody>
      </p:sp>
      <p:sp>
        <p:nvSpPr>
          <p:cNvPr id="8" name="文本占位符 2"/>
          <p:cNvSpPr>
            <a:spLocks noGrp="1"/>
          </p:cNvSpPr>
          <p:nvPr>
            <p:ph idx="1"/>
          </p:nvPr>
        </p:nvSpPr>
        <p:spPr>
          <a:xfrm>
            <a:off x="608400" y="1490400"/>
            <a:ext cx="10969200" cy="4759200"/>
          </a:xfrm>
          <a:prstGeom prst="rect">
            <a:avLst/>
          </a:prstGeom>
        </p:spPr>
        <p:txBody>
          <a:bodyPr vert="horz" lIns="90000" tIns="46800" rIns="90000" bIns="46800">
            <a:normAutofit/>
          </a:bodyPr>
          <a:lstStyle>
            <a:lvl1pPr>
              <a:lnSpc>
                <a:spcPct val="100000"/>
              </a:lnSpc>
              <a:buNone/>
              <a:defRPr sz="2800" spc="0">
                <a:solidFill>
                  <a:schemeClr val="tx1"/>
                </a:solidFill>
              </a:defRPr>
            </a:lvl1pPr>
            <a:lvl2pPr>
              <a:lnSpc>
                <a:spcPct val="100000"/>
              </a:lnSpc>
              <a:buNone/>
              <a:defRPr sz="2400" spc="0">
                <a:solidFill>
                  <a:schemeClr val="tx1"/>
                </a:solidFill>
              </a:defRPr>
            </a:lvl2pPr>
            <a:lvl3pPr>
              <a:lnSpc>
                <a:spcPct val="100000"/>
              </a:lnSpc>
              <a:buNone/>
              <a:defRPr sz="2000" spc="0">
                <a:solidFill>
                  <a:schemeClr val="tx1"/>
                </a:solidFill>
              </a:defRPr>
            </a:lvl3pPr>
            <a:lvl4pPr>
              <a:lnSpc>
                <a:spcPct val="100000"/>
              </a:lnSpc>
              <a:buNone/>
              <a:defRPr sz="1800" spc="0">
                <a:solidFill>
                  <a:schemeClr val="tx1"/>
                </a:solidFill>
              </a:defRPr>
            </a:lvl4pPr>
            <a:lvl5pPr>
              <a:lnSpc>
                <a:spcPct val="100000"/>
              </a:lnSpc>
              <a:buNone/>
              <a:defRPr sz="1600" spc="0">
                <a:solidFill>
                  <a:schemeClr val="tx1"/>
                </a:solidFill>
              </a:defRPr>
            </a:lvl5pPr>
          </a:lstStyle>
          <a:p>
            <a:endParaRPr/>
          </a:p>
        </p:txBody>
      </p:sp>
    </p:spTree>
    <p:extLst>
      <p:ext uri="{BB962C8B-B14F-4D97-AF65-F5344CB8AC3E}">
        <p14:creationId xmlns:p14="http://schemas.microsoft.com/office/powerpoint/2010/main" val="2023815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标题幻灯片">
    <p:bg>
      <p:bgPr>
        <a:gradFill>
          <a:gsLst>
            <a:gs pos="0">
              <a:srgbClr val="3E2146"/>
            </a:gs>
            <a:gs pos="53000">
              <a:srgbClr val="5C0C5C"/>
            </a:gs>
            <a:gs pos="100000">
              <a:srgbClr val="8C4BA0"/>
            </a:gs>
          </a:gsLst>
          <a:lin ang="5400000"/>
        </a:gradFill>
        <a:effectLst/>
      </p:bgPr>
    </p:bg>
    <p:spTree>
      <p:nvGrpSpPr>
        <p:cNvPr id="1" name=""/>
        <p:cNvGrpSpPr/>
        <p:nvPr/>
      </p:nvGrpSpPr>
      <p:grpSpPr>
        <a:xfrm>
          <a:off x="0" y="0"/>
          <a:ext cx="0" cy="0"/>
          <a:chOff x="0" y="0"/>
          <a:chExt cx="0" cy="0"/>
        </a:xfrm>
      </p:grpSpPr>
      <p:sp>
        <p:nvSpPr>
          <p:cNvPr id="1048582" name="标题 30"/>
          <p:cNvSpPr>
            <a:spLocks noGrp="1"/>
          </p:cNvSpPr>
          <p:nvPr>
            <p:ph type="title"/>
          </p:nvPr>
        </p:nvSpPr>
        <p:spPr>
          <a:xfrm>
            <a:off x="2828660" y="2448150"/>
            <a:ext cx="6522873" cy="705600"/>
          </a:xfrm>
          <a:prstGeom prst="rect">
            <a:avLst/>
          </a:prstGeom>
        </p:spPr>
        <p:txBody>
          <a:bodyPr anchor="ctr">
            <a:noAutofit/>
          </a:bodyPr>
          <a:lstStyle>
            <a:lvl1pPr algn="ctr">
              <a:buNone/>
              <a:defRPr sz="5400" b="1">
                <a:solidFill>
                  <a:schemeClr val="bg1"/>
                </a:solidFill>
                <a:latin typeface="+mj-ea"/>
                <a:ea typeface="+mj-ea"/>
                <a:cs typeface="+mj-ea"/>
              </a:defRPr>
            </a:lvl1pPr>
          </a:lstStyle>
          <a:p>
            <a:endParaRPr/>
          </a:p>
        </p:txBody>
      </p:sp>
    </p:spTree>
    <p:extLst>
      <p:ext uri="{BB962C8B-B14F-4D97-AF65-F5344CB8AC3E}">
        <p14:creationId xmlns:p14="http://schemas.microsoft.com/office/powerpoint/2010/main" val="1139781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标题和内容">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1180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cSld name="1_仅标题">
    <p:bg>
      <p:bgPr>
        <a:solidFill>
          <a:srgbClr val="FFFFFF"/>
        </a:solidFill>
        <a:effectLst/>
      </p:bgPr>
    </p:bg>
    <p:spTree>
      <p:nvGrpSpPr>
        <p:cNvPr id="1" name=""/>
        <p:cNvGrpSpPr/>
        <p:nvPr/>
      </p:nvGrpSpPr>
      <p:grpSpPr>
        <a:xfrm>
          <a:off x="0" y="0"/>
          <a:ext cx="0" cy="0"/>
          <a:chOff x="0" y="0"/>
          <a:chExt cx="0" cy="0"/>
        </a:xfrm>
      </p:grpSpPr>
      <p:sp>
        <p:nvSpPr>
          <p:cNvPr id="1048731" name="标题 1"/>
          <p:cNvSpPr>
            <a:spLocks noGrp="1"/>
          </p:cNvSpPr>
          <p:nvPr>
            <p:ph type="title"/>
          </p:nvPr>
        </p:nvSpPr>
        <p:spPr>
          <a:xfrm>
            <a:off x="608400" y="608400"/>
            <a:ext cx="10969200" cy="705600"/>
          </a:xfrm>
        </p:spPr>
        <p:txBody>
          <a:bodyPr vert="horz" lIns="90000" tIns="46800" rIns="90000" bIns="46800" anchor="ctr">
            <a:normAutofit/>
          </a:bodyPr>
          <a:lstStyle>
            <a:lvl1pPr marL="0" algn="l">
              <a:lnSpc>
                <a:spcPct val="100000"/>
              </a:lnSpc>
              <a:buNone/>
              <a:defRPr sz="3600" b="1" i="0" u="none" spc="300">
                <a:solidFill>
                  <a:schemeClr val="tx1">
                    <a:lumMod val="85000"/>
                    <a:lumOff val="15000"/>
                  </a:schemeClr>
                </a:solidFill>
                <a:latin typeface="Arial" panose="020B0604020202090204"/>
                <a:ea typeface="Arial" panose="020B0604020202090204"/>
                <a:cs typeface="Arial" panose="020B0604020202090204"/>
              </a:defRPr>
            </a:lvl1pPr>
          </a:lstStyle>
          <a:p>
            <a:endParaRPr/>
          </a:p>
        </p:txBody>
      </p:sp>
      <p:sp>
        <p:nvSpPr>
          <p:cNvPr id="1048732" name="日期占位符 2"/>
          <p:cNvSpPr>
            <a:spLocks noGrp="1"/>
          </p:cNvSpPr>
          <p:nvPr>
            <p:ph type="dt" idx="10"/>
          </p:nvPr>
        </p:nvSpPr>
        <p:spPr/>
        <p:txBody>
          <a:bodyPr/>
          <a:lstStyle/>
          <a:p>
            <a:endParaRPr dirty="0"/>
          </a:p>
        </p:txBody>
      </p:sp>
      <p:sp>
        <p:nvSpPr>
          <p:cNvPr id="1048733" name="页脚占位符 3"/>
          <p:cNvSpPr>
            <a:spLocks noGrp="1"/>
          </p:cNvSpPr>
          <p:nvPr>
            <p:ph type="ftr" idx="11"/>
          </p:nvPr>
        </p:nvSpPr>
        <p:spPr/>
        <p:txBody>
          <a:bodyPr/>
          <a:lstStyle/>
          <a:p>
            <a:endParaRPr dirty="0"/>
          </a:p>
        </p:txBody>
      </p:sp>
    </p:spTree>
    <p:extLst>
      <p:ext uri="{BB962C8B-B14F-4D97-AF65-F5344CB8AC3E}">
        <p14:creationId xmlns:p14="http://schemas.microsoft.com/office/powerpoint/2010/main" val="13442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cSld name="1_竖排标题与文本">
    <p:spTree>
      <p:nvGrpSpPr>
        <p:cNvPr id="1" name=""/>
        <p:cNvGrpSpPr/>
        <p:nvPr/>
      </p:nvGrpSpPr>
      <p:grpSpPr>
        <a:xfrm>
          <a:off x="0" y="0"/>
          <a:ext cx="0" cy="0"/>
          <a:chOff x="0" y="0"/>
          <a:chExt cx="0" cy="0"/>
        </a:xfrm>
      </p:grpSpPr>
      <p:sp>
        <p:nvSpPr>
          <p:cNvPr id="2" name="竖排标题 1"/>
          <p:cNvSpPr>
            <a:spLocks noGrp="1"/>
          </p:cNvSpPr>
          <p:nvPr>
            <p:ph type="title"/>
          </p:nvPr>
        </p:nvSpPr>
        <p:spPr>
          <a:xfrm>
            <a:off x="8724900" y="365125"/>
            <a:ext cx="2628900" cy="5811838"/>
          </a:xfrm>
          <a:prstGeom prst="rect">
            <a:avLst/>
          </a:prstGeom>
        </p:spPr>
        <p:txBody>
          <a:bodyPr vert="eaVert"/>
          <a:lstStyle/>
          <a:p>
            <a:endParaRPr/>
          </a:p>
        </p:txBody>
      </p:sp>
      <p:sp>
        <p:nvSpPr>
          <p:cNvPr id="3" name="竖排文字占位符 2"/>
          <p:cNvSpPr>
            <a:spLocks noGrp="1"/>
          </p:cNvSpPr>
          <p:nvPr>
            <p:ph type="body" idx="1"/>
          </p:nvPr>
        </p:nvSpPr>
        <p:spPr>
          <a:xfrm>
            <a:off x="838200" y="365125"/>
            <a:ext cx="7734300" cy="5811838"/>
          </a:xfrm>
        </p:spPr>
        <p:txBody>
          <a:bodyPr vert="eaVert"/>
          <a:lstStyle/>
          <a:p>
            <a:endParaRPr/>
          </a:p>
        </p:txBody>
      </p:sp>
      <p:sp>
        <p:nvSpPr>
          <p:cNvPr id="4" name="日期占位符 3"/>
          <p:cNvSpPr>
            <a:spLocks noGrp="1"/>
          </p:cNvSpPr>
          <p:nvPr>
            <p:ph type="dt" idx="10"/>
          </p:nvPr>
        </p:nvSpPr>
        <p:spPr/>
        <p:txBody>
          <a:bodyPr/>
          <a:lstStyle/>
          <a:p>
            <a:endParaRPr dirty="0"/>
          </a:p>
        </p:txBody>
      </p:sp>
      <p:sp>
        <p:nvSpPr>
          <p:cNvPr id="5" name="页脚占位符 4"/>
          <p:cNvSpPr>
            <a:spLocks noGrp="1"/>
          </p:cNvSpPr>
          <p:nvPr>
            <p:ph type="ftr" idx="11"/>
          </p:nvPr>
        </p:nvSpPr>
        <p:spPr/>
        <p:txBody>
          <a:bodyPr/>
          <a:lstStyle/>
          <a:p>
            <a:endParaRPr dirty="0"/>
          </a:p>
        </p:txBody>
      </p:sp>
    </p:spTree>
    <p:extLst>
      <p:ext uri="{BB962C8B-B14F-4D97-AF65-F5344CB8AC3E}">
        <p14:creationId xmlns:p14="http://schemas.microsoft.com/office/powerpoint/2010/main" val="209601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buNone/>
              <a:defRPr sz="3200"/>
            </a:lvl1pPr>
          </a:lstStyle>
          <a:p>
            <a:endParaRP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endParaRPr/>
          </a:p>
        </p:txBody>
      </p:sp>
      <p:sp>
        <p:nvSpPr>
          <p:cNvPr id="5" name="日期占位符 4"/>
          <p:cNvSpPr>
            <a:spLocks noGrp="1"/>
          </p:cNvSpPr>
          <p:nvPr>
            <p:ph type="dt" idx="10"/>
          </p:nvPr>
        </p:nvSpPr>
        <p:spPr/>
        <p:txBody>
          <a:bodyPr/>
          <a:lstStyle/>
          <a:p>
            <a:endParaRPr dirty="0"/>
          </a:p>
        </p:txBody>
      </p:sp>
      <p:sp>
        <p:nvSpPr>
          <p:cNvPr id="6" name="页脚占位符 5"/>
          <p:cNvSpPr>
            <a:spLocks noGrp="1"/>
          </p:cNvSpPr>
          <p:nvPr>
            <p:ph type="ftr" idx="11"/>
          </p:nvPr>
        </p:nvSpPr>
        <p:spPr/>
        <p:txBody>
          <a:bodyPr/>
          <a:lstStyle/>
          <a:p>
            <a:endParaRPr dirty="0"/>
          </a:p>
        </p:txBody>
      </p:sp>
    </p:spTree>
    <p:extLst>
      <p:ext uri="{BB962C8B-B14F-4D97-AF65-F5344CB8AC3E}">
        <p14:creationId xmlns:p14="http://schemas.microsoft.com/office/powerpoint/2010/main" val="2823994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_标题和内容">
    <p:bg>
      <p:bgPr>
        <a:solidFill>
          <a:schemeClr val="bg1"/>
        </a:solid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608400" y="608400"/>
            <a:ext cx="10969200" cy="705600"/>
          </a:xfrm>
          <a:prstGeom prst="rect">
            <a:avLst/>
          </a:prstGeom>
        </p:spPr>
        <p:txBody>
          <a:bodyPr vert="horz" lIns="90170" tIns="46990" rIns="90170" bIns="46990" anchor="ctr">
            <a:noAutofit/>
          </a:bodyPr>
          <a:lstStyle>
            <a:lvl1pPr>
              <a:buNone/>
              <a:defRPr sz="5400" spc="0">
                <a:solidFill>
                  <a:srgbClr val="4A194E"/>
                </a:solidFill>
              </a:defRPr>
            </a:lvl1pPr>
          </a:lstStyle>
          <a:p>
            <a:endParaRPr/>
          </a:p>
        </p:txBody>
      </p:sp>
      <p:sp>
        <p:nvSpPr>
          <p:cNvPr id="8" name="文本占位符 2"/>
          <p:cNvSpPr>
            <a:spLocks noGrp="1"/>
          </p:cNvSpPr>
          <p:nvPr>
            <p:ph idx="1"/>
          </p:nvPr>
        </p:nvSpPr>
        <p:spPr>
          <a:xfrm>
            <a:off x="608400" y="1490400"/>
            <a:ext cx="10969200" cy="4759200"/>
          </a:xfrm>
          <a:prstGeom prst="rect">
            <a:avLst/>
          </a:prstGeom>
        </p:spPr>
        <p:txBody>
          <a:bodyPr vert="horz" lIns="90000" tIns="46800" rIns="90000" bIns="46800">
            <a:normAutofit/>
          </a:bodyPr>
          <a:lstStyle>
            <a:lvl1pPr>
              <a:lnSpc>
                <a:spcPct val="100000"/>
              </a:lnSpc>
              <a:buNone/>
              <a:defRPr sz="2800" spc="0">
                <a:solidFill>
                  <a:schemeClr val="tx1"/>
                </a:solidFill>
              </a:defRPr>
            </a:lvl1pPr>
            <a:lvl2pPr>
              <a:lnSpc>
                <a:spcPct val="100000"/>
              </a:lnSpc>
              <a:buNone/>
              <a:defRPr sz="2400" spc="0">
                <a:solidFill>
                  <a:schemeClr val="tx1"/>
                </a:solidFill>
              </a:defRPr>
            </a:lvl2pPr>
            <a:lvl3pPr>
              <a:lnSpc>
                <a:spcPct val="100000"/>
              </a:lnSpc>
              <a:buNone/>
              <a:defRPr sz="2000" spc="0">
                <a:solidFill>
                  <a:schemeClr val="tx1"/>
                </a:solidFill>
              </a:defRPr>
            </a:lvl3pPr>
            <a:lvl4pPr>
              <a:lnSpc>
                <a:spcPct val="100000"/>
              </a:lnSpc>
              <a:buNone/>
              <a:defRPr sz="1800" spc="0">
                <a:solidFill>
                  <a:schemeClr val="tx1"/>
                </a:solidFill>
              </a:defRPr>
            </a:lvl4pPr>
            <a:lvl5pPr>
              <a:lnSpc>
                <a:spcPct val="100000"/>
              </a:lnSpc>
              <a:buNone/>
              <a:defRPr sz="1600" spc="0">
                <a:solidFill>
                  <a:schemeClr val="tx1"/>
                </a:solidFill>
              </a:defRPr>
            </a:lvl5pPr>
          </a:lstStyle>
          <a:p>
            <a:endParaRPr/>
          </a:p>
        </p:txBody>
      </p:sp>
    </p:spTree>
    <p:extLst>
      <p:ext uri="{BB962C8B-B14F-4D97-AF65-F5344CB8AC3E}">
        <p14:creationId xmlns:p14="http://schemas.microsoft.com/office/powerpoint/2010/main" val="1565775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
        <p:nvSpPr>
          <p:cNvPr id="4" name="日期占位符 3"/>
          <p:cNvSpPr>
            <a:spLocks noGrp="1"/>
          </p:cNvSpPr>
          <p:nvPr>
            <p:ph type="dt" idx="10"/>
          </p:nvPr>
        </p:nvSpPr>
        <p:spPr/>
        <p:txBody>
          <a:bodyPr/>
          <a:lstStyle/>
          <a:p>
            <a:endParaRPr dirty="0"/>
          </a:p>
        </p:txBody>
      </p:sp>
      <p:sp>
        <p:nvSpPr>
          <p:cNvPr id="5" name="页脚占位符 4"/>
          <p:cNvSpPr>
            <a:spLocks noGrp="1"/>
          </p:cNvSpPr>
          <p:nvPr>
            <p:ph type="ftr" idx="11"/>
          </p:nvPr>
        </p:nvSpPr>
        <p:spPr/>
        <p:txBody>
          <a:bodyPr/>
          <a:lstStyle/>
          <a:p>
            <a:endParaRPr dirty="0"/>
          </a:p>
        </p:txBody>
      </p:sp>
      <p:sp>
        <p:nvSpPr>
          <p:cNvPr id="7" name="标题 30"/>
          <p:cNvSpPr>
            <a:spLocks noGrp="1"/>
          </p:cNvSpPr>
          <p:nvPr>
            <p:ph type="title"/>
          </p:nvPr>
        </p:nvSpPr>
        <p:spPr>
          <a:xfrm>
            <a:off x="838200" y="238574"/>
            <a:ext cx="10515600" cy="652815"/>
          </a:xfrm>
          <a:prstGeom prst="rect">
            <a:avLst/>
          </a:prstGeom>
        </p:spPr>
        <p:txBody>
          <a:bodyPr anchor="ctr">
            <a:noAutofit/>
          </a:bodyPr>
          <a:lstStyle>
            <a:lvl1pPr algn="l">
              <a:buNone/>
              <a:defRPr sz="4000" b="1">
                <a:solidFill>
                  <a:schemeClr val="bg1"/>
                </a:solidFill>
                <a:latin typeface="+mj-ea"/>
                <a:ea typeface="+mj-ea"/>
                <a:cs typeface="+mj-ea"/>
              </a:defRPr>
            </a:lvl1pPr>
          </a:lstStyle>
          <a:p>
            <a:endParaRPr/>
          </a:p>
        </p:txBody>
      </p:sp>
    </p:spTree>
    <p:extLst>
      <p:ext uri="{BB962C8B-B14F-4D97-AF65-F5344CB8AC3E}">
        <p14:creationId xmlns:p14="http://schemas.microsoft.com/office/powerpoint/2010/main" val="345651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design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a:p>
        </p:txBody>
      </p:sp>
      <p:sp>
        <p:nvSpPr>
          <p:cNvPr id="4" name="日期占位符 3"/>
          <p:cNvSpPr>
            <a:spLocks noGrp="1"/>
          </p:cNvSpPr>
          <p:nvPr>
            <p:ph type="dt" idx="10"/>
          </p:nvPr>
        </p:nvSpPr>
        <p:spPr/>
        <p:txBody>
          <a:bodyPr/>
          <a:lstStyle/>
          <a:p>
            <a:endParaRPr dirty="0"/>
          </a:p>
        </p:txBody>
      </p:sp>
    </p:spTree>
    <p:extLst>
      <p:ext uri="{BB962C8B-B14F-4D97-AF65-F5344CB8AC3E}">
        <p14:creationId xmlns:p14="http://schemas.microsoft.com/office/powerpoint/2010/main" val="237823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4_标题和内容">
    <p:bg>
      <p:bgPr>
        <a:solidFill>
          <a:schemeClr val="bg1"/>
        </a:solid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608400" y="608400"/>
            <a:ext cx="10969200" cy="705600"/>
          </a:xfrm>
          <a:prstGeom prst="rect">
            <a:avLst/>
          </a:prstGeom>
        </p:spPr>
        <p:txBody>
          <a:bodyPr vert="horz" lIns="90170" tIns="46990" rIns="90170" bIns="46990" anchor="ctr">
            <a:noAutofit/>
          </a:bodyPr>
          <a:lstStyle>
            <a:lvl1pPr>
              <a:buNone/>
              <a:defRPr sz="5400" spc="0">
                <a:solidFill>
                  <a:srgbClr val="4A194E"/>
                </a:solidFill>
              </a:defRPr>
            </a:lvl1pPr>
          </a:lstStyle>
          <a:p>
            <a:endParaRPr/>
          </a:p>
        </p:txBody>
      </p:sp>
      <p:sp>
        <p:nvSpPr>
          <p:cNvPr id="8" name="文本占位符 2"/>
          <p:cNvSpPr>
            <a:spLocks noGrp="1"/>
          </p:cNvSpPr>
          <p:nvPr>
            <p:ph idx="1"/>
          </p:nvPr>
        </p:nvSpPr>
        <p:spPr>
          <a:xfrm>
            <a:off x="608400" y="1490400"/>
            <a:ext cx="10969200" cy="4759200"/>
          </a:xfrm>
          <a:prstGeom prst="rect">
            <a:avLst/>
          </a:prstGeom>
        </p:spPr>
        <p:txBody>
          <a:bodyPr vert="horz" lIns="90000" tIns="46800" rIns="90000" bIns="46800">
            <a:normAutofit/>
          </a:bodyPr>
          <a:lstStyle>
            <a:lvl1pPr>
              <a:lnSpc>
                <a:spcPct val="100000"/>
              </a:lnSpc>
              <a:buNone/>
              <a:defRPr sz="2800" spc="0">
                <a:solidFill>
                  <a:schemeClr val="tx1"/>
                </a:solidFill>
              </a:defRPr>
            </a:lvl1pPr>
            <a:lvl2pPr>
              <a:lnSpc>
                <a:spcPct val="100000"/>
              </a:lnSpc>
              <a:buNone/>
              <a:defRPr sz="2400" spc="0">
                <a:solidFill>
                  <a:schemeClr val="tx1"/>
                </a:solidFill>
              </a:defRPr>
            </a:lvl2pPr>
            <a:lvl3pPr>
              <a:lnSpc>
                <a:spcPct val="100000"/>
              </a:lnSpc>
              <a:buNone/>
              <a:defRPr sz="2000" spc="0">
                <a:solidFill>
                  <a:schemeClr val="tx1"/>
                </a:solidFill>
              </a:defRPr>
            </a:lvl3pPr>
            <a:lvl4pPr>
              <a:lnSpc>
                <a:spcPct val="100000"/>
              </a:lnSpc>
              <a:buNone/>
              <a:defRPr sz="1800" spc="0">
                <a:solidFill>
                  <a:schemeClr val="tx1"/>
                </a:solidFill>
              </a:defRPr>
            </a:lvl4pPr>
            <a:lvl5pPr>
              <a:lnSpc>
                <a:spcPct val="100000"/>
              </a:lnSpc>
              <a:buNone/>
              <a:defRPr sz="1600" spc="0">
                <a:solidFill>
                  <a:schemeClr val="tx1"/>
                </a:solidFill>
              </a:defRPr>
            </a:lvl5pPr>
          </a:lstStyle>
          <a:p>
            <a:endParaRPr/>
          </a:p>
        </p:txBody>
      </p:sp>
    </p:spTree>
    <p:extLst>
      <p:ext uri="{BB962C8B-B14F-4D97-AF65-F5344CB8AC3E}">
        <p14:creationId xmlns:p14="http://schemas.microsoft.com/office/powerpoint/2010/main" val="1143362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endParaRPr/>
          </a:p>
        </p:txBody>
      </p:sp>
      <p:sp>
        <p:nvSpPr>
          <p:cNvPr id="3" name="竖排文字占位符 2"/>
          <p:cNvSpPr>
            <a:spLocks noGrp="1"/>
          </p:cNvSpPr>
          <p:nvPr>
            <p:ph type="body" idx="1"/>
          </p:nvPr>
        </p:nvSpPr>
        <p:spPr/>
        <p:txBody>
          <a:bodyPr vert="eaVert"/>
          <a:lstStyle/>
          <a:p>
            <a:endParaRPr/>
          </a:p>
        </p:txBody>
      </p:sp>
      <p:sp>
        <p:nvSpPr>
          <p:cNvPr id="4" name="日期占位符 3"/>
          <p:cNvSpPr>
            <a:spLocks noGrp="1"/>
          </p:cNvSpPr>
          <p:nvPr>
            <p:ph type="dt" idx="10"/>
          </p:nvPr>
        </p:nvSpPr>
        <p:spPr/>
        <p:txBody>
          <a:bodyPr/>
          <a:lstStyle/>
          <a:p>
            <a:endParaRPr dirty="0"/>
          </a:p>
        </p:txBody>
      </p:sp>
      <p:sp>
        <p:nvSpPr>
          <p:cNvPr id="5" name="页脚占位符 4"/>
          <p:cNvSpPr>
            <a:spLocks noGrp="1"/>
          </p:cNvSpPr>
          <p:nvPr>
            <p:ph type="ftr" idx="11"/>
          </p:nvPr>
        </p:nvSpPr>
        <p:spPr/>
        <p:txBody>
          <a:bodyPr/>
          <a:lstStyle/>
          <a:p>
            <a:endParaRPr dirty="0"/>
          </a:p>
        </p:txBody>
      </p:sp>
    </p:spTree>
    <p:extLst>
      <p:ext uri="{BB962C8B-B14F-4D97-AF65-F5344CB8AC3E}">
        <p14:creationId xmlns:p14="http://schemas.microsoft.com/office/powerpoint/2010/main" val="259606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内容">
    <p:bg>
      <p:bgPr>
        <a:solidFill>
          <a:srgbClr val="FFFFFF"/>
        </a:solidFill>
        <a:effectLst/>
      </p:bgPr>
    </p:bg>
    <p:spTree>
      <p:nvGrpSpPr>
        <p:cNvPr id="1" name=""/>
        <p:cNvGrpSpPr/>
        <p:nvPr/>
      </p:nvGrpSpPr>
      <p:grpSpPr>
        <a:xfrm>
          <a:off x="0" y="0"/>
          <a:ext cx="0" cy="0"/>
          <a:chOff x="0" y="0"/>
          <a:chExt cx="0" cy="0"/>
        </a:xfrm>
      </p:grpSpPr>
      <p:sp>
        <p:nvSpPr>
          <p:cNvPr id="1048698" name="日期占位符 2"/>
          <p:cNvSpPr>
            <a:spLocks noGrp="1"/>
          </p:cNvSpPr>
          <p:nvPr>
            <p:ph type="dt" idx="10"/>
          </p:nvPr>
        </p:nvSpPr>
        <p:spPr/>
        <p:txBody>
          <a:bodyPr/>
          <a:lstStyle/>
          <a:p>
            <a:endParaRPr dirty="0"/>
          </a:p>
        </p:txBody>
      </p:sp>
      <p:sp>
        <p:nvSpPr>
          <p:cNvPr id="1048699" name="页脚占位符 3"/>
          <p:cNvSpPr>
            <a:spLocks noGrp="1"/>
          </p:cNvSpPr>
          <p:nvPr>
            <p:ph type="ftr" idx="11"/>
          </p:nvPr>
        </p:nvSpPr>
        <p:spPr/>
        <p:txBody>
          <a:bodyPr/>
          <a:lstStyle/>
          <a:p>
            <a:endParaRPr dirty="0"/>
          </a:p>
        </p:txBody>
      </p:sp>
    </p:spTree>
    <p:extLst>
      <p:ext uri="{BB962C8B-B14F-4D97-AF65-F5344CB8AC3E}">
        <p14:creationId xmlns:p14="http://schemas.microsoft.com/office/powerpoint/2010/main" val="335931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图片与标题">
    <p:bg>
      <p:bgPr>
        <a:solidFill>
          <a:srgbClr val="FFFFFF"/>
        </a:solidFill>
        <a:effectLst/>
      </p:bgPr>
    </p:bg>
    <p:spTree>
      <p:nvGrpSpPr>
        <p:cNvPr id="1" name=""/>
        <p:cNvGrpSpPr/>
        <p:nvPr/>
      </p:nvGrpSpPr>
      <p:grpSpPr>
        <a:xfrm>
          <a:off x="0" y="0"/>
          <a:ext cx="0" cy="0"/>
          <a:chOff x="0" y="0"/>
          <a:chExt cx="0" cy="0"/>
        </a:xfrm>
      </p:grpSpPr>
      <p:sp>
        <p:nvSpPr>
          <p:cNvPr id="1048702" name="图片占位符 2"/>
          <p:cNvSpPr>
            <a:spLocks noGrp="1"/>
          </p:cNvSpPr>
          <p:nvPr>
            <p:ph type="pic" idx="1"/>
          </p:nvPr>
        </p:nvSpPr>
        <p:spPr>
          <a:xfrm>
            <a:off x="608400" y="1555200"/>
            <a:ext cx="5233077" cy="4608000"/>
          </a:xfrm>
        </p:spPr>
        <p:txBody>
          <a:bodyPr vert="horz" lIns="90000" tIns="46800" rIns="90000" bIns="46800">
            <a:normAutofit/>
          </a:bodyPr>
          <a:lstStyle>
            <a:lvl1pPr marL="0" indent="0" algn="l">
              <a:lnSpc>
                <a:spcPct val="130000"/>
              </a:lnSpc>
              <a:spcBef>
                <a:spcPts val="0"/>
              </a:spcBef>
              <a:spcAft>
                <a:spcPts val="1000"/>
              </a:spcAft>
              <a:buNone/>
              <a:defRPr sz="1600" b="0" i="0" u="none" spc="0">
                <a:solidFill>
                  <a:schemeClr val="tx1">
                    <a:lumMod val="65000"/>
                    <a:lumOff val="35000"/>
                  </a:schemeClr>
                </a:solidFill>
                <a:latin typeface="Arial" panose="020B0604020202090204"/>
                <a:ea typeface="Arial" panose="020B0604020202090204"/>
                <a:cs typeface="Arial" panose="020B0604020202090204"/>
              </a:defRPr>
            </a:lvl1pPr>
            <a:lvl2pPr marL="685800" indent="-228600" algn="l">
              <a:lnSpc>
                <a:spcPct val="130000"/>
              </a:lnSpc>
              <a:spcBef>
                <a:spcPts val="0"/>
              </a:spcBef>
              <a:spcAft>
                <a:spcPts val="1000"/>
              </a:spcAft>
              <a:buChar char="•"/>
              <a:defRPr sz="1600" b="0" i="0" u="none" spc="150">
                <a:solidFill>
                  <a:schemeClr val="tx1"/>
                </a:solidFill>
                <a:latin typeface="+mn-lt"/>
                <a:ea typeface="+mn-lt"/>
                <a:cs typeface="+mn-lt"/>
              </a:defRPr>
            </a:lvl2pPr>
            <a:lvl3pPr marL="1143000" indent="-228600" algn="l">
              <a:lnSpc>
                <a:spcPct val="130000"/>
              </a:lnSpc>
              <a:spcBef>
                <a:spcPts val="0"/>
              </a:spcBef>
              <a:spcAft>
                <a:spcPts val="1000"/>
              </a:spcAft>
              <a:buChar char="•"/>
              <a:defRPr sz="1600" b="0" i="0" u="none" spc="150">
                <a:solidFill>
                  <a:schemeClr val="tx1"/>
                </a:solidFill>
                <a:latin typeface="+mn-lt"/>
                <a:ea typeface="+mn-lt"/>
                <a:cs typeface="+mn-lt"/>
              </a:defRPr>
            </a:lvl3pPr>
            <a:lvl4pPr marL="1600200" indent="-228600" algn="l">
              <a:lnSpc>
                <a:spcPct val="130000"/>
              </a:lnSpc>
              <a:spcBef>
                <a:spcPts val="0"/>
              </a:spcBef>
              <a:spcAft>
                <a:spcPts val="1000"/>
              </a:spcAft>
              <a:buChar char="•"/>
              <a:defRPr sz="1600" b="0" i="0" u="none" spc="150">
                <a:solidFill>
                  <a:schemeClr val="tx1"/>
                </a:solidFill>
                <a:latin typeface="+mn-lt"/>
                <a:ea typeface="+mn-lt"/>
                <a:cs typeface="+mn-lt"/>
              </a:defRPr>
            </a:lvl4pPr>
            <a:lvl5pPr marL="2057400" indent="-228600" algn="l">
              <a:lnSpc>
                <a:spcPct val="130000"/>
              </a:lnSpc>
              <a:spcBef>
                <a:spcPts val="0"/>
              </a:spcBef>
              <a:spcAft>
                <a:spcPts val="1000"/>
              </a:spcAft>
              <a:buChar char="•"/>
              <a:defRPr sz="1600" b="0" i="0" u="none" spc="150">
                <a:solidFill>
                  <a:schemeClr val="tx1"/>
                </a:solidFill>
                <a:latin typeface="+mn-lt"/>
                <a:ea typeface="+mn-lt"/>
                <a:cs typeface="+mn-lt"/>
              </a:defRPr>
            </a:lvl5pPr>
          </a:lstStyle>
          <a:p>
            <a:endParaRPr dirty="0"/>
          </a:p>
        </p:txBody>
      </p:sp>
      <p:sp>
        <p:nvSpPr>
          <p:cNvPr id="1048703" name="文本占位符 3"/>
          <p:cNvSpPr>
            <a:spLocks noGrp="1"/>
          </p:cNvSpPr>
          <p:nvPr>
            <p:ph type="body" idx="2"/>
          </p:nvPr>
        </p:nvSpPr>
        <p:spPr>
          <a:xfrm>
            <a:off x="6350400" y="1555200"/>
            <a:ext cx="5227200" cy="4608000"/>
          </a:xfrm>
        </p:spPr>
        <p:txBody>
          <a:bodyPr vert="horz" lIns="90000" tIns="46800" rIns="90000" bIns="46800">
            <a:normAutofit/>
          </a:bodyPr>
          <a:lstStyle>
            <a:lvl1pPr marL="0" indent="0" algn="l">
              <a:lnSpc>
                <a:spcPct val="130000"/>
              </a:lnSpc>
              <a:spcBef>
                <a:spcPts val="0"/>
              </a:spcBef>
              <a:spcAft>
                <a:spcPts val="600"/>
              </a:spcAft>
              <a:buNone/>
              <a:defRPr sz="1600" b="0" i="0" u="none" spc="150">
                <a:solidFill>
                  <a:schemeClr val="tx1">
                    <a:lumMod val="65000"/>
                    <a:lumOff val="35000"/>
                  </a:schemeClr>
                </a:solidFill>
                <a:latin typeface="Arial" panose="020B0604020202090204"/>
                <a:ea typeface="Arial" panose="020B0604020202090204"/>
                <a:cs typeface="Arial" panose="020B0604020202090204"/>
              </a:defRPr>
            </a:lvl1pPr>
            <a:lvl2pPr marL="457200" indent="0">
              <a:buNone/>
              <a:defRPr u="none" spc="150">
                <a:solidFill>
                  <a:schemeClr val="tx1">
                    <a:lumMod val="65000"/>
                    <a:lumOff val="35000"/>
                  </a:schemeClr>
                </a:solidFill>
                <a:latin typeface="Arial" panose="020B0604020202090204"/>
                <a:ea typeface="Arial" panose="020B0604020202090204"/>
                <a:cs typeface="Arial" panose="020B0604020202090204"/>
              </a:defRPr>
            </a:lvl2pPr>
            <a:lvl3pPr>
              <a:buChar char="●"/>
              <a:defRPr u="none" spc="150">
                <a:solidFill>
                  <a:schemeClr val="tx1">
                    <a:lumMod val="65000"/>
                    <a:lumOff val="35000"/>
                  </a:schemeClr>
                </a:solidFill>
                <a:latin typeface="Arial" panose="020B0604020202090204"/>
                <a:ea typeface="Arial" panose="020B0604020202090204"/>
                <a:cs typeface="Arial" panose="020B0604020202090204"/>
              </a:defRPr>
            </a:lvl3pPr>
            <a:lvl4pPr>
              <a:buNone/>
              <a:defRPr u="none" spc="150">
                <a:solidFill>
                  <a:schemeClr val="tx1">
                    <a:lumMod val="65000"/>
                    <a:lumOff val="35000"/>
                  </a:schemeClr>
                </a:solidFill>
                <a:latin typeface="Arial" panose="020B0604020202090204"/>
                <a:ea typeface="Arial" panose="020B0604020202090204"/>
                <a:cs typeface="Arial" panose="020B0604020202090204"/>
              </a:defRPr>
            </a:lvl4pPr>
            <a:lvl5pPr>
              <a:buNone/>
              <a:defRPr u="none" spc="150">
                <a:solidFill>
                  <a:schemeClr val="tx1">
                    <a:lumMod val="65000"/>
                    <a:lumOff val="35000"/>
                  </a:schemeClr>
                </a:solidFill>
                <a:latin typeface="Arial" panose="020B0604020202090204"/>
                <a:ea typeface="Arial" panose="020B0604020202090204"/>
                <a:cs typeface="Arial" panose="020B0604020202090204"/>
              </a:defRPr>
            </a:lvl5pPr>
          </a:lstStyle>
          <a:p>
            <a:endParaRPr/>
          </a:p>
        </p:txBody>
      </p:sp>
      <p:sp>
        <p:nvSpPr>
          <p:cNvPr id="1048704" name="日期占位符 4"/>
          <p:cNvSpPr>
            <a:spLocks noGrp="1"/>
          </p:cNvSpPr>
          <p:nvPr>
            <p:ph type="dt" idx="10"/>
          </p:nvPr>
        </p:nvSpPr>
        <p:spPr/>
        <p:txBody>
          <a:bodyPr/>
          <a:lstStyle/>
          <a:p>
            <a:endParaRPr dirty="0"/>
          </a:p>
        </p:txBody>
      </p:sp>
      <p:sp>
        <p:nvSpPr>
          <p:cNvPr id="1048705" name="页脚占位符 5"/>
          <p:cNvSpPr>
            <a:spLocks noGrp="1"/>
          </p:cNvSpPr>
          <p:nvPr>
            <p:ph type="ftr" idx="11"/>
          </p:nvPr>
        </p:nvSpPr>
        <p:spPr/>
        <p:txBody>
          <a:bodyPr/>
          <a:lstStyle/>
          <a:p>
            <a:endParaRPr dirty="0"/>
          </a:p>
        </p:txBody>
      </p:sp>
      <p:sp>
        <p:nvSpPr>
          <p:cNvPr id="1048707" name="标题 8"/>
          <p:cNvSpPr>
            <a:spLocks noGrp="1"/>
          </p:cNvSpPr>
          <p:nvPr>
            <p:ph type="title"/>
          </p:nvPr>
        </p:nvSpPr>
        <p:spPr/>
        <p:txBody>
          <a:bodyPr/>
          <a:lstStyle>
            <a:lvl1pPr>
              <a:buNone/>
              <a:defRPr/>
            </a:lvl1pPr>
          </a:lstStyle>
          <a:p>
            <a:endParaRPr/>
          </a:p>
        </p:txBody>
      </p:sp>
    </p:spTree>
    <p:extLst>
      <p:ext uri="{BB962C8B-B14F-4D97-AF65-F5344CB8AC3E}">
        <p14:creationId xmlns:p14="http://schemas.microsoft.com/office/powerpoint/2010/main" val="3962620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标题幻灯片">
    <p:bg>
      <p:bgPr>
        <a:solidFill>
          <a:schemeClr val="bg1"/>
        </a:solidFill>
        <a:effectLst/>
      </p:bgPr>
    </p:bg>
    <p:spTree>
      <p:nvGrpSpPr>
        <p:cNvPr id="1" name=""/>
        <p:cNvGrpSpPr/>
        <p:nvPr/>
      </p:nvGrpSpPr>
      <p:grpSpPr>
        <a:xfrm>
          <a:off x="0" y="0"/>
          <a:ext cx="0" cy="0"/>
          <a:chOff x="0" y="0"/>
          <a:chExt cx="0" cy="0"/>
        </a:xfrm>
      </p:grpSpPr>
      <p:sp>
        <p:nvSpPr>
          <p:cNvPr id="1048582" name="标题 30"/>
          <p:cNvSpPr>
            <a:spLocks noGrp="1"/>
          </p:cNvSpPr>
          <p:nvPr>
            <p:ph type="title"/>
          </p:nvPr>
        </p:nvSpPr>
        <p:spPr>
          <a:xfrm>
            <a:off x="2828660" y="2448150"/>
            <a:ext cx="6522873" cy="705600"/>
          </a:xfrm>
          <a:prstGeom prst="rect">
            <a:avLst/>
          </a:prstGeom>
        </p:spPr>
        <p:txBody>
          <a:bodyPr anchor="ctr">
            <a:noAutofit/>
          </a:bodyPr>
          <a:lstStyle>
            <a:lvl1pPr algn="ctr">
              <a:buNone/>
              <a:defRPr sz="5400" b="1">
                <a:solidFill>
                  <a:schemeClr val="bg1"/>
                </a:solidFill>
                <a:latin typeface="+mj-ea"/>
                <a:ea typeface="+mj-ea"/>
                <a:cs typeface="+mj-ea"/>
              </a:defRPr>
            </a:lvl1pPr>
          </a:lstStyle>
          <a:p>
            <a:endParaRPr/>
          </a:p>
        </p:txBody>
      </p:sp>
    </p:spTree>
    <p:extLst>
      <p:ext uri="{BB962C8B-B14F-4D97-AF65-F5344CB8AC3E}">
        <p14:creationId xmlns:p14="http://schemas.microsoft.com/office/powerpoint/2010/main" val="2212945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5_标题和内容">
    <p:bg>
      <p:bgPr>
        <a:solidFill>
          <a:schemeClr val="bg1"/>
        </a:solid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608400" y="608400"/>
            <a:ext cx="10969200" cy="705600"/>
          </a:xfrm>
          <a:prstGeom prst="rect">
            <a:avLst/>
          </a:prstGeom>
        </p:spPr>
        <p:txBody>
          <a:bodyPr vert="horz" lIns="90170" tIns="46990" rIns="90170" bIns="46990" anchor="ctr">
            <a:noAutofit/>
          </a:bodyPr>
          <a:lstStyle>
            <a:lvl1pPr>
              <a:buNone/>
              <a:defRPr sz="4000" spc="0">
                <a:solidFill>
                  <a:srgbClr val="4A194E"/>
                </a:solidFill>
              </a:defRPr>
            </a:lvl1pPr>
          </a:lstStyle>
          <a:p>
            <a:endParaRPr/>
          </a:p>
        </p:txBody>
      </p:sp>
      <p:sp>
        <p:nvSpPr>
          <p:cNvPr id="8" name="文本占位符 2"/>
          <p:cNvSpPr>
            <a:spLocks noGrp="1"/>
          </p:cNvSpPr>
          <p:nvPr>
            <p:ph idx="1"/>
          </p:nvPr>
        </p:nvSpPr>
        <p:spPr>
          <a:xfrm>
            <a:off x="608400" y="1490400"/>
            <a:ext cx="10969200" cy="4759200"/>
          </a:xfrm>
          <a:prstGeom prst="rect">
            <a:avLst/>
          </a:prstGeom>
        </p:spPr>
        <p:txBody>
          <a:bodyPr vert="horz" lIns="90000" tIns="46800" rIns="90000" bIns="46800">
            <a:normAutofit/>
          </a:bodyPr>
          <a:lstStyle>
            <a:lvl1pPr>
              <a:lnSpc>
                <a:spcPct val="100000"/>
              </a:lnSpc>
              <a:buNone/>
              <a:defRPr sz="2800" spc="0">
                <a:solidFill>
                  <a:schemeClr val="tx1"/>
                </a:solidFill>
              </a:defRPr>
            </a:lvl1pPr>
            <a:lvl2pPr>
              <a:lnSpc>
                <a:spcPct val="100000"/>
              </a:lnSpc>
              <a:buNone/>
              <a:defRPr sz="2400" spc="0">
                <a:solidFill>
                  <a:schemeClr val="tx1"/>
                </a:solidFill>
              </a:defRPr>
            </a:lvl2pPr>
            <a:lvl3pPr>
              <a:lnSpc>
                <a:spcPct val="100000"/>
              </a:lnSpc>
              <a:buNone/>
              <a:defRPr sz="2000" spc="0">
                <a:solidFill>
                  <a:schemeClr val="tx1"/>
                </a:solidFill>
              </a:defRPr>
            </a:lvl3pPr>
            <a:lvl4pPr>
              <a:lnSpc>
                <a:spcPct val="100000"/>
              </a:lnSpc>
              <a:buNone/>
              <a:defRPr sz="1800" spc="0">
                <a:solidFill>
                  <a:schemeClr val="tx1"/>
                </a:solidFill>
              </a:defRPr>
            </a:lvl4pPr>
            <a:lvl5pPr>
              <a:lnSpc>
                <a:spcPct val="100000"/>
              </a:lnSpc>
              <a:buNone/>
              <a:defRPr sz="1600" spc="0">
                <a:solidFill>
                  <a:schemeClr val="tx1"/>
                </a:solidFill>
              </a:defRPr>
            </a:lvl5pPr>
          </a:lstStyle>
          <a:p>
            <a:endParaRPr/>
          </a:p>
        </p:txBody>
      </p:sp>
    </p:spTree>
    <p:extLst>
      <p:ext uri="{BB962C8B-B14F-4D97-AF65-F5344CB8AC3E}">
        <p14:creationId xmlns:p14="http://schemas.microsoft.com/office/powerpoint/2010/main" val="3777604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cSld name="1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buNone/>
              <a:defRPr sz="3200"/>
            </a:lvl1pPr>
          </a:lstStyle>
          <a:p>
            <a:endParaRP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dirty="0"/>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endParaRPr/>
          </a:p>
        </p:txBody>
      </p:sp>
      <p:sp>
        <p:nvSpPr>
          <p:cNvPr id="5" name="日期占位符 4"/>
          <p:cNvSpPr>
            <a:spLocks noGrp="1"/>
          </p:cNvSpPr>
          <p:nvPr>
            <p:ph type="dt" idx="10"/>
          </p:nvPr>
        </p:nvSpPr>
        <p:spPr/>
        <p:txBody>
          <a:bodyPr/>
          <a:lstStyle/>
          <a:p>
            <a:endParaRPr dirty="0"/>
          </a:p>
        </p:txBody>
      </p:sp>
      <p:sp>
        <p:nvSpPr>
          <p:cNvPr id="6" name="页脚占位符 5"/>
          <p:cNvSpPr>
            <a:spLocks noGrp="1"/>
          </p:cNvSpPr>
          <p:nvPr>
            <p:ph type="ftr" idx="11"/>
          </p:nvPr>
        </p:nvSpPr>
        <p:spPr/>
        <p:txBody>
          <a:bodyPr/>
          <a:lstStyle/>
          <a:p>
            <a:endParaRPr dirty="0"/>
          </a:p>
        </p:txBody>
      </p:sp>
    </p:spTree>
    <p:extLst>
      <p:ext uri="{BB962C8B-B14F-4D97-AF65-F5344CB8AC3E}">
        <p14:creationId xmlns:p14="http://schemas.microsoft.com/office/powerpoint/2010/main" val="2284075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paydebt">
    <p:bg>
      <p:bgPr>
        <a:solidFill>
          <a:schemeClr val="bg1"/>
        </a:solid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608400" y="608400"/>
            <a:ext cx="10969200" cy="705600"/>
          </a:xfrm>
          <a:prstGeom prst="rect">
            <a:avLst/>
          </a:prstGeom>
        </p:spPr>
        <p:txBody>
          <a:bodyPr vert="horz" lIns="90170" tIns="46990" rIns="90170" bIns="46990" anchor="ctr">
            <a:noAutofit/>
          </a:bodyPr>
          <a:lstStyle>
            <a:lvl1pPr>
              <a:buNone/>
              <a:defRPr sz="4000" spc="0">
                <a:solidFill>
                  <a:srgbClr val="4A194E"/>
                </a:solidFill>
              </a:defRPr>
            </a:lvl1pPr>
          </a:lstStyle>
          <a:p>
            <a:endParaRPr/>
          </a:p>
        </p:txBody>
      </p:sp>
      <p:sp>
        <p:nvSpPr>
          <p:cNvPr id="8" name="文本占位符 2"/>
          <p:cNvSpPr>
            <a:spLocks noGrp="1"/>
          </p:cNvSpPr>
          <p:nvPr>
            <p:ph idx="1"/>
          </p:nvPr>
        </p:nvSpPr>
        <p:spPr>
          <a:xfrm>
            <a:off x="608400" y="1490400"/>
            <a:ext cx="10969200" cy="4759200"/>
          </a:xfrm>
          <a:prstGeom prst="rect">
            <a:avLst/>
          </a:prstGeom>
        </p:spPr>
        <p:txBody>
          <a:bodyPr vert="horz" lIns="90000" tIns="46800" rIns="90000" bIns="46800">
            <a:normAutofit/>
          </a:bodyPr>
          <a:lstStyle>
            <a:lvl1pPr>
              <a:lnSpc>
                <a:spcPct val="100000"/>
              </a:lnSpc>
              <a:buNone/>
              <a:defRPr sz="2800" spc="0">
                <a:solidFill>
                  <a:schemeClr val="tx1"/>
                </a:solidFill>
              </a:defRPr>
            </a:lvl1pPr>
            <a:lvl2pPr>
              <a:lnSpc>
                <a:spcPct val="100000"/>
              </a:lnSpc>
              <a:buNone/>
              <a:defRPr sz="2400" spc="0">
                <a:solidFill>
                  <a:schemeClr val="tx1"/>
                </a:solidFill>
              </a:defRPr>
            </a:lvl2pPr>
            <a:lvl3pPr>
              <a:lnSpc>
                <a:spcPct val="100000"/>
              </a:lnSpc>
              <a:buNone/>
              <a:defRPr sz="2000" spc="0">
                <a:solidFill>
                  <a:schemeClr val="tx1"/>
                </a:solidFill>
              </a:defRPr>
            </a:lvl3pPr>
            <a:lvl4pPr>
              <a:lnSpc>
                <a:spcPct val="100000"/>
              </a:lnSpc>
              <a:buNone/>
              <a:defRPr sz="1800" spc="0">
                <a:solidFill>
                  <a:schemeClr val="tx1"/>
                </a:solidFill>
              </a:defRPr>
            </a:lvl4pPr>
            <a:lvl5pPr>
              <a:lnSpc>
                <a:spcPct val="100000"/>
              </a:lnSpc>
              <a:buNone/>
              <a:defRPr sz="1600" spc="0">
                <a:solidFill>
                  <a:schemeClr val="tx1"/>
                </a:solidFill>
              </a:defRPr>
            </a:lvl5pPr>
          </a:lstStyle>
          <a:p>
            <a:endParaRPr/>
          </a:p>
        </p:txBody>
      </p:sp>
    </p:spTree>
    <p:extLst>
      <p:ext uri="{BB962C8B-B14F-4D97-AF65-F5344CB8AC3E}">
        <p14:creationId xmlns:p14="http://schemas.microsoft.com/office/powerpoint/2010/main" val="207946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idx="10"/>
          </p:nvPr>
        </p:nvSpPr>
        <p:spPr/>
        <p:txBody>
          <a:bodyPr/>
          <a:lstStyle/>
          <a:p>
            <a:endParaRPr dirty="0"/>
          </a:p>
        </p:txBody>
      </p:sp>
      <p:sp>
        <p:nvSpPr>
          <p:cNvPr id="3" name="页脚占位符 2"/>
          <p:cNvSpPr>
            <a:spLocks noGrp="1"/>
          </p:cNvSpPr>
          <p:nvPr>
            <p:ph type="ftr" idx="11"/>
          </p:nvPr>
        </p:nvSpPr>
        <p:spPr/>
        <p:txBody>
          <a:bodyPr/>
          <a:lstStyle/>
          <a:p>
            <a:endParaRPr dirty="0"/>
          </a:p>
        </p:txBody>
      </p:sp>
    </p:spTree>
    <p:extLst>
      <p:ext uri="{BB962C8B-B14F-4D97-AF65-F5344CB8AC3E}">
        <p14:creationId xmlns:p14="http://schemas.microsoft.com/office/powerpoint/2010/main" val="122616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buNone/>
              <a:defRPr sz="6000"/>
            </a:lvl1pPr>
          </a:lstStyle>
          <a:p>
            <a:endParaRP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endParaRPr/>
          </a:p>
        </p:txBody>
      </p:sp>
      <p:sp>
        <p:nvSpPr>
          <p:cNvPr id="4" name="日期占位符 3"/>
          <p:cNvSpPr>
            <a:spLocks noGrp="1"/>
          </p:cNvSpPr>
          <p:nvPr>
            <p:ph type="dt" idx="10"/>
          </p:nvPr>
        </p:nvSpPr>
        <p:spPr/>
        <p:txBody>
          <a:bodyPr/>
          <a:lstStyle/>
          <a:p>
            <a:endParaRPr dirty="0"/>
          </a:p>
        </p:txBody>
      </p:sp>
      <p:sp>
        <p:nvSpPr>
          <p:cNvPr id="5" name="页脚占位符 4"/>
          <p:cNvSpPr>
            <a:spLocks noGrp="1"/>
          </p:cNvSpPr>
          <p:nvPr>
            <p:ph type="ftr" idx="11"/>
          </p:nvPr>
        </p:nvSpPr>
        <p:spPr/>
        <p:txBody>
          <a:bodyPr/>
          <a:lstStyle/>
          <a:p>
            <a:endParaRPr dirty="0"/>
          </a:p>
        </p:txBody>
      </p:sp>
    </p:spTree>
    <p:extLst>
      <p:ext uri="{BB962C8B-B14F-4D97-AF65-F5344CB8AC3E}">
        <p14:creationId xmlns:p14="http://schemas.microsoft.com/office/powerpoint/2010/main" val="337651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1_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endParaRP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endParaRPr/>
          </a:p>
        </p:txBody>
      </p:sp>
      <p:sp>
        <p:nvSpPr>
          <p:cNvPr id="7" name="日期占位符 6"/>
          <p:cNvSpPr>
            <a:spLocks noGrp="1"/>
          </p:cNvSpPr>
          <p:nvPr>
            <p:ph type="dt" idx="10"/>
          </p:nvPr>
        </p:nvSpPr>
        <p:spPr/>
        <p:txBody>
          <a:bodyPr/>
          <a:lstStyle/>
          <a:p>
            <a:endParaRPr dirty="0"/>
          </a:p>
        </p:txBody>
      </p:sp>
      <p:sp>
        <p:nvSpPr>
          <p:cNvPr id="8" name="页脚占位符 7"/>
          <p:cNvSpPr>
            <a:spLocks noGrp="1"/>
          </p:cNvSpPr>
          <p:nvPr>
            <p:ph type="ftr" idx="11"/>
          </p:nvPr>
        </p:nvSpPr>
        <p:spPr/>
        <p:txBody>
          <a:bodyPr/>
          <a:lstStyle/>
          <a:p>
            <a:endParaRPr dirty="0"/>
          </a:p>
        </p:txBody>
      </p:sp>
      <p:sp>
        <p:nvSpPr>
          <p:cNvPr id="15" name="标题 30"/>
          <p:cNvSpPr>
            <a:spLocks noGrp="1"/>
          </p:cNvSpPr>
          <p:nvPr>
            <p:ph type="title"/>
          </p:nvPr>
        </p:nvSpPr>
        <p:spPr>
          <a:xfrm>
            <a:off x="838200" y="238574"/>
            <a:ext cx="10515600" cy="652815"/>
          </a:xfrm>
          <a:prstGeom prst="rect">
            <a:avLst/>
          </a:prstGeom>
        </p:spPr>
        <p:txBody>
          <a:bodyPr anchor="ctr">
            <a:noAutofit/>
          </a:bodyPr>
          <a:lstStyle>
            <a:lvl1pPr algn="l">
              <a:buNone/>
              <a:defRPr sz="4000" b="1">
                <a:solidFill>
                  <a:schemeClr val="bg1"/>
                </a:solidFill>
                <a:latin typeface="+mj-ea"/>
                <a:ea typeface="+mj-ea"/>
                <a:cs typeface="+mj-ea"/>
              </a:defRPr>
            </a:lvl1pPr>
          </a:lstStyle>
          <a:p>
            <a:endParaRPr/>
          </a:p>
        </p:txBody>
      </p:sp>
    </p:spTree>
    <p:extLst>
      <p:ext uri="{BB962C8B-B14F-4D97-AF65-F5344CB8AC3E}">
        <p14:creationId xmlns:p14="http://schemas.microsoft.com/office/powerpoint/2010/main" val="2191053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6_标题和内容">
    <p:bg>
      <p:bgPr>
        <a:solidFill>
          <a:schemeClr val="bg1"/>
        </a:solid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608400" y="608400"/>
            <a:ext cx="10969200" cy="705600"/>
          </a:xfrm>
          <a:prstGeom prst="rect">
            <a:avLst/>
          </a:prstGeom>
        </p:spPr>
        <p:txBody>
          <a:bodyPr vert="horz" lIns="90170" tIns="46990" rIns="90170" bIns="46990" anchor="ctr">
            <a:noAutofit/>
          </a:bodyPr>
          <a:lstStyle>
            <a:lvl1pPr>
              <a:buNone/>
              <a:defRPr sz="4000" spc="0">
                <a:solidFill>
                  <a:srgbClr val="4A194E"/>
                </a:solidFill>
              </a:defRPr>
            </a:lvl1pPr>
          </a:lstStyle>
          <a:p>
            <a:endParaRPr/>
          </a:p>
        </p:txBody>
      </p:sp>
      <p:sp>
        <p:nvSpPr>
          <p:cNvPr id="8" name="文本占位符 2"/>
          <p:cNvSpPr>
            <a:spLocks noGrp="1"/>
          </p:cNvSpPr>
          <p:nvPr>
            <p:ph idx="1"/>
          </p:nvPr>
        </p:nvSpPr>
        <p:spPr>
          <a:xfrm>
            <a:off x="608400" y="1490400"/>
            <a:ext cx="10969200" cy="4759200"/>
          </a:xfrm>
          <a:prstGeom prst="rect">
            <a:avLst/>
          </a:prstGeom>
        </p:spPr>
        <p:txBody>
          <a:bodyPr vert="horz" lIns="90000" tIns="46800" rIns="90000" bIns="46800">
            <a:normAutofit/>
          </a:bodyPr>
          <a:lstStyle>
            <a:lvl1pPr>
              <a:lnSpc>
                <a:spcPct val="100000"/>
              </a:lnSpc>
              <a:buNone/>
              <a:defRPr sz="2800" spc="0">
                <a:solidFill>
                  <a:schemeClr val="tx1"/>
                </a:solidFill>
              </a:defRPr>
            </a:lvl1pPr>
            <a:lvl2pPr>
              <a:lnSpc>
                <a:spcPct val="100000"/>
              </a:lnSpc>
              <a:buNone/>
              <a:defRPr sz="2400" spc="0">
                <a:solidFill>
                  <a:schemeClr val="tx1"/>
                </a:solidFill>
              </a:defRPr>
            </a:lvl2pPr>
            <a:lvl3pPr>
              <a:lnSpc>
                <a:spcPct val="100000"/>
              </a:lnSpc>
              <a:buNone/>
              <a:defRPr sz="2000" spc="0">
                <a:solidFill>
                  <a:schemeClr val="tx1"/>
                </a:solidFill>
              </a:defRPr>
            </a:lvl3pPr>
            <a:lvl4pPr>
              <a:lnSpc>
                <a:spcPct val="100000"/>
              </a:lnSpc>
              <a:buNone/>
              <a:defRPr sz="1800" spc="0">
                <a:solidFill>
                  <a:schemeClr val="tx1"/>
                </a:solidFill>
              </a:defRPr>
            </a:lvl4pPr>
            <a:lvl5pPr>
              <a:lnSpc>
                <a:spcPct val="100000"/>
              </a:lnSpc>
              <a:buNone/>
              <a:defRPr sz="1600" spc="0">
                <a:solidFill>
                  <a:schemeClr val="tx1"/>
                </a:solidFill>
              </a:defRPr>
            </a:lvl5pPr>
          </a:lstStyle>
          <a:p>
            <a:endParaRPr/>
          </a:p>
        </p:txBody>
      </p:sp>
    </p:spTree>
    <p:extLst>
      <p:ext uri="{BB962C8B-B14F-4D97-AF65-F5344CB8AC3E}">
        <p14:creationId xmlns:p14="http://schemas.microsoft.com/office/powerpoint/2010/main" val="2887777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4_标题幻灯片">
    <p:bg>
      <p:bgPr>
        <a:gradFill>
          <a:gsLst>
            <a:gs pos="0">
              <a:srgbClr val="3E2146"/>
            </a:gs>
            <a:gs pos="53000">
              <a:srgbClr val="5C0C5C"/>
            </a:gs>
            <a:gs pos="100000">
              <a:srgbClr val="8C4BA0"/>
            </a:gs>
          </a:gsLst>
          <a:lin ang="5400000"/>
        </a:gradFill>
        <a:effectLst/>
      </p:bgPr>
    </p:bg>
    <p:spTree>
      <p:nvGrpSpPr>
        <p:cNvPr id="1" name=""/>
        <p:cNvGrpSpPr/>
        <p:nvPr/>
      </p:nvGrpSpPr>
      <p:grpSpPr>
        <a:xfrm>
          <a:off x="0" y="0"/>
          <a:ext cx="0" cy="0"/>
          <a:chOff x="0" y="0"/>
          <a:chExt cx="0" cy="0"/>
        </a:xfrm>
      </p:grpSpPr>
      <p:sp>
        <p:nvSpPr>
          <p:cNvPr id="1048582" name="标题 30"/>
          <p:cNvSpPr>
            <a:spLocks noGrp="1"/>
          </p:cNvSpPr>
          <p:nvPr>
            <p:ph type="title"/>
          </p:nvPr>
        </p:nvSpPr>
        <p:spPr>
          <a:xfrm>
            <a:off x="2828660" y="2448150"/>
            <a:ext cx="6522873" cy="705600"/>
          </a:xfrm>
          <a:prstGeom prst="rect">
            <a:avLst/>
          </a:prstGeom>
        </p:spPr>
        <p:txBody>
          <a:bodyPr>
            <a:noAutofit/>
          </a:bodyPr>
          <a:lstStyle>
            <a:lvl1pPr algn="ctr">
              <a:buNone/>
              <a:defRPr sz="4000" b="0">
                <a:solidFill>
                  <a:schemeClr val="accent4">
                    <a:lumMod val="20000"/>
                    <a:lumOff val="80000"/>
                  </a:schemeClr>
                </a:solidFill>
                <a:latin typeface="Calibri"/>
                <a:ea typeface="Calibri"/>
                <a:cs typeface="Calibri"/>
              </a:defRPr>
            </a:lvl1pPr>
          </a:lstStyle>
          <a:p>
            <a:endParaRPr/>
          </a:p>
        </p:txBody>
      </p:sp>
    </p:spTree>
    <p:extLst>
      <p:ext uri="{BB962C8B-B14F-4D97-AF65-F5344CB8AC3E}">
        <p14:creationId xmlns:p14="http://schemas.microsoft.com/office/powerpoint/2010/main" val="275854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cSld name="1_两栏内容">
    <p:bg>
      <p:bgPr>
        <a:solidFill>
          <a:srgbClr val="FFFFFF"/>
        </a:solidFill>
        <a:effectLst/>
      </p:bgPr>
    </p:bg>
    <p:spTree>
      <p:nvGrpSpPr>
        <p:cNvPr id="1" name=""/>
        <p:cNvGrpSpPr/>
        <p:nvPr/>
      </p:nvGrpSpPr>
      <p:grpSpPr>
        <a:xfrm>
          <a:off x="0" y="0"/>
          <a:ext cx="0" cy="0"/>
          <a:chOff x="0" y="0"/>
          <a:chExt cx="0" cy="0"/>
        </a:xfrm>
      </p:grpSpPr>
      <p:sp>
        <p:nvSpPr>
          <p:cNvPr id="1048687" name="标题 1"/>
          <p:cNvSpPr>
            <a:spLocks noGrp="1"/>
          </p:cNvSpPr>
          <p:nvPr>
            <p:ph type="title"/>
          </p:nvPr>
        </p:nvSpPr>
        <p:spPr>
          <a:xfrm>
            <a:off x="608400" y="608400"/>
            <a:ext cx="10969200" cy="705600"/>
          </a:xfrm>
        </p:spPr>
        <p:txBody>
          <a:bodyPr vert="horz" lIns="90000" tIns="46800" rIns="90000" bIns="46800" anchor="ctr">
            <a:normAutofit/>
          </a:bodyPr>
          <a:lstStyle>
            <a:lvl1pPr marL="0" algn="l">
              <a:lnSpc>
                <a:spcPct val="100000"/>
              </a:lnSpc>
              <a:buNone/>
              <a:defRPr sz="3600" b="1" i="0" u="none" spc="300">
                <a:solidFill>
                  <a:schemeClr val="tx1">
                    <a:lumMod val="85000"/>
                    <a:lumOff val="15000"/>
                  </a:schemeClr>
                </a:solidFill>
                <a:latin typeface="Arial" panose="020B0604020202090204"/>
                <a:ea typeface="Arial" panose="020B0604020202090204"/>
                <a:cs typeface="Arial" panose="020B0604020202090204"/>
              </a:defRPr>
            </a:lvl1pPr>
          </a:lstStyle>
          <a:p>
            <a:endParaRPr/>
          </a:p>
        </p:txBody>
      </p:sp>
      <p:sp>
        <p:nvSpPr>
          <p:cNvPr id="1048690" name="日期占位符 4"/>
          <p:cNvSpPr>
            <a:spLocks noGrp="1"/>
          </p:cNvSpPr>
          <p:nvPr>
            <p:ph type="dt" idx="10"/>
          </p:nvPr>
        </p:nvSpPr>
        <p:spPr/>
        <p:txBody>
          <a:bodyPr/>
          <a:lstStyle/>
          <a:p>
            <a:endParaRPr dirty="0"/>
          </a:p>
        </p:txBody>
      </p:sp>
      <p:sp>
        <p:nvSpPr>
          <p:cNvPr id="1048691" name="页脚占位符 5"/>
          <p:cNvSpPr>
            <a:spLocks noGrp="1"/>
          </p:cNvSpPr>
          <p:nvPr>
            <p:ph type="ftr" idx="11"/>
          </p:nvPr>
        </p:nvSpPr>
        <p:spPr/>
        <p:txBody>
          <a:bodyPr/>
          <a:lstStyle/>
          <a:p>
            <a:endParaRPr dirty="0"/>
          </a:p>
        </p:txBody>
      </p:sp>
    </p:spTree>
    <p:extLst>
      <p:ext uri="{BB962C8B-B14F-4D97-AF65-F5344CB8AC3E}">
        <p14:creationId xmlns:p14="http://schemas.microsoft.com/office/powerpoint/2010/main" val="2364835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theme" Target="../theme/theme3.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2A7BA4-17E1-7E48-8968-64474BF658D2}" type="datetimeFigureOut">
              <a:rPr lang="en-US" smtClean="0"/>
              <a:t>6/4/2026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965D42-52AC-4645-A1B7-B033587837D1}" type="slidenum">
              <a:rPr lang="en-US" smtClean="0"/>
              <a:t>‹#›</a:t>
            </a:fld>
            <a:endParaRPr lang="en-US"/>
          </a:p>
        </p:txBody>
      </p:sp>
    </p:spTree>
    <p:extLst>
      <p:ext uri="{BB962C8B-B14F-4D97-AF65-F5344CB8AC3E}">
        <p14:creationId xmlns:p14="http://schemas.microsoft.com/office/powerpoint/2010/main" val="159661179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608400" y="608400"/>
            <a:ext cx="10969200" cy="705600"/>
          </a:xfrm>
          <a:prstGeom prst="rect">
            <a:avLst/>
          </a:prstGeom>
        </p:spPr>
        <p:txBody>
          <a:bodyPr vert="horz" lIns="90170" tIns="46990" rIns="90170" bIns="46990" anchor="ctr">
            <a:normAutofit/>
          </a:bodyPr>
          <a:lstStyle/>
          <a:p>
            <a:endParaRPr/>
          </a:p>
        </p:txBody>
      </p:sp>
      <p:sp>
        <p:nvSpPr>
          <p:cNvPr id="1048577" name="文本占位符 2"/>
          <p:cNvSpPr>
            <a:spLocks noGrp="1"/>
          </p:cNvSpPr>
          <p:nvPr>
            <p:ph type="body" idx="1"/>
          </p:nvPr>
        </p:nvSpPr>
        <p:spPr>
          <a:xfrm>
            <a:off x="608400" y="1490400"/>
            <a:ext cx="10969200" cy="4759200"/>
          </a:xfrm>
          <a:prstGeom prst="rect">
            <a:avLst/>
          </a:prstGeom>
        </p:spPr>
        <p:txBody>
          <a:bodyPr vert="horz" lIns="90000" tIns="46800" rIns="90000" bIns="46800">
            <a:normAutofit/>
          </a:bodyPr>
          <a:lstStyle/>
          <a:p>
            <a:endParaRPr/>
          </a:p>
        </p:txBody>
      </p:sp>
      <p:sp>
        <p:nvSpPr>
          <p:cNvPr id="1048578" name="日期占位符 3"/>
          <p:cNvSpPr>
            <a:spLocks noGrp="1"/>
          </p:cNvSpPr>
          <p:nvPr>
            <p:ph type="dt" idx="2"/>
          </p:nvPr>
        </p:nvSpPr>
        <p:spPr>
          <a:xfrm>
            <a:off x="612000" y="6314400"/>
            <a:ext cx="2700000" cy="316800"/>
          </a:xfrm>
          <a:prstGeom prst="rect">
            <a:avLst/>
          </a:prstGeom>
        </p:spPr>
        <p:txBody>
          <a:bodyPr vert="horz" lIns="91440" tIns="45720" rIns="91440" bIns="45720" anchor="ctr">
            <a:normAutofit/>
          </a:bodyPr>
          <a:lstStyle>
            <a:lvl1pPr algn="l">
              <a:buNone/>
              <a:defRPr sz="1000">
                <a:solidFill>
                  <a:schemeClr val="tx1">
                    <a:tint val="75000"/>
                  </a:schemeClr>
                </a:solidFill>
                <a:latin typeface="Arial" panose="020B0604020202090204"/>
                <a:ea typeface="Arial" panose="020B0604020202090204"/>
                <a:cs typeface="Arial" panose="020B0604020202090204"/>
              </a:defRPr>
            </a:lvl1pPr>
          </a:lstStyle>
          <a:p>
            <a:endParaRPr dirty="0"/>
          </a:p>
        </p:txBody>
      </p:sp>
      <p:sp>
        <p:nvSpPr>
          <p:cNvPr id="1048579" name="页脚占位符 4"/>
          <p:cNvSpPr>
            <a:spLocks noGrp="1"/>
          </p:cNvSpPr>
          <p:nvPr>
            <p:ph type="ftr" idx="3"/>
          </p:nvPr>
        </p:nvSpPr>
        <p:spPr>
          <a:xfrm>
            <a:off x="4116000" y="6314400"/>
            <a:ext cx="3960000" cy="316800"/>
          </a:xfrm>
          <a:prstGeom prst="rect">
            <a:avLst/>
          </a:prstGeom>
        </p:spPr>
        <p:txBody>
          <a:bodyPr vert="horz" lIns="91440" tIns="45720" rIns="91440" bIns="45720" anchor="ctr">
            <a:normAutofit/>
          </a:bodyPr>
          <a:lstStyle>
            <a:lvl1pPr algn="ctr">
              <a:buNone/>
              <a:defRPr sz="1000">
                <a:solidFill>
                  <a:schemeClr val="tx1">
                    <a:tint val="75000"/>
                  </a:schemeClr>
                </a:solidFill>
                <a:latin typeface="Arial" panose="020B0604020202090204"/>
                <a:ea typeface="Arial" panose="020B0604020202090204"/>
                <a:cs typeface="Arial" panose="020B0604020202090204"/>
              </a:defRPr>
            </a:lvl1pPr>
          </a:lstStyle>
          <a:p>
            <a:endParaRPr dirty="0"/>
          </a:p>
        </p:txBody>
      </p:sp>
      <p:sp>
        <p:nvSpPr>
          <p:cNvPr id="1048580" name="灯片编号占位符 5"/>
          <p:cNvSpPr>
            <a:spLocks noGrp="1"/>
          </p:cNvSpPr>
          <p:nvPr>
            <p:ph type="sldNum" idx="4"/>
          </p:nvPr>
        </p:nvSpPr>
        <p:spPr>
          <a:xfrm>
            <a:off x="8877600" y="6314400"/>
            <a:ext cx="2700000" cy="316800"/>
          </a:xfrm>
          <a:prstGeom prst="rect">
            <a:avLst/>
          </a:prstGeom>
        </p:spPr>
        <p:txBody>
          <a:bodyPr vert="horz" lIns="91440" tIns="45720" rIns="91440" bIns="45720" anchor="ctr">
            <a:normAutofit/>
          </a:bodyPr>
          <a:lstStyle>
            <a:lvl1pPr algn="r">
              <a:buNone/>
              <a:defRPr sz="1000">
                <a:solidFill>
                  <a:schemeClr val="tx1">
                    <a:tint val="75000"/>
                  </a:schemeClr>
                </a:solidFill>
                <a:latin typeface="Arial" panose="020B0604020202090204"/>
                <a:ea typeface="Arial" panose="020B0604020202090204"/>
                <a:cs typeface="Arial" panose="020B0604020202090204"/>
              </a:defRPr>
            </a:lvl1pPr>
          </a:lstStyle>
          <a:p>
            <a:endParaRPr dirty="0"/>
          </a:p>
        </p:txBody>
      </p:sp>
      <p:sp>
        <p:nvSpPr>
          <p:cNvPr id="3" name="文本占位符 2"/>
          <p:cNvSpPr>
            <a:spLocks noGrp="1"/>
          </p:cNvSpPr>
          <p:nvPr>
            <p:ph type="body" idx="1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期占位符 3"/>
          <p:cNvSpPr>
            <a:spLocks noGrp="1"/>
          </p:cNvSpPr>
          <p:nvPr>
            <p:ph type="dt" idx="12"/>
          </p:nvPr>
        </p:nvSpPr>
        <p:spPr>
          <a:xfrm>
            <a:off x="838200" y="6461151"/>
            <a:ext cx="2743200" cy="365125"/>
          </a:xfrm>
          <a:prstGeom prst="rect">
            <a:avLst/>
          </a:prstGeom>
        </p:spPr>
        <p:txBody>
          <a:bodyPr vert="horz" lIns="91440" tIns="45720" rIns="91440" bIns="45720" anchor="ctr"/>
          <a:lstStyle>
            <a:lvl1pPr algn="l">
              <a:buNone/>
              <a:defRPr sz="1200" b="1">
                <a:solidFill>
                  <a:schemeClr val="bg1">
                    <a:lumMod val="85000"/>
                  </a:schemeClr>
                </a:solidFill>
              </a:defRPr>
            </a:lvl1pPr>
          </a:lstStyle>
          <a:p>
            <a:endParaRPr dirty="0"/>
          </a:p>
        </p:txBody>
      </p:sp>
      <p:sp>
        <p:nvSpPr>
          <p:cNvPr id="5" name="页脚占位符 4"/>
          <p:cNvSpPr>
            <a:spLocks noGrp="1"/>
          </p:cNvSpPr>
          <p:nvPr>
            <p:ph type="ftr" idx="13"/>
          </p:nvPr>
        </p:nvSpPr>
        <p:spPr>
          <a:xfrm>
            <a:off x="4038600" y="6461151"/>
            <a:ext cx="4114800" cy="365125"/>
          </a:xfrm>
          <a:prstGeom prst="rect">
            <a:avLst/>
          </a:prstGeom>
        </p:spPr>
        <p:txBody>
          <a:bodyPr vert="horz" lIns="91440" tIns="45720" rIns="91440" bIns="45720" anchor="ctr"/>
          <a:lstStyle>
            <a:lvl1pPr algn="ctr">
              <a:buNone/>
              <a:defRPr sz="1200" b="1">
                <a:solidFill>
                  <a:schemeClr val="bg1">
                    <a:lumMod val="85000"/>
                  </a:schemeClr>
                </a:solidFill>
              </a:defRPr>
            </a:lvl1pPr>
          </a:lstStyle>
          <a:p>
            <a:endParaRPr dirty="0"/>
          </a:p>
        </p:txBody>
      </p:sp>
      <p:sp>
        <p:nvSpPr>
          <p:cNvPr id="6" name="灯片编号占位符 5"/>
          <p:cNvSpPr>
            <a:spLocks noGrp="1"/>
          </p:cNvSpPr>
          <p:nvPr>
            <p:ph type="sldNum" idx="14"/>
          </p:nvPr>
        </p:nvSpPr>
        <p:spPr>
          <a:xfrm>
            <a:off x="8610600" y="6461151"/>
            <a:ext cx="2743200" cy="365125"/>
          </a:xfrm>
          <a:prstGeom prst="rect">
            <a:avLst/>
          </a:prstGeom>
        </p:spPr>
        <p:txBody>
          <a:bodyPr vert="horz" lIns="91440" tIns="45720" rIns="91440" bIns="45720" anchor="ctr"/>
          <a:lstStyle>
            <a:lvl1pPr algn="r">
              <a:buNone/>
              <a:defRPr sz="1200" b="1">
                <a:solidFill>
                  <a:schemeClr val="bg1">
                    <a:lumMod val="85000"/>
                  </a:schemeClr>
                </a:solidFill>
              </a:defRPr>
            </a:lvl1pPr>
          </a:lstStyle>
          <a:p>
            <a:endParaRPr dirty="0"/>
          </a:p>
        </p:txBody>
      </p:sp>
    </p:spTree>
    <p:extLst>
      <p:ext uri="{BB962C8B-B14F-4D97-AF65-F5344CB8AC3E}">
        <p14:creationId xmlns:p14="http://schemas.microsoft.com/office/powerpoint/2010/main" val="202275246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a:lnSpc>
          <a:spcPct val="90000"/>
        </a:lnSpc>
        <a:spcBef>
          <a:spcPts val="0"/>
        </a:spcBef>
        <a:buNone/>
        <a:defRPr sz="4400">
          <a:solidFill>
            <a:schemeClr val="bg1"/>
          </a:solidFill>
          <a:latin typeface="Calibri"/>
          <a:ea typeface="Calibri"/>
          <a:cs typeface="Calibri"/>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39.xml"/><Relationship Id="rId5" Type="http://schemas.openxmlformats.org/officeDocument/2006/relationships/image" Target="../media/image24.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33.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33.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33.xml"/><Relationship Id="rId5" Type="http://schemas.openxmlformats.org/officeDocument/2006/relationships/image" Target="../media/image14.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33.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33.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33.xml"/><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33.xml"/><Relationship Id="rId5" Type="http://schemas.openxmlformats.org/officeDocument/2006/relationships/image" Target="../media/image14.png"/><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33.xml"/><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33.xml"/><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33.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33.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33.xml"/><Relationship Id="rId6" Type="http://schemas.openxmlformats.org/officeDocument/2006/relationships/image" Target="../media/image35.png"/><Relationship Id="rId5" Type="http://schemas.openxmlformats.org/officeDocument/2006/relationships/image" Target="../media/image14.png"/><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33.xml"/><Relationship Id="rId4" Type="http://schemas.openxmlformats.org/officeDocument/2006/relationships/image" Target="../media/image37.png"/></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3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9.xml"/><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0.xml"/><Relationship Id="rId1" Type="http://schemas.openxmlformats.org/officeDocument/2006/relationships/slideLayout" Target="../slideLayouts/slideLayout39.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kicker-marker">
            <a:extLst>
              <a:ext uri="{FF2B5EF4-FFF2-40B4-BE49-F238E27FC236}">
                <a16:creationId xmlns:a16="http://schemas.microsoft.com/office/drawing/2014/main" id="{8026D1D4-FA5D-45F4-94B2-852B269F3BF1}"/>
              </a:ext>
            </a:extLst>
          </p:cNvPr>
          <p:cNvSpPr/>
          <p:nvPr/>
        </p:nvSpPr>
        <p:spPr>
          <a:xfrm>
            <a:off x="361950" y="323850"/>
            <a:ext cx="47625" cy="247650"/>
          </a:xfrm>
          <a:prstGeom prst="rect">
            <a:avLst/>
          </a:prstGeom>
          <a:solidFill>
            <a:srgbClr val="B7791F"/>
          </a:solidFill>
          <a:ln w="0">
            <a:solidFill>
              <a:srgbClr val="B7791F"/>
            </a:solidFill>
            <a:prstDash val="solid"/>
          </a:ln>
        </p:spPr>
        <p:txBody>
          <a:bodyPr/>
          <a:lstStyle/>
          <a:p>
            <a:endParaRPr lang="zh-CN" altLang="en-US"/>
          </a:p>
        </p:txBody>
      </p:sp>
      <p:sp>
        <p:nvSpPr>
          <p:cNvPr id="2" name="kicker-label">
            <a:extLst>
              <a:ext uri="{FF2B5EF4-FFF2-40B4-BE49-F238E27FC236}">
                <a16:creationId xmlns:a16="http://schemas.microsoft.com/office/drawing/2014/main" id="{02B69F86-C715-4E23-BA7F-898D55931416}"/>
              </a:ext>
            </a:extLst>
          </p:cNvPr>
          <p:cNvSpPr/>
          <p:nvPr/>
        </p:nvSpPr>
        <p:spPr>
          <a:xfrm>
            <a:off x="514350" y="349097"/>
            <a:ext cx="2926080" cy="215444"/>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defRPr sz="1400" b="1">
                <a:solidFill>
                  <a:srgbClr val="B7791F"/>
                </a:solidFill>
                <a:latin typeface="Aptos"/>
                <a:ea typeface="Aptos"/>
                <a:cs typeface="Aptos"/>
              </a:defRPr>
            </a:pPr>
            <a:r>
              <a:rPr lang="en-US" altLang="zh-CN" sz="1400" b="1" dirty="0">
                <a:solidFill>
                  <a:srgbClr val="B7791F"/>
                </a:solidFill>
                <a:latin typeface="Aptos"/>
              </a:rPr>
              <a:t>PAPER 01 · Overview</a:t>
            </a:r>
          </a:p>
        </p:txBody>
      </p:sp>
      <p:sp>
        <p:nvSpPr>
          <p:cNvPr id="3" name="矩形 2">
            <a:extLst>
              <a:ext uri="{FF2B5EF4-FFF2-40B4-BE49-F238E27FC236}">
                <a16:creationId xmlns:a16="http://schemas.microsoft.com/office/drawing/2014/main" id="{705B00B8-3402-45EB-8A12-05D3A71E4E6F}"/>
              </a:ext>
            </a:extLst>
          </p:cNvPr>
          <p:cNvSpPr/>
          <p:nvPr/>
        </p:nvSpPr>
        <p:spPr>
          <a:xfrm>
            <a:off x="361949" y="666750"/>
            <a:ext cx="8786897" cy="438582"/>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lgn="l">
              <a:defRPr sz="2850" b="1">
                <a:solidFill>
                  <a:srgbClr val="17202A"/>
                </a:solidFill>
                <a:latin typeface="PingFang SC"/>
                <a:ea typeface="PingFang SC"/>
                <a:cs typeface="PingFang SC"/>
              </a:defRPr>
            </a:pPr>
            <a:r>
              <a:rPr sz="2850" b="1" dirty="0" err="1">
                <a:solidFill>
                  <a:srgbClr val="17202A"/>
                </a:solidFill>
                <a:latin typeface="PingFang SC"/>
                <a:ea typeface="PingFang SC"/>
                <a:cs typeface="PingFang SC"/>
              </a:rPr>
              <a:t>大模型基础设施研究方向总览</a:t>
            </a:r>
            <a:r>
              <a:rPr lang="en-US" sz="2850" b="1" dirty="0">
                <a:solidFill>
                  <a:srgbClr val="17202A"/>
                </a:solidFill>
                <a:latin typeface="PingFang SC"/>
                <a:ea typeface="PingFang SC"/>
                <a:cs typeface="PingFang SC"/>
              </a:rPr>
              <a:t>: Chen </a:t>
            </a:r>
            <a:r>
              <a:rPr lang="en-US" sz="2850" b="1" dirty="0" err="1">
                <a:solidFill>
                  <a:srgbClr val="17202A"/>
                </a:solidFill>
                <a:latin typeface="PingFang SC"/>
                <a:ea typeface="PingFang SC"/>
                <a:cs typeface="PingFang SC"/>
              </a:rPr>
              <a:t>Tian@NJU</a:t>
            </a:r>
            <a:endParaRPr sz="1400" dirty="0"/>
          </a:p>
        </p:txBody>
      </p:sp>
      <p:sp>
        <p:nvSpPr>
          <p:cNvPr id="4" name="矩形 3">
            <a:extLst>
              <a:ext uri="{FF2B5EF4-FFF2-40B4-BE49-F238E27FC236}">
                <a16:creationId xmlns:a16="http://schemas.microsoft.com/office/drawing/2014/main" id="{67CF2DEA-9834-46D7-9899-A3CEB17DE5F0}"/>
              </a:ext>
            </a:extLst>
          </p:cNvPr>
          <p:cNvSpPr/>
          <p:nvPr/>
        </p:nvSpPr>
        <p:spPr>
          <a:xfrm>
            <a:off x="381000" y="1143000"/>
            <a:ext cx="5715000" cy="215444"/>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lgn="l">
              <a:defRPr sz="1400" b="0">
                <a:solidFill>
                  <a:srgbClr val="596273"/>
                </a:solidFill>
                <a:latin typeface="PingFang SC"/>
                <a:ea typeface="PingFang SC"/>
                <a:cs typeface="PingFang SC"/>
              </a:defRPr>
            </a:pPr>
            <a:r>
              <a:rPr sz="1400" b="0" dirty="0" err="1">
                <a:solidFill>
                  <a:srgbClr val="596273"/>
                </a:solidFill>
                <a:latin typeface="PingFang SC"/>
                <a:ea typeface="PingFang SC"/>
                <a:cs typeface="PingFang SC"/>
              </a:rPr>
              <a:t>面向模型训练、在线推理、云基础设施运维与下一阶段系统能力演进</a:t>
            </a:r>
            <a:r>
              <a:rPr sz="1400" b="0" dirty="0">
                <a:solidFill>
                  <a:srgbClr val="596273"/>
                </a:solidFill>
                <a:latin typeface="PingFang SC"/>
                <a:ea typeface="PingFang SC"/>
                <a:cs typeface="PingFang SC"/>
              </a:rPr>
              <a:t>。</a:t>
            </a:r>
            <a:endParaRPr sz="1400" dirty="0"/>
          </a:p>
        </p:txBody>
      </p:sp>
      <p:sp>
        <p:nvSpPr>
          <p:cNvPr id="5" name="矩形 4">
            <a:extLst>
              <a:ext uri="{FF2B5EF4-FFF2-40B4-BE49-F238E27FC236}">
                <a16:creationId xmlns:a16="http://schemas.microsoft.com/office/drawing/2014/main" id="{A139E346-5EC2-41D3-ADB9-76B342FF313C}"/>
              </a:ext>
            </a:extLst>
          </p:cNvPr>
          <p:cNvSpPr/>
          <p:nvPr/>
        </p:nvSpPr>
        <p:spPr>
          <a:xfrm>
            <a:off x="9906000" y="471106"/>
            <a:ext cx="990600" cy="266700"/>
          </a:xfrm>
          <a:prstGeom prst="rect">
            <a:avLst/>
          </a:prstGeom>
          <a:solidFill>
            <a:srgbClr val="0D8A94">
              <a:alpha val="13333"/>
            </a:srgbClr>
          </a:solidFill>
          <a:ln w="11430">
            <a:solidFill>
              <a:srgbClr val="0D8A94"/>
            </a:solidFill>
            <a:prstDash val="solid"/>
          </a:ln>
        </p:spPr>
        <p:txBody>
          <a:bodyPr/>
          <a:lstStyle/>
          <a:p>
            <a:endParaRPr lang="zh-CN" altLang="en-US"/>
          </a:p>
        </p:txBody>
      </p:sp>
      <p:sp>
        <p:nvSpPr>
          <p:cNvPr id="6" name="矩形 5">
            <a:extLst>
              <a:ext uri="{FF2B5EF4-FFF2-40B4-BE49-F238E27FC236}">
                <a16:creationId xmlns:a16="http://schemas.microsoft.com/office/drawing/2014/main" id="{95DC589C-0011-4DBE-A320-01AEC643575F}"/>
              </a:ext>
            </a:extLst>
          </p:cNvPr>
          <p:cNvSpPr/>
          <p:nvPr/>
        </p:nvSpPr>
        <p:spPr>
          <a:xfrm>
            <a:off x="9982200" y="481012"/>
            <a:ext cx="83820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17202A"/>
                </a:solidFill>
                <a:latin typeface="Aptos"/>
                <a:ea typeface="Aptos"/>
                <a:cs typeface="Aptos"/>
              </a:defRPr>
            </a:pPr>
            <a:r>
              <a:rPr sz="1400" b="1" dirty="0">
                <a:solidFill>
                  <a:srgbClr val="17202A"/>
                </a:solidFill>
                <a:latin typeface="Aptos"/>
                <a:ea typeface="Aptos"/>
                <a:cs typeface="Aptos"/>
              </a:rPr>
              <a:t>9 PAPERS</a:t>
            </a:r>
            <a:endParaRPr sz="1400" dirty="0"/>
          </a:p>
        </p:txBody>
      </p:sp>
      <p:sp>
        <p:nvSpPr>
          <p:cNvPr id="7" name="矩形 6">
            <a:extLst>
              <a:ext uri="{FF2B5EF4-FFF2-40B4-BE49-F238E27FC236}">
                <a16:creationId xmlns:a16="http://schemas.microsoft.com/office/drawing/2014/main" id="{403EEBDE-A6CE-4E96-B6BC-AE30767B93A4}"/>
              </a:ext>
            </a:extLst>
          </p:cNvPr>
          <p:cNvSpPr/>
          <p:nvPr/>
        </p:nvSpPr>
        <p:spPr>
          <a:xfrm>
            <a:off x="10991850" y="471106"/>
            <a:ext cx="895350" cy="266700"/>
          </a:xfrm>
          <a:prstGeom prst="rect">
            <a:avLst/>
          </a:prstGeom>
          <a:solidFill>
            <a:srgbClr val="B7791F">
              <a:alpha val="13333"/>
            </a:srgbClr>
          </a:solidFill>
          <a:ln w="11430">
            <a:solidFill>
              <a:srgbClr val="B7791F"/>
            </a:solidFill>
            <a:prstDash val="solid"/>
          </a:ln>
        </p:spPr>
        <p:txBody>
          <a:bodyPr wrap="none">
            <a:spAutoFit/>
          </a:bodyPr>
          <a:lstStyle/>
          <a:p>
            <a:endParaRPr lang="zh-CN" altLang="en-US"/>
          </a:p>
        </p:txBody>
      </p:sp>
      <p:sp>
        <p:nvSpPr>
          <p:cNvPr id="8" name="矩形 7">
            <a:extLst>
              <a:ext uri="{FF2B5EF4-FFF2-40B4-BE49-F238E27FC236}">
                <a16:creationId xmlns:a16="http://schemas.microsoft.com/office/drawing/2014/main" id="{4B9BAFD9-4793-4C5C-989F-E0186FC234A8}"/>
              </a:ext>
            </a:extLst>
          </p:cNvPr>
          <p:cNvSpPr/>
          <p:nvPr/>
        </p:nvSpPr>
        <p:spPr>
          <a:xfrm>
            <a:off x="11068050" y="481012"/>
            <a:ext cx="7429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17202A"/>
                </a:solidFill>
                <a:latin typeface="Aptos"/>
                <a:ea typeface="Aptos"/>
                <a:cs typeface="Aptos"/>
              </a:defRPr>
            </a:pPr>
            <a:r>
              <a:rPr sz="1400" b="1" dirty="0">
                <a:solidFill>
                  <a:srgbClr val="17202A"/>
                </a:solidFill>
                <a:latin typeface="Aptos"/>
                <a:ea typeface="Aptos"/>
                <a:cs typeface="Aptos"/>
              </a:rPr>
              <a:t>4 TRACKS</a:t>
            </a:r>
            <a:endParaRPr sz="1400" dirty="0"/>
          </a:p>
        </p:txBody>
      </p:sp>
      <p:sp>
        <p:nvSpPr>
          <p:cNvPr id="9" name="top-rule">
            <a:extLst>
              <a:ext uri="{FF2B5EF4-FFF2-40B4-BE49-F238E27FC236}">
                <a16:creationId xmlns:a16="http://schemas.microsoft.com/office/drawing/2014/main" id="{18CB1FB3-2584-48ED-97C4-5ADEB69E7CB1}"/>
              </a:ext>
            </a:extLst>
          </p:cNvPr>
          <p:cNvSpPr/>
          <p:nvPr/>
        </p:nvSpPr>
        <p:spPr>
          <a:xfrm>
            <a:off x="381000" y="1581150"/>
            <a:ext cx="11410950" cy="11430"/>
          </a:xfrm>
          <a:prstGeom prst="rect">
            <a:avLst/>
          </a:prstGeom>
          <a:solidFill>
            <a:srgbClr val="D8DEE8"/>
          </a:solidFill>
          <a:ln w="0">
            <a:solidFill>
              <a:srgbClr val="D8DEE8"/>
            </a:solidFill>
            <a:prstDash val="solid"/>
          </a:ln>
        </p:spPr>
        <p:txBody>
          <a:bodyPr/>
          <a:lstStyle/>
          <a:p>
            <a:endParaRPr lang="zh-CN" altLang="en-US"/>
          </a:p>
        </p:txBody>
      </p:sp>
      <p:sp>
        <p:nvSpPr>
          <p:cNvPr id="10" name="category-01">
            <a:extLst>
              <a:ext uri="{FF2B5EF4-FFF2-40B4-BE49-F238E27FC236}">
                <a16:creationId xmlns:a16="http://schemas.microsoft.com/office/drawing/2014/main" id="{8880D150-53B4-4AB8-993E-7BC623662972}"/>
              </a:ext>
            </a:extLst>
          </p:cNvPr>
          <p:cNvSpPr/>
          <p:nvPr/>
        </p:nvSpPr>
        <p:spPr>
          <a:xfrm>
            <a:off x="381000" y="1734693"/>
            <a:ext cx="2686050" cy="4466082"/>
          </a:xfrm>
          <a:prstGeom prst="rect">
            <a:avLst/>
          </a:prstGeom>
          <a:solidFill>
            <a:srgbClr val="FFFFFF"/>
          </a:solidFill>
          <a:ln w="9525">
            <a:solidFill>
              <a:srgbClr val="D8DEE8"/>
            </a:solidFill>
            <a:prstDash val="solid"/>
          </a:ln>
        </p:spPr>
        <p:txBody>
          <a:bodyPr/>
          <a:lstStyle/>
          <a:p>
            <a:endParaRPr lang="zh-CN" altLang="en-US"/>
          </a:p>
        </p:txBody>
      </p:sp>
      <p:sp>
        <p:nvSpPr>
          <p:cNvPr id="11" name="category-accent-01">
            <a:extLst>
              <a:ext uri="{FF2B5EF4-FFF2-40B4-BE49-F238E27FC236}">
                <a16:creationId xmlns:a16="http://schemas.microsoft.com/office/drawing/2014/main" id="{965F4055-D1E8-47A8-B54C-462C68B04C9D}"/>
              </a:ext>
            </a:extLst>
          </p:cNvPr>
          <p:cNvSpPr/>
          <p:nvPr/>
        </p:nvSpPr>
        <p:spPr>
          <a:xfrm>
            <a:off x="381000" y="1752600"/>
            <a:ext cx="2686050" cy="57150"/>
          </a:xfrm>
          <a:prstGeom prst="rect">
            <a:avLst/>
          </a:prstGeom>
          <a:solidFill>
            <a:srgbClr val="2B6F9E"/>
          </a:solidFill>
          <a:ln w="0">
            <a:solidFill>
              <a:srgbClr val="2B6F9E"/>
            </a:solidFill>
            <a:prstDash val="solid"/>
          </a:ln>
        </p:spPr>
        <p:txBody>
          <a:bodyPr/>
          <a:lstStyle/>
          <a:p>
            <a:endParaRPr lang="zh-CN" altLang="en-US"/>
          </a:p>
        </p:txBody>
      </p:sp>
      <p:sp>
        <p:nvSpPr>
          <p:cNvPr id="12" name="矩形 11">
            <a:extLst>
              <a:ext uri="{FF2B5EF4-FFF2-40B4-BE49-F238E27FC236}">
                <a16:creationId xmlns:a16="http://schemas.microsoft.com/office/drawing/2014/main" id="{2D7847D3-2404-44CA-8B50-454DF3A8CE98}"/>
              </a:ext>
            </a:extLst>
          </p:cNvPr>
          <p:cNvSpPr/>
          <p:nvPr/>
        </p:nvSpPr>
        <p:spPr>
          <a:xfrm>
            <a:off x="590550" y="1981200"/>
            <a:ext cx="419100" cy="3238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875" b="1">
                <a:solidFill>
                  <a:srgbClr val="2B6F9E"/>
                </a:solidFill>
                <a:latin typeface="Aptos Display"/>
                <a:ea typeface="Aptos Display"/>
                <a:cs typeface="Aptos Display"/>
              </a:defRPr>
            </a:pPr>
            <a:r>
              <a:rPr sz="1400" b="1">
                <a:solidFill>
                  <a:srgbClr val="2B6F9E"/>
                </a:solidFill>
                <a:latin typeface="Aptos Display"/>
                <a:ea typeface="Aptos Display"/>
                <a:cs typeface="Aptos Display"/>
              </a:rPr>
              <a:t>01</a:t>
            </a:r>
            <a:endParaRPr sz="1400"/>
          </a:p>
        </p:txBody>
      </p:sp>
      <p:sp>
        <p:nvSpPr>
          <p:cNvPr id="13" name="矩形 12">
            <a:extLst>
              <a:ext uri="{FF2B5EF4-FFF2-40B4-BE49-F238E27FC236}">
                <a16:creationId xmlns:a16="http://schemas.microsoft.com/office/drawing/2014/main" id="{BA20A95B-E097-482A-A779-8A23746D7AB7}"/>
              </a:ext>
            </a:extLst>
          </p:cNvPr>
          <p:cNvSpPr/>
          <p:nvPr/>
        </p:nvSpPr>
        <p:spPr>
          <a:xfrm>
            <a:off x="1028700" y="1981200"/>
            <a:ext cx="1828800" cy="3048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635" b="1">
                <a:solidFill>
                  <a:srgbClr val="17202A"/>
                </a:solidFill>
                <a:latin typeface="PingFang SC"/>
                <a:ea typeface="PingFang SC"/>
                <a:cs typeface="PingFang SC"/>
              </a:defRPr>
            </a:pPr>
            <a:r>
              <a:rPr sz="1635" b="1">
                <a:solidFill>
                  <a:srgbClr val="17202A"/>
                </a:solidFill>
                <a:latin typeface="PingFang SC"/>
                <a:ea typeface="PingFang SC"/>
                <a:cs typeface="PingFang SC"/>
              </a:rPr>
              <a:t>训练系统优化</a:t>
            </a:r>
            <a:endParaRPr sz="1400"/>
          </a:p>
        </p:txBody>
      </p:sp>
      <p:sp>
        <p:nvSpPr>
          <p:cNvPr id="14" name="serve-01">
            <a:extLst>
              <a:ext uri="{FF2B5EF4-FFF2-40B4-BE49-F238E27FC236}">
                <a16:creationId xmlns:a16="http://schemas.microsoft.com/office/drawing/2014/main" id="{06A7573F-E666-4D09-AB8E-398491B67783}"/>
              </a:ext>
            </a:extLst>
          </p:cNvPr>
          <p:cNvSpPr/>
          <p:nvPr/>
        </p:nvSpPr>
        <p:spPr>
          <a:xfrm>
            <a:off x="518025" y="2433447"/>
            <a:ext cx="2412000" cy="419100"/>
          </a:xfrm>
          <a:prstGeom prst="rect">
            <a:avLst/>
          </a:prstGeom>
          <a:solidFill>
            <a:srgbClr val="2B6F9E">
              <a:alpha val="7843"/>
            </a:srgbClr>
          </a:solidFill>
          <a:ln w="9525">
            <a:solidFill>
              <a:srgbClr val="2B6F9E">
                <a:alpha val="33333"/>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18168855-5026-4DE3-B0C2-07967FFDC4CD}"/>
              </a:ext>
            </a:extLst>
          </p:cNvPr>
          <p:cNvSpPr/>
          <p:nvPr/>
        </p:nvSpPr>
        <p:spPr>
          <a:xfrm>
            <a:off x="723900" y="2481072"/>
            <a:ext cx="2000250" cy="323850"/>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17202A"/>
                </a:solidFill>
                <a:latin typeface="PingFang SC"/>
                <a:ea typeface="PingFang SC"/>
                <a:cs typeface="PingFang SC"/>
              </a:defRPr>
            </a:pPr>
            <a:r>
              <a:rPr sz="1400" b="1" dirty="0" err="1">
                <a:solidFill>
                  <a:srgbClr val="17202A"/>
                </a:solidFill>
                <a:latin typeface="PingFang SC"/>
                <a:ea typeface="PingFang SC"/>
                <a:cs typeface="PingFang SC"/>
              </a:rPr>
              <a:t>服务：模型训练开发与部署</a:t>
            </a:r>
            <a:endParaRPr sz="1400" dirty="0"/>
          </a:p>
        </p:txBody>
      </p:sp>
      <p:sp>
        <p:nvSpPr>
          <p:cNvPr id="16" name="rule-CORE PAIN">
            <a:extLst>
              <a:ext uri="{FF2B5EF4-FFF2-40B4-BE49-F238E27FC236}">
                <a16:creationId xmlns:a16="http://schemas.microsoft.com/office/drawing/2014/main" id="{C701EC73-9903-4C39-86B6-38C11FB1D33B}"/>
              </a:ext>
            </a:extLst>
          </p:cNvPr>
          <p:cNvSpPr/>
          <p:nvPr/>
        </p:nvSpPr>
        <p:spPr>
          <a:xfrm>
            <a:off x="609600" y="3050762"/>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17" name="矩形 16">
            <a:extLst>
              <a:ext uri="{FF2B5EF4-FFF2-40B4-BE49-F238E27FC236}">
                <a16:creationId xmlns:a16="http://schemas.microsoft.com/office/drawing/2014/main" id="{3E88852F-8211-44BD-AE38-69F8E0B8140A}"/>
              </a:ext>
            </a:extLst>
          </p:cNvPr>
          <p:cNvSpPr/>
          <p:nvPr/>
        </p:nvSpPr>
        <p:spPr>
          <a:xfrm>
            <a:off x="933450" y="2952750"/>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dirty="0">
                <a:solidFill>
                  <a:srgbClr val="2B6F9E"/>
                </a:solidFill>
                <a:latin typeface="Aptos"/>
                <a:ea typeface="Aptos"/>
                <a:cs typeface="Aptos"/>
              </a:rPr>
              <a:t>CORE PAIN</a:t>
            </a:r>
            <a:endParaRPr sz="1400" dirty="0"/>
          </a:p>
        </p:txBody>
      </p:sp>
      <p:sp>
        <p:nvSpPr>
          <p:cNvPr id="18" name="矩形 17">
            <a:extLst>
              <a:ext uri="{FF2B5EF4-FFF2-40B4-BE49-F238E27FC236}">
                <a16:creationId xmlns:a16="http://schemas.microsoft.com/office/drawing/2014/main" id="{D8581095-DD82-4862-B362-2B940743DFF3}"/>
              </a:ext>
            </a:extLst>
          </p:cNvPr>
          <p:cNvSpPr/>
          <p:nvPr/>
        </p:nvSpPr>
        <p:spPr>
          <a:xfrm>
            <a:off x="609600" y="3200400"/>
            <a:ext cx="2228850" cy="65836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PingFang SC"/>
                <a:ea typeface="PingFang SC"/>
                <a:cs typeface="PingFang SC"/>
              </a:defRPr>
            </a:pPr>
            <a:r>
              <a:rPr sz="1400" b="0" dirty="0" err="1">
                <a:solidFill>
                  <a:srgbClr val="596273"/>
                </a:solidFill>
                <a:latin typeface="PingFang SC"/>
                <a:ea typeface="PingFang SC"/>
                <a:cs typeface="PingFang SC"/>
              </a:rPr>
              <a:t>瓶颈跨算子、设备、内存与故</a:t>
            </a:r>
            <a:r>
              <a:rPr sz="1400" b="0" dirty="0">
                <a:solidFill>
                  <a:srgbClr val="596273"/>
                </a:solidFill>
                <a:latin typeface="PingFang SC"/>
                <a:ea typeface="PingFang SC"/>
                <a:cs typeface="PingFang SC"/>
              </a:rPr>
              <a:t>
</a:t>
            </a:r>
            <a:r>
              <a:rPr sz="1400" b="0" dirty="0" err="1">
                <a:solidFill>
                  <a:srgbClr val="596273"/>
                </a:solidFill>
                <a:latin typeface="PingFang SC"/>
                <a:ea typeface="PingFang SC"/>
                <a:cs typeface="PingFang SC"/>
              </a:rPr>
              <a:t>障恢复，人工经验难稳定优化</a:t>
            </a:r>
            <a:endParaRPr sz="1400" dirty="0"/>
          </a:p>
        </p:txBody>
      </p:sp>
      <p:sp>
        <p:nvSpPr>
          <p:cNvPr id="19" name="rule-PAPERS">
            <a:extLst>
              <a:ext uri="{FF2B5EF4-FFF2-40B4-BE49-F238E27FC236}">
                <a16:creationId xmlns:a16="http://schemas.microsoft.com/office/drawing/2014/main" id="{5AE5672B-6DA7-4052-A35A-B2A4DF127E74}"/>
              </a:ext>
            </a:extLst>
          </p:cNvPr>
          <p:cNvSpPr/>
          <p:nvPr/>
        </p:nvSpPr>
        <p:spPr>
          <a:xfrm>
            <a:off x="609600" y="3749373"/>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20" name="矩形 19">
            <a:extLst>
              <a:ext uri="{FF2B5EF4-FFF2-40B4-BE49-F238E27FC236}">
                <a16:creationId xmlns:a16="http://schemas.microsoft.com/office/drawing/2014/main" id="{2312D223-3286-4614-9E5C-EF6A48A54600}"/>
              </a:ext>
            </a:extLst>
          </p:cNvPr>
          <p:cNvSpPr/>
          <p:nvPr/>
        </p:nvSpPr>
        <p:spPr>
          <a:xfrm>
            <a:off x="933450" y="3651361"/>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PAPERS</a:t>
            </a:r>
            <a:endParaRPr sz="1400"/>
          </a:p>
        </p:txBody>
      </p:sp>
      <p:sp>
        <p:nvSpPr>
          <p:cNvPr id="36" name="rule-CAPABILITY">
            <a:extLst>
              <a:ext uri="{FF2B5EF4-FFF2-40B4-BE49-F238E27FC236}">
                <a16:creationId xmlns:a16="http://schemas.microsoft.com/office/drawing/2014/main" id="{45D51B94-E59E-41FD-8AF5-424A68DFDEA5}"/>
              </a:ext>
            </a:extLst>
          </p:cNvPr>
          <p:cNvSpPr/>
          <p:nvPr/>
        </p:nvSpPr>
        <p:spPr>
          <a:xfrm>
            <a:off x="609600" y="5373719"/>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37" name="矩形 36">
            <a:extLst>
              <a:ext uri="{FF2B5EF4-FFF2-40B4-BE49-F238E27FC236}">
                <a16:creationId xmlns:a16="http://schemas.microsoft.com/office/drawing/2014/main" id="{08757F57-B068-4A14-B256-3D55E55B0EEA}"/>
              </a:ext>
            </a:extLst>
          </p:cNvPr>
          <p:cNvSpPr/>
          <p:nvPr/>
        </p:nvSpPr>
        <p:spPr>
          <a:xfrm>
            <a:off x="933450" y="5275707"/>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CAPABILITY</a:t>
            </a:r>
            <a:endParaRPr sz="1400"/>
          </a:p>
        </p:txBody>
      </p:sp>
      <p:sp>
        <p:nvSpPr>
          <p:cNvPr id="38" name="矩形 37">
            <a:extLst>
              <a:ext uri="{FF2B5EF4-FFF2-40B4-BE49-F238E27FC236}">
                <a16:creationId xmlns:a16="http://schemas.microsoft.com/office/drawing/2014/main" id="{1F6AA634-4A63-42ED-B3ED-DA1031FDE399}"/>
              </a:ext>
            </a:extLst>
          </p:cNvPr>
          <p:cNvSpPr/>
          <p:nvPr/>
        </p:nvSpPr>
        <p:spPr>
          <a:xfrm>
            <a:off x="609600" y="5540883"/>
            <a:ext cx="2228850" cy="36576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sz="1400" b="1" dirty="0" err="1">
                <a:solidFill>
                  <a:srgbClr val="17202A"/>
                </a:solidFill>
                <a:latin typeface="PingFang SC"/>
                <a:ea typeface="PingFang SC"/>
                <a:cs typeface="PingFang SC"/>
              </a:rPr>
              <a:t>高吞吐、可扩展、可恢复</a:t>
            </a:r>
            <a:endParaRPr sz="1400" dirty="0"/>
          </a:p>
        </p:txBody>
      </p:sp>
      <p:sp>
        <p:nvSpPr>
          <p:cNvPr id="39" name="category-02">
            <a:extLst>
              <a:ext uri="{FF2B5EF4-FFF2-40B4-BE49-F238E27FC236}">
                <a16:creationId xmlns:a16="http://schemas.microsoft.com/office/drawing/2014/main" id="{B31C7F8C-2391-44FE-B416-D0748C54668D}"/>
              </a:ext>
            </a:extLst>
          </p:cNvPr>
          <p:cNvSpPr/>
          <p:nvPr/>
        </p:nvSpPr>
        <p:spPr>
          <a:xfrm>
            <a:off x="3257550" y="1752600"/>
            <a:ext cx="2686050" cy="4466082"/>
          </a:xfrm>
          <a:prstGeom prst="rect">
            <a:avLst/>
          </a:prstGeom>
          <a:solidFill>
            <a:srgbClr val="FFFFFF"/>
          </a:solidFill>
          <a:ln w="9525">
            <a:solidFill>
              <a:srgbClr val="D8DEE8"/>
            </a:solidFill>
            <a:prstDash val="solid"/>
          </a:ln>
        </p:spPr>
        <p:txBody>
          <a:bodyPr/>
          <a:lstStyle/>
          <a:p>
            <a:endParaRPr lang="zh-CN" altLang="en-US"/>
          </a:p>
        </p:txBody>
      </p:sp>
      <p:sp>
        <p:nvSpPr>
          <p:cNvPr id="40" name="category-accent-02">
            <a:extLst>
              <a:ext uri="{FF2B5EF4-FFF2-40B4-BE49-F238E27FC236}">
                <a16:creationId xmlns:a16="http://schemas.microsoft.com/office/drawing/2014/main" id="{5E21DB5E-AE91-4FDE-B8BC-FDAE2715404F}"/>
              </a:ext>
            </a:extLst>
          </p:cNvPr>
          <p:cNvSpPr/>
          <p:nvPr/>
        </p:nvSpPr>
        <p:spPr>
          <a:xfrm>
            <a:off x="3257550" y="1752600"/>
            <a:ext cx="2686050" cy="57150"/>
          </a:xfrm>
          <a:prstGeom prst="rect">
            <a:avLst/>
          </a:prstGeom>
          <a:solidFill>
            <a:srgbClr val="2B6F9E"/>
          </a:solidFill>
          <a:ln w="0">
            <a:solidFill>
              <a:srgbClr val="2B6F9E"/>
            </a:solidFill>
            <a:prstDash val="solid"/>
          </a:ln>
        </p:spPr>
        <p:txBody>
          <a:bodyPr/>
          <a:lstStyle/>
          <a:p>
            <a:endParaRPr lang="zh-CN" altLang="en-US"/>
          </a:p>
        </p:txBody>
      </p:sp>
      <p:sp>
        <p:nvSpPr>
          <p:cNvPr id="41" name="矩形 40">
            <a:extLst>
              <a:ext uri="{FF2B5EF4-FFF2-40B4-BE49-F238E27FC236}">
                <a16:creationId xmlns:a16="http://schemas.microsoft.com/office/drawing/2014/main" id="{EA83D1D6-B1B1-41C0-B13B-CDEC2BCD538B}"/>
              </a:ext>
            </a:extLst>
          </p:cNvPr>
          <p:cNvSpPr/>
          <p:nvPr/>
        </p:nvSpPr>
        <p:spPr>
          <a:xfrm>
            <a:off x="3467100" y="1981200"/>
            <a:ext cx="419100" cy="3238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875" b="1">
                <a:solidFill>
                  <a:srgbClr val="2B6F9E"/>
                </a:solidFill>
                <a:latin typeface="Aptos Display"/>
                <a:ea typeface="Aptos Display"/>
                <a:cs typeface="Aptos Display"/>
              </a:defRPr>
            </a:pPr>
            <a:r>
              <a:rPr sz="1400" b="1">
                <a:solidFill>
                  <a:srgbClr val="2B6F9E"/>
                </a:solidFill>
                <a:latin typeface="Aptos Display"/>
                <a:ea typeface="Aptos Display"/>
                <a:cs typeface="Aptos Display"/>
              </a:rPr>
              <a:t>02</a:t>
            </a:r>
            <a:endParaRPr sz="1400"/>
          </a:p>
        </p:txBody>
      </p:sp>
      <p:sp>
        <p:nvSpPr>
          <p:cNvPr id="42" name="矩形 41">
            <a:extLst>
              <a:ext uri="{FF2B5EF4-FFF2-40B4-BE49-F238E27FC236}">
                <a16:creationId xmlns:a16="http://schemas.microsoft.com/office/drawing/2014/main" id="{8F0131B0-7A02-4DB2-AD5D-9F0146B10924}"/>
              </a:ext>
            </a:extLst>
          </p:cNvPr>
          <p:cNvSpPr/>
          <p:nvPr/>
        </p:nvSpPr>
        <p:spPr>
          <a:xfrm>
            <a:off x="3905250" y="1981200"/>
            <a:ext cx="1828800" cy="3048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635" b="1">
                <a:solidFill>
                  <a:srgbClr val="17202A"/>
                </a:solidFill>
                <a:latin typeface="PingFang SC"/>
                <a:ea typeface="PingFang SC"/>
                <a:cs typeface="PingFang SC"/>
              </a:defRPr>
            </a:pPr>
            <a:r>
              <a:rPr sz="1635" b="1" dirty="0" err="1">
                <a:solidFill>
                  <a:srgbClr val="17202A"/>
                </a:solidFill>
                <a:latin typeface="PingFang SC"/>
                <a:ea typeface="PingFang SC"/>
                <a:cs typeface="PingFang SC"/>
              </a:rPr>
              <a:t>推理服务优化</a:t>
            </a:r>
            <a:endParaRPr sz="1400" dirty="0"/>
          </a:p>
        </p:txBody>
      </p:sp>
      <p:sp>
        <p:nvSpPr>
          <p:cNvPr id="43" name="serve-02">
            <a:extLst>
              <a:ext uri="{FF2B5EF4-FFF2-40B4-BE49-F238E27FC236}">
                <a16:creationId xmlns:a16="http://schemas.microsoft.com/office/drawing/2014/main" id="{5F3659B1-E642-4B7F-9157-04509ECFF763}"/>
              </a:ext>
            </a:extLst>
          </p:cNvPr>
          <p:cNvSpPr/>
          <p:nvPr/>
        </p:nvSpPr>
        <p:spPr>
          <a:xfrm>
            <a:off x="3321424" y="2433447"/>
            <a:ext cx="2485151" cy="419100"/>
          </a:xfrm>
          <a:prstGeom prst="rect">
            <a:avLst/>
          </a:prstGeom>
          <a:solidFill>
            <a:srgbClr val="2B6F9E">
              <a:alpha val="7843"/>
            </a:srgbClr>
          </a:solidFill>
          <a:ln w="9525">
            <a:solidFill>
              <a:srgbClr val="2B6F9E">
                <a:alpha val="33333"/>
              </a:srgbClr>
            </a:solidFill>
            <a:prstDash val="solid"/>
          </a:ln>
        </p:spPr>
        <p:txBody>
          <a:bodyPr/>
          <a:lstStyle/>
          <a:p>
            <a:endParaRPr lang="zh-CN" altLang="en-US"/>
          </a:p>
        </p:txBody>
      </p:sp>
      <p:sp>
        <p:nvSpPr>
          <p:cNvPr id="44" name="矩形 43">
            <a:extLst>
              <a:ext uri="{FF2B5EF4-FFF2-40B4-BE49-F238E27FC236}">
                <a16:creationId xmlns:a16="http://schemas.microsoft.com/office/drawing/2014/main" id="{85977EA2-460D-472D-9CD2-24F21946C20E}"/>
              </a:ext>
            </a:extLst>
          </p:cNvPr>
          <p:cNvSpPr/>
          <p:nvPr/>
        </p:nvSpPr>
        <p:spPr>
          <a:xfrm>
            <a:off x="3432114" y="2550664"/>
            <a:ext cx="2336922" cy="184666"/>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17202A"/>
                </a:solidFill>
                <a:latin typeface="PingFang SC"/>
                <a:ea typeface="PingFang SC"/>
                <a:cs typeface="PingFang SC"/>
              </a:defRPr>
            </a:pPr>
            <a:r>
              <a:rPr sz="1200" b="1" dirty="0" err="1">
                <a:solidFill>
                  <a:srgbClr val="17202A"/>
                </a:solidFill>
                <a:latin typeface="PingFang SC"/>
                <a:ea typeface="PingFang SC"/>
                <a:cs typeface="PingFang SC"/>
              </a:rPr>
              <a:t>服务：在线</a:t>
            </a:r>
            <a:r>
              <a:rPr sz="1200" b="1" dirty="0">
                <a:solidFill>
                  <a:srgbClr val="17202A"/>
                </a:solidFill>
                <a:latin typeface="PingFang SC"/>
                <a:ea typeface="PingFang SC"/>
                <a:cs typeface="PingFang SC"/>
              </a:rPr>
              <a:t> LLM </a:t>
            </a:r>
            <a:r>
              <a:rPr sz="1200" b="1" dirty="0" err="1">
                <a:solidFill>
                  <a:srgbClr val="17202A"/>
                </a:solidFill>
                <a:latin typeface="PingFang SC"/>
                <a:ea typeface="PingFang SC"/>
                <a:cs typeface="PingFang SC"/>
              </a:rPr>
              <a:t>serving与用户请求</a:t>
            </a:r>
            <a:endParaRPr sz="1200" dirty="0"/>
          </a:p>
        </p:txBody>
      </p:sp>
      <p:sp>
        <p:nvSpPr>
          <p:cNvPr id="45" name="rule-CORE PAIN">
            <a:extLst>
              <a:ext uri="{FF2B5EF4-FFF2-40B4-BE49-F238E27FC236}">
                <a16:creationId xmlns:a16="http://schemas.microsoft.com/office/drawing/2014/main" id="{131285FF-2BA5-4822-BD80-B42B4EC44DA0}"/>
              </a:ext>
            </a:extLst>
          </p:cNvPr>
          <p:cNvSpPr/>
          <p:nvPr/>
        </p:nvSpPr>
        <p:spPr>
          <a:xfrm>
            <a:off x="3486150" y="3050762"/>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46" name="矩形 45">
            <a:extLst>
              <a:ext uri="{FF2B5EF4-FFF2-40B4-BE49-F238E27FC236}">
                <a16:creationId xmlns:a16="http://schemas.microsoft.com/office/drawing/2014/main" id="{1EB23604-EAD9-4AB9-9DC1-EB53F2A1C878}"/>
              </a:ext>
            </a:extLst>
          </p:cNvPr>
          <p:cNvSpPr/>
          <p:nvPr/>
        </p:nvSpPr>
        <p:spPr>
          <a:xfrm>
            <a:off x="3810000" y="2952750"/>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dirty="0">
                <a:solidFill>
                  <a:srgbClr val="2B6F9E"/>
                </a:solidFill>
                <a:latin typeface="Aptos"/>
                <a:ea typeface="Aptos"/>
                <a:cs typeface="Aptos"/>
              </a:rPr>
              <a:t>CORE PAIN</a:t>
            </a:r>
            <a:endParaRPr sz="1400" dirty="0"/>
          </a:p>
        </p:txBody>
      </p:sp>
      <p:sp>
        <p:nvSpPr>
          <p:cNvPr id="47" name="矩形 46">
            <a:extLst>
              <a:ext uri="{FF2B5EF4-FFF2-40B4-BE49-F238E27FC236}">
                <a16:creationId xmlns:a16="http://schemas.microsoft.com/office/drawing/2014/main" id="{BB523E7E-EB51-43B2-8474-3033D1038FC5}"/>
              </a:ext>
            </a:extLst>
          </p:cNvPr>
          <p:cNvSpPr/>
          <p:nvPr/>
        </p:nvSpPr>
        <p:spPr>
          <a:xfrm>
            <a:off x="3486150" y="3200400"/>
            <a:ext cx="2228850" cy="74980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PingFang SC"/>
                <a:ea typeface="PingFang SC"/>
                <a:cs typeface="PingFang SC"/>
              </a:defRPr>
            </a:pPr>
            <a:r>
              <a:rPr sz="1400" b="0" dirty="0" err="1">
                <a:solidFill>
                  <a:srgbClr val="596273"/>
                </a:solidFill>
                <a:latin typeface="PingFang SC"/>
                <a:ea typeface="PingFang SC"/>
                <a:cs typeface="PingFang SC"/>
              </a:rPr>
              <a:t>长上下文与</a:t>
            </a:r>
            <a:r>
              <a:rPr sz="1400" b="0" dirty="0">
                <a:solidFill>
                  <a:srgbClr val="596273"/>
                </a:solidFill>
                <a:latin typeface="PingFang SC"/>
                <a:ea typeface="PingFang SC"/>
                <a:cs typeface="PingFang SC"/>
              </a:rPr>
              <a:t> reasoning </a:t>
            </a:r>
            <a:r>
              <a:rPr sz="1400" b="0" dirty="0" err="1">
                <a:solidFill>
                  <a:srgbClr val="596273"/>
                </a:solidFill>
                <a:latin typeface="PingFang SC"/>
                <a:ea typeface="PingFang SC"/>
                <a:cs typeface="PingFang SC"/>
              </a:rPr>
              <a:t>放大</a:t>
            </a:r>
            <a:r>
              <a:rPr sz="1400" b="0" dirty="0">
                <a:solidFill>
                  <a:srgbClr val="596273"/>
                </a:solidFill>
                <a:latin typeface="PingFang SC"/>
                <a:ea typeface="PingFang SC"/>
                <a:cs typeface="PingFang SC"/>
              </a:rPr>
              <a:t>
decode </a:t>
            </a:r>
            <a:r>
              <a:rPr sz="1400" b="0" dirty="0" err="1">
                <a:solidFill>
                  <a:srgbClr val="596273"/>
                </a:solidFill>
                <a:latin typeface="PingFang SC"/>
                <a:ea typeface="PingFang SC"/>
                <a:cs typeface="PingFang SC"/>
              </a:rPr>
              <a:t>负载，KV</a:t>
            </a:r>
            <a:r>
              <a:rPr sz="1400" b="0" dirty="0">
                <a:solidFill>
                  <a:srgbClr val="596273"/>
                </a:solidFill>
                <a:latin typeface="PingFang SC"/>
                <a:ea typeface="PingFang SC"/>
                <a:cs typeface="PingFang SC"/>
              </a:rPr>
              <a:t> cache 与
</a:t>
            </a:r>
            <a:r>
              <a:rPr sz="1400" b="0" dirty="0" err="1">
                <a:solidFill>
                  <a:srgbClr val="596273"/>
                </a:solidFill>
                <a:latin typeface="PingFang SC"/>
                <a:ea typeface="PingFang SC"/>
                <a:cs typeface="PingFang SC"/>
              </a:rPr>
              <a:t>实例失衡推高延迟</a:t>
            </a:r>
            <a:r>
              <a:rPr sz="1400" b="0" dirty="0">
                <a:solidFill>
                  <a:srgbClr val="596273"/>
                </a:solidFill>
                <a:latin typeface="PingFang SC"/>
                <a:ea typeface="PingFang SC"/>
                <a:cs typeface="PingFang SC"/>
              </a:rPr>
              <a:t>/OOM</a:t>
            </a:r>
            <a:endParaRPr sz="1400" dirty="0"/>
          </a:p>
        </p:txBody>
      </p:sp>
      <p:sp>
        <p:nvSpPr>
          <p:cNvPr id="48" name="rule-PAPERS">
            <a:extLst>
              <a:ext uri="{FF2B5EF4-FFF2-40B4-BE49-F238E27FC236}">
                <a16:creationId xmlns:a16="http://schemas.microsoft.com/office/drawing/2014/main" id="{07383B6B-D09F-4641-B9EB-3AA8C911D48F}"/>
              </a:ext>
            </a:extLst>
          </p:cNvPr>
          <p:cNvSpPr/>
          <p:nvPr/>
        </p:nvSpPr>
        <p:spPr>
          <a:xfrm>
            <a:off x="3486150" y="4031837"/>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49" name="矩形 48">
            <a:extLst>
              <a:ext uri="{FF2B5EF4-FFF2-40B4-BE49-F238E27FC236}">
                <a16:creationId xmlns:a16="http://schemas.microsoft.com/office/drawing/2014/main" id="{7721EC8A-4EA2-4CD6-99B0-773BF141D665}"/>
              </a:ext>
            </a:extLst>
          </p:cNvPr>
          <p:cNvSpPr/>
          <p:nvPr/>
        </p:nvSpPr>
        <p:spPr>
          <a:xfrm>
            <a:off x="3810000" y="3933825"/>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PAPERS</a:t>
            </a:r>
            <a:endParaRPr sz="1400"/>
          </a:p>
        </p:txBody>
      </p:sp>
      <p:sp>
        <p:nvSpPr>
          <p:cNvPr id="56" name="rule-CAPABILITY">
            <a:extLst>
              <a:ext uri="{FF2B5EF4-FFF2-40B4-BE49-F238E27FC236}">
                <a16:creationId xmlns:a16="http://schemas.microsoft.com/office/drawing/2014/main" id="{DD522816-7861-404C-8A90-9D443186667D}"/>
              </a:ext>
            </a:extLst>
          </p:cNvPr>
          <p:cNvSpPr/>
          <p:nvPr/>
        </p:nvSpPr>
        <p:spPr>
          <a:xfrm>
            <a:off x="3486150" y="5039091"/>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57" name="矩形 56">
            <a:extLst>
              <a:ext uri="{FF2B5EF4-FFF2-40B4-BE49-F238E27FC236}">
                <a16:creationId xmlns:a16="http://schemas.microsoft.com/office/drawing/2014/main" id="{AA4EBF82-6284-4E1D-8194-CD31606D2F8F}"/>
              </a:ext>
            </a:extLst>
          </p:cNvPr>
          <p:cNvSpPr/>
          <p:nvPr/>
        </p:nvSpPr>
        <p:spPr>
          <a:xfrm>
            <a:off x="3810000" y="4941079"/>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CAPABILITY</a:t>
            </a:r>
            <a:endParaRPr sz="1400"/>
          </a:p>
        </p:txBody>
      </p:sp>
      <p:sp>
        <p:nvSpPr>
          <p:cNvPr id="58" name="矩形 57">
            <a:extLst>
              <a:ext uri="{FF2B5EF4-FFF2-40B4-BE49-F238E27FC236}">
                <a16:creationId xmlns:a16="http://schemas.microsoft.com/office/drawing/2014/main" id="{65BD3B99-A6F6-4840-B9E6-B21470FED8EB}"/>
              </a:ext>
            </a:extLst>
          </p:cNvPr>
          <p:cNvSpPr/>
          <p:nvPr/>
        </p:nvSpPr>
        <p:spPr>
          <a:xfrm>
            <a:off x="3486149" y="5206255"/>
            <a:ext cx="2411999" cy="430887"/>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lgn="l">
              <a:defRPr sz="1400" b="1">
                <a:solidFill>
                  <a:srgbClr val="17202A"/>
                </a:solidFill>
                <a:latin typeface="PingFang SC"/>
                <a:ea typeface="PingFang SC"/>
                <a:cs typeface="PingFang SC"/>
              </a:defRPr>
            </a:pPr>
            <a:r>
              <a:rPr lang="zh-CN" altLang="en-US" sz="1400" b="1" dirty="0">
                <a:solidFill>
                  <a:srgbClr val="17202A"/>
                </a:solidFill>
                <a:latin typeface="PingFang SC"/>
                <a:ea typeface="PingFang SC"/>
                <a:cs typeface="PingFang SC"/>
              </a:rPr>
              <a:t>从</a:t>
            </a:r>
            <a:r>
              <a:rPr sz="1400" b="1" dirty="0">
                <a:solidFill>
                  <a:srgbClr val="17202A"/>
                </a:solidFill>
                <a:latin typeface="PingFang SC"/>
                <a:ea typeface="PingFang SC"/>
                <a:cs typeface="PingFang SC"/>
              </a:rPr>
              <a:t>kernel </a:t>
            </a:r>
            <a:r>
              <a:rPr lang="zh-CN" altLang="en-US" sz="1400" b="1" dirty="0">
                <a:solidFill>
                  <a:srgbClr val="17202A"/>
                </a:solidFill>
                <a:latin typeface="PingFang SC"/>
                <a:ea typeface="PingFang SC"/>
                <a:cs typeface="PingFang SC"/>
              </a:rPr>
              <a:t>到</a:t>
            </a:r>
            <a:r>
              <a:rPr sz="1400" b="1" dirty="0">
                <a:solidFill>
                  <a:srgbClr val="17202A"/>
                </a:solidFill>
                <a:latin typeface="PingFang SC"/>
                <a:ea typeface="PingFang SC"/>
                <a:cs typeface="PingFang SC"/>
              </a:rPr>
              <a:t> scheduler </a:t>
            </a:r>
            <a:r>
              <a:rPr sz="1400" b="1" dirty="0" err="1">
                <a:solidFill>
                  <a:srgbClr val="17202A"/>
                </a:solidFill>
                <a:latin typeface="PingFang SC"/>
                <a:ea typeface="PingFang SC"/>
                <a:cs typeface="PingFang SC"/>
              </a:rPr>
              <a:t>协同</a:t>
            </a:r>
            <a:r>
              <a:rPr lang="zh-CN" altLang="en-US" sz="1400" b="1" dirty="0">
                <a:solidFill>
                  <a:srgbClr val="17202A"/>
                </a:solidFill>
                <a:latin typeface="PingFang SC"/>
                <a:ea typeface="PingFang SC"/>
                <a:cs typeface="PingFang SC"/>
              </a:rPr>
              <a:t>降低</a:t>
            </a:r>
            <a:r>
              <a:rPr sz="1400" b="1" dirty="0">
                <a:solidFill>
                  <a:srgbClr val="17202A"/>
                </a:solidFill>
                <a:latin typeface="PingFang SC"/>
                <a:ea typeface="PingFang SC"/>
                <a:cs typeface="PingFang SC"/>
              </a:rPr>
              <a:t>
</a:t>
            </a:r>
            <a:r>
              <a:rPr sz="1400" b="1" dirty="0" err="1">
                <a:solidFill>
                  <a:srgbClr val="17202A"/>
                </a:solidFill>
                <a:latin typeface="PingFang SC"/>
                <a:ea typeface="PingFang SC"/>
                <a:cs typeface="PingFang SC"/>
              </a:rPr>
              <a:t>成本、延迟和</a:t>
            </a:r>
            <a:r>
              <a:rPr sz="1400" b="1" dirty="0">
                <a:solidFill>
                  <a:srgbClr val="17202A"/>
                </a:solidFill>
                <a:latin typeface="PingFang SC"/>
                <a:ea typeface="PingFang SC"/>
                <a:cs typeface="PingFang SC"/>
              </a:rPr>
              <a:t> SLO</a:t>
            </a:r>
            <a:r>
              <a:rPr lang="zh-CN" altLang="en-US" sz="1400" b="1" dirty="0">
                <a:solidFill>
                  <a:srgbClr val="17202A"/>
                </a:solidFill>
                <a:latin typeface="PingFang SC"/>
                <a:ea typeface="PingFang SC"/>
                <a:cs typeface="PingFang SC"/>
              </a:rPr>
              <a:t> 违约</a:t>
            </a:r>
            <a:endParaRPr sz="1400" dirty="0"/>
          </a:p>
        </p:txBody>
      </p:sp>
      <p:sp>
        <p:nvSpPr>
          <p:cNvPr id="59" name="category-03">
            <a:extLst>
              <a:ext uri="{FF2B5EF4-FFF2-40B4-BE49-F238E27FC236}">
                <a16:creationId xmlns:a16="http://schemas.microsoft.com/office/drawing/2014/main" id="{8C2694C3-5AE8-4508-B07C-966C808A7D03}"/>
              </a:ext>
            </a:extLst>
          </p:cNvPr>
          <p:cNvSpPr/>
          <p:nvPr/>
        </p:nvSpPr>
        <p:spPr>
          <a:xfrm>
            <a:off x="6134100" y="1752600"/>
            <a:ext cx="2686050" cy="4487228"/>
          </a:xfrm>
          <a:prstGeom prst="rect">
            <a:avLst/>
          </a:prstGeom>
          <a:solidFill>
            <a:srgbClr val="FFFFFF"/>
          </a:solidFill>
          <a:ln w="9525">
            <a:solidFill>
              <a:srgbClr val="D8DEE8"/>
            </a:solidFill>
            <a:prstDash val="solid"/>
          </a:ln>
        </p:spPr>
        <p:txBody>
          <a:bodyPr/>
          <a:lstStyle/>
          <a:p>
            <a:endParaRPr lang="zh-CN" altLang="en-US"/>
          </a:p>
        </p:txBody>
      </p:sp>
      <p:sp>
        <p:nvSpPr>
          <p:cNvPr id="60" name="category-accent-03">
            <a:extLst>
              <a:ext uri="{FF2B5EF4-FFF2-40B4-BE49-F238E27FC236}">
                <a16:creationId xmlns:a16="http://schemas.microsoft.com/office/drawing/2014/main" id="{278184DE-60C3-4AA7-A005-92DD11379213}"/>
              </a:ext>
            </a:extLst>
          </p:cNvPr>
          <p:cNvSpPr/>
          <p:nvPr/>
        </p:nvSpPr>
        <p:spPr>
          <a:xfrm>
            <a:off x="6134100" y="1752600"/>
            <a:ext cx="2686050" cy="57150"/>
          </a:xfrm>
          <a:prstGeom prst="rect">
            <a:avLst/>
          </a:prstGeom>
          <a:solidFill>
            <a:srgbClr val="2B6F9E"/>
          </a:solidFill>
          <a:ln w="0">
            <a:solidFill>
              <a:srgbClr val="2B6F9E"/>
            </a:solidFill>
            <a:prstDash val="solid"/>
          </a:ln>
        </p:spPr>
        <p:txBody>
          <a:bodyPr/>
          <a:lstStyle/>
          <a:p>
            <a:endParaRPr lang="zh-CN" altLang="en-US"/>
          </a:p>
        </p:txBody>
      </p:sp>
      <p:sp>
        <p:nvSpPr>
          <p:cNvPr id="61" name="矩形 60">
            <a:extLst>
              <a:ext uri="{FF2B5EF4-FFF2-40B4-BE49-F238E27FC236}">
                <a16:creationId xmlns:a16="http://schemas.microsoft.com/office/drawing/2014/main" id="{008AC6CC-695A-4C91-B951-3356221F153C}"/>
              </a:ext>
            </a:extLst>
          </p:cNvPr>
          <p:cNvSpPr/>
          <p:nvPr/>
        </p:nvSpPr>
        <p:spPr>
          <a:xfrm>
            <a:off x="6343650" y="1981200"/>
            <a:ext cx="419100" cy="3238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875" b="1">
                <a:solidFill>
                  <a:srgbClr val="2B6F9E"/>
                </a:solidFill>
                <a:latin typeface="Aptos Display"/>
                <a:ea typeface="Aptos Display"/>
                <a:cs typeface="Aptos Display"/>
              </a:defRPr>
            </a:pPr>
            <a:r>
              <a:rPr sz="1400" b="1" dirty="0">
                <a:solidFill>
                  <a:srgbClr val="2B6F9E"/>
                </a:solidFill>
                <a:latin typeface="Aptos Display"/>
                <a:ea typeface="Aptos Display"/>
                <a:cs typeface="Aptos Display"/>
              </a:rPr>
              <a:t>03</a:t>
            </a:r>
            <a:endParaRPr sz="1400" dirty="0"/>
          </a:p>
        </p:txBody>
      </p:sp>
      <p:sp>
        <p:nvSpPr>
          <p:cNvPr id="62" name="矩形 61">
            <a:extLst>
              <a:ext uri="{FF2B5EF4-FFF2-40B4-BE49-F238E27FC236}">
                <a16:creationId xmlns:a16="http://schemas.microsoft.com/office/drawing/2014/main" id="{AF870AFB-B402-4C7D-B9A3-9EA003522E92}"/>
              </a:ext>
            </a:extLst>
          </p:cNvPr>
          <p:cNvSpPr/>
          <p:nvPr/>
        </p:nvSpPr>
        <p:spPr>
          <a:xfrm>
            <a:off x="6781800" y="1981200"/>
            <a:ext cx="1828800" cy="3048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635" b="1">
                <a:solidFill>
                  <a:srgbClr val="17202A"/>
                </a:solidFill>
                <a:latin typeface="PingFang SC"/>
                <a:ea typeface="PingFang SC"/>
                <a:cs typeface="PingFang SC"/>
              </a:defRPr>
            </a:pPr>
            <a:r>
              <a:rPr sz="1635" b="1" dirty="0" err="1">
                <a:solidFill>
                  <a:srgbClr val="17202A"/>
                </a:solidFill>
                <a:latin typeface="PingFang SC"/>
                <a:ea typeface="PingFang SC"/>
                <a:cs typeface="PingFang SC"/>
              </a:rPr>
              <a:t>可观测与</a:t>
            </a:r>
            <a:r>
              <a:rPr sz="1635" b="1" dirty="0">
                <a:solidFill>
                  <a:srgbClr val="17202A"/>
                </a:solidFill>
                <a:latin typeface="PingFang SC"/>
                <a:ea typeface="PingFang SC"/>
                <a:cs typeface="PingFang SC"/>
              </a:rPr>
              <a:t> AIOps</a:t>
            </a:r>
            <a:endParaRPr sz="1400" dirty="0"/>
          </a:p>
        </p:txBody>
      </p:sp>
      <p:sp>
        <p:nvSpPr>
          <p:cNvPr id="63" name="serve-03">
            <a:extLst>
              <a:ext uri="{FF2B5EF4-FFF2-40B4-BE49-F238E27FC236}">
                <a16:creationId xmlns:a16="http://schemas.microsoft.com/office/drawing/2014/main" id="{C8384C9E-569F-4C00-A063-EB112BBC124C}"/>
              </a:ext>
            </a:extLst>
          </p:cNvPr>
          <p:cNvSpPr/>
          <p:nvPr/>
        </p:nvSpPr>
        <p:spPr>
          <a:xfrm>
            <a:off x="6271125" y="2433447"/>
            <a:ext cx="2412000" cy="419100"/>
          </a:xfrm>
          <a:prstGeom prst="rect">
            <a:avLst/>
          </a:prstGeom>
          <a:solidFill>
            <a:srgbClr val="2B6F9E">
              <a:alpha val="7843"/>
            </a:srgbClr>
          </a:solidFill>
          <a:ln w="9525">
            <a:solidFill>
              <a:srgbClr val="2B6F9E">
                <a:alpha val="33333"/>
              </a:srgbClr>
            </a:solidFill>
            <a:prstDash val="solid"/>
          </a:ln>
        </p:spPr>
        <p:txBody>
          <a:bodyPr/>
          <a:lstStyle/>
          <a:p>
            <a:endParaRPr lang="zh-CN" altLang="en-US"/>
          </a:p>
        </p:txBody>
      </p:sp>
      <p:sp>
        <p:nvSpPr>
          <p:cNvPr id="64" name="矩形 63">
            <a:extLst>
              <a:ext uri="{FF2B5EF4-FFF2-40B4-BE49-F238E27FC236}">
                <a16:creationId xmlns:a16="http://schemas.microsoft.com/office/drawing/2014/main" id="{7BFF14BE-CC02-4F53-A84D-9B0875EF712C}"/>
              </a:ext>
            </a:extLst>
          </p:cNvPr>
          <p:cNvSpPr/>
          <p:nvPr/>
        </p:nvSpPr>
        <p:spPr>
          <a:xfrm>
            <a:off x="6310139" y="2535275"/>
            <a:ext cx="2333972" cy="215444"/>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17202A"/>
                </a:solidFill>
                <a:latin typeface="PingFang SC"/>
                <a:ea typeface="PingFang SC"/>
                <a:cs typeface="PingFang SC"/>
              </a:defRPr>
            </a:pPr>
            <a:r>
              <a:rPr sz="1400" b="1" dirty="0" err="1">
                <a:solidFill>
                  <a:srgbClr val="17202A"/>
                </a:solidFill>
                <a:latin typeface="PingFang SC"/>
                <a:ea typeface="PingFang SC"/>
                <a:cs typeface="PingFang SC"/>
              </a:rPr>
              <a:t>服务：云基础设施与运维团队</a:t>
            </a:r>
            <a:endParaRPr sz="1400" dirty="0"/>
          </a:p>
        </p:txBody>
      </p:sp>
      <p:sp>
        <p:nvSpPr>
          <p:cNvPr id="65" name="rule-CORE PAIN">
            <a:extLst>
              <a:ext uri="{FF2B5EF4-FFF2-40B4-BE49-F238E27FC236}">
                <a16:creationId xmlns:a16="http://schemas.microsoft.com/office/drawing/2014/main" id="{6E499B3C-3FDD-42AC-8126-3094B0F28571}"/>
              </a:ext>
            </a:extLst>
          </p:cNvPr>
          <p:cNvSpPr/>
          <p:nvPr/>
        </p:nvSpPr>
        <p:spPr>
          <a:xfrm>
            <a:off x="6362700" y="3050762"/>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66" name="矩形 65">
            <a:extLst>
              <a:ext uri="{FF2B5EF4-FFF2-40B4-BE49-F238E27FC236}">
                <a16:creationId xmlns:a16="http://schemas.microsoft.com/office/drawing/2014/main" id="{ED763C79-1C21-4CB1-9BE9-2DC1994BF892}"/>
              </a:ext>
            </a:extLst>
          </p:cNvPr>
          <p:cNvSpPr/>
          <p:nvPr/>
        </p:nvSpPr>
        <p:spPr>
          <a:xfrm>
            <a:off x="6686550" y="2952750"/>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dirty="0">
                <a:solidFill>
                  <a:srgbClr val="2B6F9E"/>
                </a:solidFill>
                <a:latin typeface="Aptos"/>
                <a:ea typeface="Aptos"/>
                <a:cs typeface="Aptos"/>
              </a:rPr>
              <a:t>CORE PAIN</a:t>
            </a:r>
            <a:endParaRPr sz="1400" dirty="0"/>
          </a:p>
        </p:txBody>
      </p:sp>
      <p:sp>
        <p:nvSpPr>
          <p:cNvPr id="67" name="矩形 66">
            <a:extLst>
              <a:ext uri="{FF2B5EF4-FFF2-40B4-BE49-F238E27FC236}">
                <a16:creationId xmlns:a16="http://schemas.microsoft.com/office/drawing/2014/main" id="{CE3F3561-73E7-4CFD-8D7C-927641447653}"/>
              </a:ext>
            </a:extLst>
          </p:cNvPr>
          <p:cNvSpPr/>
          <p:nvPr/>
        </p:nvSpPr>
        <p:spPr>
          <a:xfrm>
            <a:off x="6362700" y="3200400"/>
            <a:ext cx="2228850" cy="65836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PingFang SC"/>
                <a:ea typeface="PingFang SC"/>
                <a:cs typeface="PingFang SC"/>
              </a:defRPr>
            </a:pPr>
            <a:r>
              <a:rPr sz="1400" b="0" dirty="0" err="1">
                <a:solidFill>
                  <a:srgbClr val="596273"/>
                </a:solidFill>
                <a:latin typeface="PingFang SC"/>
                <a:ea typeface="PingFang SC"/>
                <a:cs typeface="PingFang SC"/>
              </a:rPr>
              <a:t>网络异常会级联扩散</a:t>
            </a:r>
            <a:r>
              <a:rPr sz="1400" b="0" dirty="0">
                <a:solidFill>
                  <a:srgbClr val="596273"/>
                </a:solidFill>
                <a:latin typeface="PingFang SC"/>
                <a:ea typeface="PingFang SC"/>
                <a:cs typeface="PingFang SC"/>
              </a:rPr>
              <a:t>
</a:t>
            </a:r>
            <a:r>
              <a:rPr sz="1400" b="0" dirty="0" err="1">
                <a:solidFill>
                  <a:srgbClr val="596273"/>
                </a:solidFill>
                <a:latin typeface="PingFang SC"/>
                <a:ea typeface="PingFang SC"/>
                <a:cs typeface="PingFang SC"/>
              </a:rPr>
              <a:t>告警与日志巨大，需要非侵入</a:t>
            </a:r>
            <a:r>
              <a:rPr sz="1400" b="0" dirty="0">
                <a:solidFill>
                  <a:srgbClr val="596273"/>
                </a:solidFill>
                <a:latin typeface="PingFang SC"/>
                <a:ea typeface="PingFang SC"/>
                <a:cs typeface="PingFang SC"/>
              </a:rPr>
              <a:t>
</a:t>
            </a:r>
            <a:r>
              <a:rPr sz="1400" b="0" dirty="0" err="1">
                <a:solidFill>
                  <a:srgbClr val="596273"/>
                </a:solidFill>
                <a:latin typeface="PingFang SC"/>
                <a:ea typeface="PingFang SC"/>
                <a:cs typeface="PingFang SC"/>
              </a:rPr>
              <a:t>可解释定位</a:t>
            </a:r>
            <a:endParaRPr sz="1400" dirty="0"/>
          </a:p>
        </p:txBody>
      </p:sp>
      <p:sp>
        <p:nvSpPr>
          <p:cNvPr id="68" name="rule-PAPERS">
            <a:extLst>
              <a:ext uri="{FF2B5EF4-FFF2-40B4-BE49-F238E27FC236}">
                <a16:creationId xmlns:a16="http://schemas.microsoft.com/office/drawing/2014/main" id="{62B8E359-EC1F-4CF6-9A37-B90852F5029E}"/>
              </a:ext>
            </a:extLst>
          </p:cNvPr>
          <p:cNvSpPr/>
          <p:nvPr/>
        </p:nvSpPr>
        <p:spPr>
          <a:xfrm>
            <a:off x="6362700" y="4031837"/>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69" name="矩形 68">
            <a:extLst>
              <a:ext uri="{FF2B5EF4-FFF2-40B4-BE49-F238E27FC236}">
                <a16:creationId xmlns:a16="http://schemas.microsoft.com/office/drawing/2014/main" id="{ACE7E647-9F97-4978-9355-E3D11DE85A00}"/>
              </a:ext>
            </a:extLst>
          </p:cNvPr>
          <p:cNvSpPr/>
          <p:nvPr/>
        </p:nvSpPr>
        <p:spPr>
          <a:xfrm>
            <a:off x="6686550" y="3933825"/>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PAPERS</a:t>
            </a:r>
            <a:endParaRPr sz="1400"/>
          </a:p>
        </p:txBody>
      </p:sp>
      <p:sp>
        <p:nvSpPr>
          <p:cNvPr id="76" name="rule-CAPABILITY">
            <a:extLst>
              <a:ext uri="{FF2B5EF4-FFF2-40B4-BE49-F238E27FC236}">
                <a16:creationId xmlns:a16="http://schemas.microsoft.com/office/drawing/2014/main" id="{451A20FB-6865-45A6-B347-953719F0BEA2}"/>
              </a:ext>
            </a:extLst>
          </p:cNvPr>
          <p:cNvSpPr/>
          <p:nvPr/>
        </p:nvSpPr>
        <p:spPr>
          <a:xfrm>
            <a:off x="6362700" y="5039091"/>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77" name="矩形 76">
            <a:extLst>
              <a:ext uri="{FF2B5EF4-FFF2-40B4-BE49-F238E27FC236}">
                <a16:creationId xmlns:a16="http://schemas.microsoft.com/office/drawing/2014/main" id="{E8633C01-2963-47D4-A992-29C156F9E052}"/>
              </a:ext>
            </a:extLst>
          </p:cNvPr>
          <p:cNvSpPr/>
          <p:nvPr/>
        </p:nvSpPr>
        <p:spPr>
          <a:xfrm>
            <a:off x="6686550" y="4941079"/>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CAPABILITY</a:t>
            </a:r>
            <a:endParaRPr sz="1400"/>
          </a:p>
        </p:txBody>
      </p:sp>
      <p:sp>
        <p:nvSpPr>
          <p:cNvPr id="78" name="矩形 77">
            <a:extLst>
              <a:ext uri="{FF2B5EF4-FFF2-40B4-BE49-F238E27FC236}">
                <a16:creationId xmlns:a16="http://schemas.microsoft.com/office/drawing/2014/main" id="{6CFB102F-1E14-4FDD-A4F3-54168977D428}"/>
              </a:ext>
            </a:extLst>
          </p:cNvPr>
          <p:cNvSpPr/>
          <p:nvPr/>
        </p:nvSpPr>
        <p:spPr>
          <a:xfrm>
            <a:off x="6362700" y="5206255"/>
            <a:ext cx="2228850" cy="36576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sz="1400" b="1" dirty="0" err="1">
                <a:solidFill>
                  <a:srgbClr val="17202A"/>
                </a:solidFill>
                <a:latin typeface="PingFang SC"/>
                <a:ea typeface="PingFang SC"/>
                <a:cs typeface="PingFang SC"/>
              </a:rPr>
              <a:t>把底层信号转化为运维定位结</a:t>
            </a:r>
            <a:r>
              <a:rPr sz="1400" b="1" dirty="0">
                <a:solidFill>
                  <a:srgbClr val="17202A"/>
                </a:solidFill>
                <a:latin typeface="PingFang SC"/>
                <a:ea typeface="PingFang SC"/>
                <a:cs typeface="PingFang SC"/>
              </a:rPr>
              <a:t>
论</a:t>
            </a:r>
            <a:endParaRPr sz="1400" dirty="0"/>
          </a:p>
        </p:txBody>
      </p:sp>
      <p:sp>
        <p:nvSpPr>
          <p:cNvPr id="83" name="矩形 82">
            <a:extLst>
              <a:ext uri="{FF2B5EF4-FFF2-40B4-BE49-F238E27FC236}">
                <a16:creationId xmlns:a16="http://schemas.microsoft.com/office/drawing/2014/main" id="{41FD88EA-EDCE-422A-8F55-F457DD122197}"/>
              </a:ext>
            </a:extLst>
          </p:cNvPr>
          <p:cNvSpPr/>
          <p:nvPr/>
        </p:nvSpPr>
        <p:spPr>
          <a:xfrm>
            <a:off x="381000" y="6629400"/>
            <a:ext cx="49530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40" b="0">
                <a:solidFill>
                  <a:srgbClr val="7A8393"/>
                </a:solidFill>
                <a:latin typeface="Aptos"/>
                <a:ea typeface="Aptos"/>
                <a:cs typeface="Aptos"/>
              </a:defRPr>
            </a:pPr>
            <a:r>
              <a:rPr sz="880" b="0">
                <a:solidFill>
                  <a:srgbClr val="7A8393"/>
                </a:solidFill>
                <a:latin typeface="Aptos"/>
                <a:ea typeface="Aptos"/>
                <a:cs typeface="Aptos"/>
              </a:rPr>
              <a:t>Source: local paper set in Research ppt · Overview for talk</a:t>
            </a:r>
          </a:p>
        </p:txBody>
      </p:sp>
      <p:sp>
        <p:nvSpPr>
          <p:cNvPr id="84" name="矩形 83">
            <a:extLst>
              <a:ext uri="{FF2B5EF4-FFF2-40B4-BE49-F238E27FC236}">
                <a16:creationId xmlns:a16="http://schemas.microsoft.com/office/drawing/2014/main" id="{FD65418C-B285-4B38-A9D3-4746E327FFF2}"/>
              </a:ext>
            </a:extLst>
          </p:cNvPr>
          <p:cNvSpPr/>
          <p:nvPr/>
        </p:nvSpPr>
        <p:spPr>
          <a:xfrm>
            <a:off x="11689172" y="6619875"/>
            <a:ext cx="121828" cy="135422"/>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2B6F9E"/>
                </a:solidFill>
                <a:latin typeface="Aptos"/>
                <a:ea typeface="Aptos"/>
                <a:cs typeface="Aptos"/>
              </a:rPr>
              <a:t>01</a:t>
            </a:r>
          </a:p>
        </p:txBody>
      </p:sp>
      <p:sp>
        <p:nvSpPr>
          <p:cNvPr id="168" name="venue-USENIX ATC'25">
            <a:extLst>
              <a:ext uri="{FF2B5EF4-FFF2-40B4-BE49-F238E27FC236}">
                <a16:creationId xmlns:a16="http://schemas.microsoft.com/office/drawing/2014/main" id="{75C69EC8-F472-091F-01E4-C91EEAF000C7}"/>
              </a:ext>
            </a:extLst>
          </p:cNvPr>
          <p:cNvSpPr>
            <a:spLocks noGrp="1"/>
          </p:cNvSpPr>
          <p:nvPr/>
        </p:nvSpPr>
        <p:spPr>
          <a:xfrm>
            <a:off x="612405" y="3885057"/>
            <a:ext cx="575971" cy="200025"/>
          </a:xfrm>
          <a:prstGeom prst="rect">
            <a:avLst/>
          </a:prstGeom>
          <a:solidFill>
            <a:srgbClr val="2B6F9E">
              <a:alpha val="7059"/>
            </a:srgbClr>
          </a:solidFill>
          <a:ln w="9525">
            <a:solidFill>
              <a:srgbClr val="2B6F9E">
                <a:alpha val="43922"/>
              </a:srgbClr>
            </a:solidFill>
            <a:prstDash val="solid"/>
          </a:ln>
        </p:spPr>
        <p:txBody>
          <a:bodyPr/>
          <a:lstStyle/>
          <a:p>
            <a:endParaRPr lang="zh-CN" altLang="en-US"/>
          </a:p>
        </p:txBody>
      </p:sp>
      <p:sp>
        <p:nvSpPr>
          <p:cNvPr id="169" name="矩形 168">
            <a:extLst>
              <a:ext uri="{FF2B5EF4-FFF2-40B4-BE49-F238E27FC236}">
                <a16:creationId xmlns:a16="http://schemas.microsoft.com/office/drawing/2014/main" id="{955F41FB-0F97-6152-49E9-F872AE7904EF}"/>
              </a:ext>
            </a:extLst>
          </p:cNvPr>
          <p:cNvSpPr>
            <a:spLocks noGrp="1"/>
          </p:cNvSpPr>
          <p:nvPr/>
        </p:nvSpPr>
        <p:spPr>
          <a:xfrm>
            <a:off x="643109" y="3940057"/>
            <a:ext cx="514563" cy="90025"/>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585" b="1">
                <a:solidFill>
                  <a:srgbClr val="2B6F9E"/>
                </a:solidFill>
                <a:latin typeface="Aptos"/>
                <a:ea typeface="Aptos"/>
                <a:cs typeface="Aptos"/>
              </a:defRPr>
            </a:pPr>
            <a:r>
              <a:rPr sz="585" b="1" dirty="0">
                <a:solidFill>
                  <a:srgbClr val="2B6F9E"/>
                </a:solidFill>
                <a:latin typeface="Aptos"/>
                <a:ea typeface="Aptos"/>
                <a:cs typeface="Aptos"/>
              </a:rPr>
              <a:t>USENIX ATC'25</a:t>
            </a:r>
          </a:p>
        </p:txBody>
      </p:sp>
      <p:sp>
        <p:nvSpPr>
          <p:cNvPr id="170" name="矩形 169">
            <a:extLst>
              <a:ext uri="{FF2B5EF4-FFF2-40B4-BE49-F238E27FC236}">
                <a16:creationId xmlns:a16="http://schemas.microsoft.com/office/drawing/2014/main" id="{2F8E417C-46C1-EC18-02A4-48D6AFEBE6D9}"/>
              </a:ext>
            </a:extLst>
          </p:cNvPr>
          <p:cNvSpPr>
            <a:spLocks noGrp="1"/>
          </p:cNvSpPr>
          <p:nvPr/>
        </p:nvSpPr>
        <p:spPr>
          <a:xfrm>
            <a:off x="1213315" y="3923157"/>
            <a:ext cx="1530868" cy="153888"/>
          </a:xfrm>
          <a:prstGeom prst="rect">
            <a:avLst/>
          </a:prstGeom>
          <a:solidFill>
            <a:srgbClr val="000000">
              <a:alpha val="0"/>
            </a:srgbClr>
          </a:solidFill>
          <a:ln w="0">
            <a:solidFill>
              <a:srgbClr val="000000">
                <a:alpha val="0"/>
              </a:srgbClr>
            </a:solidFill>
            <a:prstDash val="solid"/>
          </a:ln>
        </p:spPr>
        <p:txBody>
          <a:bodyPr wrap="none" lIns="0" tIns="0" rIns="0" bIns="0" anchor="ctr" anchorCtr="0">
            <a:spAutoFit/>
          </a:bodyPr>
          <a:lstStyle/>
          <a:p>
            <a:pPr algn="l">
              <a:defRPr sz="757" b="1">
                <a:solidFill>
                  <a:srgbClr val="17202A"/>
                </a:solidFill>
                <a:latin typeface="Aptos"/>
                <a:ea typeface="Aptos"/>
                <a:cs typeface="Aptos"/>
              </a:defRPr>
            </a:pPr>
            <a:r>
              <a:rPr sz="1000" b="1" dirty="0">
                <a:solidFill>
                  <a:srgbClr val="17202A"/>
                </a:solidFill>
                <a:latin typeface="Aptos"/>
                <a:ea typeface="Aptos"/>
                <a:cs typeface="Aptos"/>
              </a:rPr>
              <a:t>Hermes — training advisor</a:t>
            </a:r>
          </a:p>
        </p:txBody>
      </p:sp>
      <p:sp>
        <p:nvSpPr>
          <p:cNvPr id="171" name="venue-ASPLOS'25">
            <a:extLst>
              <a:ext uri="{FF2B5EF4-FFF2-40B4-BE49-F238E27FC236}">
                <a16:creationId xmlns:a16="http://schemas.microsoft.com/office/drawing/2014/main" id="{1B61CF3E-392F-A59D-570F-E5F9787BB416}"/>
              </a:ext>
            </a:extLst>
          </p:cNvPr>
          <p:cNvSpPr>
            <a:spLocks noGrp="1"/>
          </p:cNvSpPr>
          <p:nvPr/>
        </p:nvSpPr>
        <p:spPr>
          <a:xfrm>
            <a:off x="609600" y="4151757"/>
            <a:ext cx="575971" cy="200025"/>
          </a:xfrm>
          <a:prstGeom prst="rect">
            <a:avLst/>
          </a:prstGeom>
          <a:solidFill>
            <a:srgbClr val="2B6F9E">
              <a:alpha val="7059"/>
            </a:srgbClr>
          </a:solidFill>
          <a:ln w="9525">
            <a:solidFill>
              <a:srgbClr val="2B6F9E">
                <a:alpha val="43922"/>
              </a:srgbClr>
            </a:solidFill>
            <a:prstDash val="solid"/>
          </a:ln>
        </p:spPr>
        <p:txBody>
          <a:bodyPr/>
          <a:lstStyle/>
          <a:p>
            <a:endParaRPr lang="zh-CN" altLang="en-US"/>
          </a:p>
        </p:txBody>
      </p:sp>
      <p:sp>
        <p:nvSpPr>
          <p:cNvPr id="172" name="矩形 171">
            <a:extLst>
              <a:ext uri="{FF2B5EF4-FFF2-40B4-BE49-F238E27FC236}">
                <a16:creationId xmlns:a16="http://schemas.microsoft.com/office/drawing/2014/main" id="{6E27DF31-C4B3-9C1F-B6F0-BDC7C3B28D9F}"/>
              </a:ext>
            </a:extLst>
          </p:cNvPr>
          <p:cNvSpPr>
            <a:spLocks noGrp="1"/>
          </p:cNvSpPr>
          <p:nvPr/>
        </p:nvSpPr>
        <p:spPr>
          <a:xfrm>
            <a:off x="685188" y="4200377"/>
            <a:ext cx="424795" cy="102785"/>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668" b="1">
                <a:solidFill>
                  <a:srgbClr val="2B6F9E"/>
                </a:solidFill>
                <a:latin typeface="Aptos"/>
                <a:ea typeface="Aptos"/>
                <a:cs typeface="Aptos"/>
              </a:defRPr>
            </a:pPr>
            <a:r>
              <a:rPr sz="668" b="1">
                <a:solidFill>
                  <a:srgbClr val="2B6F9E"/>
                </a:solidFill>
                <a:latin typeface="Aptos"/>
                <a:ea typeface="Aptos"/>
                <a:cs typeface="Aptos"/>
              </a:rPr>
              <a:t>ASPLOS'25</a:t>
            </a:r>
          </a:p>
        </p:txBody>
      </p:sp>
      <p:sp>
        <p:nvSpPr>
          <p:cNvPr id="173" name="矩形 172">
            <a:extLst>
              <a:ext uri="{FF2B5EF4-FFF2-40B4-BE49-F238E27FC236}">
                <a16:creationId xmlns:a16="http://schemas.microsoft.com/office/drawing/2014/main" id="{E1E60995-D4E2-30E5-F726-6C70649B0129}"/>
              </a:ext>
            </a:extLst>
          </p:cNvPr>
          <p:cNvSpPr>
            <a:spLocks noGrp="1"/>
          </p:cNvSpPr>
          <p:nvPr/>
        </p:nvSpPr>
        <p:spPr>
          <a:xfrm>
            <a:off x="1213315" y="4189857"/>
            <a:ext cx="1474763" cy="153888"/>
          </a:xfrm>
          <a:prstGeom prst="rect">
            <a:avLst/>
          </a:prstGeom>
          <a:solidFill>
            <a:srgbClr val="000000">
              <a:alpha val="0"/>
            </a:srgbClr>
          </a:solidFill>
          <a:ln w="0">
            <a:solidFill>
              <a:srgbClr val="000000">
                <a:alpha val="0"/>
              </a:srgbClr>
            </a:solidFill>
            <a:prstDash val="solid"/>
          </a:ln>
        </p:spPr>
        <p:txBody>
          <a:bodyPr wrap="none" lIns="0" tIns="0" rIns="0" bIns="0" anchor="ctr" anchorCtr="0">
            <a:spAutoFit/>
          </a:bodyPr>
          <a:lstStyle/>
          <a:p>
            <a:pPr algn="l">
              <a:defRPr sz="757" b="1">
                <a:solidFill>
                  <a:srgbClr val="17202A"/>
                </a:solidFill>
                <a:latin typeface="Aptos"/>
                <a:ea typeface="Aptos"/>
                <a:cs typeface="Aptos"/>
              </a:defRPr>
            </a:pPr>
            <a:r>
              <a:rPr sz="1000" b="1" dirty="0">
                <a:solidFill>
                  <a:srgbClr val="17202A"/>
                </a:solidFill>
                <a:latin typeface="Aptos"/>
                <a:ea typeface="Aptos"/>
                <a:cs typeface="Aptos"/>
              </a:rPr>
              <a:t>DVFS — energy efficiency</a:t>
            </a:r>
          </a:p>
        </p:txBody>
      </p:sp>
      <p:sp>
        <p:nvSpPr>
          <p:cNvPr id="174" name="venue-ASPLOS'25">
            <a:extLst>
              <a:ext uri="{FF2B5EF4-FFF2-40B4-BE49-F238E27FC236}">
                <a16:creationId xmlns:a16="http://schemas.microsoft.com/office/drawing/2014/main" id="{567EB6A0-8DD3-F23E-9C8C-690D347B1F56}"/>
              </a:ext>
            </a:extLst>
          </p:cNvPr>
          <p:cNvSpPr>
            <a:spLocks noGrp="1"/>
          </p:cNvSpPr>
          <p:nvPr/>
        </p:nvSpPr>
        <p:spPr>
          <a:xfrm>
            <a:off x="609600" y="4418457"/>
            <a:ext cx="575971" cy="200025"/>
          </a:xfrm>
          <a:prstGeom prst="rect">
            <a:avLst/>
          </a:prstGeom>
          <a:solidFill>
            <a:srgbClr val="2B6F9E">
              <a:alpha val="7059"/>
            </a:srgbClr>
          </a:solidFill>
          <a:ln w="9525">
            <a:solidFill>
              <a:srgbClr val="2B6F9E">
                <a:alpha val="43922"/>
              </a:srgbClr>
            </a:solidFill>
            <a:prstDash val="solid"/>
          </a:ln>
        </p:spPr>
        <p:txBody>
          <a:bodyPr/>
          <a:lstStyle/>
          <a:p>
            <a:endParaRPr lang="zh-CN" altLang="en-US"/>
          </a:p>
        </p:txBody>
      </p:sp>
      <p:sp>
        <p:nvSpPr>
          <p:cNvPr id="175" name="矩形 174">
            <a:extLst>
              <a:ext uri="{FF2B5EF4-FFF2-40B4-BE49-F238E27FC236}">
                <a16:creationId xmlns:a16="http://schemas.microsoft.com/office/drawing/2014/main" id="{8BE7CA91-D3B1-6BB7-4AFF-7DC16FC1A099}"/>
              </a:ext>
            </a:extLst>
          </p:cNvPr>
          <p:cNvSpPr>
            <a:spLocks noGrp="1"/>
          </p:cNvSpPr>
          <p:nvPr/>
        </p:nvSpPr>
        <p:spPr>
          <a:xfrm>
            <a:off x="685188" y="4467077"/>
            <a:ext cx="424795" cy="102785"/>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668" b="1">
                <a:solidFill>
                  <a:srgbClr val="2B6F9E"/>
                </a:solidFill>
                <a:latin typeface="Aptos"/>
                <a:ea typeface="Aptos"/>
                <a:cs typeface="Aptos"/>
              </a:defRPr>
            </a:pPr>
            <a:r>
              <a:rPr sz="668" b="1" dirty="0">
                <a:solidFill>
                  <a:srgbClr val="2B6F9E"/>
                </a:solidFill>
                <a:latin typeface="Aptos"/>
                <a:ea typeface="Aptos"/>
                <a:cs typeface="Aptos"/>
              </a:rPr>
              <a:t>ASPLOS'25</a:t>
            </a:r>
          </a:p>
        </p:txBody>
      </p:sp>
      <p:sp>
        <p:nvSpPr>
          <p:cNvPr id="176" name="矩形 175">
            <a:extLst>
              <a:ext uri="{FF2B5EF4-FFF2-40B4-BE49-F238E27FC236}">
                <a16:creationId xmlns:a16="http://schemas.microsoft.com/office/drawing/2014/main" id="{94974010-0E76-9F1C-C108-A9A6B94CD73E}"/>
              </a:ext>
            </a:extLst>
          </p:cNvPr>
          <p:cNvSpPr>
            <a:spLocks noGrp="1"/>
          </p:cNvSpPr>
          <p:nvPr/>
        </p:nvSpPr>
        <p:spPr>
          <a:xfrm>
            <a:off x="1213315" y="4456557"/>
            <a:ext cx="1734449" cy="153888"/>
          </a:xfrm>
          <a:prstGeom prst="rect">
            <a:avLst/>
          </a:prstGeom>
          <a:solidFill>
            <a:srgbClr val="000000">
              <a:alpha val="0"/>
            </a:srgbClr>
          </a:solidFill>
          <a:ln w="0">
            <a:solidFill>
              <a:srgbClr val="000000">
                <a:alpha val="0"/>
              </a:srgbClr>
            </a:solidFill>
            <a:prstDash val="solid"/>
          </a:ln>
        </p:spPr>
        <p:txBody>
          <a:bodyPr wrap="none" lIns="0" tIns="0" rIns="0" bIns="0" anchor="ctr" anchorCtr="0">
            <a:spAutoFit/>
          </a:bodyPr>
          <a:lstStyle/>
          <a:p>
            <a:pPr algn="l">
              <a:defRPr sz="757" b="1">
                <a:solidFill>
                  <a:srgbClr val="17202A"/>
                </a:solidFill>
                <a:latin typeface="Aptos"/>
                <a:ea typeface="Aptos"/>
                <a:cs typeface="Aptos"/>
              </a:defRPr>
            </a:pPr>
            <a:r>
              <a:rPr sz="1000" b="1" dirty="0">
                <a:solidFill>
                  <a:srgbClr val="17202A"/>
                </a:solidFill>
                <a:latin typeface="Aptos"/>
                <a:ea typeface="Aptos"/>
                <a:cs typeface="Aptos"/>
              </a:rPr>
              <a:t>Roofline — operator modeling</a:t>
            </a:r>
          </a:p>
        </p:txBody>
      </p:sp>
      <p:sp>
        <p:nvSpPr>
          <p:cNvPr id="177" name="venue-DAC'26">
            <a:extLst>
              <a:ext uri="{FF2B5EF4-FFF2-40B4-BE49-F238E27FC236}">
                <a16:creationId xmlns:a16="http://schemas.microsoft.com/office/drawing/2014/main" id="{A9829D02-320F-E0DF-4BCA-243E7DF148ED}"/>
              </a:ext>
            </a:extLst>
          </p:cNvPr>
          <p:cNvSpPr>
            <a:spLocks noGrp="1"/>
          </p:cNvSpPr>
          <p:nvPr/>
        </p:nvSpPr>
        <p:spPr>
          <a:xfrm>
            <a:off x="609600" y="4685157"/>
            <a:ext cx="575971" cy="200025"/>
          </a:xfrm>
          <a:prstGeom prst="rect">
            <a:avLst/>
          </a:prstGeom>
          <a:solidFill>
            <a:srgbClr val="2B6F9E">
              <a:alpha val="7059"/>
            </a:srgbClr>
          </a:solidFill>
          <a:ln w="9525">
            <a:solidFill>
              <a:srgbClr val="2B6F9E">
                <a:alpha val="43922"/>
              </a:srgbClr>
            </a:solidFill>
            <a:prstDash val="solid"/>
          </a:ln>
        </p:spPr>
        <p:txBody>
          <a:bodyPr/>
          <a:lstStyle/>
          <a:p>
            <a:endParaRPr lang="zh-CN" altLang="en-US"/>
          </a:p>
        </p:txBody>
      </p:sp>
      <p:sp>
        <p:nvSpPr>
          <p:cNvPr id="178" name="矩形 177">
            <a:extLst>
              <a:ext uri="{FF2B5EF4-FFF2-40B4-BE49-F238E27FC236}">
                <a16:creationId xmlns:a16="http://schemas.microsoft.com/office/drawing/2014/main" id="{CA6860D1-0AD8-70EB-AA6A-801AC5B7807B}"/>
              </a:ext>
            </a:extLst>
          </p:cNvPr>
          <p:cNvSpPr>
            <a:spLocks noGrp="1"/>
          </p:cNvSpPr>
          <p:nvPr/>
        </p:nvSpPr>
        <p:spPr>
          <a:xfrm>
            <a:off x="754116" y="4733777"/>
            <a:ext cx="286938" cy="102785"/>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668" b="1">
                <a:solidFill>
                  <a:srgbClr val="2B6F9E"/>
                </a:solidFill>
                <a:latin typeface="Aptos"/>
                <a:ea typeface="Aptos"/>
                <a:cs typeface="Aptos"/>
              </a:defRPr>
            </a:pPr>
            <a:r>
              <a:rPr sz="668" b="1" dirty="0">
                <a:solidFill>
                  <a:srgbClr val="2B6F9E"/>
                </a:solidFill>
                <a:latin typeface="Aptos"/>
                <a:ea typeface="Aptos"/>
                <a:cs typeface="Aptos"/>
              </a:rPr>
              <a:t>DAC'26</a:t>
            </a:r>
          </a:p>
        </p:txBody>
      </p:sp>
      <p:sp>
        <p:nvSpPr>
          <p:cNvPr id="179" name="矩形 178">
            <a:extLst>
              <a:ext uri="{FF2B5EF4-FFF2-40B4-BE49-F238E27FC236}">
                <a16:creationId xmlns:a16="http://schemas.microsoft.com/office/drawing/2014/main" id="{EAC187AF-0E8F-4788-62A4-E07D68498636}"/>
              </a:ext>
            </a:extLst>
          </p:cNvPr>
          <p:cNvSpPr>
            <a:spLocks noGrp="1"/>
          </p:cNvSpPr>
          <p:nvPr/>
        </p:nvSpPr>
        <p:spPr>
          <a:xfrm>
            <a:off x="1213315" y="4723257"/>
            <a:ext cx="1853071" cy="153888"/>
          </a:xfrm>
          <a:prstGeom prst="rect">
            <a:avLst/>
          </a:prstGeom>
          <a:solidFill>
            <a:srgbClr val="000000">
              <a:alpha val="0"/>
            </a:srgbClr>
          </a:solidFill>
          <a:ln w="0">
            <a:solidFill>
              <a:srgbClr val="000000">
                <a:alpha val="0"/>
              </a:srgbClr>
            </a:solidFill>
            <a:prstDash val="solid"/>
          </a:ln>
        </p:spPr>
        <p:txBody>
          <a:bodyPr wrap="none" lIns="0" tIns="0" rIns="0" bIns="0" anchor="ctr" anchorCtr="0">
            <a:spAutoFit/>
          </a:bodyPr>
          <a:lstStyle/>
          <a:p>
            <a:pPr algn="l">
              <a:defRPr sz="757" b="1">
                <a:solidFill>
                  <a:srgbClr val="17202A"/>
                </a:solidFill>
                <a:latin typeface="Aptos"/>
                <a:ea typeface="Aptos"/>
                <a:cs typeface="Aptos"/>
              </a:defRPr>
            </a:pPr>
            <a:r>
              <a:rPr sz="1000" b="1" dirty="0" err="1">
                <a:solidFill>
                  <a:srgbClr val="17202A"/>
                </a:solidFill>
                <a:latin typeface="Aptos"/>
                <a:ea typeface="Aptos"/>
                <a:cs typeface="Aptos"/>
              </a:rPr>
              <a:t>SmartSwap</a:t>
            </a:r>
            <a:r>
              <a:rPr sz="1000" b="1" dirty="0">
                <a:solidFill>
                  <a:srgbClr val="17202A"/>
                </a:solidFill>
                <a:latin typeface="Aptos"/>
                <a:ea typeface="Aptos"/>
                <a:cs typeface="Aptos"/>
              </a:rPr>
              <a:t> — dynamic memory</a:t>
            </a:r>
          </a:p>
        </p:txBody>
      </p:sp>
      <p:sp>
        <p:nvSpPr>
          <p:cNvPr id="180" name="venue-INFOCOM'26">
            <a:extLst>
              <a:ext uri="{FF2B5EF4-FFF2-40B4-BE49-F238E27FC236}">
                <a16:creationId xmlns:a16="http://schemas.microsoft.com/office/drawing/2014/main" id="{646196BA-70CA-C2BF-3F53-1A16C89A1B65}"/>
              </a:ext>
            </a:extLst>
          </p:cNvPr>
          <p:cNvSpPr>
            <a:spLocks noGrp="1"/>
          </p:cNvSpPr>
          <p:nvPr/>
        </p:nvSpPr>
        <p:spPr>
          <a:xfrm>
            <a:off x="609600" y="4951857"/>
            <a:ext cx="575971" cy="200025"/>
          </a:xfrm>
          <a:prstGeom prst="rect">
            <a:avLst/>
          </a:prstGeom>
          <a:solidFill>
            <a:srgbClr val="2B6F9E">
              <a:alpha val="7059"/>
            </a:srgbClr>
          </a:solidFill>
          <a:ln w="9525">
            <a:solidFill>
              <a:srgbClr val="2B6F9E">
                <a:alpha val="43922"/>
              </a:srgbClr>
            </a:solidFill>
            <a:prstDash val="solid"/>
          </a:ln>
        </p:spPr>
        <p:txBody>
          <a:bodyPr/>
          <a:lstStyle/>
          <a:p>
            <a:endParaRPr lang="zh-CN" altLang="en-US"/>
          </a:p>
        </p:txBody>
      </p:sp>
      <p:sp>
        <p:nvSpPr>
          <p:cNvPr id="181" name="矩形 180">
            <a:extLst>
              <a:ext uri="{FF2B5EF4-FFF2-40B4-BE49-F238E27FC236}">
                <a16:creationId xmlns:a16="http://schemas.microsoft.com/office/drawing/2014/main" id="{62D5B870-2D77-51DD-A938-C0775BCC9381}"/>
              </a:ext>
            </a:extLst>
          </p:cNvPr>
          <p:cNvSpPr>
            <a:spLocks noGrp="1"/>
          </p:cNvSpPr>
          <p:nvPr/>
        </p:nvSpPr>
        <p:spPr>
          <a:xfrm>
            <a:off x="645914" y="5000477"/>
            <a:ext cx="503343" cy="102785"/>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668" b="1">
                <a:solidFill>
                  <a:srgbClr val="2B6F9E"/>
                </a:solidFill>
                <a:latin typeface="Aptos"/>
                <a:ea typeface="Aptos"/>
                <a:cs typeface="Aptos"/>
              </a:defRPr>
            </a:pPr>
            <a:r>
              <a:rPr sz="668" b="1" dirty="0">
                <a:solidFill>
                  <a:srgbClr val="2B6F9E"/>
                </a:solidFill>
                <a:latin typeface="Aptos"/>
                <a:ea typeface="Aptos"/>
                <a:cs typeface="Aptos"/>
              </a:rPr>
              <a:t>INFOCOM'26</a:t>
            </a:r>
          </a:p>
        </p:txBody>
      </p:sp>
      <p:sp>
        <p:nvSpPr>
          <p:cNvPr id="182" name="矩形 181">
            <a:extLst>
              <a:ext uri="{FF2B5EF4-FFF2-40B4-BE49-F238E27FC236}">
                <a16:creationId xmlns:a16="http://schemas.microsoft.com/office/drawing/2014/main" id="{533219E7-4E9B-CA3C-5C30-09043D9BD8AA}"/>
              </a:ext>
            </a:extLst>
          </p:cNvPr>
          <p:cNvSpPr>
            <a:spLocks noGrp="1"/>
          </p:cNvSpPr>
          <p:nvPr/>
        </p:nvSpPr>
        <p:spPr>
          <a:xfrm>
            <a:off x="1213315" y="4989957"/>
            <a:ext cx="1705595" cy="153888"/>
          </a:xfrm>
          <a:prstGeom prst="rect">
            <a:avLst/>
          </a:prstGeom>
          <a:solidFill>
            <a:srgbClr val="000000">
              <a:alpha val="0"/>
            </a:srgbClr>
          </a:solidFill>
          <a:ln w="0">
            <a:solidFill>
              <a:srgbClr val="000000">
                <a:alpha val="0"/>
              </a:srgbClr>
            </a:solidFill>
            <a:prstDash val="solid"/>
          </a:ln>
        </p:spPr>
        <p:txBody>
          <a:bodyPr wrap="none" lIns="0" tIns="0" rIns="0" bIns="0" anchor="ctr" anchorCtr="0">
            <a:spAutoFit/>
          </a:bodyPr>
          <a:lstStyle/>
          <a:p>
            <a:pPr algn="l">
              <a:defRPr sz="757" b="1">
                <a:solidFill>
                  <a:srgbClr val="17202A"/>
                </a:solidFill>
                <a:latin typeface="Aptos"/>
                <a:ea typeface="Aptos"/>
                <a:cs typeface="Aptos"/>
              </a:defRPr>
            </a:pPr>
            <a:r>
              <a:rPr sz="1000" b="1" dirty="0">
                <a:solidFill>
                  <a:srgbClr val="17202A"/>
                </a:solidFill>
                <a:latin typeface="Aptos"/>
                <a:ea typeface="Aptos"/>
                <a:cs typeface="Aptos"/>
              </a:rPr>
              <a:t>Chameleon — fault tolerance</a:t>
            </a:r>
          </a:p>
        </p:txBody>
      </p:sp>
      <p:sp>
        <p:nvSpPr>
          <p:cNvPr id="199" name="venue-SIGMOD'26">
            <a:extLst>
              <a:ext uri="{FF2B5EF4-FFF2-40B4-BE49-F238E27FC236}">
                <a16:creationId xmlns:a16="http://schemas.microsoft.com/office/drawing/2014/main" id="{C9916918-BF38-42A5-879F-FE7615146BF8}"/>
              </a:ext>
            </a:extLst>
          </p:cNvPr>
          <p:cNvSpPr>
            <a:spLocks noGrp="1"/>
          </p:cNvSpPr>
          <p:nvPr/>
        </p:nvSpPr>
        <p:spPr>
          <a:xfrm>
            <a:off x="3495225" y="4195667"/>
            <a:ext cx="648599" cy="200025"/>
          </a:xfrm>
          <a:prstGeom prst="rect">
            <a:avLst/>
          </a:prstGeom>
          <a:solidFill>
            <a:srgbClr val="2B6F9E">
              <a:alpha val="7059"/>
            </a:srgbClr>
          </a:solidFill>
          <a:ln w="9525">
            <a:solidFill>
              <a:srgbClr val="2B6F9E">
                <a:alpha val="43922"/>
              </a:srgbClr>
            </a:solidFill>
            <a:prstDash val="solid"/>
          </a:ln>
        </p:spPr>
        <p:txBody>
          <a:bodyPr/>
          <a:lstStyle/>
          <a:p>
            <a:endParaRPr lang="zh-CN" altLang="en-US" sz="2000"/>
          </a:p>
        </p:txBody>
      </p:sp>
      <p:sp>
        <p:nvSpPr>
          <p:cNvPr id="200" name="矩形 199">
            <a:extLst>
              <a:ext uri="{FF2B5EF4-FFF2-40B4-BE49-F238E27FC236}">
                <a16:creationId xmlns:a16="http://schemas.microsoft.com/office/drawing/2014/main" id="{B10BE816-DDA8-69D3-EBB0-9AC8A6CB02D4}"/>
              </a:ext>
            </a:extLst>
          </p:cNvPr>
          <p:cNvSpPr>
            <a:spLocks noGrp="1"/>
          </p:cNvSpPr>
          <p:nvPr/>
        </p:nvSpPr>
        <p:spPr>
          <a:xfrm>
            <a:off x="3486149" y="4233767"/>
            <a:ext cx="666750" cy="123825"/>
          </a:xfrm>
          <a:prstGeom prst="rect">
            <a:avLst/>
          </a:prstGeom>
          <a:solidFill>
            <a:srgbClr val="000000">
              <a:alpha val="0"/>
            </a:srgbClr>
          </a:solidFill>
          <a:ln w="0">
            <a:solidFill>
              <a:srgbClr val="000000">
                <a:alpha val="0"/>
              </a:srgbClr>
            </a:solidFill>
            <a:prstDash val="solid"/>
          </a:ln>
        </p:spPr>
        <p:txBody>
          <a:bodyPr wrap="none" lIns="0" tIns="0" rIns="0" bIns="0" anchor="ctr"/>
          <a:lstStyle/>
          <a:p>
            <a:pPr algn="ctr">
              <a:defRPr sz="668" b="1">
                <a:solidFill>
                  <a:srgbClr val="2B6F9E"/>
                </a:solidFill>
                <a:latin typeface="Aptos"/>
                <a:ea typeface="Aptos"/>
                <a:cs typeface="Aptos"/>
              </a:defRPr>
            </a:pPr>
            <a:r>
              <a:rPr sz="800" b="1" dirty="0">
                <a:solidFill>
                  <a:srgbClr val="2B6F9E"/>
                </a:solidFill>
                <a:latin typeface="Aptos"/>
                <a:ea typeface="Aptos"/>
                <a:cs typeface="Aptos"/>
              </a:rPr>
              <a:t>SIGMOD'26</a:t>
            </a:r>
          </a:p>
        </p:txBody>
      </p:sp>
      <p:sp>
        <p:nvSpPr>
          <p:cNvPr id="201" name="矩形 200">
            <a:extLst>
              <a:ext uri="{FF2B5EF4-FFF2-40B4-BE49-F238E27FC236}">
                <a16:creationId xmlns:a16="http://schemas.microsoft.com/office/drawing/2014/main" id="{4DFE42EA-7888-52C9-7768-FDDF32BCE68D}"/>
              </a:ext>
            </a:extLst>
          </p:cNvPr>
          <p:cNvSpPr>
            <a:spLocks noGrp="1"/>
          </p:cNvSpPr>
          <p:nvPr/>
        </p:nvSpPr>
        <p:spPr>
          <a:xfrm>
            <a:off x="4190699" y="4224242"/>
            <a:ext cx="1706025" cy="2381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7" b="1">
                <a:solidFill>
                  <a:srgbClr val="17202A"/>
                </a:solidFill>
                <a:latin typeface="Aptos"/>
                <a:ea typeface="Aptos"/>
                <a:cs typeface="Aptos"/>
              </a:defRPr>
            </a:pPr>
            <a:r>
              <a:rPr sz="1000" b="1" dirty="0" err="1">
                <a:solidFill>
                  <a:srgbClr val="17202A"/>
                </a:solidFill>
                <a:latin typeface="Aptos"/>
                <a:ea typeface="Aptos"/>
                <a:cs typeface="Aptos"/>
              </a:rPr>
              <a:t>CoDec</a:t>
            </a:r>
            <a:r>
              <a:rPr sz="1000" b="1" dirty="0">
                <a:solidFill>
                  <a:srgbClr val="17202A"/>
                </a:solidFill>
                <a:latin typeface="Aptos"/>
                <a:ea typeface="Aptos"/>
                <a:cs typeface="Aptos"/>
              </a:rPr>
              <a:t> — prefix decoding</a:t>
            </a:r>
          </a:p>
        </p:txBody>
      </p:sp>
      <p:sp>
        <p:nvSpPr>
          <p:cNvPr id="202" name="venue-HPDC'26">
            <a:extLst>
              <a:ext uri="{FF2B5EF4-FFF2-40B4-BE49-F238E27FC236}">
                <a16:creationId xmlns:a16="http://schemas.microsoft.com/office/drawing/2014/main" id="{FD2D7703-A246-1C51-0255-E4951F884E22}"/>
              </a:ext>
            </a:extLst>
          </p:cNvPr>
          <p:cNvSpPr>
            <a:spLocks noGrp="1"/>
          </p:cNvSpPr>
          <p:nvPr/>
        </p:nvSpPr>
        <p:spPr>
          <a:xfrm>
            <a:off x="3486150" y="4462367"/>
            <a:ext cx="648599" cy="200025"/>
          </a:xfrm>
          <a:prstGeom prst="rect">
            <a:avLst/>
          </a:prstGeom>
          <a:solidFill>
            <a:srgbClr val="2B6F9E">
              <a:alpha val="7059"/>
            </a:srgbClr>
          </a:solidFill>
          <a:ln w="9525">
            <a:solidFill>
              <a:srgbClr val="2B6F9E">
                <a:alpha val="43922"/>
              </a:srgbClr>
            </a:solidFill>
            <a:prstDash val="solid"/>
          </a:ln>
        </p:spPr>
        <p:txBody>
          <a:bodyPr/>
          <a:lstStyle/>
          <a:p>
            <a:endParaRPr lang="zh-CN" altLang="en-US" sz="2000"/>
          </a:p>
        </p:txBody>
      </p:sp>
      <p:sp>
        <p:nvSpPr>
          <p:cNvPr id="204" name="矩形 203">
            <a:extLst>
              <a:ext uri="{FF2B5EF4-FFF2-40B4-BE49-F238E27FC236}">
                <a16:creationId xmlns:a16="http://schemas.microsoft.com/office/drawing/2014/main" id="{263A3ABC-CC83-9F14-F90E-253EBCDAAEF1}"/>
              </a:ext>
            </a:extLst>
          </p:cNvPr>
          <p:cNvSpPr>
            <a:spLocks noGrp="1"/>
          </p:cNvSpPr>
          <p:nvPr/>
        </p:nvSpPr>
        <p:spPr>
          <a:xfrm>
            <a:off x="4190699" y="4490942"/>
            <a:ext cx="1706025" cy="2381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7" b="1">
                <a:solidFill>
                  <a:srgbClr val="17202A"/>
                </a:solidFill>
                <a:latin typeface="Aptos"/>
                <a:ea typeface="Aptos"/>
                <a:cs typeface="Aptos"/>
              </a:defRPr>
            </a:pPr>
            <a:r>
              <a:rPr sz="1000" b="1" dirty="0">
                <a:solidFill>
                  <a:srgbClr val="17202A"/>
                </a:solidFill>
                <a:latin typeface="Aptos"/>
                <a:ea typeface="Aptos"/>
                <a:cs typeface="Aptos"/>
              </a:rPr>
              <a:t>STAR — decode rescheduling</a:t>
            </a:r>
          </a:p>
        </p:txBody>
      </p:sp>
      <p:sp>
        <p:nvSpPr>
          <p:cNvPr id="205" name="venue-ASPLOS'26">
            <a:extLst>
              <a:ext uri="{FF2B5EF4-FFF2-40B4-BE49-F238E27FC236}">
                <a16:creationId xmlns:a16="http://schemas.microsoft.com/office/drawing/2014/main" id="{FEBF5DDC-E92F-061B-D701-08FD32CE4D1C}"/>
              </a:ext>
            </a:extLst>
          </p:cNvPr>
          <p:cNvSpPr>
            <a:spLocks noGrp="1"/>
          </p:cNvSpPr>
          <p:nvPr/>
        </p:nvSpPr>
        <p:spPr>
          <a:xfrm>
            <a:off x="6362700" y="4251822"/>
            <a:ext cx="648599" cy="200025"/>
          </a:xfrm>
          <a:prstGeom prst="rect">
            <a:avLst/>
          </a:prstGeom>
          <a:solidFill>
            <a:srgbClr val="2B6F9E">
              <a:alpha val="7059"/>
            </a:srgbClr>
          </a:solidFill>
          <a:ln w="9525">
            <a:solidFill>
              <a:srgbClr val="2B6F9E">
                <a:alpha val="43922"/>
              </a:srgbClr>
            </a:solidFill>
            <a:prstDash val="solid"/>
          </a:ln>
        </p:spPr>
        <p:txBody>
          <a:bodyPr/>
          <a:lstStyle/>
          <a:p>
            <a:endParaRPr lang="zh-CN" altLang="en-US"/>
          </a:p>
        </p:txBody>
      </p:sp>
      <p:sp>
        <p:nvSpPr>
          <p:cNvPr id="206" name="矩形 205">
            <a:extLst>
              <a:ext uri="{FF2B5EF4-FFF2-40B4-BE49-F238E27FC236}">
                <a16:creationId xmlns:a16="http://schemas.microsoft.com/office/drawing/2014/main" id="{57E3FDE8-8267-ED08-55E8-6E1BB08ACD89}"/>
              </a:ext>
            </a:extLst>
          </p:cNvPr>
          <p:cNvSpPr>
            <a:spLocks noGrp="1"/>
          </p:cNvSpPr>
          <p:nvPr/>
        </p:nvSpPr>
        <p:spPr>
          <a:xfrm>
            <a:off x="6474602" y="4300442"/>
            <a:ext cx="424795" cy="102785"/>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668" b="1">
                <a:solidFill>
                  <a:srgbClr val="2B6F9E"/>
                </a:solidFill>
                <a:latin typeface="Aptos"/>
                <a:ea typeface="Aptos"/>
                <a:cs typeface="Aptos"/>
              </a:defRPr>
            </a:pPr>
            <a:r>
              <a:rPr sz="668" b="1" dirty="0">
                <a:solidFill>
                  <a:srgbClr val="2B6F9E"/>
                </a:solidFill>
                <a:latin typeface="Aptos"/>
                <a:ea typeface="Aptos"/>
                <a:cs typeface="Aptos"/>
              </a:rPr>
              <a:t>ASPLOS'26</a:t>
            </a:r>
          </a:p>
        </p:txBody>
      </p:sp>
      <p:sp>
        <p:nvSpPr>
          <p:cNvPr id="207" name="矩形 206">
            <a:extLst>
              <a:ext uri="{FF2B5EF4-FFF2-40B4-BE49-F238E27FC236}">
                <a16:creationId xmlns:a16="http://schemas.microsoft.com/office/drawing/2014/main" id="{CD5EFDE0-0733-00AD-158A-E122B7D39756}"/>
              </a:ext>
            </a:extLst>
          </p:cNvPr>
          <p:cNvSpPr>
            <a:spLocks noGrp="1"/>
          </p:cNvSpPr>
          <p:nvPr/>
        </p:nvSpPr>
        <p:spPr>
          <a:xfrm>
            <a:off x="7116233" y="4280397"/>
            <a:ext cx="1655233" cy="2381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7" b="1">
                <a:solidFill>
                  <a:srgbClr val="17202A"/>
                </a:solidFill>
                <a:latin typeface="Aptos"/>
                <a:ea typeface="Aptos"/>
                <a:cs typeface="Aptos"/>
              </a:defRPr>
            </a:pPr>
            <a:r>
              <a:rPr sz="1000" b="1" dirty="0">
                <a:solidFill>
                  <a:srgbClr val="17202A"/>
                </a:solidFill>
                <a:latin typeface="Aptos"/>
                <a:ea typeface="Aptos"/>
                <a:cs typeface="Aptos"/>
              </a:rPr>
              <a:t>Pulse — RDMA monitoring</a:t>
            </a:r>
          </a:p>
        </p:txBody>
      </p:sp>
      <p:sp>
        <p:nvSpPr>
          <p:cNvPr id="208" name="venue-SIGCOMM'25">
            <a:extLst>
              <a:ext uri="{FF2B5EF4-FFF2-40B4-BE49-F238E27FC236}">
                <a16:creationId xmlns:a16="http://schemas.microsoft.com/office/drawing/2014/main" id="{7066A49B-EFEB-9C17-9343-6771EEBEA1C7}"/>
              </a:ext>
            </a:extLst>
          </p:cNvPr>
          <p:cNvSpPr>
            <a:spLocks noGrp="1"/>
          </p:cNvSpPr>
          <p:nvPr/>
        </p:nvSpPr>
        <p:spPr>
          <a:xfrm>
            <a:off x="6362700" y="4518522"/>
            <a:ext cx="648599" cy="200025"/>
          </a:xfrm>
          <a:prstGeom prst="rect">
            <a:avLst/>
          </a:prstGeom>
          <a:solidFill>
            <a:srgbClr val="2B6F9E">
              <a:alpha val="7059"/>
            </a:srgbClr>
          </a:solidFill>
          <a:ln w="9525">
            <a:solidFill>
              <a:srgbClr val="2B6F9E">
                <a:alpha val="43922"/>
              </a:srgbClr>
            </a:solidFill>
            <a:prstDash val="solid"/>
          </a:ln>
        </p:spPr>
        <p:txBody>
          <a:bodyPr/>
          <a:lstStyle/>
          <a:p>
            <a:endParaRPr lang="zh-CN" altLang="en-US"/>
          </a:p>
        </p:txBody>
      </p:sp>
      <p:sp>
        <p:nvSpPr>
          <p:cNvPr id="209" name="矩形 208">
            <a:extLst>
              <a:ext uri="{FF2B5EF4-FFF2-40B4-BE49-F238E27FC236}">
                <a16:creationId xmlns:a16="http://schemas.microsoft.com/office/drawing/2014/main" id="{A4BB70F5-45BC-4AE8-5325-364C3C9609D3}"/>
              </a:ext>
            </a:extLst>
          </p:cNvPr>
          <p:cNvSpPr>
            <a:spLocks noGrp="1"/>
          </p:cNvSpPr>
          <p:nvPr/>
        </p:nvSpPr>
        <p:spPr>
          <a:xfrm>
            <a:off x="6429718" y="4567142"/>
            <a:ext cx="514563" cy="102785"/>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668" b="1">
                <a:solidFill>
                  <a:srgbClr val="2B6F9E"/>
                </a:solidFill>
                <a:latin typeface="Aptos"/>
                <a:ea typeface="Aptos"/>
                <a:cs typeface="Aptos"/>
              </a:defRPr>
            </a:pPr>
            <a:r>
              <a:rPr sz="668" b="1" dirty="0">
                <a:solidFill>
                  <a:srgbClr val="2B6F9E"/>
                </a:solidFill>
                <a:latin typeface="Aptos"/>
                <a:ea typeface="Aptos"/>
                <a:cs typeface="Aptos"/>
              </a:rPr>
              <a:t>SIGCOMM'25</a:t>
            </a:r>
          </a:p>
        </p:txBody>
      </p:sp>
      <p:sp>
        <p:nvSpPr>
          <p:cNvPr id="210" name="矩形 209">
            <a:extLst>
              <a:ext uri="{FF2B5EF4-FFF2-40B4-BE49-F238E27FC236}">
                <a16:creationId xmlns:a16="http://schemas.microsoft.com/office/drawing/2014/main" id="{A9815D08-A46A-DBE9-5766-080E483EA4B5}"/>
              </a:ext>
            </a:extLst>
          </p:cNvPr>
          <p:cNvSpPr>
            <a:spLocks noGrp="1"/>
          </p:cNvSpPr>
          <p:nvPr/>
        </p:nvSpPr>
        <p:spPr>
          <a:xfrm>
            <a:off x="7116233" y="4547097"/>
            <a:ext cx="1655233" cy="2381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7" b="1">
                <a:solidFill>
                  <a:srgbClr val="17202A"/>
                </a:solidFill>
                <a:latin typeface="Aptos"/>
                <a:ea typeface="Aptos"/>
                <a:cs typeface="Aptos"/>
              </a:defRPr>
            </a:pPr>
            <a:r>
              <a:rPr sz="1000" b="1" dirty="0" err="1">
                <a:solidFill>
                  <a:srgbClr val="17202A"/>
                </a:solidFill>
                <a:latin typeface="Aptos"/>
                <a:ea typeface="Aptos"/>
                <a:cs typeface="Aptos"/>
              </a:rPr>
              <a:t>BiAn</a:t>
            </a:r>
            <a:r>
              <a:rPr sz="1000" b="1" dirty="0">
                <a:solidFill>
                  <a:srgbClr val="17202A"/>
                </a:solidFill>
                <a:latin typeface="Aptos"/>
                <a:ea typeface="Aptos"/>
                <a:cs typeface="Aptos"/>
              </a:rPr>
              <a:t> — network RCA</a:t>
            </a:r>
          </a:p>
        </p:txBody>
      </p:sp>
      <p:sp>
        <p:nvSpPr>
          <p:cNvPr id="24" name="矩形 23">
            <a:extLst>
              <a:ext uri="{FF2B5EF4-FFF2-40B4-BE49-F238E27FC236}">
                <a16:creationId xmlns:a16="http://schemas.microsoft.com/office/drawing/2014/main" id="{11FCE7D7-6BB7-009A-19B4-1BE3DB068365}"/>
              </a:ext>
            </a:extLst>
          </p:cNvPr>
          <p:cNvSpPr>
            <a:spLocks noGrp="1"/>
          </p:cNvSpPr>
          <p:nvPr/>
        </p:nvSpPr>
        <p:spPr>
          <a:xfrm>
            <a:off x="3602859" y="4492417"/>
            <a:ext cx="415178" cy="123111"/>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668" b="1">
                <a:solidFill>
                  <a:srgbClr val="2B6F9E"/>
                </a:solidFill>
                <a:latin typeface="Aptos"/>
                <a:ea typeface="Aptos"/>
                <a:cs typeface="Aptos"/>
              </a:defRPr>
            </a:pPr>
            <a:r>
              <a:rPr sz="800" b="1" dirty="0">
                <a:solidFill>
                  <a:srgbClr val="2B6F9E"/>
                </a:solidFill>
                <a:latin typeface="Aptos"/>
                <a:ea typeface="Aptos"/>
                <a:cs typeface="Aptos"/>
              </a:rPr>
              <a:t>HPDC'26</a:t>
            </a:r>
          </a:p>
        </p:txBody>
      </p:sp>
      <p:sp>
        <p:nvSpPr>
          <p:cNvPr id="131" name="category-03">
            <a:extLst>
              <a:ext uri="{FF2B5EF4-FFF2-40B4-BE49-F238E27FC236}">
                <a16:creationId xmlns:a16="http://schemas.microsoft.com/office/drawing/2014/main" id="{8B118D54-C7CE-E926-D395-5963BBD26728}"/>
              </a:ext>
            </a:extLst>
          </p:cNvPr>
          <p:cNvSpPr/>
          <p:nvPr/>
        </p:nvSpPr>
        <p:spPr>
          <a:xfrm>
            <a:off x="8997450" y="1752600"/>
            <a:ext cx="2686050" cy="4487228"/>
          </a:xfrm>
          <a:prstGeom prst="rect">
            <a:avLst/>
          </a:prstGeom>
          <a:solidFill>
            <a:srgbClr val="FFFFFF"/>
          </a:solidFill>
          <a:ln w="9525">
            <a:solidFill>
              <a:srgbClr val="D8DEE8"/>
            </a:solidFill>
            <a:prstDash val="solid"/>
          </a:ln>
        </p:spPr>
        <p:txBody>
          <a:bodyPr/>
          <a:lstStyle/>
          <a:p>
            <a:endParaRPr lang="zh-CN" altLang="en-US" dirty="0"/>
          </a:p>
        </p:txBody>
      </p:sp>
      <p:sp>
        <p:nvSpPr>
          <p:cNvPr id="132" name="category-accent-03">
            <a:extLst>
              <a:ext uri="{FF2B5EF4-FFF2-40B4-BE49-F238E27FC236}">
                <a16:creationId xmlns:a16="http://schemas.microsoft.com/office/drawing/2014/main" id="{F46763FA-2C74-C751-6056-F881E850AC90}"/>
              </a:ext>
            </a:extLst>
          </p:cNvPr>
          <p:cNvSpPr/>
          <p:nvPr/>
        </p:nvSpPr>
        <p:spPr>
          <a:xfrm>
            <a:off x="8997450" y="1752600"/>
            <a:ext cx="2686050" cy="57150"/>
          </a:xfrm>
          <a:prstGeom prst="rect">
            <a:avLst/>
          </a:prstGeom>
          <a:solidFill>
            <a:srgbClr val="2B6F9E"/>
          </a:solidFill>
          <a:ln w="0">
            <a:solidFill>
              <a:srgbClr val="2B6F9E"/>
            </a:solidFill>
            <a:prstDash val="solid"/>
          </a:ln>
        </p:spPr>
        <p:txBody>
          <a:bodyPr/>
          <a:lstStyle/>
          <a:p>
            <a:endParaRPr lang="zh-CN" altLang="en-US"/>
          </a:p>
        </p:txBody>
      </p:sp>
      <p:sp>
        <p:nvSpPr>
          <p:cNvPr id="133" name="矩形 132">
            <a:extLst>
              <a:ext uri="{FF2B5EF4-FFF2-40B4-BE49-F238E27FC236}">
                <a16:creationId xmlns:a16="http://schemas.microsoft.com/office/drawing/2014/main" id="{6DB56312-3ADD-7478-5EF2-A53AE2D3ED53}"/>
              </a:ext>
            </a:extLst>
          </p:cNvPr>
          <p:cNvSpPr/>
          <p:nvPr/>
        </p:nvSpPr>
        <p:spPr>
          <a:xfrm>
            <a:off x="9207000" y="1981200"/>
            <a:ext cx="192360"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875" b="1">
                <a:solidFill>
                  <a:srgbClr val="2B6F9E"/>
                </a:solidFill>
                <a:latin typeface="Aptos Display"/>
                <a:ea typeface="Aptos Display"/>
                <a:cs typeface="Aptos Display"/>
              </a:defRPr>
            </a:pPr>
            <a:r>
              <a:rPr sz="1400" b="1" dirty="0">
                <a:solidFill>
                  <a:srgbClr val="2B6F9E"/>
                </a:solidFill>
                <a:latin typeface="Aptos Display"/>
                <a:ea typeface="Aptos Display"/>
                <a:cs typeface="Aptos Display"/>
              </a:rPr>
              <a:t>0</a:t>
            </a:r>
            <a:r>
              <a:rPr lang="en-US" sz="1400" b="1" dirty="0">
                <a:solidFill>
                  <a:srgbClr val="2B6F9E"/>
                </a:solidFill>
                <a:latin typeface="Aptos Display"/>
                <a:ea typeface="Aptos Display"/>
                <a:cs typeface="Aptos Display"/>
              </a:rPr>
              <a:t>4</a:t>
            </a:r>
            <a:endParaRPr sz="1400" dirty="0"/>
          </a:p>
        </p:txBody>
      </p:sp>
      <p:sp>
        <p:nvSpPr>
          <p:cNvPr id="134" name="矩形 133">
            <a:extLst>
              <a:ext uri="{FF2B5EF4-FFF2-40B4-BE49-F238E27FC236}">
                <a16:creationId xmlns:a16="http://schemas.microsoft.com/office/drawing/2014/main" id="{3FDF9DD4-8A75-71C8-AE84-A1D4546F31B8}"/>
              </a:ext>
            </a:extLst>
          </p:cNvPr>
          <p:cNvSpPr/>
          <p:nvPr/>
        </p:nvSpPr>
        <p:spPr>
          <a:xfrm>
            <a:off x="9980426" y="1981200"/>
            <a:ext cx="839974" cy="25160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635" b="1">
                <a:solidFill>
                  <a:srgbClr val="17202A"/>
                </a:solidFill>
                <a:latin typeface="PingFang SC"/>
                <a:ea typeface="PingFang SC"/>
                <a:cs typeface="PingFang SC"/>
              </a:defRPr>
            </a:pPr>
            <a:r>
              <a:rPr lang="zh-CN" altLang="en-US" sz="1635" b="1" dirty="0">
                <a:solidFill>
                  <a:srgbClr val="17202A"/>
                </a:solidFill>
                <a:latin typeface="PingFang SC"/>
                <a:ea typeface="PingFang SC"/>
                <a:cs typeface="PingFang SC"/>
              </a:rPr>
              <a:t>未来工作</a:t>
            </a:r>
            <a:endParaRPr sz="1400" dirty="0"/>
          </a:p>
        </p:txBody>
      </p:sp>
      <p:sp>
        <p:nvSpPr>
          <p:cNvPr id="137" name="rule-CORE PAIN">
            <a:extLst>
              <a:ext uri="{FF2B5EF4-FFF2-40B4-BE49-F238E27FC236}">
                <a16:creationId xmlns:a16="http://schemas.microsoft.com/office/drawing/2014/main" id="{C98457DF-B082-ED08-84E9-197625FC27BC}"/>
              </a:ext>
            </a:extLst>
          </p:cNvPr>
          <p:cNvSpPr/>
          <p:nvPr/>
        </p:nvSpPr>
        <p:spPr>
          <a:xfrm>
            <a:off x="9226050" y="3050762"/>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138" name="矩形 137">
            <a:extLst>
              <a:ext uri="{FF2B5EF4-FFF2-40B4-BE49-F238E27FC236}">
                <a16:creationId xmlns:a16="http://schemas.microsoft.com/office/drawing/2014/main" id="{9C81D349-3B8F-5688-81B6-9B9866D05548}"/>
              </a:ext>
            </a:extLst>
          </p:cNvPr>
          <p:cNvSpPr/>
          <p:nvPr/>
        </p:nvSpPr>
        <p:spPr>
          <a:xfrm>
            <a:off x="9549900" y="2952750"/>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dirty="0">
                <a:solidFill>
                  <a:srgbClr val="2B6F9E"/>
                </a:solidFill>
                <a:latin typeface="Aptos"/>
                <a:ea typeface="Aptos"/>
                <a:cs typeface="Aptos"/>
              </a:rPr>
              <a:t>CORE PAIN</a:t>
            </a:r>
            <a:endParaRPr sz="1400" dirty="0"/>
          </a:p>
        </p:txBody>
      </p:sp>
      <p:sp>
        <p:nvSpPr>
          <p:cNvPr id="139" name="矩形 138">
            <a:extLst>
              <a:ext uri="{FF2B5EF4-FFF2-40B4-BE49-F238E27FC236}">
                <a16:creationId xmlns:a16="http://schemas.microsoft.com/office/drawing/2014/main" id="{C08037A1-0EE5-F30B-8420-53750DE9EFBC}"/>
              </a:ext>
            </a:extLst>
          </p:cNvPr>
          <p:cNvSpPr/>
          <p:nvPr/>
        </p:nvSpPr>
        <p:spPr>
          <a:xfrm>
            <a:off x="9120227" y="3233138"/>
            <a:ext cx="2568945" cy="430887"/>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defRPr sz="1400" b="0">
                <a:solidFill>
                  <a:srgbClr val="596273"/>
                </a:solidFill>
                <a:latin typeface="PingFang SC"/>
                <a:ea typeface="PingFang SC"/>
                <a:cs typeface="PingFang SC"/>
              </a:defRPr>
            </a:pPr>
            <a:r>
              <a:rPr lang="zh-CN" altLang="zh-CN" sz="1400" dirty="0">
                <a:solidFill>
                  <a:srgbClr val="596273"/>
                </a:solidFill>
                <a:latin typeface="PingFang SC"/>
              </a:rPr>
              <a:t>系统扩展效率不足、资源利用冗余，以及训练-推理行为不一致</a:t>
            </a:r>
          </a:p>
        </p:txBody>
      </p:sp>
      <p:sp>
        <p:nvSpPr>
          <p:cNvPr id="142" name="rule-CAPABILITY">
            <a:extLst>
              <a:ext uri="{FF2B5EF4-FFF2-40B4-BE49-F238E27FC236}">
                <a16:creationId xmlns:a16="http://schemas.microsoft.com/office/drawing/2014/main" id="{CD7F43FC-E8AD-6C30-F5FC-AE0604A60586}"/>
              </a:ext>
            </a:extLst>
          </p:cNvPr>
          <p:cNvSpPr/>
          <p:nvPr/>
        </p:nvSpPr>
        <p:spPr>
          <a:xfrm>
            <a:off x="9226050" y="4217098"/>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143" name="矩形 142">
            <a:extLst>
              <a:ext uri="{FF2B5EF4-FFF2-40B4-BE49-F238E27FC236}">
                <a16:creationId xmlns:a16="http://schemas.microsoft.com/office/drawing/2014/main" id="{A14FDE97-D4D2-4C2A-D365-A100010BB823}"/>
              </a:ext>
            </a:extLst>
          </p:cNvPr>
          <p:cNvSpPr/>
          <p:nvPr/>
        </p:nvSpPr>
        <p:spPr>
          <a:xfrm>
            <a:off x="9549900" y="4119086"/>
            <a:ext cx="1200150" cy="210312"/>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CAPABILITY</a:t>
            </a:r>
            <a:endParaRPr sz="1400"/>
          </a:p>
        </p:txBody>
      </p:sp>
      <p:sp>
        <p:nvSpPr>
          <p:cNvPr id="144" name="矩形 143">
            <a:extLst>
              <a:ext uri="{FF2B5EF4-FFF2-40B4-BE49-F238E27FC236}">
                <a16:creationId xmlns:a16="http://schemas.microsoft.com/office/drawing/2014/main" id="{5A8869B4-A593-E8C0-5B97-7B4EDA6AD920}"/>
              </a:ext>
            </a:extLst>
          </p:cNvPr>
          <p:cNvSpPr/>
          <p:nvPr/>
        </p:nvSpPr>
        <p:spPr>
          <a:xfrm>
            <a:off x="9226050" y="4384262"/>
            <a:ext cx="2211834" cy="861774"/>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defRPr sz="1400" b="1">
                <a:solidFill>
                  <a:srgbClr val="17202A"/>
                </a:solidFill>
                <a:latin typeface="PingFang SC"/>
                <a:ea typeface="PingFang SC"/>
                <a:cs typeface="PingFang SC"/>
              </a:defRPr>
            </a:pPr>
            <a:r>
              <a:rPr lang="zh-CN" altLang="zh-CN" sz="1400" b="1" dirty="0">
                <a:solidFill>
                  <a:srgbClr val="17202A"/>
                </a:solidFill>
                <a:latin typeface="PingFang SC"/>
              </a:rPr>
              <a:t>构建可扩展协同架构与可靠训练-推理闭环，实现高吞吐、低冗余、可复现的 Agent 系统</a:t>
            </a:r>
          </a:p>
        </p:txBody>
      </p:sp>
      <p:sp>
        <p:nvSpPr>
          <p:cNvPr id="152" name="serve-03">
            <a:extLst>
              <a:ext uri="{FF2B5EF4-FFF2-40B4-BE49-F238E27FC236}">
                <a16:creationId xmlns:a16="http://schemas.microsoft.com/office/drawing/2014/main" id="{333758B3-2B3B-0108-371F-D1173460CE42}"/>
              </a:ext>
            </a:extLst>
          </p:cNvPr>
          <p:cNvSpPr/>
          <p:nvPr/>
        </p:nvSpPr>
        <p:spPr>
          <a:xfrm>
            <a:off x="9148847" y="2433447"/>
            <a:ext cx="2412000" cy="419100"/>
          </a:xfrm>
          <a:prstGeom prst="rect">
            <a:avLst/>
          </a:prstGeom>
          <a:solidFill>
            <a:srgbClr val="2B6F9E">
              <a:alpha val="7843"/>
            </a:srgbClr>
          </a:solidFill>
          <a:ln w="9525">
            <a:solidFill>
              <a:srgbClr val="2B6F9E">
                <a:alpha val="33333"/>
              </a:srgbClr>
            </a:solidFill>
            <a:prstDash val="solid"/>
          </a:ln>
        </p:spPr>
        <p:txBody>
          <a:bodyPr/>
          <a:lstStyle/>
          <a:p>
            <a:endParaRPr lang="zh-CN" altLang="en-US"/>
          </a:p>
        </p:txBody>
      </p:sp>
      <p:sp>
        <p:nvSpPr>
          <p:cNvPr id="153" name="矩形 152">
            <a:extLst>
              <a:ext uri="{FF2B5EF4-FFF2-40B4-BE49-F238E27FC236}">
                <a16:creationId xmlns:a16="http://schemas.microsoft.com/office/drawing/2014/main" id="{D07BC5B9-5686-43BD-FD6E-0929904578EF}"/>
              </a:ext>
            </a:extLst>
          </p:cNvPr>
          <p:cNvSpPr/>
          <p:nvPr/>
        </p:nvSpPr>
        <p:spPr>
          <a:xfrm>
            <a:off x="9546935" y="2535275"/>
            <a:ext cx="1615827" cy="215444"/>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17202A"/>
                </a:solidFill>
                <a:latin typeface="PingFang SC"/>
                <a:ea typeface="PingFang SC"/>
                <a:cs typeface="PingFang SC"/>
              </a:defRPr>
            </a:pPr>
            <a:r>
              <a:rPr sz="1400" b="1" dirty="0" err="1">
                <a:solidFill>
                  <a:srgbClr val="17202A"/>
                </a:solidFill>
                <a:latin typeface="PingFang SC"/>
                <a:ea typeface="PingFang SC"/>
                <a:cs typeface="PingFang SC"/>
              </a:rPr>
              <a:t>服务</a:t>
            </a:r>
            <a:r>
              <a:rPr sz="1400" b="1" dirty="0">
                <a:solidFill>
                  <a:srgbClr val="17202A"/>
                </a:solidFill>
                <a:latin typeface="PingFang SC"/>
                <a:ea typeface="PingFang SC"/>
                <a:cs typeface="PingFang SC"/>
              </a:rPr>
              <a:t>：</a:t>
            </a:r>
            <a:r>
              <a:rPr lang="zh-CN" altLang="en-US" sz="1400" b="1" dirty="0">
                <a:solidFill>
                  <a:srgbClr val="17202A"/>
                </a:solidFill>
                <a:latin typeface="PingFang SC"/>
                <a:ea typeface="PingFang SC"/>
                <a:cs typeface="PingFang SC"/>
              </a:rPr>
              <a:t>系统协同优化</a:t>
            </a:r>
            <a:endParaRPr sz="1400" dirty="0"/>
          </a:p>
        </p:txBody>
      </p:sp>
    </p:spTree>
    <p:extLst>
      <p:ext uri="{BB962C8B-B14F-4D97-AF65-F5344CB8AC3E}">
        <p14:creationId xmlns:p14="http://schemas.microsoft.com/office/powerpoint/2010/main" val="60179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389AED97-532B-414E-BFA8-B57BA95C07BC}"/>
              </a:ext>
            </a:extLst>
          </p:cNvPr>
          <p:cNvSpPr/>
          <p:nvPr/>
        </p:nvSpPr>
        <p:spPr>
          <a:xfrm>
            <a:off x="361950" y="323850"/>
            <a:ext cx="47625" cy="247650"/>
          </a:xfrm>
          <a:prstGeom prst="rect">
            <a:avLst/>
          </a:prstGeom>
          <a:solidFill>
            <a:srgbClr val="2B6F9E"/>
          </a:solidFill>
          <a:ln w="0">
            <a:solidFill>
              <a:srgbClr val="2B6F9E"/>
            </a:solidFill>
            <a:prstDash val="solid"/>
          </a:ln>
        </p:spPr>
        <p:txBody>
          <a:bodyPr/>
          <a:lstStyle/>
          <a:p>
            <a:endParaRPr lang="zh-CN" altLang="en-US"/>
          </a:p>
        </p:txBody>
      </p:sp>
      <p:sp>
        <p:nvSpPr>
          <p:cNvPr id="2" name="kicker-label">
            <a:extLst>
              <a:ext uri="{FF2B5EF4-FFF2-40B4-BE49-F238E27FC236}">
                <a16:creationId xmlns:a16="http://schemas.microsoft.com/office/drawing/2014/main" id="{4385FF2C-2387-4AAF-BB36-2D83B0C5C7D4}"/>
              </a:ext>
            </a:extLst>
          </p:cNvPr>
          <p:cNvSpPr/>
          <p:nvPr/>
        </p:nvSpPr>
        <p:spPr>
          <a:xfrm>
            <a:off x="514350" y="333375"/>
            <a:ext cx="292608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dirty="0">
                <a:solidFill>
                  <a:srgbClr val="2B6F9E"/>
                </a:solidFill>
                <a:latin typeface="Aptos"/>
                <a:ea typeface="Aptos"/>
                <a:cs typeface="Aptos"/>
              </a:rPr>
              <a:t>PAPER 02 · TRAINING SYSTEMS</a:t>
            </a:r>
            <a:endParaRPr sz="1400" dirty="0"/>
          </a:p>
        </p:txBody>
      </p:sp>
      <p:sp>
        <p:nvSpPr>
          <p:cNvPr id="3" name="pill-USENIX ATC'25">
            <a:extLst>
              <a:ext uri="{FF2B5EF4-FFF2-40B4-BE49-F238E27FC236}">
                <a16:creationId xmlns:a16="http://schemas.microsoft.com/office/drawing/2014/main" id="{084DA64A-DEB6-43E9-A398-988F2EF253B6}"/>
              </a:ext>
            </a:extLst>
          </p:cNvPr>
          <p:cNvSpPr/>
          <p:nvPr/>
        </p:nvSpPr>
        <p:spPr>
          <a:xfrm>
            <a:off x="10144125" y="342519"/>
            <a:ext cx="1657350" cy="266700"/>
          </a:xfrm>
          <a:prstGeom prst="rect">
            <a:avLst/>
          </a:prstGeom>
          <a:solidFill>
            <a:srgbClr val="2B6F9E">
              <a:alpha val="8627"/>
            </a:srgbClr>
          </a:solidFill>
          <a:ln w="9525">
            <a:solidFill>
              <a:srgbClr val="2B6F9E">
                <a:alpha val="43922"/>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557D5856-6173-4103-92EB-ACBA32B0D9F1}"/>
              </a:ext>
            </a:extLst>
          </p:cNvPr>
          <p:cNvSpPr/>
          <p:nvPr/>
        </p:nvSpPr>
        <p:spPr>
          <a:xfrm>
            <a:off x="10239375" y="352425"/>
            <a:ext cx="14668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2B6F9E"/>
                </a:solidFill>
                <a:latin typeface="Aptos"/>
                <a:ea typeface="Aptos"/>
                <a:cs typeface="Aptos"/>
              </a:defRPr>
            </a:pPr>
            <a:r>
              <a:rPr sz="1400" b="1" dirty="0">
                <a:solidFill>
                  <a:srgbClr val="2B6F9E"/>
                </a:solidFill>
                <a:latin typeface="Aptos"/>
                <a:ea typeface="Aptos"/>
                <a:cs typeface="Aptos"/>
              </a:rPr>
              <a:t>USENIX ATC'25</a:t>
            </a:r>
            <a:endParaRPr sz="1400" dirty="0"/>
          </a:p>
        </p:txBody>
      </p:sp>
      <p:sp>
        <p:nvSpPr>
          <p:cNvPr id="5" name="矩形 4">
            <a:extLst>
              <a:ext uri="{FF2B5EF4-FFF2-40B4-BE49-F238E27FC236}">
                <a16:creationId xmlns:a16="http://schemas.microsoft.com/office/drawing/2014/main" id="{54039841-A256-4E46-BBE3-26A36651593B}"/>
              </a:ext>
            </a:extLst>
          </p:cNvPr>
          <p:cNvSpPr/>
          <p:nvPr/>
        </p:nvSpPr>
        <p:spPr>
          <a:xfrm>
            <a:off x="361950" y="666750"/>
            <a:ext cx="9715500" cy="419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2550" b="1">
                <a:solidFill>
                  <a:srgbClr val="17202A"/>
                </a:solidFill>
                <a:latin typeface="PingFang SC"/>
                <a:ea typeface="PingFang SC"/>
                <a:cs typeface="PingFang SC"/>
              </a:defRPr>
            </a:pPr>
            <a:r>
              <a:rPr sz="2550" b="1">
                <a:solidFill>
                  <a:srgbClr val="17202A"/>
                </a:solidFill>
                <a:latin typeface="PingFang SC"/>
                <a:ea typeface="PingFang SC"/>
                <a:cs typeface="PingFang SC"/>
              </a:rPr>
              <a:t>Hermes：Ascend 训练瓶颈诊断与优化闭环</a:t>
            </a:r>
            <a:endParaRPr sz="1400"/>
          </a:p>
        </p:txBody>
      </p:sp>
      <p:sp>
        <p:nvSpPr>
          <p:cNvPr id="6" name="矩形 5">
            <a:extLst>
              <a:ext uri="{FF2B5EF4-FFF2-40B4-BE49-F238E27FC236}">
                <a16:creationId xmlns:a16="http://schemas.microsoft.com/office/drawing/2014/main" id="{053062DF-86E2-480B-A95F-738204C61F65}"/>
              </a:ext>
            </a:extLst>
          </p:cNvPr>
          <p:cNvSpPr/>
          <p:nvPr/>
        </p:nvSpPr>
        <p:spPr>
          <a:xfrm>
            <a:off x="381000" y="1152525"/>
            <a:ext cx="93345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a:solidFill>
                  <a:srgbClr val="596273"/>
                </a:solidFill>
                <a:latin typeface="Aptos"/>
                <a:ea typeface="Aptos"/>
                <a:cs typeface="Aptos"/>
              </a:rPr>
              <a:t>Accelerating Model Training on Ascend Chips: An Industrial System for Profiling, Analysis and Optimization</a:t>
            </a:r>
            <a:endParaRPr sz="1400"/>
          </a:p>
        </p:txBody>
      </p:sp>
      <p:sp>
        <p:nvSpPr>
          <p:cNvPr id="7" name="top-rule">
            <a:extLst>
              <a:ext uri="{FF2B5EF4-FFF2-40B4-BE49-F238E27FC236}">
                <a16:creationId xmlns:a16="http://schemas.microsoft.com/office/drawing/2014/main" id="{6CC4FAD9-546F-4403-BB3C-2974F78D7252}"/>
              </a:ext>
            </a:extLst>
          </p:cNvPr>
          <p:cNvSpPr/>
          <p:nvPr/>
        </p:nvSpPr>
        <p:spPr>
          <a:xfrm>
            <a:off x="381000" y="1438275"/>
            <a:ext cx="11410950" cy="10478"/>
          </a:xfrm>
          <a:prstGeom prst="rect">
            <a:avLst/>
          </a:prstGeom>
          <a:solidFill>
            <a:srgbClr val="D8DEE8"/>
          </a:solidFill>
          <a:ln w="0">
            <a:solidFill>
              <a:srgbClr val="D8DEE8"/>
            </a:solidFill>
            <a:prstDash val="solid"/>
          </a:ln>
        </p:spPr>
        <p:txBody>
          <a:bodyPr/>
          <a:lstStyle/>
          <a:p>
            <a:endParaRPr lang="zh-CN" altLang="en-US"/>
          </a:p>
        </p:txBody>
      </p:sp>
      <p:pic>
        <p:nvPicPr>
          <p:cNvPr id="8" name="图片 7"/>
          <p:cNvPicPr/>
          <p:nvPr/>
        </p:nvPicPr>
        <p:blipFill>
          <a:blip r:embed="rId3"/>
          <a:stretch/>
        </p:blipFill>
        <p:spPr>
          <a:xfrm>
            <a:off x="1333500" y="1543277"/>
            <a:ext cx="9525000" cy="3628571"/>
          </a:xfrm>
          <a:prstGeom prst="rect">
            <a:avLst/>
          </a:prstGeom>
        </p:spPr>
      </p:pic>
      <p:sp>
        <p:nvSpPr>
          <p:cNvPr id="9" name="card-PROBLEM">
            <a:extLst>
              <a:ext uri="{FF2B5EF4-FFF2-40B4-BE49-F238E27FC236}">
                <a16:creationId xmlns:a16="http://schemas.microsoft.com/office/drawing/2014/main" id="{28F9722D-647A-49E9-9FBF-79AC500AB1D7}"/>
              </a:ext>
            </a:extLst>
          </p:cNvPr>
          <p:cNvSpPr/>
          <p:nvPr/>
        </p:nvSpPr>
        <p:spPr>
          <a:xfrm>
            <a:off x="400050" y="5314950"/>
            <a:ext cx="3695700" cy="1028700"/>
          </a:xfrm>
          <a:prstGeom prst="rect">
            <a:avLst/>
          </a:prstGeom>
          <a:solidFill>
            <a:srgbClr val="FFFFFF"/>
          </a:solidFill>
          <a:ln w="9525">
            <a:solidFill>
              <a:srgbClr val="D8DEE8"/>
            </a:solidFill>
            <a:prstDash val="solid"/>
          </a:ln>
        </p:spPr>
        <p:txBody>
          <a:bodyPr/>
          <a:lstStyle/>
          <a:p>
            <a:endParaRPr lang="zh-CN" altLang="en-US"/>
          </a:p>
        </p:txBody>
      </p:sp>
      <p:sp>
        <p:nvSpPr>
          <p:cNvPr id="10" name="card-accent-PROBLEM">
            <a:extLst>
              <a:ext uri="{FF2B5EF4-FFF2-40B4-BE49-F238E27FC236}">
                <a16:creationId xmlns:a16="http://schemas.microsoft.com/office/drawing/2014/main" id="{03F4C4E9-CF7B-4552-AADB-0A19909F9C2F}"/>
              </a:ext>
            </a:extLst>
          </p:cNvPr>
          <p:cNvSpPr/>
          <p:nvPr/>
        </p:nvSpPr>
        <p:spPr>
          <a:xfrm>
            <a:off x="400050" y="5314950"/>
            <a:ext cx="47625" cy="1028700"/>
          </a:xfrm>
          <a:prstGeom prst="rect">
            <a:avLst/>
          </a:prstGeom>
          <a:solidFill>
            <a:srgbClr val="2B6F9E"/>
          </a:solidFill>
          <a:ln w="0">
            <a:solidFill>
              <a:srgbClr val="2B6F9E"/>
            </a:solidFill>
            <a:prstDash val="solid"/>
          </a:ln>
        </p:spPr>
        <p:txBody>
          <a:bodyPr/>
          <a:lstStyle/>
          <a:p>
            <a:endParaRPr lang="zh-CN" altLang="en-US"/>
          </a:p>
        </p:txBody>
      </p:sp>
      <p:sp>
        <p:nvSpPr>
          <p:cNvPr id="11" name="矩形 10">
            <a:extLst>
              <a:ext uri="{FF2B5EF4-FFF2-40B4-BE49-F238E27FC236}">
                <a16:creationId xmlns:a16="http://schemas.microsoft.com/office/drawing/2014/main" id="{4F62F409-86AA-422B-845C-D7CC5C3BC9EC}"/>
              </a:ext>
            </a:extLst>
          </p:cNvPr>
          <p:cNvSpPr/>
          <p:nvPr/>
        </p:nvSpPr>
        <p:spPr>
          <a:xfrm>
            <a:off x="552450" y="5410200"/>
            <a:ext cx="3409950"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PROBLEM</a:t>
            </a:r>
            <a:endParaRPr sz="1400"/>
          </a:p>
        </p:txBody>
      </p:sp>
      <p:sp>
        <p:nvSpPr>
          <p:cNvPr id="12" name="矩形 11">
            <a:extLst>
              <a:ext uri="{FF2B5EF4-FFF2-40B4-BE49-F238E27FC236}">
                <a16:creationId xmlns:a16="http://schemas.microsoft.com/office/drawing/2014/main" id="{A7A99E82-AB84-4F4B-9509-7ED54E41685B}"/>
              </a:ext>
            </a:extLst>
          </p:cNvPr>
          <p:cNvSpPr/>
          <p:nvPr/>
        </p:nvSpPr>
        <p:spPr>
          <a:xfrm>
            <a:off x="552450" y="5600700"/>
            <a:ext cx="3409950" cy="6858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Ascend 训练瓶颈跨 I/O、CPU
通信和并行策略，人工 profiling 难稳定
定位。</a:t>
            </a:r>
            <a:endParaRPr sz="1400"/>
          </a:p>
        </p:txBody>
      </p:sp>
      <p:sp>
        <p:nvSpPr>
          <p:cNvPr id="13" name="card-IDEA">
            <a:extLst>
              <a:ext uri="{FF2B5EF4-FFF2-40B4-BE49-F238E27FC236}">
                <a16:creationId xmlns:a16="http://schemas.microsoft.com/office/drawing/2014/main" id="{5D2927C3-7D65-4BBF-9E90-210C23713689}"/>
              </a:ext>
            </a:extLst>
          </p:cNvPr>
          <p:cNvSpPr/>
          <p:nvPr/>
        </p:nvSpPr>
        <p:spPr>
          <a:xfrm>
            <a:off x="4248150" y="5314950"/>
            <a:ext cx="3695700" cy="1028700"/>
          </a:xfrm>
          <a:prstGeom prst="rect">
            <a:avLst/>
          </a:prstGeom>
          <a:solidFill>
            <a:srgbClr val="FFFFFF"/>
          </a:solidFill>
          <a:ln w="9525">
            <a:solidFill>
              <a:srgbClr val="D8DEE8"/>
            </a:solidFill>
            <a:prstDash val="solid"/>
          </a:ln>
        </p:spPr>
        <p:txBody>
          <a:bodyPr/>
          <a:lstStyle/>
          <a:p>
            <a:endParaRPr lang="zh-CN" altLang="en-US"/>
          </a:p>
        </p:txBody>
      </p:sp>
      <p:sp>
        <p:nvSpPr>
          <p:cNvPr id="14" name="card-accent-IDEA">
            <a:extLst>
              <a:ext uri="{FF2B5EF4-FFF2-40B4-BE49-F238E27FC236}">
                <a16:creationId xmlns:a16="http://schemas.microsoft.com/office/drawing/2014/main" id="{5A68AF51-D4E8-492B-97E8-3FF441DCA223}"/>
              </a:ext>
            </a:extLst>
          </p:cNvPr>
          <p:cNvSpPr/>
          <p:nvPr/>
        </p:nvSpPr>
        <p:spPr>
          <a:xfrm>
            <a:off x="4248150" y="5314950"/>
            <a:ext cx="47625" cy="1028700"/>
          </a:xfrm>
          <a:prstGeom prst="rect">
            <a:avLst/>
          </a:prstGeom>
          <a:solidFill>
            <a:srgbClr val="2B6F9E"/>
          </a:solidFill>
          <a:ln w="0">
            <a:solidFill>
              <a:srgbClr val="2B6F9E"/>
            </a:solidFill>
            <a:prstDash val="solid"/>
          </a:ln>
        </p:spPr>
        <p:txBody>
          <a:bodyPr/>
          <a:lstStyle/>
          <a:p>
            <a:endParaRPr lang="zh-CN" altLang="en-US"/>
          </a:p>
        </p:txBody>
      </p:sp>
      <p:sp>
        <p:nvSpPr>
          <p:cNvPr id="15" name="矩形 14">
            <a:extLst>
              <a:ext uri="{FF2B5EF4-FFF2-40B4-BE49-F238E27FC236}">
                <a16:creationId xmlns:a16="http://schemas.microsoft.com/office/drawing/2014/main" id="{B4AA2576-5EA3-4C20-A87C-16141D3FA733}"/>
              </a:ext>
            </a:extLst>
          </p:cNvPr>
          <p:cNvSpPr/>
          <p:nvPr/>
        </p:nvSpPr>
        <p:spPr>
          <a:xfrm>
            <a:off x="4400550" y="5410200"/>
            <a:ext cx="3409950"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IDEA</a:t>
            </a:r>
            <a:endParaRPr sz="1400"/>
          </a:p>
        </p:txBody>
      </p:sp>
      <p:sp>
        <p:nvSpPr>
          <p:cNvPr id="16" name="矩形 15">
            <a:extLst>
              <a:ext uri="{FF2B5EF4-FFF2-40B4-BE49-F238E27FC236}">
                <a16:creationId xmlns:a16="http://schemas.microsoft.com/office/drawing/2014/main" id="{5029360B-0552-4CEC-8B68-C847F7AC9979}"/>
              </a:ext>
            </a:extLst>
          </p:cNvPr>
          <p:cNvSpPr/>
          <p:nvPr/>
        </p:nvSpPr>
        <p:spPr>
          <a:xfrm>
            <a:off x="4400550" y="5600700"/>
            <a:ext cx="3409950" cy="646331"/>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lgn="l">
              <a:defRPr sz="1400" b="0">
                <a:solidFill>
                  <a:srgbClr val="17202A"/>
                </a:solidFill>
                <a:latin typeface="PingFang SC"/>
                <a:ea typeface="PingFang SC"/>
                <a:cs typeface="PingFang SC"/>
              </a:defRPr>
            </a:pPr>
            <a:r>
              <a:rPr sz="1400" b="0" dirty="0" err="1">
                <a:solidFill>
                  <a:srgbClr val="17202A"/>
                </a:solidFill>
                <a:latin typeface="PingFang SC"/>
                <a:ea typeface="PingFang SC"/>
                <a:cs typeface="PingFang SC"/>
              </a:rPr>
              <a:t>轻量监控发现异常，再按需进入细粒度</a:t>
            </a:r>
            <a:r>
              <a:rPr sz="1400" b="0" dirty="0">
                <a:solidFill>
                  <a:srgbClr val="17202A"/>
                </a:solidFill>
                <a:latin typeface="PingFang SC"/>
                <a:ea typeface="PingFang SC"/>
                <a:cs typeface="PingFang SC"/>
              </a:rPr>
              <a:t>
</a:t>
            </a:r>
            <a:r>
              <a:rPr sz="1400" b="0" dirty="0" err="1">
                <a:solidFill>
                  <a:srgbClr val="17202A"/>
                </a:solidFill>
                <a:latin typeface="PingFang SC"/>
                <a:ea typeface="PingFang SC"/>
                <a:cs typeface="PingFang SC"/>
              </a:rPr>
              <a:t>profiling，分层定位</a:t>
            </a:r>
            <a:r>
              <a:rPr sz="1400" b="0" dirty="0">
                <a:solidFill>
                  <a:srgbClr val="17202A"/>
                </a:solidFill>
                <a:latin typeface="PingFang SC"/>
                <a:ea typeface="PingFang SC"/>
                <a:cs typeface="PingFang SC"/>
              </a:rPr>
              <a:t> inter-op</a:t>
            </a:r>
            <a:r>
              <a:rPr lang="en-US" sz="1400" b="0" dirty="0">
                <a:solidFill>
                  <a:srgbClr val="17202A"/>
                </a:solidFill>
                <a:latin typeface="PingFang SC"/>
                <a:ea typeface="PingFang SC"/>
                <a:cs typeface="PingFang SC"/>
              </a:rPr>
              <a:t> </a:t>
            </a:r>
          </a:p>
          <a:p>
            <a:pPr algn="l">
              <a:defRPr sz="1400" b="0">
                <a:solidFill>
                  <a:srgbClr val="17202A"/>
                </a:solidFill>
                <a:latin typeface="PingFang SC"/>
                <a:ea typeface="PingFang SC"/>
                <a:cs typeface="PingFang SC"/>
              </a:defRPr>
            </a:pPr>
            <a:r>
              <a:rPr sz="1400" b="0" dirty="0">
                <a:solidFill>
                  <a:srgbClr val="17202A"/>
                </a:solidFill>
                <a:latin typeface="PingFang SC"/>
                <a:ea typeface="PingFang SC"/>
                <a:cs typeface="PingFang SC"/>
              </a:rPr>
              <a:t>intra-op / </a:t>
            </a:r>
            <a:r>
              <a:rPr sz="1400" b="0" dirty="0" err="1">
                <a:solidFill>
                  <a:srgbClr val="17202A"/>
                </a:solidFill>
                <a:latin typeface="PingFang SC"/>
                <a:ea typeface="PingFang SC"/>
                <a:cs typeface="PingFang SC"/>
              </a:rPr>
              <a:t>通信瓶颈</a:t>
            </a:r>
            <a:r>
              <a:rPr sz="1400" b="0" dirty="0">
                <a:solidFill>
                  <a:srgbClr val="17202A"/>
                </a:solidFill>
                <a:latin typeface="PingFang SC"/>
                <a:ea typeface="PingFang SC"/>
                <a:cs typeface="PingFang SC"/>
              </a:rPr>
              <a:t>。</a:t>
            </a:r>
            <a:endParaRPr sz="1400" dirty="0"/>
          </a:p>
        </p:txBody>
      </p:sp>
      <p:sp>
        <p:nvSpPr>
          <p:cNvPr id="17" name="card-RESULT / TAKEAWAY">
            <a:extLst>
              <a:ext uri="{FF2B5EF4-FFF2-40B4-BE49-F238E27FC236}">
                <a16:creationId xmlns:a16="http://schemas.microsoft.com/office/drawing/2014/main" id="{A3445FED-FA45-4AB0-BA63-CB4E3FCB0B68}"/>
              </a:ext>
            </a:extLst>
          </p:cNvPr>
          <p:cNvSpPr/>
          <p:nvPr/>
        </p:nvSpPr>
        <p:spPr>
          <a:xfrm>
            <a:off x="8096250" y="5314950"/>
            <a:ext cx="3695700" cy="1028700"/>
          </a:xfrm>
          <a:prstGeom prst="rect">
            <a:avLst/>
          </a:prstGeom>
          <a:solidFill>
            <a:srgbClr val="2B6F9E">
              <a:alpha val="6275"/>
            </a:srgbClr>
          </a:solidFill>
          <a:ln w="9525">
            <a:solidFill>
              <a:srgbClr val="2B6F9E">
                <a:alpha val="33333"/>
              </a:srgbClr>
            </a:solidFill>
            <a:prstDash val="solid"/>
          </a:ln>
        </p:spPr>
        <p:txBody>
          <a:bodyPr/>
          <a:lstStyle/>
          <a:p>
            <a:endParaRPr lang="zh-CN" altLang="en-US"/>
          </a:p>
        </p:txBody>
      </p:sp>
      <p:sp>
        <p:nvSpPr>
          <p:cNvPr id="18" name="card-accent-RESULT / TAKEAWAY">
            <a:extLst>
              <a:ext uri="{FF2B5EF4-FFF2-40B4-BE49-F238E27FC236}">
                <a16:creationId xmlns:a16="http://schemas.microsoft.com/office/drawing/2014/main" id="{6D2F6AFA-B15E-43E4-AEA3-EB84659D937A}"/>
              </a:ext>
            </a:extLst>
          </p:cNvPr>
          <p:cNvSpPr/>
          <p:nvPr/>
        </p:nvSpPr>
        <p:spPr>
          <a:xfrm>
            <a:off x="8096250" y="5314950"/>
            <a:ext cx="47625" cy="1028700"/>
          </a:xfrm>
          <a:prstGeom prst="rect">
            <a:avLst/>
          </a:prstGeom>
          <a:solidFill>
            <a:srgbClr val="2B6F9E"/>
          </a:solidFill>
          <a:ln w="0">
            <a:solidFill>
              <a:srgbClr val="2B6F9E"/>
            </a:solidFill>
            <a:prstDash val="solid"/>
          </a:ln>
        </p:spPr>
        <p:txBody>
          <a:bodyPr/>
          <a:lstStyle/>
          <a:p>
            <a:endParaRPr lang="zh-CN" altLang="en-US"/>
          </a:p>
        </p:txBody>
      </p:sp>
      <p:sp>
        <p:nvSpPr>
          <p:cNvPr id="19" name="矩形 18">
            <a:extLst>
              <a:ext uri="{FF2B5EF4-FFF2-40B4-BE49-F238E27FC236}">
                <a16:creationId xmlns:a16="http://schemas.microsoft.com/office/drawing/2014/main" id="{10D5ABC9-6B7B-4DB8-9865-99AFF9C99B1E}"/>
              </a:ext>
            </a:extLst>
          </p:cNvPr>
          <p:cNvSpPr/>
          <p:nvPr/>
        </p:nvSpPr>
        <p:spPr>
          <a:xfrm>
            <a:off x="8248650" y="5410200"/>
            <a:ext cx="3409950"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RESULT / TAKEAWAY</a:t>
            </a:r>
            <a:endParaRPr sz="1400"/>
          </a:p>
        </p:txBody>
      </p:sp>
      <p:sp>
        <p:nvSpPr>
          <p:cNvPr id="20" name="矩形 19">
            <a:extLst>
              <a:ext uri="{FF2B5EF4-FFF2-40B4-BE49-F238E27FC236}">
                <a16:creationId xmlns:a16="http://schemas.microsoft.com/office/drawing/2014/main" id="{57E0A990-ED15-437F-A286-31ED35AA507A}"/>
              </a:ext>
            </a:extLst>
          </p:cNvPr>
          <p:cNvSpPr/>
          <p:nvPr/>
        </p:nvSpPr>
        <p:spPr>
          <a:xfrm>
            <a:off x="8248651" y="5600700"/>
            <a:ext cx="3495676" cy="861774"/>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lgn="l">
              <a:defRPr sz="1400" b="1">
                <a:solidFill>
                  <a:srgbClr val="2B6F9E"/>
                </a:solidFill>
                <a:latin typeface="PingFang SC"/>
                <a:ea typeface="PingFang SC"/>
                <a:cs typeface="PingFang SC"/>
              </a:defRPr>
            </a:pPr>
            <a:r>
              <a:rPr sz="1400" b="1" dirty="0" err="1">
                <a:solidFill>
                  <a:srgbClr val="2B6F9E"/>
                </a:solidFill>
                <a:latin typeface="PingFang SC"/>
                <a:ea typeface="PingFang SC"/>
                <a:cs typeface="PingFang SC"/>
              </a:rPr>
              <a:t>形成</a:t>
            </a:r>
            <a:r>
              <a:rPr sz="1400" b="1" dirty="0">
                <a:solidFill>
                  <a:srgbClr val="2B6F9E"/>
                </a:solidFill>
                <a:latin typeface="PingFang SC"/>
                <a:ea typeface="PingFang SC"/>
                <a:cs typeface="PingFang SC"/>
              </a:rPr>
              <a:t> monitor → diagnose → advise </a:t>
            </a:r>
            <a:r>
              <a:rPr sz="1400" b="1" dirty="0" err="1">
                <a:solidFill>
                  <a:srgbClr val="2B6F9E"/>
                </a:solidFill>
                <a:latin typeface="PingFang SC"/>
                <a:ea typeface="PingFang SC"/>
                <a:cs typeface="PingFang SC"/>
              </a:rPr>
              <a:t>闭环</a:t>
            </a:r>
            <a:r>
              <a:rPr sz="1400" b="1" dirty="0">
                <a:solidFill>
                  <a:srgbClr val="2B6F9E"/>
                </a:solidFill>
                <a:latin typeface="PingFang SC"/>
                <a:ea typeface="PingFang SC"/>
                <a:cs typeface="PingFang SC"/>
              </a:rPr>
              <a:t>
</a:t>
            </a:r>
            <a:r>
              <a:rPr sz="1400" b="1" dirty="0" err="1">
                <a:solidFill>
                  <a:srgbClr val="2B6F9E"/>
                </a:solidFill>
                <a:latin typeface="PingFang SC"/>
                <a:ea typeface="PingFang SC"/>
                <a:cs typeface="PingFang SC"/>
              </a:rPr>
              <a:t>把专家经验沉淀成可复用诊断流程</a:t>
            </a:r>
            <a:r>
              <a:rPr sz="1400" b="1" dirty="0">
                <a:solidFill>
                  <a:srgbClr val="2B6F9E"/>
                </a:solidFill>
                <a:latin typeface="PingFang SC"/>
                <a:ea typeface="PingFang SC"/>
                <a:cs typeface="PingFang SC"/>
              </a:rPr>
              <a:t>。</a:t>
            </a:r>
            <a:endParaRPr lang="en-US" sz="1400" b="1" dirty="0">
              <a:solidFill>
                <a:srgbClr val="2B6F9E"/>
              </a:solidFill>
              <a:latin typeface="PingFang SC"/>
              <a:ea typeface="PingFang SC"/>
              <a:cs typeface="PingFang SC"/>
            </a:endParaRPr>
          </a:p>
          <a:p>
            <a:pPr algn="l">
              <a:defRPr sz="1400" b="1">
                <a:solidFill>
                  <a:srgbClr val="2B6F9E"/>
                </a:solidFill>
                <a:latin typeface="PingFang SC"/>
                <a:ea typeface="PingFang SC"/>
                <a:cs typeface="PingFang SC"/>
              </a:defRPr>
            </a:pPr>
            <a:r>
              <a:rPr lang="en-US" altLang="zh-CN" sz="1400" i="1" dirty="0">
                <a:latin typeface="Trebuchet MS" panose="020B0603020202020204" pitchFamily="34" charset="0"/>
                <a:ea typeface="微软雅黑"/>
              </a:rPr>
              <a:t>total time</a:t>
            </a:r>
            <a:r>
              <a:rPr lang="en-US" altLang="zh-CN" sz="1400" i="1" dirty="0">
                <a:solidFill>
                  <a:srgbClr val="00B0F0"/>
                </a:solidFill>
                <a:latin typeface="Trebuchet MS" panose="020B0603020202020204" pitchFamily="34" charset="0"/>
                <a:ea typeface="微软雅黑"/>
              </a:rPr>
              <a:t> </a:t>
            </a:r>
            <a:r>
              <a:rPr lang="en-US" altLang="zh-CN" sz="1400" dirty="0">
                <a:solidFill>
                  <a:srgbClr val="000000"/>
                </a:solidFill>
                <a:latin typeface="Trebuchet MS" panose="020B0603020202020204" pitchFamily="34" charset="0"/>
                <a:ea typeface="微软雅黑"/>
              </a:rPr>
              <a:t>speedup is </a:t>
            </a:r>
            <a:r>
              <a:rPr lang="en-US" altLang="zh-CN" sz="1400" dirty="0">
                <a:solidFill>
                  <a:srgbClr val="FF0000"/>
                </a:solidFill>
                <a:latin typeface="Trebuchet MS" panose="020B0603020202020204" pitchFamily="34" charset="0"/>
                <a:ea typeface="微软雅黑"/>
              </a:rPr>
              <a:t>3.05x</a:t>
            </a:r>
            <a:endParaRPr lang="en-US" altLang="zh-CN" sz="1400" b="1" dirty="0">
              <a:solidFill>
                <a:srgbClr val="2B6F9E"/>
              </a:solidFill>
              <a:latin typeface="Trebuchet MS" panose="020B0603020202020204" pitchFamily="34" charset="0"/>
              <a:ea typeface="PingFang SC"/>
            </a:endParaRPr>
          </a:p>
          <a:p>
            <a:pPr algn="l">
              <a:defRPr sz="1400" b="1">
                <a:solidFill>
                  <a:srgbClr val="2B6F9E"/>
                </a:solidFill>
                <a:latin typeface="PingFang SC"/>
                <a:ea typeface="PingFang SC"/>
                <a:cs typeface="PingFang SC"/>
              </a:defRPr>
            </a:pPr>
            <a:r>
              <a:rPr lang="en-US" altLang="zh-CN" sz="1400" dirty="0">
                <a:solidFill>
                  <a:srgbClr val="FF0000"/>
                </a:solidFill>
                <a:latin typeface="Trebuchet MS" panose="020B0603020202020204" pitchFamily="34" charset="0"/>
              </a:rPr>
              <a:t>135 </a:t>
            </a:r>
            <a:r>
              <a:rPr lang="en-US" altLang="zh-CN" sz="1400" dirty="0">
                <a:latin typeface="Trebuchet MS" panose="020B0603020202020204" pitchFamily="34" charset="0"/>
              </a:rPr>
              <a:t>real-world cases </a:t>
            </a:r>
            <a:endParaRPr sz="1400" dirty="0"/>
          </a:p>
        </p:txBody>
      </p:sp>
      <p:sp>
        <p:nvSpPr>
          <p:cNvPr id="21" name="矩形 20">
            <a:extLst>
              <a:ext uri="{FF2B5EF4-FFF2-40B4-BE49-F238E27FC236}">
                <a16:creationId xmlns:a16="http://schemas.microsoft.com/office/drawing/2014/main" id="{9C0B90EC-72B4-4DD6-BA3D-F7BAD593F493}"/>
              </a:ext>
            </a:extLst>
          </p:cNvPr>
          <p:cNvSpPr/>
          <p:nvPr/>
        </p:nvSpPr>
        <p:spPr>
          <a:xfrm>
            <a:off x="381000" y="6477000"/>
            <a:ext cx="40005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18" b="0">
                <a:solidFill>
                  <a:srgbClr val="7A8393"/>
                </a:solidFill>
                <a:latin typeface="Aptos"/>
                <a:ea typeface="Aptos"/>
                <a:cs typeface="Aptos"/>
              </a:defRPr>
            </a:pPr>
            <a:r>
              <a:rPr sz="880" b="0" dirty="0">
                <a:solidFill>
                  <a:srgbClr val="7A8393"/>
                </a:solidFill>
                <a:latin typeface="Aptos"/>
                <a:ea typeface="Aptos"/>
                <a:cs typeface="Aptos"/>
              </a:rPr>
              <a:t>Source: local paper PDF · core figure cropped from paper</a:t>
            </a:r>
          </a:p>
        </p:txBody>
      </p:sp>
      <p:sp>
        <p:nvSpPr>
          <p:cNvPr id="22" name="矩形 21">
            <a:extLst>
              <a:ext uri="{FF2B5EF4-FFF2-40B4-BE49-F238E27FC236}">
                <a16:creationId xmlns:a16="http://schemas.microsoft.com/office/drawing/2014/main" id="{DA69977B-A729-41E1-B079-84E1CED8151A}"/>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02</a:t>
            </a:r>
          </a:p>
        </p:txBody>
      </p:sp>
    </p:spTree>
    <p:extLst>
      <p:ext uri="{BB962C8B-B14F-4D97-AF65-F5344CB8AC3E}">
        <p14:creationId xmlns:p14="http://schemas.microsoft.com/office/powerpoint/2010/main" val="920347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01FA6189-A620-4571-AA90-454CDEF890F9}"/>
              </a:ext>
            </a:extLst>
          </p:cNvPr>
          <p:cNvSpPr/>
          <p:nvPr/>
        </p:nvSpPr>
        <p:spPr>
          <a:xfrm>
            <a:off x="361950" y="323850"/>
            <a:ext cx="47625" cy="247650"/>
          </a:xfrm>
          <a:prstGeom prst="rect">
            <a:avLst/>
          </a:prstGeom>
          <a:solidFill>
            <a:srgbClr val="2B6F9E"/>
          </a:solidFill>
          <a:ln w="0">
            <a:solidFill>
              <a:srgbClr val="2B6F9E"/>
            </a:solidFill>
            <a:prstDash val="solid"/>
          </a:ln>
        </p:spPr>
        <p:txBody>
          <a:bodyPr/>
          <a:lstStyle/>
          <a:p>
            <a:endParaRPr lang="zh-CN" altLang="en-US"/>
          </a:p>
        </p:txBody>
      </p:sp>
      <p:sp>
        <p:nvSpPr>
          <p:cNvPr id="2" name="kicker-label">
            <a:extLst>
              <a:ext uri="{FF2B5EF4-FFF2-40B4-BE49-F238E27FC236}">
                <a16:creationId xmlns:a16="http://schemas.microsoft.com/office/drawing/2014/main" id="{7F1AD45E-6086-48E3-A9B2-3CD5AFD56A97}"/>
              </a:ext>
            </a:extLst>
          </p:cNvPr>
          <p:cNvSpPr/>
          <p:nvPr/>
        </p:nvSpPr>
        <p:spPr>
          <a:xfrm>
            <a:off x="514350" y="333375"/>
            <a:ext cx="292608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dirty="0">
                <a:solidFill>
                  <a:srgbClr val="2B6F9E"/>
                </a:solidFill>
                <a:latin typeface="Aptos"/>
                <a:ea typeface="Aptos"/>
                <a:cs typeface="Aptos"/>
              </a:rPr>
              <a:t>PAPER 03 · TRAINING SYSTEMS</a:t>
            </a:r>
            <a:endParaRPr sz="1400" dirty="0"/>
          </a:p>
        </p:txBody>
      </p:sp>
      <p:sp>
        <p:nvSpPr>
          <p:cNvPr id="3" name="pill-ASPLOS'25">
            <a:extLst>
              <a:ext uri="{FF2B5EF4-FFF2-40B4-BE49-F238E27FC236}">
                <a16:creationId xmlns:a16="http://schemas.microsoft.com/office/drawing/2014/main" id="{2C491D56-4F32-4AFE-BD3B-389AE4B0FD04}"/>
              </a:ext>
            </a:extLst>
          </p:cNvPr>
          <p:cNvSpPr/>
          <p:nvPr/>
        </p:nvSpPr>
        <p:spPr>
          <a:xfrm>
            <a:off x="10144125" y="342519"/>
            <a:ext cx="1657350" cy="266700"/>
          </a:xfrm>
          <a:prstGeom prst="rect">
            <a:avLst/>
          </a:prstGeom>
          <a:solidFill>
            <a:srgbClr val="2B6F9E">
              <a:alpha val="8627"/>
            </a:srgbClr>
          </a:solidFill>
          <a:ln w="9525">
            <a:solidFill>
              <a:srgbClr val="2B6F9E">
                <a:alpha val="43922"/>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240CC74-8D7E-45C8-A779-A6A917E38017}"/>
              </a:ext>
            </a:extLst>
          </p:cNvPr>
          <p:cNvSpPr/>
          <p:nvPr/>
        </p:nvSpPr>
        <p:spPr>
          <a:xfrm>
            <a:off x="10239375" y="352425"/>
            <a:ext cx="14668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2B6F9E"/>
                </a:solidFill>
                <a:latin typeface="Aptos"/>
                <a:ea typeface="Aptos"/>
                <a:cs typeface="Aptos"/>
              </a:defRPr>
            </a:pPr>
            <a:r>
              <a:rPr sz="1400" b="1" dirty="0">
                <a:solidFill>
                  <a:srgbClr val="2B6F9E"/>
                </a:solidFill>
                <a:latin typeface="Aptos"/>
                <a:ea typeface="Aptos"/>
                <a:cs typeface="Aptos"/>
              </a:rPr>
              <a:t>ASPLOS'25</a:t>
            </a:r>
            <a:endParaRPr sz="1400" dirty="0"/>
          </a:p>
        </p:txBody>
      </p:sp>
      <p:sp>
        <p:nvSpPr>
          <p:cNvPr id="5" name="矩形 4">
            <a:extLst>
              <a:ext uri="{FF2B5EF4-FFF2-40B4-BE49-F238E27FC236}">
                <a16:creationId xmlns:a16="http://schemas.microsoft.com/office/drawing/2014/main" id="{6D0BD5A1-498E-416D-8384-C78FBCD3317C}"/>
              </a:ext>
            </a:extLst>
          </p:cNvPr>
          <p:cNvSpPr/>
          <p:nvPr/>
        </p:nvSpPr>
        <p:spPr>
          <a:xfrm>
            <a:off x="361950" y="666750"/>
            <a:ext cx="9715500" cy="419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2550" b="1">
                <a:solidFill>
                  <a:srgbClr val="17202A"/>
                </a:solidFill>
                <a:latin typeface="PingFang SC"/>
                <a:ea typeface="PingFang SC"/>
                <a:cs typeface="PingFang SC"/>
              </a:defRPr>
            </a:pPr>
            <a:r>
              <a:rPr sz="2550" b="1" dirty="0">
                <a:solidFill>
                  <a:srgbClr val="17202A"/>
                </a:solidFill>
                <a:latin typeface="PingFang SC"/>
                <a:ea typeface="PingFang SC"/>
                <a:cs typeface="PingFang SC"/>
              </a:rPr>
              <a:t>Operator-level </a:t>
            </a:r>
            <a:r>
              <a:rPr sz="2550" b="1" dirty="0" err="1">
                <a:solidFill>
                  <a:srgbClr val="17202A"/>
                </a:solidFill>
                <a:latin typeface="PingFang SC"/>
                <a:ea typeface="PingFang SC"/>
                <a:cs typeface="PingFang SC"/>
              </a:rPr>
              <a:t>DVFS：毫秒级频率调节降低训练能耗</a:t>
            </a:r>
            <a:endParaRPr sz="1400" dirty="0"/>
          </a:p>
        </p:txBody>
      </p:sp>
      <p:sp>
        <p:nvSpPr>
          <p:cNvPr id="6" name="矩形 5">
            <a:extLst>
              <a:ext uri="{FF2B5EF4-FFF2-40B4-BE49-F238E27FC236}">
                <a16:creationId xmlns:a16="http://schemas.microsoft.com/office/drawing/2014/main" id="{4785CB32-6817-4DFF-95D6-F52DCBD257D6}"/>
              </a:ext>
            </a:extLst>
          </p:cNvPr>
          <p:cNvSpPr/>
          <p:nvPr/>
        </p:nvSpPr>
        <p:spPr>
          <a:xfrm>
            <a:off x="381000" y="1152525"/>
            <a:ext cx="93345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a:solidFill>
                  <a:srgbClr val="596273"/>
                </a:solidFill>
                <a:latin typeface="Aptos"/>
                <a:ea typeface="Aptos"/>
                <a:cs typeface="Aptos"/>
              </a:rPr>
              <a:t>Using Analytical Performance/Power Model and Fine-Grained DVFS to Enhance AI Accelerator Energy Efficiency</a:t>
            </a:r>
            <a:endParaRPr sz="1400"/>
          </a:p>
        </p:txBody>
      </p:sp>
      <p:sp>
        <p:nvSpPr>
          <p:cNvPr id="7" name="top-rule">
            <a:extLst>
              <a:ext uri="{FF2B5EF4-FFF2-40B4-BE49-F238E27FC236}">
                <a16:creationId xmlns:a16="http://schemas.microsoft.com/office/drawing/2014/main" id="{88307EC9-ACB8-4426-ABF6-A654814D5978}"/>
              </a:ext>
            </a:extLst>
          </p:cNvPr>
          <p:cNvSpPr/>
          <p:nvPr/>
        </p:nvSpPr>
        <p:spPr>
          <a:xfrm>
            <a:off x="381000" y="1438275"/>
            <a:ext cx="11410950" cy="10478"/>
          </a:xfrm>
          <a:prstGeom prst="rect">
            <a:avLst/>
          </a:prstGeom>
          <a:solidFill>
            <a:srgbClr val="D8DEE8"/>
          </a:solidFill>
          <a:ln w="0">
            <a:solidFill>
              <a:srgbClr val="D8DEE8"/>
            </a:solidFill>
            <a:prstDash val="solid"/>
          </a:ln>
        </p:spPr>
        <p:txBody>
          <a:bodyPr/>
          <a:lstStyle/>
          <a:p>
            <a:endParaRPr lang="zh-CN" altLang="en-US"/>
          </a:p>
        </p:txBody>
      </p:sp>
      <p:pic>
        <p:nvPicPr>
          <p:cNvPr id="8" name="图片 7"/>
          <p:cNvPicPr/>
          <p:nvPr/>
        </p:nvPicPr>
        <p:blipFill>
          <a:blip r:embed="rId3"/>
          <a:stretch/>
        </p:blipFill>
        <p:spPr>
          <a:xfrm>
            <a:off x="433705" y="1619250"/>
            <a:ext cx="11324590" cy="2114550"/>
          </a:xfrm>
          <a:prstGeom prst="rect">
            <a:avLst/>
          </a:prstGeom>
        </p:spPr>
      </p:pic>
      <p:sp>
        <p:nvSpPr>
          <p:cNvPr id="9" name="card-PROBLEM">
            <a:extLst>
              <a:ext uri="{FF2B5EF4-FFF2-40B4-BE49-F238E27FC236}">
                <a16:creationId xmlns:a16="http://schemas.microsoft.com/office/drawing/2014/main" id="{645DDF53-BD50-44E1-9DBD-8DB693373625}"/>
              </a:ext>
            </a:extLst>
          </p:cNvPr>
          <p:cNvSpPr/>
          <p:nvPr/>
        </p:nvSpPr>
        <p:spPr>
          <a:xfrm>
            <a:off x="400050" y="4000500"/>
            <a:ext cx="3695700" cy="1883092"/>
          </a:xfrm>
          <a:prstGeom prst="rect">
            <a:avLst/>
          </a:prstGeom>
          <a:solidFill>
            <a:srgbClr val="FFFFFF"/>
          </a:solidFill>
          <a:ln w="9525">
            <a:solidFill>
              <a:srgbClr val="D8DEE8"/>
            </a:solidFill>
            <a:prstDash val="solid"/>
          </a:ln>
        </p:spPr>
        <p:txBody>
          <a:bodyPr/>
          <a:lstStyle/>
          <a:p>
            <a:endParaRPr lang="zh-CN" altLang="en-US"/>
          </a:p>
        </p:txBody>
      </p:sp>
      <p:sp>
        <p:nvSpPr>
          <p:cNvPr id="10" name="card-accent-PROBLEM">
            <a:extLst>
              <a:ext uri="{FF2B5EF4-FFF2-40B4-BE49-F238E27FC236}">
                <a16:creationId xmlns:a16="http://schemas.microsoft.com/office/drawing/2014/main" id="{8823F2BE-8313-41EC-A780-0521E08DB981}"/>
              </a:ext>
            </a:extLst>
          </p:cNvPr>
          <p:cNvSpPr/>
          <p:nvPr/>
        </p:nvSpPr>
        <p:spPr>
          <a:xfrm>
            <a:off x="400050" y="4000500"/>
            <a:ext cx="47625" cy="1883092"/>
          </a:xfrm>
          <a:prstGeom prst="rect">
            <a:avLst/>
          </a:prstGeom>
          <a:solidFill>
            <a:srgbClr val="2B6F9E"/>
          </a:solidFill>
          <a:ln w="0">
            <a:solidFill>
              <a:srgbClr val="2B6F9E"/>
            </a:solidFill>
            <a:prstDash val="solid"/>
          </a:ln>
        </p:spPr>
        <p:txBody>
          <a:bodyPr/>
          <a:lstStyle/>
          <a:p>
            <a:endParaRPr lang="zh-CN" altLang="en-US"/>
          </a:p>
        </p:txBody>
      </p:sp>
      <p:sp>
        <p:nvSpPr>
          <p:cNvPr id="11" name="矩形 10">
            <a:extLst>
              <a:ext uri="{FF2B5EF4-FFF2-40B4-BE49-F238E27FC236}">
                <a16:creationId xmlns:a16="http://schemas.microsoft.com/office/drawing/2014/main" id="{95B58865-FBB9-4036-AA2D-1074666E158C}"/>
              </a:ext>
            </a:extLst>
          </p:cNvPr>
          <p:cNvSpPr/>
          <p:nvPr/>
        </p:nvSpPr>
        <p:spPr>
          <a:xfrm>
            <a:off x="552450" y="4095750"/>
            <a:ext cx="3409950"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PROBLEM</a:t>
            </a:r>
            <a:endParaRPr sz="1400"/>
          </a:p>
        </p:txBody>
      </p:sp>
      <p:sp>
        <p:nvSpPr>
          <p:cNvPr id="12" name="矩形 11">
            <a:extLst>
              <a:ext uri="{FF2B5EF4-FFF2-40B4-BE49-F238E27FC236}">
                <a16:creationId xmlns:a16="http://schemas.microsoft.com/office/drawing/2014/main" id="{4AD26D7B-496C-4F37-88CB-D6A76A60FEE5}"/>
              </a:ext>
            </a:extLst>
          </p:cNvPr>
          <p:cNvSpPr/>
          <p:nvPr/>
        </p:nvSpPr>
        <p:spPr>
          <a:xfrm>
            <a:off x="552451" y="4286250"/>
            <a:ext cx="3409950" cy="984885"/>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defRPr sz="1080" b="0">
                <a:solidFill>
                  <a:srgbClr val="17202A"/>
                </a:solidFill>
                <a:latin typeface="PingFang SC"/>
                <a:ea typeface="PingFang SC"/>
                <a:cs typeface="PingFang SC"/>
              </a:defRPr>
            </a:pPr>
            <a:r>
              <a:rPr lang="en" altLang="zh-CN" sz="1600" dirty="0">
                <a:solidFill>
                  <a:srgbClr val="17202A"/>
                </a:solidFill>
                <a:latin typeface="PingFang SC"/>
                <a:ea typeface="PingFang SC"/>
                <a:cs typeface="PingFang SC"/>
              </a:rPr>
              <a:t>AI </a:t>
            </a:r>
            <a:r>
              <a:rPr lang="zh-CN" altLang="en-US" sz="1600" dirty="0">
                <a:solidFill>
                  <a:srgbClr val="17202A"/>
                </a:solidFill>
                <a:latin typeface="PingFang SC"/>
                <a:ea typeface="PingFang SC"/>
                <a:cs typeface="PingFang SC"/>
              </a:rPr>
              <a:t>加速器能耗持续上升</a:t>
            </a:r>
            <a:endParaRPr lang="en-US" altLang="zh-CN" sz="1600" dirty="0">
              <a:solidFill>
                <a:srgbClr val="17202A"/>
              </a:solidFill>
              <a:latin typeface="PingFang SC"/>
              <a:ea typeface="PingFang SC"/>
              <a:cs typeface="PingFang SC"/>
            </a:endParaRPr>
          </a:p>
          <a:p>
            <a:pPr>
              <a:defRPr sz="1080" b="0">
                <a:solidFill>
                  <a:srgbClr val="17202A"/>
                </a:solidFill>
                <a:latin typeface="PingFang SC"/>
                <a:ea typeface="PingFang SC"/>
                <a:cs typeface="PingFang SC"/>
              </a:defRPr>
            </a:pPr>
            <a:r>
              <a:rPr lang="zh-CN" altLang="en-US" sz="1600" dirty="0">
                <a:solidFill>
                  <a:srgbClr val="17202A"/>
                </a:solidFill>
                <a:latin typeface="PingFang SC"/>
                <a:ea typeface="PingFang SC"/>
                <a:cs typeface="PingFang SC"/>
              </a:rPr>
              <a:t>传统 </a:t>
            </a:r>
            <a:r>
              <a:rPr lang="en" altLang="zh-CN" sz="1600" dirty="0">
                <a:solidFill>
                  <a:srgbClr val="17202A"/>
                </a:solidFill>
                <a:latin typeface="PingFang SC"/>
                <a:ea typeface="PingFang SC"/>
                <a:cs typeface="PingFang SC"/>
              </a:rPr>
              <a:t>program/phase </a:t>
            </a:r>
            <a:r>
              <a:rPr lang="zh-CN" altLang="en-US" sz="1600" dirty="0">
                <a:solidFill>
                  <a:srgbClr val="17202A"/>
                </a:solidFill>
                <a:latin typeface="PingFang SC"/>
                <a:ea typeface="PingFang SC"/>
                <a:cs typeface="PingFang SC"/>
              </a:rPr>
              <a:t>级 </a:t>
            </a:r>
            <a:r>
              <a:rPr lang="en" altLang="zh-CN" sz="1600" dirty="0">
                <a:solidFill>
                  <a:srgbClr val="17202A"/>
                </a:solidFill>
                <a:latin typeface="PingFang SC"/>
                <a:ea typeface="PingFang SC"/>
                <a:cs typeface="PingFang SC"/>
              </a:rPr>
              <a:t>DVFS </a:t>
            </a:r>
            <a:r>
              <a:rPr lang="zh-CN" altLang="en-US" sz="1600" dirty="0">
                <a:solidFill>
                  <a:srgbClr val="17202A"/>
                </a:solidFill>
                <a:latin typeface="PingFang SC"/>
                <a:ea typeface="PingFang SC"/>
                <a:cs typeface="PingFang SC"/>
              </a:rPr>
              <a:t>捕捉不到毫秒级算子差异，容易省电但损伤训练性能。</a:t>
            </a:r>
          </a:p>
        </p:txBody>
      </p:sp>
      <p:sp>
        <p:nvSpPr>
          <p:cNvPr id="13" name="card-IDEA">
            <a:extLst>
              <a:ext uri="{FF2B5EF4-FFF2-40B4-BE49-F238E27FC236}">
                <a16:creationId xmlns:a16="http://schemas.microsoft.com/office/drawing/2014/main" id="{70EDD415-0BDE-4DA7-B21C-27EB9D5FBAEC}"/>
              </a:ext>
            </a:extLst>
          </p:cNvPr>
          <p:cNvSpPr/>
          <p:nvPr/>
        </p:nvSpPr>
        <p:spPr>
          <a:xfrm>
            <a:off x="4248150" y="4000500"/>
            <a:ext cx="3695700" cy="1883092"/>
          </a:xfrm>
          <a:prstGeom prst="rect">
            <a:avLst/>
          </a:prstGeom>
          <a:solidFill>
            <a:srgbClr val="FFFFFF"/>
          </a:solidFill>
          <a:ln w="9525">
            <a:solidFill>
              <a:srgbClr val="D8DEE8"/>
            </a:solidFill>
            <a:prstDash val="solid"/>
          </a:ln>
        </p:spPr>
        <p:txBody>
          <a:bodyPr/>
          <a:lstStyle/>
          <a:p>
            <a:endParaRPr lang="zh-CN" altLang="en-US"/>
          </a:p>
        </p:txBody>
      </p:sp>
      <p:sp>
        <p:nvSpPr>
          <p:cNvPr id="14" name="card-accent-IDEA">
            <a:extLst>
              <a:ext uri="{FF2B5EF4-FFF2-40B4-BE49-F238E27FC236}">
                <a16:creationId xmlns:a16="http://schemas.microsoft.com/office/drawing/2014/main" id="{81D7E6F9-8410-4751-9D4C-457FDD54AE05}"/>
              </a:ext>
            </a:extLst>
          </p:cNvPr>
          <p:cNvSpPr/>
          <p:nvPr/>
        </p:nvSpPr>
        <p:spPr>
          <a:xfrm>
            <a:off x="4248150" y="4000500"/>
            <a:ext cx="47625" cy="1883092"/>
          </a:xfrm>
          <a:prstGeom prst="rect">
            <a:avLst/>
          </a:prstGeom>
          <a:solidFill>
            <a:srgbClr val="2B6F9E"/>
          </a:solidFill>
          <a:ln w="0">
            <a:solidFill>
              <a:srgbClr val="2B6F9E"/>
            </a:solidFill>
            <a:prstDash val="solid"/>
          </a:ln>
        </p:spPr>
        <p:txBody>
          <a:bodyPr/>
          <a:lstStyle/>
          <a:p>
            <a:endParaRPr lang="zh-CN" altLang="en-US"/>
          </a:p>
        </p:txBody>
      </p:sp>
      <p:sp>
        <p:nvSpPr>
          <p:cNvPr id="15" name="矩形 14">
            <a:extLst>
              <a:ext uri="{FF2B5EF4-FFF2-40B4-BE49-F238E27FC236}">
                <a16:creationId xmlns:a16="http://schemas.microsoft.com/office/drawing/2014/main" id="{A8CD1065-8F27-4F68-A1F4-A27437C298A6}"/>
              </a:ext>
            </a:extLst>
          </p:cNvPr>
          <p:cNvSpPr/>
          <p:nvPr/>
        </p:nvSpPr>
        <p:spPr>
          <a:xfrm>
            <a:off x="4400550" y="4095750"/>
            <a:ext cx="3409950"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IDEA</a:t>
            </a:r>
            <a:endParaRPr sz="1400"/>
          </a:p>
        </p:txBody>
      </p:sp>
      <p:sp>
        <p:nvSpPr>
          <p:cNvPr id="16" name="矩形 15">
            <a:extLst>
              <a:ext uri="{FF2B5EF4-FFF2-40B4-BE49-F238E27FC236}">
                <a16:creationId xmlns:a16="http://schemas.microsoft.com/office/drawing/2014/main" id="{8A98E6EC-372C-41A0-8AE9-93094BF3430D}"/>
              </a:ext>
            </a:extLst>
          </p:cNvPr>
          <p:cNvSpPr/>
          <p:nvPr/>
        </p:nvSpPr>
        <p:spPr>
          <a:xfrm>
            <a:off x="4400550" y="4286250"/>
            <a:ext cx="3409950" cy="1231106"/>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defRPr sz="1058" b="0">
                <a:solidFill>
                  <a:srgbClr val="17202A"/>
                </a:solidFill>
                <a:latin typeface="PingFang SC"/>
                <a:ea typeface="PingFang SC"/>
                <a:cs typeface="PingFang SC"/>
              </a:defRPr>
            </a:pPr>
            <a:r>
              <a:rPr lang="zh-CN" altLang="en-US" sz="1600" dirty="0">
                <a:solidFill>
                  <a:srgbClr val="17202A"/>
                </a:solidFill>
                <a:latin typeface="PingFang SC"/>
                <a:ea typeface="PingFang SC"/>
                <a:cs typeface="PingFang SC"/>
              </a:rPr>
              <a:t>构建算子级性能模型，预测不同频率下执行时间</a:t>
            </a:r>
          </a:p>
          <a:p>
            <a:pPr>
              <a:defRPr sz="1058" b="0">
                <a:solidFill>
                  <a:srgbClr val="17202A"/>
                </a:solidFill>
                <a:latin typeface="PingFang SC"/>
                <a:ea typeface="PingFang SC"/>
                <a:cs typeface="PingFang SC"/>
              </a:defRPr>
            </a:pPr>
            <a:r>
              <a:rPr lang="zh-CN" altLang="en-US" sz="1600" dirty="0">
                <a:solidFill>
                  <a:srgbClr val="17202A"/>
                </a:solidFill>
                <a:latin typeface="PingFang SC"/>
                <a:ea typeface="PingFang SC"/>
                <a:cs typeface="PingFang SC"/>
              </a:rPr>
              <a:t>引入温度感知功耗模型估算能耗变化</a:t>
            </a:r>
          </a:p>
          <a:p>
            <a:pPr>
              <a:defRPr sz="1058" b="0">
                <a:solidFill>
                  <a:srgbClr val="17202A"/>
                </a:solidFill>
                <a:latin typeface="PingFang SC"/>
                <a:ea typeface="PingFang SC"/>
                <a:cs typeface="PingFang SC"/>
              </a:defRPr>
            </a:pPr>
            <a:r>
              <a:rPr lang="zh-CN" altLang="en-US" sz="1600" dirty="0">
                <a:solidFill>
                  <a:srgbClr val="17202A"/>
                </a:solidFill>
                <a:latin typeface="PingFang SC"/>
                <a:ea typeface="PingFang SC"/>
                <a:cs typeface="PingFang SC"/>
              </a:rPr>
              <a:t>用算子分类、预处理与搜索生成 </a:t>
            </a:r>
            <a:r>
              <a:rPr lang="en" altLang="zh-CN" sz="1600" dirty="0" err="1">
                <a:solidFill>
                  <a:srgbClr val="17202A"/>
                </a:solidFill>
                <a:latin typeface="PingFang SC"/>
                <a:ea typeface="PingFang SC"/>
                <a:cs typeface="PingFang SC"/>
              </a:rPr>
              <a:t>SetFreq</a:t>
            </a:r>
            <a:r>
              <a:rPr lang="en" altLang="zh-CN" sz="1600" dirty="0">
                <a:solidFill>
                  <a:srgbClr val="17202A"/>
                </a:solidFill>
                <a:latin typeface="PingFang SC"/>
                <a:ea typeface="PingFang SC"/>
                <a:cs typeface="PingFang SC"/>
              </a:rPr>
              <a:t> </a:t>
            </a:r>
            <a:r>
              <a:rPr lang="zh-CN" altLang="en-US" sz="1600" dirty="0">
                <a:solidFill>
                  <a:srgbClr val="17202A"/>
                </a:solidFill>
                <a:latin typeface="PingFang SC"/>
                <a:ea typeface="PingFang SC"/>
                <a:cs typeface="PingFang SC"/>
              </a:rPr>
              <a:t>策略</a:t>
            </a:r>
          </a:p>
        </p:txBody>
      </p:sp>
      <p:sp>
        <p:nvSpPr>
          <p:cNvPr id="17" name="card-RESULT / TAKEAWAY">
            <a:extLst>
              <a:ext uri="{FF2B5EF4-FFF2-40B4-BE49-F238E27FC236}">
                <a16:creationId xmlns:a16="http://schemas.microsoft.com/office/drawing/2014/main" id="{587D6802-CAB6-4787-BFB7-6E6471F844BD}"/>
              </a:ext>
            </a:extLst>
          </p:cNvPr>
          <p:cNvSpPr/>
          <p:nvPr/>
        </p:nvSpPr>
        <p:spPr>
          <a:xfrm>
            <a:off x="8096250" y="4000500"/>
            <a:ext cx="3695700" cy="1883092"/>
          </a:xfrm>
          <a:prstGeom prst="rect">
            <a:avLst/>
          </a:prstGeom>
          <a:solidFill>
            <a:srgbClr val="2B6F9E">
              <a:alpha val="6275"/>
            </a:srgbClr>
          </a:solidFill>
          <a:ln w="9525">
            <a:solidFill>
              <a:srgbClr val="2B6F9E">
                <a:alpha val="33333"/>
              </a:srgbClr>
            </a:solidFill>
            <a:prstDash val="solid"/>
          </a:ln>
        </p:spPr>
        <p:txBody>
          <a:bodyPr/>
          <a:lstStyle/>
          <a:p>
            <a:endParaRPr lang="zh-CN" altLang="en-US"/>
          </a:p>
        </p:txBody>
      </p:sp>
      <p:sp>
        <p:nvSpPr>
          <p:cNvPr id="18" name="card-accent-RESULT / TAKEAWAY">
            <a:extLst>
              <a:ext uri="{FF2B5EF4-FFF2-40B4-BE49-F238E27FC236}">
                <a16:creationId xmlns:a16="http://schemas.microsoft.com/office/drawing/2014/main" id="{97DC20E7-7F15-445D-817B-25F5F42C36A3}"/>
              </a:ext>
            </a:extLst>
          </p:cNvPr>
          <p:cNvSpPr/>
          <p:nvPr/>
        </p:nvSpPr>
        <p:spPr>
          <a:xfrm>
            <a:off x="8096250" y="4000500"/>
            <a:ext cx="47625" cy="1883092"/>
          </a:xfrm>
          <a:prstGeom prst="rect">
            <a:avLst/>
          </a:prstGeom>
          <a:solidFill>
            <a:srgbClr val="2B6F9E"/>
          </a:solidFill>
          <a:ln w="0">
            <a:solidFill>
              <a:srgbClr val="2B6F9E"/>
            </a:solidFill>
            <a:prstDash val="solid"/>
          </a:ln>
        </p:spPr>
        <p:txBody>
          <a:bodyPr/>
          <a:lstStyle/>
          <a:p>
            <a:endParaRPr lang="zh-CN" altLang="en-US"/>
          </a:p>
        </p:txBody>
      </p:sp>
      <p:sp>
        <p:nvSpPr>
          <p:cNvPr id="19" name="矩形 18">
            <a:extLst>
              <a:ext uri="{FF2B5EF4-FFF2-40B4-BE49-F238E27FC236}">
                <a16:creationId xmlns:a16="http://schemas.microsoft.com/office/drawing/2014/main" id="{ED3C8B66-FD18-41DD-AE42-C4AAA6546673}"/>
              </a:ext>
            </a:extLst>
          </p:cNvPr>
          <p:cNvSpPr/>
          <p:nvPr/>
        </p:nvSpPr>
        <p:spPr>
          <a:xfrm>
            <a:off x="8248650" y="4095750"/>
            <a:ext cx="3144900" cy="1508105"/>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Aptos"/>
                <a:ea typeface="Aptos"/>
                <a:cs typeface="Aptos"/>
              </a:defRPr>
            </a:pPr>
            <a:r>
              <a:rPr sz="1400" b="1" dirty="0">
                <a:solidFill>
                  <a:srgbClr val="2B6F9E"/>
                </a:solidFill>
                <a:latin typeface="Aptos"/>
                <a:ea typeface="Aptos"/>
                <a:cs typeface="Aptos"/>
              </a:rPr>
              <a:t>RESULT / TAKEAWAY</a:t>
            </a:r>
            <a:endParaRPr lang="en-US" sz="1400" b="1" dirty="0">
              <a:solidFill>
                <a:srgbClr val="2B6F9E"/>
              </a:solidFill>
              <a:latin typeface="Aptos"/>
              <a:ea typeface="Aptos"/>
              <a:cs typeface="Aptos"/>
            </a:endParaRPr>
          </a:p>
          <a:p>
            <a:pPr algn="l">
              <a:defRPr sz="1400" b="1">
                <a:solidFill>
                  <a:srgbClr val="2B6F9E"/>
                </a:solidFill>
                <a:latin typeface="Aptos"/>
                <a:ea typeface="Aptos"/>
                <a:cs typeface="Aptos"/>
              </a:defRPr>
            </a:pPr>
            <a:endParaRPr lang="en-US" sz="1400" b="1" dirty="0">
              <a:solidFill>
                <a:srgbClr val="2B6F9E"/>
              </a:solidFill>
              <a:latin typeface="Aptos"/>
              <a:ea typeface="Aptos"/>
              <a:cs typeface="Aptos"/>
            </a:endParaRPr>
          </a:p>
          <a:p>
            <a:pPr algn="l">
              <a:defRPr sz="1400" b="1">
                <a:solidFill>
                  <a:srgbClr val="2B6F9E"/>
                </a:solidFill>
                <a:latin typeface="PingFang SC"/>
                <a:ea typeface="PingFang SC"/>
                <a:cs typeface="PingFang SC"/>
              </a:defRPr>
            </a:pPr>
            <a:r>
              <a:rPr lang="en-US" altLang="zh-CN" sz="1400" b="1" dirty="0" err="1">
                <a:solidFill>
                  <a:srgbClr val="2B6F9E"/>
                </a:solidFill>
                <a:latin typeface="PingFang SC"/>
                <a:ea typeface="PingFang SC"/>
                <a:cs typeface="PingFang SC"/>
              </a:rPr>
              <a:t>AICore</a:t>
            </a:r>
            <a:r>
              <a:rPr lang="en-US" altLang="zh-CN" sz="1400" b="1" dirty="0">
                <a:solidFill>
                  <a:srgbClr val="2B6F9E"/>
                </a:solidFill>
                <a:latin typeface="PingFang SC"/>
                <a:ea typeface="PingFang SC"/>
                <a:cs typeface="PingFang SC"/>
              </a:rPr>
              <a:t> power </a:t>
            </a:r>
            <a:r>
              <a:rPr lang="en-US" altLang="zh-CN" sz="1400" b="1" dirty="0">
                <a:solidFill>
                  <a:srgbClr val="FF0000"/>
                </a:solidFill>
                <a:latin typeface="PingFang SC"/>
                <a:ea typeface="PingFang SC"/>
                <a:cs typeface="PingFang SC"/>
              </a:rPr>
              <a:t>-13.44%</a:t>
            </a:r>
            <a:r>
              <a:rPr lang="zh-CN" altLang="en-US" sz="1400" b="1" dirty="0">
                <a:solidFill>
                  <a:srgbClr val="2B6F9E"/>
                </a:solidFill>
                <a:latin typeface="PingFang SC"/>
                <a:ea typeface="PingFang SC"/>
                <a:cs typeface="PingFang SC"/>
              </a:rPr>
              <a:t>，</a:t>
            </a:r>
            <a:endParaRPr lang="en-US" altLang="zh-CN" sz="1400" b="1" dirty="0">
              <a:solidFill>
                <a:srgbClr val="2B6F9E"/>
              </a:solidFill>
              <a:latin typeface="PingFang SC"/>
              <a:ea typeface="PingFang SC"/>
              <a:cs typeface="PingFang SC"/>
            </a:endParaRPr>
          </a:p>
          <a:p>
            <a:pPr algn="l">
              <a:defRPr sz="1400" b="1">
                <a:solidFill>
                  <a:srgbClr val="2B6F9E"/>
                </a:solidFill>
                <a:latin typeface="PingFang SC"/>
                <a:ea typeface="PingFang SC"/>
                <a:cs typeface="PingFang SC"/>
              </a:defRPr>
            </a:pPr>
            <a:r>
              <a:rPr lang="zh-CN" altLang="en-US" sz="1400" b="1" dirty="0">
                <a:solidFill>
                  <a:srgbClr val="2B6F9E"/>
                </a:solidFill>
                <a:latin typeface="PingFang SC"/>
                <a:ea typeface="PingFang SC"/>
                <a:cs typeface="PingFang SC"/>
              </a:rPr>
              <a:t>性能损失仅 </a:t>
            </a:r>
            <a:r>
              <a:rPr lang="en-US" altLang="zh-CN" sz="1400" b="1" dirty="0">
                <a:solidFill>
                  <a:srgbClr val="FF0000"/>
                </a:solidFill>
                <a:latin typeface="PingFang SC"/>
                <a:ea typeface="PingFang SC"/>
                <a:cs typeface="PingFang SC"/>
              </a:rPr>
              <a:t>-1.76%</a:t>
            </a:r>
            <a:endParaRPr lang="zh-CN" altLang="en-US" sz="1400" b="1" dirty="0">
              <a:solidFill>
                <a:srgbClr val="FF0000"/>
              </a:solidFill>
              <a:latin typeface="PingFang SC"/>
              <a:ea typeface="PingFang SC"/>
              <a:cs typeface="PingFang SC"/>
            </a:endParaRPr>
          </a:p>
          <a:p>
            <a:pPr algn="l">
              <a:defRPr sz="1400" b="1">
                <a:solidFill>
                  <a:srgbClr val="2B6F9E"/>
                </a:solidFill>
                <a:latin typeface="PingFang SC"/>
                <a:ea typeface="PingFang SC"/>
                <a:cs typeface="PingFang SC"/>
              </a:defRPr>
            </a:pPr>
            <a:r>
              <a:rPr lang="zh-CN" altLang="en-US" sz="1400" b="1" dirty="0">
                <a:solidFill>
                  <a:srgbClr val="2B6F9E"/>
                </a:solidFill>
                <a:latin typeface="PingFang SC"/>
                <a:ea typeface="PingFang SC"/>
                <a:cs typeface="PingFang SC"/>
              </a:rPr>
              <a:t>把 </a:t>
            </a:r>
            <a:r>
              <a:rPr lang="en-US" altLang="zh-CN" sz="1400" b="1" dirty="0">
                <a:solidFill>
                  <a:srgbClr val="2B6F9E"/>
                </a:solidFill>
                <a:latin typeface="PingFang SC"/>
                <a:ea typeface="PingFang SC"/>
                <a:cs typeface="PingFang SC"/>
              </a:rPr>
              <a:t>DVFS </a:t>
            </a:r>
            <a:r>
              <a:rPr lang="zh-CN" altLang="en-US" sz="1400" b="1" dirty="0">
                <a:solidFill>
                  <a:srgbClr val="2B6F9E"/>
                </a:solidFill>
                <a:latin typeface="PingFang SC"/>
                <a:ea typeface="PingFang SC"/>
                <a:cs typeface="PingFang SC"/>
              </a:rPr>
              <a:t>推进到算子粒度</a:t>
            </a:r>
            <a:r>
              <a:rPr lang="en-US" altLang="zh-CN" sz="1400" b="1" dirty="0">
                <a:solidFill>
                  <a:srgbClr val="2B6F9E"/>
                </a:solidFill>
                <a:latin typeface="PingFang SC"/>
                <a:ea typeface="PingFang SC"/>
                <a:cs typeface="PingFang SC"/>
              </a:rPr>
              <a:t>,</a:t>
            </a:r>
            <a:r>
              <a:rPr lang="zh-CN" altLang="en-US" sz="1400" b="1" dirty="0">
                <a:solidFill>
                  <a:srgbClr val="2B6F9E"/>
                </a:solidFill>
                <a:latin typeface="PingFang SC"/>
                <a:ea typeface="PingFang SC"/>
                <a:cs typeface="PingFang SC"/>
              </a:rPr>
              <a:t>在低性能损失</a:t>
            </a:r>
          </a:p>
          <a:p>
            <a:pPr algn="l">
              <a:defRPr sz="1400" b="1">
                <a:solidFill>
                  <a:srgbClr val="2B6F9E"/>
                </a:solidFill>
                <a:latin typeface="PingFang SC"/>
                <a:ea typeface="PingFang SC"/>
                <a:cs typeface="PingFang SC"/>
              </a:defRPr>
            </a:pPr>
            <a:r>
              <a:rPr lang="zh-CN" altLang="en-US" sz="1400" b="1" dirty="0">
                <a:solidFill>
                  <a:srgbClr val="2B6F9E"/>
                </a:solidFill>
                <a:latin typeface="PingFang SC"/>
                <a:ea typeface="PingFang SC"/>
                <a:cs typeface="PingFang SC"/>
              </a:rPr>
              <a:t>下降低训练能耗</a:t>
            </a:r>
          </a:p>
          <a:p>
            <a:pPr algn="l">
              <a:defRPr sz="1400" b="1">
                <a:solidFill>
                  <a:srgbClr val="2B6F9E"/>
                </a:solidFill>
                <a:latin typeface="Aptos"/>
                <a:ea typeface="Aptos"/>
                <a:cs typeface="Aptos"/>
              </a:defRPr>
            </a:pPr>
            <a:endParaRPr sz="1400" dirty="0"/>
          </a:p>
        </p:txBody>
      </p:sp>
      <p:sp>
        <p:nvSpPr>
          <p:cNvPr id="20" name="矩形 19">
            <a:extLst>
              <a:ext uri="{FF2B5EF4-FFF2-40B4-BE49-F238E27FC236}">
                <a16:creationId xmlns:a16="http://schemas.microsoft.com/office/drawing/2014/main" id="{FD38F2D0-4B81-4FD8-885F-F47894E11175}"/>
              </a:ext>
            </a:extLst>
          </p:cNvPr>
          <p:cNvSpPr/>
          <p:nvPr/>
        </p:nvSpPr>
        <p:spPr>
          <a:xfrm>
            <a:off x="8248650" y="4286250"/>
            <a:ext cx="65"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PingFang SC"/>
                <a:ea typeface="PingFang SC"/>
                <a:cs typeface="PingFang SC"/>
              </a:defRPr>
            </a:pPr>
            <a:endParaRPr lang="en-US" sz="1600" b="1" dirty="0">
              <a:solidFill>
                <a:srgbClr val="2B6F9E"/>
              </a:solidFill>
              <a:latin typeface="PingFang SC"/>
              <a:ea typeface="PingFang SC"/>
              <a:cs typeface="PingFang SC"/>
            </a:endParaRPr>
          </a:p>
        </p:txBody>
      </p:sp>
      <p:sp>
        <p:nvSpPr>
          <p:cNvPr id="21" name="矩形 20">
            <a:extLst>
              <a:ext uri="{FF2B5EF4-FFF2-40B4-BE49-F238E27FC236}">
                <a16:creationId xmlns:a16="http://schemas.microsoft.com/office/drawing/2014/main" id="{0F73F66E-F262-473B-8E7A-D1912DF25EDB}"/>
              </a:ext>
            </a:extLst>
          </p:cNvPr>
          <p:cNvSpPr/>
          <p:nvPr/>
        </p:nvSpPr>
        <p:spPr>
          <a:xfrm>
            <a:off x="381000" y="6477000"/>
            <a:ext cx="40005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18" b="0">
                <a:solidFill>
                  <a:srgbClr val="7A8393"/>
                </a:solidFill>
                <a:latin typeface="Aptos"/>
                <a:ea typeface="Aptos"/>
                <a:cs typeface="Aptos"/>
              </a:defRPr>
            </a:pPr>
            <a:r>
              <a:rPr sz="880" b="0">
                <a:solidFill>
                  <a:srgbClr val="7A8393"/>
                </a:solidFill>
                <a:latin typeface="Aptos"/>
                <a:ea typeface="Aptos"/>
                <a:cs typeface="Aptos"/>
              </a:rPr>
              <a:t>Source: local paper PDF · core figure cropped from paper</a:t>
            </a:r>
          </a:p>
        </p:txBody>
      </p:sp>
      <p:sp>
        <p:nvSpPr>
          <p:cNvPr id="22" name="矩形 21">
            <a:extLst>
              <a:ext uri="{FF2B5EF4-FFF2-40B4-BE49-F238E27FC236}">
                <a16:creationId xmlns:a16="http://schemas.microsoft.com/office/drawing/2014/main" id="{C848CF01-5EF9-4575-85B9-16DD538A0A0C}"/>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03</a:t>
            </a:r>
          </a:p>
        </p:txBody>
      </p:sp>
    </p:spTree>
    <p:extLst>
      <p:ext uri="{BB962C8B-B14F-4D97-AF65-F5344CB8AC3E}">
        <p14:creationId xmlns:p14="http://schemas.microsoft.com/office/powerpoint/2010/main" val="1847769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3BF714E3-1A91-45A1-9942-36E2DA42B552}"/>
              </a:ext>
            </a:extLst>
          </p:cNvPr>
          <p:cNvSpPr/>
          <p:nvPr/>
        </p:nvSpPr>
        <p:spPr>
          <a:xfrm>
            <a:off x="361950" y="323850"/>
            <a:ext cx="47625" cy="247650"/>
          </a:xfrm>
          <a:prstGeom prst="rect">
            <a:avLst/>
          </a:prstGeom>
          <a:solidFill>
            <a:srgbClr val="2B6F9E"/>
          </a:solidFill>
          <a:ln w="0">
            <a:solidFill>
              <a:srgbClr val="2B6F9E"/>
            </a:solidFill>
            <a:prstDash val="solid"/>
          </a:ln>
        </p:spPr>
        <p:txBody>
          <a:bodyPr/>
          <a:lstStyle/>
          <a:p>
            <a:endParaRPr lang="zh-CN" altLang="en-US"/>
          </a:p>
        </p:txBody>
      </p:sp>
      <p:sp>
        <p:nvSpPr>
          <p:cNvPr id="2" name="kicker-label">
            <a:extLst>
              <a:ext uri="{FF2B5EF4-FFF2-40B4-BE49-F238E27FC236}">
                <a16:creationId xmlns:a16="http://schemas.microsoft.com/office/drawing/2014/main" id="{AD08CD0E-AEC9-4895-8D0F-4D8758C3D3B3}"/>
              </a:ext>
            </a:extLst>
          </p:cNvPr>
          <p:cNvSpPr/>
          <p:nvPr/>
        </p:nvSpPr>
        <p:spPr>
          <a:xfrm>
            <a:off x="514350" y="333375"/>
            <a:ext cx="292608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PAPER 04 · TRAINING SYSTEMS</a:t>
            </a:r>
            <a:endParaRPr sz="1400"/>
          </a:p>
        </p:txBody>
      </p:sp>
      <p:sp>
        <p:nvSpPr>
          <p:cNvPr id="3" name="pill-ASPLOS'25">
            <a:extLst>
              <a:ext uri="{FF2B5EF4-FFF2-40B4-BE49-F238E27FC236}">
                <a16:creationId xmlns:a16="http://schemas.microsoft.com/office/drawing/2014/main" id="{4E9A4B4E-744F-4444-AC43-3712E1542D9B}"/>
              </a:ext>
            </a:extLst>
          </p:cNvPr>
          <p:cNvSpPr/>
          <p:nvPr/>
        </p:nvSpPr>
        <p:spPr>
          <a:xfrm>
            <a:off x="10144125" y="342519"/>
            <a:ext cx="1657350" cy="266700"/>
          </a:xfrm>
          <a:prstGeom prst="rect">
            <a:avLst/>
          </a:prstGeom>
          <a:solidFill>
            <a:srgbClr val="2B6F9E">
              <a:alpha val="8627"/>
            </a:srgbClr>
          </a:solidFill>
          <a:ln w="9525">
            <a:solidFill>
              <a:srgbClr val="2B6F9E">
                <a:alpha val="43922"/>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3BCA1201-84F5-495B-AE88-A1CB62991D8E}"/>
              </a:ext>
            </a:extLst>
          </p:cNvPr>
          <p:cNvSpPr/>
          <p:nvPr/>
        </p:nvSpPr>
        <p:spPr>
          <a:xfrm>
            <a:off x="10239375" y="352425"/>
            <a:ext cx="14668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2B6F9E"/>
                </a:solidFill>
                <a:latin typeface="Aptos"/>
                <a:ea typeface="Aptos"/>
                <a:cs typeface="Aptos"/>
              </a:defRPr>
            </a:pPr>
            <a:r>
              <a:rPr sz="1400" b="1">
                <a:solidFill>
                  <a:srgbClr val="2B6F9E"/>
                </a:solidFill>
                <a:latin typeface="Aptos"/>
                <a:ea typeface="Aptos"/>
                <a:cs typeface="Aptos"/>
              </a:rPr>
              <a:t>ASPLOS'25</a:t>
            </a:r>
            <a:endParaRPr sz="1400"/>
          </a:p>
        </p:txBody>
      </p:sp>
      <p:sp>
        <p:nvSpPr>
          <p:cNvPr id="5" name="矩形 4">
            <a:extLst>
              <a:ext uri="{FF2B5EF4-FFF2-40B4-BE49-F238E27FC236}">
                <a16:creationId xmlns:a16="http://schemas.microsoft.com/office/drawing/2014/main" id="{8D938B41-158C-4A79-A71E-2A6C2AB270AC}"/>
              </a:ext>
            </a:extLst>
          </p:cNvPr>
          <p:cNvSpPr/>
          <p:nvPr/>
        </p:nvSpPr>
        <p:spPr>
          <a:xfrm>
            <a:off x="361950" y="666750"/>
            <a:ext cx="9715500" cy="419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2550" b="1">
                <a:solidFill>
                  <a:srgbClr val="17202A"/>
                </a:solidFill>
                <a:latin typeface="PingFang SC"/>
                <a:ea typeface="PingFang SC"/>
                <a:cs typeface="PingFang SC"/>
              </a:defRPr>
            </a:pPr>
            <a:r>
              <a:rPr sz="2550" b="1">
                <a:solidFill>
                  <a:srgbClr val="17202A"/>
                </a:solidFill>
                <a:latin typeface="PingFang SC"/>
                <a:ea typeface="PingFang SC"/>
                <a:cs typeface="PingFang SC"/>
              </a:rPr>
              <a:t>Component Roofline：让 Ascend 算子瓶颈可见</a:t>
            </a:r>
            <a:endParaRPr sz="1400"/>
          </a:p>
        </p:txBody>
      </p:sp>
      <p:sp>
        <p:nvSpPr>
          <p:cNvPr id="6" name="矩形 5">
            <a:extLst>
              <a:ext uri="{FF2B5EF4-FFF2-40B4-BE49-F238E27FC236}">
                <a16:creationId xmlns:a16="http://schemas.microsoft.com/office/drawing/2014/main" id="{363088C3-7273-4217-8452-158A03A5A5DC}"/>
              </a:ext>
            </a:extLst>
          </p:cNvPr>
          <p:cNvSpPr/>
          <p:nvPr/>
        </p:nvSpPr>
        <p:spPr>
          <a:xfrm>
            <a:off x="381000" y="1152525"/>
            <a:ext cx="93345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a:solidFill>
                  <a:srgbClr val="596273"/>
                </a:solidFill>
                <a:latin typeface="Aptos"/>
                <a:ea typeface="Aptos"/>
                <a:cs typeface="Aptos"/>
              </a:rPr>
              <a:t>Squeezing Operator Performance Potential for the Ascend Architecture</a:t>
            </a:r>
            <a:endParaRPr sz="1400"/>
          </a:p>
        </p:txBody>
      </p:sp>
      <p:sp>
        <p:nvSpPr>
          <p:cNvPr id="7" name="top-rule">
            <a:extLst>
              <a:ext uri="{FF2B5EF4-FFF2-40B4-BE49-F238E27FC236}">
                <a16:creationId xmlns:a16="http://schemas.microsoft.com/office/drawing/2014/main" id="{B23C700E-C1D4-4B11-A3F8-92C7AA106D62}"/>
              </a:ext>
            </a:extLst>
          </p:cNvPr>
          <p:cNvSpPr/>
          <p:nvPr/>
        </p:nvSpPr>
        <p:spPr>
          <a:xfrm>
            <a:off x="381000" y="1438275"/>
            <a:ext cx="11410950" cy="10478"/>
          </a:xfrm>
          <a:prstGeom prst="rect">
            <a:avLst/>
          </a:prstGeom>
          <a:solidFill>
            <a:srgbClr val="D8DEE8"/>
          </a:solidFill>
          <a:ln w="0">
            <a:solidFill>
              <a:srgbClr val="D8DEE8"/>
            </a:solidFill>
            <a:prstDash val="solid"/>
          </a:ln>
        </p:spPr>
        <p:txBody>
          <a:bodyPr/>
          <a:lstStyle/>
          <a:p>
            <a:endParaRPr lang="zh-CN" altLang="en-US"/>
          </a:p>
        </p:txBody>
      </p:sp>
      <p:sp>
        <p:nvSpPr>
          <p:cNvPr id="8" name="rule-CORE PROBLEM">
            <a:extLst>
              <a:ext uri="{FF2B5EF4-FFF2-40B4-BE49-F238E27FC236}">
                <a16:creationId xmlns:a16="http://schemas.microsoft.com/office/drawing/2014/main" id="{51FDD661-42DC-4FE8-996C-1520C0505417}"/>
              </a:ext>
            </a:extLst>
          </p:cNvPr>
          <p:cNvSpPr/>
          <p:nvPr/>
        </p:nvSpPr>
        <p:spPr>
          <a:xfrm>
            <a:off x="419100" y="1773650"/>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9" name="矩形 8">
            <a:extLst>
              <a:ext uri="{FF2B5EF4-FFF2-40B4-BE49-F238E27FC236}">
                <a16:creationId xmlns:a16="http://schemas.microsoft.com/office/drawing/2014/main" id="{AD480455-F2F8-4E79-8AB2-FE9C9698686D}"/>
              </a:ext>
            </a:extLst>
          </p:cNvPr>
          <p:cNvSpPr/>
          <p:nvPr/>
        </p:nvSpPr>
        <p:spPr>
          <a:xfrm>
            <a:off x="742950" y="1657350"/>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CORE PROBLEM</a:t>
            </a:r>
            <a:endParaRPr sz="1400"/>
          </a:p>
        </p:txBody>
      </p:sp>
      <p:sp>
        <p:nvSpPr>
          <p:cNvPr id="10" name="矩形 9">
            <a:extLst>
              <a:ext uri="{FF2B5EF4-FFF2-40B4-BE49-F238E27FC236}">
                <a16:creationId xmlns:a16="http://schemas.microsoft.com/office/drawing/2014/main" id="{6EDB3295-5F29-47BB-B89F-5FBC9A56655B}"/>
              </a:ext>
            </a:extLst>
          </p:cNvPr>
          <p:cNvSpPr/>
          <p:nvPr/>
        </p:nvSpPr>
        <p:spPr>
          <a:xfrm>
            <a:off x="419100" y="1933575"/>
            <a:ext cx="3429000" cy="984885"/>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defRPr sz="1155" b="0">
                <a:solidFill>
                  <a:srgbClr val="596273"/>
                </a:solidFill>
                <a:latin typeface="PingFang SC"/>
                <a:ea typeface="PingFang SC"/>
                <a:cs typeface="PingFang SC"/>
              </a:defRPr>
            </a:pPr>
            <a:r>
              <a:rPr lang="en" altLang="zh-CN" sz="1600" dirty="0">
                <a:solidFill>
                  <a:srgbClr val="596273"/>
                </a:solidFill>
                <a:latin typeface="PingFang SC"/>
                <a:ea typeface="PingFang SC"/>
                <a:cs typeface="PingFang SC"/>
              </a:rPr>
              <a:t>Ascend </a:t>
            </a:r>
            <a:r>
              <a:rPr lang="zh-CN" altLang="en-US" sz="1600" dirty="0">
                <a:solidFill>
                  <a:srgbClr val="596273"/>
                </a:solidFill>
                <a:latin typeface="PingFang SC"/>
                <a:ea typeface="PingFang SC"/>
                <a:cs typeface="PingFang SC"/>
              </a:rPr>
              <a:t>算子性能受 </a:t>
            </a:r>
            <a:r>
              <a:rPr lang="en" altLang="zh-CN" sz="1600" dirty="0">
                <a:solidFill>
                  <a:srgbClr val="596273"/>
                </a:solidFill>
                <a:latin typeface="PingFang SC"/>
                <a:ea typeface="PingFang SC"/>
                <a:cs typeface="PingFang SC"/>
              </a:rPr>
              <a:t>Cube</a:t>
            </a:r>
            <a:r>
              <a:rPr lang="zh-CN" altLang="en" sz="1600" dirty="0">
                <a:solidFill>
                  <a:srgbClr val="596273"/>
                </a:solidFill>
                <a:latin typeface="PingFang SC"/>
                <a:ea typeface="PingFang SC"/>
                <a:cs typeface="PingFang SC"/>
              </a:rPr>
              <a:t>、</a:t>
            </a:r>
            <a:r>
              <a:rPr lang="en" altLang="zh-CN" sz="1600" dirty="0">
                <a:solidFill>
                  <a:srgbClr val="596273"/>
                </a:solidFill>
                <a:latin typeface="PingFang SC"/>
                <a:ea typeface="PingFang SC"/>
                <a:cs typeface="PingFang SC"/>
              </a:rPr>
              <a:t>Vector</a:t>
            </a:r>
            <a:r>
              <a:rPr lang="zh-CN" altLang="en" sz="1600" dirty="0">
                <a:solidFill>
                  <a:srgbClr val="596273"/>
                </a:solidFill>
                <a:latin typeface="PingFang SC"/>
                <a:ea typeface="PingFang SC"/>
                <a:cs typeface="PingFang SC"/>
              </a:rPr>
              <a:t>、</a:t>
            </a:r>
            <a:r>
              <a:rPr lang="en" altLang="zh-CN" sz="1600" dirty="0">
                <a:solidFill>
                  <a:srgbClr val="596273"/>
                </a:solidFill>
                <a:latin typeface="PingFang SC"/>
                <a:ea typeface="PingFang SC"/>
                <a:cs typeface="PingFang SC"/>
              </a:rPr>
              <a:t>Scalar</a:t>
            </a:r>
            <a:r>
              <a:rPr lang="zh-CN" altLang="en" sz="1600" dirty="0">
                <a:solidFill>
                  <a:srgbClr val="596273"/>
                </a:solidFill>
                <a:latin typeface="PingFang SC"/>
                <a:ea typeface="PingFang SC"/>
                <a:cs typeface="PingFang SC"/>
              </a:rPr>
              <a:t>、</a:t>
            </a:r>
            <a:r>
              <a:rPr lang="en" altLang="zh-CN" sz="1600" dirty="0">
                <a:solidFill>
                  <a:srgbClr val="596273"/>
                </a:solidFill>
                <a:latin typeface="PingFang SC"/>
                <a:ea typeface="PingFang SC"/>
                <a:cs typeface="PingFang SC"/>
              </a:rPr>
              <a:t>MTE </a:t>
            </a:r>
            <a:r>
              <a:rPr lang="zh-CN" altLang="en-US" sz="1600" dirty="0">
                <a:solidFill>
                  <a:srgbClr val="596273"/>
                </a:solidFill>
                <a:latin typeface="PingFang SC"/>
                <a:ea typeface="PingFang SC"/>
                <a:cs typeface="PingFang SC"/>
              </a:rPr>
              <a:t>与数据搬运共同限制，传统 </a:t>
            </a:r>
            <a:r>
              <a:rPr lang="en" altLang="zh-CN" sz="1600" dirty="0">
                <a:solidFill>
                  <a:srgbClr val="596273"/>
                </a:solidFill>
                <a:latin typeface="PingFang SC"/>
                <a:ea typeface="PingFang SC"/>
                <a:cs typeface="PingFang SC"/>
              </a:rPr>
              <a:t>Roofline </a:t>
            </a:r>
            <a:r>
              <a:rPr lang="zh-CN" altLang="en-US" sz="1600" dirty="0">
                <a:solidFill>
                  <a:srgbClr val="596273"/>
                </a:solidFill>
                <a:latin typeface="PingFang SC"/>
                <a:ea typeface="PingFang SC"/>
                <a:cs typeface="PingFang SC"/>
              </a:rPr>
              <a:t>无法解释组件级串并行和利用率不足。</a:t>
            </a:r>
          </a:p>
        </p:txBody>
      </p:sp>
      <p:sp>
        <p:nvSpPr>
          <p:cNvPr id="11" name="rule-SYSTEM IDEA">
            <a:extLst>
              <a:ext uri="{FF2B5EF4-FFF2-40B4-BE49-F238E27FC236}">
                <a16:creationId xmlns:a16="http://schemas.microsoft.com/office/drawing/2014/main" id="{7197FEF4-8704-446F-B01E-7CF71FD59CBE}"/>
              </a:ext>
            </a:extLst>
          </p:cNvPr>
          <p:cNvSpPr/>
          <p:nvPr/>
        </p:nvSpPr>
        <p:spPr>
          <a:xfrm>
            <a:off x="419100" y="3061289"/>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12" name="矩形 11">
            <a:extLst>
              <a:ext uri="{FF2B5EF4-FFF2-40B4-BE49-F238E27FC236}">
                <a16:creationId xmlns:a16="http://schemas.microsoft.com/office/drawing/2014/main" id="{033AB21E-887E-4757-9B09-7E7947ECC93C}"/>
              </a:ext>
            </a:extLst>
          </p:cNvPr>
          <p:cNvSpPr/>
          <p:nvPr/>
        </p:nvSpPr>
        <p:spPr>
          <a:xfrm>
            <a:off x="742950" y="2944989"/>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SYSTEM IDEA</a:t>
            </a:r>
            <a:endParaRPr sz="1400"/>
          </a:p>
        </p:txBody>
      </p:sp>
      <p:sp>
        <p:nvSpPr>
          <p:cNvPr id="13" name="矩形 12">
            <a:extLst>
              <a:ext uri="{FF2B5EF4-FFF2-40B4-BE49-F238E27FC236}">
                <a16:creationId xmlns:a16="http://schemas.microsoft.com/office/drawing/2014/main" id="{7C964EFE-587F-40BF-A11C-0C85E4067047}"/>
              </a:ext>
            </a:extLst>
          </p:cNvPr>
          <p:cNvSpPr/>
          <p:nvPr/>
        </p:nvSpPr>
        <p:spPr>
          <a:xfrm>
            <a:off x="419100" y="3221214"/>
            <a:ext cx="3441762" cy="1477328"/>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defRPr sz="1125" b="0">
                <a:solidFill>
                  <a:srgbClr val="17202A"/>
                </a:solidFill>
                <a:latin typeface="PingFang SC"/>
                <a:ea typeface="PingFang SC"/>
                <a:cs typeface="PingFang SC"/>
              </a:defRPr>
            </a:pPr>
            <a:r>
              <a:rPr lang="en-US" altLang="zh-CN" sz="1600" dirty="0">
                <a:solidFill>
                  <a:srgbClr val="17202A"/>
                </a:solidFill>
                <a:latin typeface="PingFang SC"/>
                <a:ea typeface="PingFang SC"/>
                <a:cs typeface="PingFang SC"/>
              </a:rPr>
              <a:t>• </a:t>
            </a:r>
            <a:r>
              <a:rPr lang="zh-CN" altLang="en-US" sz="1600" dirty="0">
                <a:solidFill>
                  <a:srgbClr val="17202A"/>
                </a:solidFill>
                <a:latin typeface="PingFang SC"/>
                <a:ea typeface="PingFang SC"/>
                <a:cs typeface="PingFang SC"/>
              </a:rPr>
              <a:t>抽象 </a:t>
            </a:r>
            <a:r>
              <a:rPr lang="en" altLang="zh-CN" sz="1600" dirty="0">
                <a:solidFill>
                  <a:srgbClr val="17202A"/>
                </a:solidFill>
                <a:latin typeface="PingFang SC"/>
                <a:ea typeface="PingFang SC"/>
                <a:cs typeface="PingFang SC"/>
              </a:rPr>
              <a:t>Ascend </a:t>
            </a:r>
            <a:r>
              <a:rPr lang="zh-CN" altLang="en-US" sz="1600" dirty="0">
                <a:solidFill>
                  <a:srgbClr val="17202A"/>
                </a:solidFill>
                <a:latin typeface="PingFang SC"/>
                <a:ea typeface="PingFang SC"/>
                <a:cs typeface="PingFang SC"/>
              </a:rPr>
              <a:t>硬件组件并建模串行</a:t>
            </a:r>
            <a:r>
              <a:rPr lang="en-US" altLang="zh-CN" sz="1600" dirty="0">
                <a:solidFill>
                  <a:srgbClr val="17202A"/>
                </a:solidFill>
                <a:latin typeface="PingFang SC"/>
                <a:ea typeface="PingFang SC"/>
                <a:cs typeface="PingFang SC"/>
              </a:rPr>
              <a:t>/</a:t>
            </a:r>
            <a:r>
              <a:rPr lang="zh-CN" altLang="en-US" sz="1600" dirty="0">
                <a:solidFill>
                  <a:srgbClr val="17202A"/>
                </a:solidFill>
                <a:latin typeface="PingFang SC"/>
                <a:ea typeface="PingFang SC"/>
                <a:cs typeface="PingFang SC"/>
              </a:rPr>
              <a:t>并行关系</a:t>
            </a:r>
          </a:p>
          <a:p>
            <a:pPr>
              <a:defRPr sz="1125" b="0">
                <a:solidFill>
                  <a:srgbClr val="17202A"/>
                </a:solidFill>
                <a:latin typeface="PingFang SC"/>
                <a:ea typeface="PingFang SC"/>
                <a:cs typeface="PingFang SC"/>
              </a:defRPr>
            </a:pPr>
            <a:r>
              <a:rPr lang="en-US" altLang="zh-CN" sz="1600" dirty="0">
                <a:solidFill>
                  <a:srgbClr val="17202A"/>
                </a:solidFill>
                <a:latin typeface="PingFang SC"/>
                <a:ea typeface="PingFang SC"/>
                <a:cs typeface="PingFang SC"/>
              </a:rPr>
              <a:t>• </a:t>
            </a:r>
            <a:r>
              <a:rPr lang="zh-CN" altLang="en-US" sz="1600" dirty="0">
                <a:solidFill>
                  <a:srgbClr val="17202A"/>
                </a:solidFill>
                <a:latin typeface="PingFang SC"/>
                <a:ea typeface="PingFang SC"/>
                <a:cs typeface="PingFang SC"/>
              </a:rPr>
              <a:t>构建 </a:t>
            </a:r>
            <a:r>
              <a:rPr lang="en" altLang="zh-CN" sz="1600" dirty="0">
                <a:solidFill>
                  <a:srgbClr val="17202A"/>
                </a:solidFill>
                <a:latin typeface="PingFang SC"/>
                <a:ea typeface="PingFang SC"/>
                <a:cs typeface="PingFang SC"/>
              </a:rPr>
              <a:t>component-based Roofline </a:t>
            </a:r>
            <a:r>
              <a:rPr lang="zh-CN" altLang="en-US" sz="1600" dirty="0">
                <a:solidFill>
                  <a:srgbClr val="17202A"/>
                </a:solidFill>
                <a:latin typeface="PingFang SC"/>
                <a:ea typeface="PingFang SC"/>
                <a:cs typeface="PingFang SC"/>
              </a:rPr>
              <a:t>定位瓶颈组件</a:t>
            </a:r>
          </a:p>
          <a:p>
            <a:pPr>
              <a:defRPr sz="1125" b="0">
                <a:solidFill>
                  <a:srgbClr val="17202A"/>
                </a:solidFill>
                <a:latin typeface="PingFang SC"/>
                <a:ea typeface="PingFang SC"/>
                <a:cs typeface="PingFang SC"/>
              </a:defRPr>
            </a:pPr>
            <a:r>
              <a:rPr lang="en-US" altLang="zh-CN" sz="1600" dirty="0">
                <a:solidFill>
                  <a:srgbClr val="17202A"/>
                </a:solidFill>
                <a:latin typeface="PingFang SC"/>
                <a:ea typeface="PingFang SC"/>
                <a:cs typeface="PingFang SC"/>
              </a:rPr>
              <a:t>• </a:t>
            </a:r>
            <a:r>
              <a:rPr lang="zh-CN" altLang="en-US" sz="1600" dirty="0">
                <a:solidFill>
                  <a:srgbClr val="17202A"/>
                </a:solidFill>
                <a:latin typeface="PingFang SC"/>
                <a:ea typeface="PingFang SC"/>
                <a:cs typeface="PingFang SC"/>
              </a:rPr>
              <a:t>拆解 </a:t>
            </a:r>
            <a:r>
              <a:rPr lang="en" altLang="zh-CN" sz="1600" dirty="0">
                <a:solidFill>
                  <a:srgbClr val="17202A"/>
                </a:solidFill>
                <a:latin typeface="PingFang SC"/>
                <a:ea typeface="PingFang SC"/>
                <a:cs typeface="PingFang SC"/>
              </a:rPr>
              <a:t>underutilization</a:t>
            </a:r>
            <a:r>
              <a:rPr lang="zh-CN" altLang="en" sz="1600" dirty="0">
                <a:solidFill>
                  <a:srgbClr val="17202A"/>
                </a:solidFill>
                <a:latin typeface="PingFang SC"/>
                <a:ea typeface="PingFang SC"/>
                <a:cs typeface="PingFang SC"/>
              </a:rPr>
              <a:t>：</a:t>
            </a:r>
            <a:r>
              <a:rPr lang="en" altLang="zh-CN" sz="1600" dirty="0">
                <a:solidFill>
                  <a:srgbClr val="17202A"/>
                </a:solidFill>
                <a:latin typeface="PingFang SC"/>
                <a:ea typeface="PingFang SC"/>
                <a:cs typeface="PingFang SC"/>
              </a:rPr>
              <a:t>active time ratio </a:t>
            </a:r>
            <a:r>
              <a:rPr lang="zh-CN" altLang="en-US" sz="1600" dirty="0">
                <a:solidFill>
                  <a:srgbClr val="17202A"/>
                </a:solidFill>
                <a:latin typeface="PingFang SC"/>
                <a:ea typeface="PingFang SC"/>
                <a:cs typeface="PingFang SC"/>
              </a:rPr>
              <a:t>与 </a:t>
            </a:r>
            <a:r>
              <a:rPr lang="en" altLang="zh-CN" sz="1600" dirty="0">
                <a:solidFill>
                  <a:srgbClr val="17202A"/>
                </a:solidFill>
                <a:latin typeface="PingFang SC"/>
                <a:ea typeface="PingFang SC"/>
                <a:cs typeface="PingFang SC"/>
              </a:rPr>
              <a:t>execution efficiency</a:t>
            </a:r>
          </a:p>
        </p:txBody>
      </p:sp>
      <p:sp>
        <p:nvSpPr>
          <p:cNvPr id="14" name="metric-box">
            <a:extLst>
              <a:ext uri="{FF2B5EF4-FFF2-40B4-BE49-F238E27FC236}">
                <a16:creationId xmlns:a16="http://schemas.microsoft.com/office/drawing/2014/main" id="{91010875-CA96-4D49-A8CC-7EBE3B2C0A19}"/>
              </a:ext>
            </a:extLst>
          </p:cNvPr>
          <p:cNvSpPr/>
          <p:nvPr/>
        </p:nvSpPr>
        <p:spPr>
          <a:xfrm>
            <a:off x="419100" y="4762500"/>
            <a:ext cx="3429000" cy="571500"/>
          </a:xfrm>
          <a:prstGeom prst="rect">
            <a:avLst/>
          </a:prstGeom>
          <a:solidFill>
            <a:srgbClr val="2B6F9E">
              <a:alpha val="6275"/>
            </a:srgbClr>
          </a:solidFill>
          <a:ln w="9525">
            <a:solidFill>
              <a:srgbClr val="2B6F9E">
                <a:alpha val="33333"/>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2CDB5DEE-4A7B-4A56-A5FA-B4F50F9B5A96}"/>
              </a:ext>
            </a:extLst>
          </p:cNvPr>
          <p:cNvSpPr/>
          <p:nvPr/>
        </p:nvSpPr>
        <p:spPr>
          <a:xfrm>
            <a:off x="1090847" y="4832806"/>
            <a:ext cx="2085507" cy="430887"/>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2B6F9E"/>
                </a:solidFill>
                <a:latin typeface="PingFang SC"/>
                <a:ea typeface="PingFang SC"/>
                <a:cs typeface="PingFang SC"/>
              </a:defRPr>
            </a:pPr>
            <a:r>
              <a:rPr lang="zh-CN" altLang="en-US" sz="1400" b="1" dirty="0">
                <a:solidFill>
                  <a:srgbClr val="2B6F9E"/>
                </a:solidFill>
                <a:latin typeface="PingFang SC"/>
                <a:ea typeface="PingFang SC"/>
                <a:cs typeface="PingFang SC"/>
              </a:rPr>
              <a:t>覆盖</a:t>
            </a:r>
            <a:r>
              <a:rPr sz="1400" b="1" dirty="0">
                <a:solidFill>
                  <a:srgbClr val="2B6F9E"/>
                </a:solidFill>
                <a:latin typeface="PingFang SC"/>
                <a:ea typeface="PingFang SC"/>
                <a:cs typeface="PingFang SC"/>
              </a:rPr>
              <a:t>11 </a:t>
            </a:r>
            <a:r>
              <a:rPr sz="1400" b="1" dirty="0" err="1">
                <a:solidFill>
                  <a:srgbClr val="2B6F9E"/>
                </a:solidFill>
                <a:latin typeface="PingFang SC"/>
                <a:ea typeface="PingFang SC"/>
                <a:cs typeface="PingFang SC"/>
              </a:rPr>
              <a:t>模型</a:t>
            </a:r>
            <a:r>
              <a:rPr sz="1400" b="1" dirty="0">
                <a:solidFill>
                  <a:srgbClr val="2B6F9E"/>
                </a:solidFill>
                <a:latin typeface="PingFang SC"/>
                <a:ea typeface="PingFang SC"/>
                <a:cs typeface="PingFang SC"/>
              </a:rPr>
              <a:t> / 41 </a:t>
            </a:r>
            <a:r>
              <a:rPr sz="1400" b="1" dirty="0" err="1">
                <a:solidFill>
                  <a:srgbClr val="2B6F9E"/>
                </a:solidFill>
                <a:latin typeface="PingFang SC"/>
                <a:ea typeface="PingFang SC"/>
                <a:cs typeface="PingFang SC"/>
              </a:rPr>
              <a:t>算子</a:t>
            </a:r>
            <a:endParaRPr lang="en-US" sz="1400" b="1" dirty="0">
              <a:solidFill>
                <a:srgbClr val="2B6F9E"/>
              </a:solidFill>
              <a:latin typeface="PingFang SC"/>
              <a:ea typeface="PingFang SC"/>
              <a:cs typeface="PingFang SC"/>
            </a:endParaRPr>
          </a:p>
          <a:p>
            <a:pPr algn="ctr">
              <a:defRPr sz="1400" b="1">
                <a:solidFill>
                  <a:srgbClr val="2B6F9E"/>
                </a:solidFill>
                <a:latin typeface="PingFang SC"/>
                <a:ea typeface="PingFang SC"/>
                <a:cs typeface="PingFang SC"/>
              </a:defRPr>
            </a:pPr>
            <a:r>
              <a:rPr sz="1400" b="1" dirty="0" err="1">
                <a:solidFill>
                  <a:srgbClr val="2B6F9E"/>
                </a:solidFill>
                <a:latin typeface="PingFang SC"/>
                <a:ea typeface="PingFang SC"/>
                <a:cs typeface="PingFang SC"/>
              </a:rPr>
              <a:t>端到端提升</a:t>
            </a:r>
            <a:r>
              <a:rPr lang="en-US" sz="1400" b="1" dirty="0">
                <a:solidFill>
                  <a:srgbClr val="2B6F9E"/>
                </a:solidFill>
                <a:latin typeface="PingFang SC"/>
                <a:ea typeface="PingFang SC"/>
                <a:cs typeface="PingFang SC"/>
              </a:rPr>
              <a:t> </a:t>
            </a:r>
            <a:r>
              <a:rPr sz="1400" b="1" dirty="0">
                <a:solidFill>
                  <a:srgbClr val="FF0000"/>
                </a:solidFill>
                <a:latin typeface="PingFang SC"/>
                <a:ea typeface="PingFang SC"/>
                <a:cs typeface="PingFang SC"/>
              </a:rPr>
              <a:t>1.07×–2.15×</a:t>
            </a:r>
            <a:endParaRPr sz="1400" dirty="0">
              <a:solidFill>
                <a:srgbClr val="FF0000"/>
              </a:solidFill>
            </a:endParaRPr>
          </a:p>
        </p:txBody>
      </p:sp>
      <p:sp>
        <p:nvSpPr>
          <p:cNvPr id="16" name="card-TAKEAWAY">
            <a:extLst>
              <a:ext uri="{FF2B5EF4-FFF2-40B4-BE49-F238E27FC236}">
                <a16:creationId xmlns:a16="http://schemas.microsoft.com/office/drawing/2014/main" id="{FC0E201D-CF00-428C-A89A-BE298C014A5E}"/>
              </a:ext>
            </a:extLst>
          </p:cNvPr>
          <p:cNvSpPr/>
          <p:nvPr/>
        </p:nvSpPr>
        <p:spPr>
          <a:xfrm>
            <a:off x="419100" y="5524499"/>
            <a:ext cx="3429000" cy="613315"/>
          </a:xfrm>
          <a:prstGeom prst="rect">
            <a:avLst/>
          </a:prstGeom>
          <a:solidFill>
            <a:srgbClr val="FFFFFF"/>
          </a:solidFill>
          <a:ln w="9525">
            <a:solidFill>
              <a:srgbClr val="2B6F9E">
                <a:alpha val="33333"/>
              </a:srgbClr>
            </a:solidFill>
            <a:prstDash val="solid"/>
          </a:ln>
        </p:spPr>
        <p:txBody>
          <a:bodyPr/>
          <a:lstStyle/>
          <a:p>
            <a:endParaRPr lang="zh-CN" altLang="en-US"/>
          </a:p>
        </p:txBody>
      </p:sp>
      <p:sp>
        <p:nvSpPr>
          <p:cNvPr id="17" name="card-accent-TAKEAWAY">
            <a:extLst>
              <a:ext uri="{FF2B5EF4-FFF2-40B4-BE49-F238E27FC236}">
                <a16:creationId xmlns:a16="http://schemas.microsoft.com/office/drawing/2014/main" id="{DF745B13-6701-47A6-B5E8-D9409016B207}"/>
              </a:ext>
            </a:extLst>
          </p:cNvPr>
          <p:cNvSpPr/>
          <p:nvPr/>
        </p:nvSpPr>
        <p:spPr>
          <a:xfrm>
            <a:off x="419100" y="5524499"/>
            <a:ext cx="47625" cy="613315"/>
          </a:xfrm>
          <a:prstGeom prst="rect">
            <a:avLst/>
          </a:prstGeom>
          <a:solidFill>
            <a:srgbClr val="2B6F9E"/>
          </a:solidFill>
          <a:ln w="0">
            <a:solidFill>
              <a:srgbClr val="2B6F9E"/>
            </a:solidFill>
            <a:prstDash val="solid"/>
          </a:ln>
        </p:spPr>
        <p:txBody>
          <a:bodyPr/>
          <a:lstStyle/>
          <a:p>
            <a:endParaRPr lang="zh-CN" altLang="en-US"/>
          </a:p>
        </p:txBody>
      </p:sp>
      <p:sp>
        <p:nvSpPr>
          <p:cNvPr id="18" name="矩形 17">
            <a:extLst>
              <a:ext uri="{FF2B5EF4-FFF2-40B4-BE49-F238E27FC236}">
                <a16:creationId xmlns:a16="http://schemas.microsoft.com/office/drawing/2014/main" id="{75C69F6B-D138-4BD5-8524-A1F3FA6BC34D}"/>
              </a:ext>
            </a:extLst>
          </p:cNvPr>
          <p:cNvSpPr/>
          <p:nvPr/>
        </p:nvSpPr>
        <p:spPr>
          <a:xfrm>
            <a:off x="571500" y="5619750"/>
            <a:ext cx="3143250" cy="182880"/>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TAKEAWAY</a:t>
            </a:r>
            <a:endParaRPr sz="1400"/>
          </a:p>
        </p:txBody>
      </p:sp>
      <p:sp>
        <p:nvSpPr>
          <p:cNvPr id="19" name="矩形 18">
            <a:extLst>
              <a:ext uri="{FF2B5EF4-FFF2-40B4-BE49-F238E27FC236}">
                <a16:creationId xmlns:a16="http://schemas.microsoft.com/office/drawing/2014/main" id="{09D45CA2-0AAD-4660-A793-5BFAA2ECBAC4}"/>
              </a:ext>
            </a:extLst>
          </p:cNvPr>
          <p:cNvSpPr/>
          <p:nvPr/>
        </p:nvSpPr>
        <p:spPr>
          <a:xfrm>
            <a:off x="571500" y="5810250"/>
            <a:ext cx="3289362"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lang="en-US" sz="1400" b="1" dirty="0" err="1">
                <a:solidFill>
                  <a:srgbClr val="17202A"/>
                </a:solidFill>
                <a:latin typeface="PingFang SC"/>
                <a:ea typeface="PingFang SC"/>
                <a:cs typeface="PingFang SC"/>
              </a:rPr>
              <a:t>手工优化</a:t>
            </a:r>
            <a:r>
              <a:rPr sz="1400" b="1" dirty="0">
                <a:solidFill>
                  <a:srgbClr val="17202A"/>
                </a:solidFill>
                <a:latin typeface="PingFang SC"/>
                <a:ea typeface="PingFang SC"/>
                <a:cs typeface="PingFang SC"/>
              </a:rPr>
              <a:t> → </a:t>
            </a:r>
            <a:r>
              <a:rPr sz="1400" b="1" dirty="0" err="1">
                <a:solidFill>
                  <a:srgbClr val="17202A"/>
                </a:solidFill>
                <a:latin typeface="PingFang SC"/>
                <a:ea typeface="PingFang SC"/>
                <a:cs typeface="PingFang SC"/>
              </a:rPr>
              <a:t>可视化瓶颈定位</a:t>
            </a:r>
            <a:r>
              <a:rPr lang="en-US" sz="1400" b="1" dirty="0" err="1">
                <a:solidFill>
                  <a:srgbClr val="17202A"/>
                </a:solidFill>
                <a:latin typeface="PingFang SC"/>
                <a:ea typeface="PingFang SC"/>
                <a:cs typeface="PingFang SC"/>
              </a:rPr>
              <a:t>+组件级优化</a:t>
            </a:r>
            <a:endParaRPr sz="1400" dirty="0"/>
          </a:p>
        </p:txBody>
      </p:sp>
      <p:pic>
        <p:nvPicPr>
          <p:cNvPr id="20" name="图片 19"/>
          <p:cNvPicPr/>
          <p:nvPr/>
        </p:nvPicPr>
        <p:blipFill>
          <a:blip r:embed="rId3"/>
          <a:srcRect t="-1" r="11461" b="3388"/>
          <a:stretch>
            <a:fillRect/>
          </a:stretch>
        </p:blipFill>
        <p:spPr>
          <a:xfrm>
            <a:off x="4354286" y="1933575"/>
            <a:ext cx="7266214" cy="3714750"/>
          </a:xfrm>
          <a:prstGeom prst="rect">
            <a:avLst/>
          </a:prstGeom>
        </p:spPr>
      </p:pic>
      <p:sp>
        <p:nvSpPr>
          <p:cNvPr id="21" name="矩形 20">
            <a:extLst>
              <a:ext uri="{FF2B5EF4-FFF2-40B4-BE49-F238E27FC236}">
                <a16:creationId xmlns:a16="http://schemas.microsoft.com/office/drawing/2014/main" id="{DAEFEAE5-FB11-4017-94B3-50BE72DEDCAF}"/>
              </a:ext>
            </a:extLst>
          </p:cNvPr>
          <p:cNvSpPr/>
          <p:nvPr/>
        </p:nvSpPr>
        <p:spPr>
          <a:xfrm>
            <a:off x="381000" y="6477000"/>
            <a:ext cx="40005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18" b="0">
                <a:solidFill>
                  <a:srgbClr val="7A8393"/>
                </a:solidFill>
                <a:latin typeface="Aptos"/>
                <a:ea typeface="Aptos"/>
                <a:cs typeface="Aptos"/>
              </a:defRPr>
            </a:pPr>
            <a:r>
              <a:rPr sz="880" b="0">
                <a:solidFill>
                  <a:srgbClr val="7A8393"/>
                </a:solidFill>
                <a:latin typeface="Aptos"/>
                <a:ea typeface="Aptos"/>
                <a:cs typeface="Aptos"/>
              </a:rPr>
              <a:t>Source: local paper PDF · core figure cropped from paper</a:t>
            </a:r>
          </a:p>
        </p:txBody>
      </p:sp>
      <p:sp>
        <p:nvSpPr>
          <p:cNvPr id="22" name="矩形 21">
            <a:extLst>
              <a:ext uri="{FF2B5EF4-FFF2-40B4-BE49-F238E27FC236}">
                <a16:creationId xmlns:a16="http://schemas.microsoft.com/office/drawing/2014/main" id="{FD227B00-1DB1-4F06-B770-8DD804DEA0E5}"/>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04</a:t>
            </a:r>
          </a:p>
        </p:txBody>
      </p:sp>
    </p:spTree>
    <p:extLst>
      <p:ext uri="{BB962C8B-B14F-4D97-AF65-F5344CB8AC3E}">
        <p14:creationId xmlns:p14="http://schemas.microsoft.com/office/powerpoint/2010/main" val="1020900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01D27BF1-669D-4A8A-809B-5D564CDF04F3}"/>
              </a:ext>
            </a:extLst>
          </p:cNvPr>
          <p:cNvSpPr/>
          <p:nvPr/>
        </p:nvSpPr>
        <p:spPr>
          <a:xfrm>
            <a:off x="361950" y="323850"/>
            <a:ext cx="47625" cy="247650"/>
          </a:xfrm>
          <a:prstGeom prst="rect">
            <a:avLst/>
          </a:prstGeom>
          <a:solidFill>
            <a:srgbClr val="2B6F9E"/>
          </a:solidFill>
          <a:ln w="0">
            <a:solidFill>
              <a:srgbClr val="2B6F9E"/>
            </a:solidFill>
            <a:prstDash val="solid"/>
          </a:ln>
        </p:spPr>
        <p:txBody>
          <a:bodyPr/>
          <a:lstStyle/>
          <a:p>
            <a:endParaRPr lang="zh-CN" altLang="en-US"/>
          </a:p>
        </p:txBody>
      </p:sp>
      <p:sp>
        <p:nvSpPr>
          <p:cNvPr id="2" name="kicker-label">
            <a:extLst>
              <a:ext uri="{FF2B5EF4-FFF2-40B4-BE49-F238E27FC236}">
                <a16:creationId xmlns:a16="http://schemas.microsoft.com/office/drawing/2014/main" id="{DBE4E9CC-3758-452F-A73A-26981BF6A4F1}"/>
              </a:ext>
            </a:extLst>
          </p:cNvPr>
          <p:cNvSpPr/>
          <p:nvPr/>
        </p:nvSpPr>
        <p:spPr>
          <a:xfrm>
            <a:off x="514350" y="333375"/>
            <a:ext cx="292608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PAPER 05 · TRAINING SYSTEMS</a:t>
            </a:r>
            <a:endParaRPr sz="1400"/>
          </a:p>
        </p:txBody>
      </p:sp>
      <p:sp>
        <p:nvSpPr>
          <p:cNvPr id="3" name="pill-DAC'26">
            <a:extLst>
              <a:ext uri="{FF2B5EF4-FFF2-40B4-BE49-F238E27FC236}">
                <a16:creationId xmlns:a16="http://schemas.microsoft.com/office/drawing/2014/main" id="{EDF9FEFD-414A-4438-8A4E-7B5D8BE2F5AE}"/>
              </a:ext>
            </a:extLst>
          </p:cNvPr>
          <p:cNvSpPr/>
          <p:nvPr/>
        </p:nvSpPr>
        <p:spPr>
          <a:xfrm>
            <a:off x="10144125" y="342519"/>
            <a:ext cx="1657350" cy="266700"/>
          </a:xfrm>
          <a:prstGeom prst="rect">
            <a:avLst/>
          </a:prstGeom>
          <a:solidFill>
            <a:srgbClr val="2B6F9E">
              <a:alpha val="8627"/>
            </a:srgbClr>
          </a:solidFill>
          <a:ln w="9525">
            <a:solidFill>
              <a:srgbClr val="2B6F9E">
                <a:alpha val="43922"/>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F31DB3F5-BE8C-462C-A926-AAA3FC492C6E}"/>
              </a:ext>
            </a:extLst>
          </p:cNvPr>
          <p:cNvSpPr/>
          <p:nvPr/>
        </p:nvSpPr>
        <p:spPr>
          <a:xfrm>
            <a:off x="10239375" y="352425"/>
            <a:ext cx="14668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2B6F9E"/>
                </a:solidFill>
                <a:latin typeface="Aptos"/>
                <a:ea typeface="Aptos"/>
                <a:cs typeface="Aptos"/>
              </a:defRPr>
            </a:pPr>
            <a:r>
              <a:rPr sz="1400" b="1">
                <a:solidFill>
                  <a:srgbClr val="2B6F9E"/>
                </a:solidFill>
                <a:latin typeface="Aptos"/>
                <a:ea typeface="Aptos"/>
                <a:cs typeface="Aptos"/>
              </a:rPr>
              <a:t>DAC'26</a:t>
            </a:r>
            <a:endParaRPr sz="1400"/>
          </a:p>
        </p:txBody>
      </p:sp>
      <p:sp>
        <p:nvSpPr>
          <p:cNvPr id="5" name="矩形 4">
            <a:extLst>
              <a:ext uri="{FF2B5EF4-FFF2-40B4-BE49-F238E27FC236}">
                <a16:creationId xmlns:a16="http://schemas.microsoft.com/office/drawing/2014/main" id="{9709D210-C4CF-4CD3-9D63-EC1C41BB8881}"/>
              </a:ext>
            </a:extLst>
          </p:cNvPr>
          <p:cNvSpPr/>
          <p:nvPr/>
        </p:nvSpPr>
        <p:spPr>
          <a:xfrm>
            <a:off x="361950" y="666750"/>
            <a:ext cx="5938870" cy="392415"/>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2550" b="1">
                <a:solidFill>
                  <a:srgbClr val="17202A"/>
                </a:solidFill>
                <a:latin typeface="PingFang SC"/>
                <a:ea typeface="PingFang SC"/>
                <a:cs typeface="PingFang SC"/>
              </a:defRPr>
            </a:pPr>
            <a:r>
              <a:rPr lang="en-US" altLang="zh-CN" sz="2550" b="1" dirty="0" err="1">
                <a:solidFill>
                  <a:srgbClr val="17202A"/>
                </a:solidFill>
                <a:latin typeface="PingFang SC"/>
                <a:ea typeface="PingFang SC"/>
                <a:cs typeface="PingFang SC"/>
              </a:rPr>
              <a:t>Smart</a:t>
            </a:r>
            <a:r>
              <a:rPr sz="2550" b="1" dirty="0" err="1">
                <a:solidFill>
                  <a:srgbClr val="17202A"/>
                </a:solidFill>
                <a:latin typeface="PingFang SC"/>
                <a:ea typeface="PingFang SC"/>
                <a:cs typeface="PingFang SC"/>
              </a:rPr>
              <a:t>Swap：动态算子序列下的可用</a:t>
            </a:r>
            <a:r>
              <a:rPr sz="2550" b="1" dirty="0">
                <a:solidFill>
                  <a:srgbClr val="17202A"/>
                </a:solidFill>
                <a:latin typeface="PingFang SC"/>
                <a:ea typeface="PingFang SC"/>
                <a:cs typeface="PingFang SC"/>
              </a:rPr>
              <a:t> Swap</a:t>
            </a:r>
            <a:endParaRPr sz="1400" dirty="0"/>
          </a:p>
        </p:txBody>
      </p:sp>
      <p:sp>
        <p:nvSpPr>
          <p:cNvPr id="6" name="矩形 5">
            <a:extLst>
              <a:ext uri="{FF2B5EF4-FFF2-40B4-BE49-F238E27FC236}">
                <a16:creationId xmlns:a16="http://schemas.microsoft.com/office/drawing/2014/main" id="{E16D7A72-7D94-4E42-867B-0319BCD6D091}"/>
              </a:ext>
            </a:extLst>
          </p:cNvPr>
          <p:cNvSpPr/>
          <p:nvPr/>
        </p:nvSpPr>
        <p:spPr>
          <a:xfrm>
            <a:off x="381000" y="1152525"/>
            <a:ext cx="8565165"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lang="en-US" sz="1400" b="0" dirty="0" err="1">
                <a:solidFill>
                  <a:srgbClr val="596273"/>
                </a:solidFill>
                <a:latin typeface="Aptos"/>
                <a:ea typeface="Aptos"/>
                <a:cs typeface="Aptos"/>
              </a:rPr>
              <a:t>SmartSwap</a:t>
            </a:r>
            <a:r>
              <a:rPr lang="en-US" sz="1400" b="0" dirty="0">
                <a:solidFill>
                  <a:srgbClr val="596273"/>
                </a:solidFill>
                <a:latin typeface="Aptos"/>
                <a:ea typeface="Aptos"/>
                <a:cs typeface="Aptos"/>
              </a:rPr>
              <a:t>: Swap-Based Memory Optimization for LLM Training under Varying Operator Sequences</a:t>
            </a:r>
            <a:endParaRPr sz="1400" dirty="0"/>
          </a:p>
        </p:txBody>
      </p:sp>
      <p:sp>
        <p:nvSpPr>
          <p:cNvPr id="7" name="top-rule">
            <a:extLst>
              <a:ext uri="{FF2B5EF4-FFF2-40B4-BE49-F238E27FC236}">
                <a16:creationId xmlns:a16="http://schemas.microsoft.com/office/drawing/2014/main" id="{A54FEAB3-0E3B-419A-B517-D95D80EAF135}"/>
              </a:ext>
            </a:extLst>
          </p:cNvPr>
          <p:cNvSpPr/>
          <p:nvPr/>
        </p:nvSpPr>
        <p:spPr>
          <a:xfrm>
            <a:off x="381000" y="1438275"/>
            <a:ext cx="11410950" cy="10478"/>
          </a:xfrm>
          <a:prstGeom prst="rect">
            <a:avLst/>
          </a:prstGeom>
          <a:solidFill>
            <a:srgbClr val="D8DEE8"/>
          </a:solidFill>
          <a:ln w="0">
            <a:solidFill>
              <a:srgbClr val="D8DEE8"/>
            </a:solidFill>
            <a:prstDash val="solid"/>
          </a:ln>
        </p:spPr>
        <p:txBody>
          <a:bodyPr/>
          <a:lstStyle/>
          <a:p>
            <a:endParaRPr lang="zh-CN" altLang="en-US"/>
          </a:p>
        </p:txBody>
      </p:sp>
      <p:sp>
        <p:nvSpPr>
          <p:cNvPr id="8" name="rule-CORE PROBLEM">
            <a:extLst>
              <a:ext uri="{FF2B5EF4-FFF2-40B4-BE49-F238E27FC236}">
                <a16:creationId xmlns:a16="http://schemas.microsoft.com/office/drawing/2014/main" id="{9459D37C-4633-413D-B3ED-D75AA7ED69C1}"/>
              </a:ext>
            </a:extLst>
          </p:cNvPr>
          <p:cNvSpPr/>
          <p:nvPr/>
        </p:nvSpPr>
        <p:spPr>
          <a:xfrm>
            <a:off x="419100" y="1754600"/>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9" name="矩形 8">
            <a:extLst>
              <a:ext uri="{FF2B5EF4-FFF2-40B4-BE49-F238E27FC236}">
                <a16:creationId xmlns:a16="http://schemas.microsoft.com/office/drawing/2014/main" id="{8B2CB358-4566-4DBF-A7D1-782E65743D0E}"/>
              </a:ext>
            </a:extLst>
          </p:cNvPr>
          <p:cNvSpPr/>
          <p:nvPr/>
        </p:nvSpPr>
        <p:spPr>
          <a:xfrm>
            <a:off x="742950" y="1638300"/>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CORE PROBLEM</a:t>
            </a:r>
            <a:endParaRPr sz="1400"/>
          </a:p>
        </p:txBody>
      </p:sp>
      <p:sp>
        <p:nvSpPr>
          <p:cNvPr id="10" name="矩形 9">
            <a:extLst>
              <a:ext uri="{FF2B5EF4-FFF2-40B4-BE49-F238E27FC236}">
                <a16:creationId xmlns:a16="http://schemas.microsoft.com/office/drawing/2014/main" id="{0DCA8EFE-F653-49EF-99D8-7D523B6A32FB}"/>
              </a:ext>
            </a:extLst>
          </p:cNvPr>
          <p:cNvSpPr/>
          <p:nvPr/>
        </p:nvSpPr>
        <p:spPr>
          <a:xfrm>
            <a:off x="419101" y="1914525"/>
            <a:ext cx="5620720" cy="738664"/>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defRPr sz="1223" b="0">
                <a:solidFill>
                  <a:srgbClr val="596273"/>
                </a:solidFill>
                <a:latin typeface="PingFang SC"/>
                <a:ea typeface="PingFang SC"/>
                <a:cs typeface="PingFang SC"/>
              </a:defRPr>
            </a:pPr>
            <a:r>
              <a:rPr lang="en" altLang="zh-CN" sz="1600" dirty="0" err="1">
                <a:solidFill>
                  <a:srgbClr val="596273"/>
                </a:solidFill>
                <a:latin typeface="PingFang SC"/>
                <a:ea typeface="PingFang SC"/>
                <a:cs typeface="PingFang SC"/>
              </a:rPr>
              <a:t>PyTorch</a:t>
            </a:r>
            <a:r>
              <a:rPr lang="en" altLang="zh-CN" sz="1600" dirty="0">
                <a:solidFill>
                  <a:srgbClr val="596273"/>
                </a:solidFill>
                <a:latin typeface="PingFang SC"/>
                <a:ea typeface="PingFang SC"/>
                <a:cs typeface="PingFang SC"/>
              </a:rPr>
              <a:t> Eager Mode </a:t>
            </a:r>
            <a:r>
              <a:rPr lang="zh-CN" altLang="en-US" sz="1600" dirty="0">
                <a:solidFill>
                  <a:srgbClr val="596273"/>
                </a:solidFill>
                <a:latin typeface="PingFang SC"/>
                <a:ea typeface="PingFang SC"/>
                <a:cs typeface="PingFang SC"/>
              </a:rPr>
              <a:t>中条件分支、混合精度和在线验证会改变算子序列，静态 </a:t>
            </a:r>
            <a:r>
              <a:rPr lang="en" altLang="zh-CN" sz="1600" dirty="0">
                <a:solidFill>
                  <a:srgbClr val="596273"/>
                </a:solidFill>
                <a:latin typeface="PingFang SC"/>
                <a:ea typeface="PingFang SC"/>
                <a:cs typeface="PingFang SC"/>
              </a:rPr>
              <a:t>swap </a:t>
            </a:r>
            <a:r>
              <a:rPr lang="zh-CN" altLang="en-US" sz="1600" dirty="0">
                <a:solidFill>
                  <a:srgbClr val="596273"/>
                </a:solidFill>
                <a:latin typeface="PingFang SC"/>
                <a:ea typeface="PingFang SC"/>
                <a:cs typeface="PingFang SC"/>
              </a:rPr>
              <a:t>策略容易 </a:t>
            </a:r>
            <a:r>
              <a:rPr lang="en" altLang="zh-CN" sz="1600" dirty="0">
                <a:solidFill>
                  <a:srgbClr val="596273"/>
                </a:solidFill>
                <a:latin typeface="PingFang SC"/>
                <a:ea typeface="PingFang SC"/>
                <a:cs typeface="PingFang SC"/>
              </a:rPr>
              <a:t>OOM</a:t>
            </a:r>
            <a:r>
              <a:rPr lang="zh-CN" altLang="en" sz="1600" dirty="0">
                <a:solidFill>
                  <a:srgbClr val="596273"/>
                </a:solidFill>
                <a:latin typeface="PingFang SC"/>
                <a:ea typeface="PingFang SC"/>
                <a:cs typeface="PingFang SC"/>
              </a:rPr>
              <a:t>、</a:t>
            </a:r>
            <a:r>
              <a:rPr lang="zh-CN" altLang="en-US" sz="1600" dirty="0">
                <a:solidFill>
                  <a:srgbClr val="596273"/>
                </a:solidFill>
                <a:latin typeface="PingFang SC"/>
                <a:ea typeface="PingFang SC"/>
                <a:cs typeface="PingFang SC"/>
              </a:rPr>
              <a:t>生命周期错配或运行时错误。</a:t>
            </a:r>
          </a:p>
        </p:txBody>
      </p:sp>
      <p:sp>
        <p:nvSpPr>
          <p:cNvPr id="11" name="rule-SYSTEM IDEA">
            <a:extLst>
              <a:ext uri="{FF2B5EF4-FFF2-40B4-BE49-F238E27FC236}">
                <a16:creationId xmlns:a16="http://schemas.microsoft.com/office/drawing/2014/main" id="{00AD2EBD-C1CB-4D2F-B21C-A8DA27A75D65}"/>
              </a:ext>
            </a:extLst>
          </p:cNvPr>
          <p:cNvSpPr/>
          <p:nvPr/>
        </p:nvSpPr>
        <p:spPr>
          <a:xfrm>
            <a:off x="419100" y="3135725"/>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12" name="矩形 11">
            <a:extLst>
              <a:ext uri="{FF2B5EF4-FFF2-40B4-BE49-F238E27FC236}">
                <a16:creationId xmlns:a16="http://schemas.microsoft.com/office/drawing/2014/main" id="{C74300EE-988E-4C87-95C6-80AA6FFCEC85}"/>
              </a:ext>
            </a:extLst>
          </p:cNvPr>
          <p:cNvSpPr/>
          <p:nvPr/>
        </p:nvSpPr>
        <p:spPr>
          <a:xfrm>
            <a:off x="742950" y="3019425"/>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SYSTEM IDEA</a:t>
            </a:r>
            <a:endParaRPr sz="1400"/>
          </a:p>
        </p:txBody>
      </p:sp>
      <p:sp>
        <p:nvSpPr>
          <p:cNvPr id="13" name="矩形 12">
            <a:extLst>
              <a:ext uri="{FF2B5EF4-FFF2-40B4-BE49-F238E27FC236}">
                <a16:creationId xmlns:a16="http://schemas.microsoft.com/office/drawing/2014/main" id="{830AA4DA-924E-45D8-B9F8-451A0B3BD84D}"/>
              </a:ext>
            </a:extLst>
          </p:cNvPr>
          <p:cNvSpPr/>
          <p:nvPr/>
        </p:nvSpPr>
        <p:spPr>
          <a:xfrm>
            <a:off x="419100" y="3295650"/>
            <a:ext cx="5685211" cy="73866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defRPr sz="1200" b="0">
                <a:solidFill>
                  <a:srgbClr val="17202A"/>
                </a:solidFill>
                <a:latin typeface="PingFang SC"/>
                <a:ea typeface="PingFang SC"/>
                <a:cs typeface="PingFang SC"/>
              </a:defRPr>
            </a:pPr>
            <a:r>
              <a:rPr lang="en-US" altLang="zh-CN" sz="1600" dirty="0">
                <a:solidFill>
                  <a:srgbClr val="17202A"/>
                </a:solidFill>
                <a:latin typeface="PingFang SC"/>
                <a:ea typeface="PingFang SC"/>
                <a:cs typeface="PingFang SC"/>
              </a:rPr>
              <a:t>• </a:t>
            </a:r>
            <a:r>
              <a:rPr lang="zh-CN" altLang="en-US" sz="1600" dirty="0">
                <a:solidFill>
                  <a:srgbClr val="17202A"/>
                </a:solidFill>
                <a:latin typeface="PingFang SC"/>
                <a:ea typeface="PingFang SC"/>
                <a:cs typeface="PingFang SC"/>
              </a:rPr>
              <a:t>在线 </a:t>
            </a:r>
            <a:r>
              <a:rPr lang="en" altLang="zh-CN" sz="1600" dirty="0">
                <a:solidFill>
                  <a:srgbClr val="17202A"/>
                </a:solidFill>
                <a:latin typeface="PingFang SC"/>
                <a:ea typeface="PingFang SC"/>
                <a:cs typeface="PingFang SC"/>
              </a:rPr>
              <a:t>profiler </a:t>
            </a:r>
            <a:r>
              <a:rPr lang="zh-CN" altLang="en-US" sz="1600" dirty="0">
                <a:solidFill>
                  <a:srgbClr val="17202A"/>
                </a:solidFill>
                <a:latin typeface="PingFang SC"/>
                <a:ea typeface="PingFang SC"/>
                <a:cs typeface="PingFang SC"/>
              </a:rPr>
              <a:t>在 </a:t>
            </a:r>
            <a:r>
              <a:rPr lang="en" altLang="zh-CN" sz="1600" dirty="0" err="1">
                <a:solidFill>
                  <a:srgbClr val="17202A"/>
                </a:solidFill>
                <a:latin typeface="PingFang SC"/>
                <a:ea typeface="PingFang SC"/>
                <a:cs typeface="PingFang SC"/>
              </a:rPr>
              <a:t>WarmUp</a:t>
            </a:r>
            <a:r>
              <a:rPr lang="zh-CN" altLang="en" sz="1600" dirty="0">
                <a:solidFill>
                  <a:srgbClr val="17202A"/>
                </a:solidFill>
                <a:latin typeface="PingFang SC"/>
                <a:ea typeface="PingFang SC"/>
                <a:cs typeface="PingFang SC"/>
              </a:rPr>
              <a:t>、</a:t>
            </a:r>
            <a:r>
              <a:rPr lang="en" altLang="zh-CN" sz="1600" dirty="0" err="1">
                <a:solidFill>
                  <a:srgbClr val="17202A"/>
                </a:solidFill>
                <a:latin typeface="PingFang SC"/>
                <a:ea typeface="PingFang SC"/>
                <a:cs typeface="PingFang SC"/>
              </a:rPr>
              <a:t>GenPolicy</a:t>
            </a:r>
            <a:r>
              <a:rPr lang="zh-CN" altLang="en" sz="1600" dirty="0">
                <a:solidFill>
                  <a:srgbClr val="17202A"/>
                </a:solidFill>
                <a:latin typeface="PingFang SC"/>
                <a:ea typeface="PingFang SC"/>
                <a:cs typeface="PingFang SC"/>
              </a:rPr>
              <a:t>、</a:t>
            </a:r>
            <a:r>
              <a:rPr lang="en" altLang="zh-CN" sz="1600" dirty="0">
                <a:solidFill>
                  <a:srgbClr val="17202A"/>
                </a:solidFill>
                <a:latin typeface="PingFang SC"/>
                <a:ea typeface="PingFang SC"/>
                <a:cs typeface="PingFang SC"/>
              </a:rPr>
              <a:t>Stable </a:t>
            </a:r>
            <a:r>
              <a:rPr lang="zh-CN" altLang="en-US" sz="1600" dirty="0">
                <a:solidFill>
                  <a:srgbClr val="17202A"/>
                </a:solidFill>
                <a:latin typeface="PingFang SC"/>
                <a:ea typeface="PingFang SC"/>
                <a:cs typeface="PingFang SC"/>
              </a:rPr>
              <a:t>阶段间切换</a:t>
            </a:r>
          </a:p>
          <a:p>
            <a:pPr>
              <a:defRPr sz="1200" b="0">
                <a:solidFill>
                  <a:srgbClr val="17202A"/>
                </a:solidFill>
                <a:latin typeface="PingFang SC"/>
                <a:ea typeface="PingFang SC"/>
                <a:cs typeface="PingFang SC"/>
              </a:defRPr>
            </a:pPr>
            <a:r>
              <a:rPr lang="en-US" altLang="zh-CN" sz="1600" dirty="0">
                <a:solidFill>
                  <a:srgbClr val="17202A"/>
                </a:solidFill>
                <a:latin typeface="PingFang SC"/>
                <a:ea typeface="PingFang SC"/>
                <a:cs typeface="PingFang SC"/>
              </a:rPr>
              <a:t>• </a:t>
            </a:r>
            <a:r>
              <a:rPr lang="en" altLang="zh-CN" sz="1600" dirty="0">
                <a:solidFill>
                  <a:srgbClr val="17202A"/>
                </a:solidFill>
                <a:latin typeface="PingFang SC"/>
                <a:ea typeface="PingFang SC"/>
                <a:cs typeface="PingFang SC"/>
              </a:rPr>
              <a:t>policy generator </a:t>
            </a:r>
            <a:r>
              <a:rPr lang="zh-CN" altLang="en-US" sz="1600" dirty="0">
                <a:solidFill>
                  <a:srgbClr val="17202A"/>
                </a:solidFill>
                <a:latin typeface="PingFang SC"/>
                <a:ea typeface="PingFang SC"/>
                <a:cs typeface="PingFang SC"/>
              </a:rPr>
              <a:t>用逻辑层分组和全局模拟器找 </a:t>
            </a:r>
            <a:r>
              <a:rPr lang="en" altLang="zh-CN" sz="1600" dirty="0">
                <a:solidFill>
                  <a:srgbClr val="17202A"/>
                </a:solidFill>
                <a:latin typeface="PingFang SC"/>
                <a:ea typeface="PingFang SC"/>
                <a:cs typeface="PingFang SC"/>
              </a:rPr>
              <a:t>swap </a:t>
            </a:r>
            <a:r>
              <a:rPr lang="zh-CN" altLang="en-US" sz="1600" dirty="0">
                <a:solidFill>
                  <a:srgbClr val="17202A"/>
                </a:solidFill>
                <a:latin typeface="PingFang SC"/>
                <a:ea typeface="PingFang SC"/>
                <a:cs typeface="PingFang SC"/>
              </a:rPr>
              <a:t>时机</a:t>
            </a:r>
          </a:p>
          <a:p>
            <a:pPr>
              <a:defRPr sz="1200" b="0">
                <a:solidFill>
                  <a:srgbClr val="17202A"/>
                </a:solidFill>
                <a:latin typeface="PingFang SC"/>
                <a:ea typeface="PingFang SC"/>
                <a:cs typeface="PingFang SC"/>
              </a:defRPr>
            </a:pPr>
            <a:r>
              <a:rPr lang="en-US" altLang="zh-CN" sz="1600" dirty="0">
                <a:solidFill>
                  <a:srgbClr val="17202A"/>
                </a:solidFill>
                <a:latin typeface="PingFang SC"/>
                <a:ea typeface="PingFang SC"/>
                <a:cs typeface="PingFang SC"/>
              </a:rPr>
              <a:t>• </a:t>
            </a:r>
            <a:r>
              <a:rPr lang="en" altLang="zh-CN" sz="1600" dirty="0">
                <a:solidFill>
                  <a:srgbClr val="17202A"/>
                </a:solidFill>
                <a:latin typeface="PingFang SC"/>
                <a:ea typeface="PingFang SC"/>
                <a:cs typeface="PingFang SC"/>
              </a:rPr>
              <a:t>executor </a:t>
            </a:r>
            <a:r>
              <a:rPr lang="zh-CN" altLang="en-US" sz="1600" dirty="0">
                <a:solidFill>
                  <a:srgbClr val="17202A"/>
                </a:solidFill>
                <a:latin typeface="PingFang SC"/>
                <a:ea typeface="PingFang SC"/>
                <a:cs typeface="PingFang SC"/>
              </a:rPr>
              <a:t>通过多特征模糊匹配与 </a:t>
            </a:r>
            <a:r>
              <a:rPr lang="en" altLang="zh-CN" sz="1600" dirty="0">
                <a:solidFill>
                  <a:srgbClr val="17202A"/>
                </a:solidFill>
                <a:latin typeface="PingFang SC"/>
                <a:ea typeface="PingFang SC"/>
                <a:cs typeface="PingFang SC"/>
              </a:rPr>
              <a:t>custom </a:t>
            </a:r>
            <a:r>
              <a:rPr lang="en" altLang="zh-CN" sz="1600" dirty="0" err="1">
                <a:solidFill>
                  <a:srgbClr val="17202A"/>
                </a:solidFill>
                <a:latin typeface="PingFang SC"/>
                <a:ea typeface="PingFang SC"/>
                <a:cs typeface="PingFang SC"/>
              </a:rPr>
              <a:t>recordStream</a:t>
            </a:r>
            <a:r>
              <a:rPr lang="en" altLang="zh-CN" sz="1600" dirty="0">
                <a:solidFill>
                  <a:srgbClr val="17202A"/>
                </a:solidFill>
                <a:latin typeface="PingFang SC"/>
                <a:ea typeface="PingFang SC"/>
                <a:cs typeface="PingFang SC"/>
              </a:rPr>
              <a:t> </a:t>
            </a:r>
            <a:r>
              <a:rPr lang="zh-CN" altLang="en-US" sz="1600" dirty="0">
                <a:solidFill>
                  <a:srgbClr val="17202A"/>
                </a:solidFill>
                <a:latin typeface="PingFang SC"/>
                <a:ea typeface="PingFang SC"/>
                <a:cs typeface="PingFang SC"/>
              </a:rPr>
              <a:t>执行策略</a:t>
            </a:r>
          </a:p>
        </p:txBody>
      </p:sp>
      <p:sp>
        <p:nvSpPr>
          <p:cNvPr id="14" name="metric-box">
            <a:extLst>
              <a:ext uri="{FF2B5EF4-FFF2-40B4-BE49-F238E27FC236}">
                <a16:creationId xmlns:a16="http://schemas.microsoft.com/office/drawing/2014/main" id="{E446C460-BC2B-421B-BE41-0B6A58CAE9A9}"/>
              </a:ext>
            </a:extLst>
          </p:cNvPr>
          <p:cNvSpPr/>
          <p:nvPr/>
        </p:nvSpPr>
        <p:spPr>
          <a:xfrm>
            <a:off x="226833" y="4510564"/>
            <a:ext cx="5755965" cy="537686"/>
          </a:xfrm>
          <a:prstGeom prst="rect">
            <a:avLst/>
          </a:prstGeom>
          <a:solidFill>
            <a:srgbClr val="2B6F9E">
              <a:alpha val="6275"/>
            </a:srgbClr>
          </a:solidFill>
          <a:ln w="9525">
            <a:solidFill>
              <a:srgbClr val="2B6F9E">
                <a:alpha val="33333"/>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69CB8483-3564-427C-8AD7-EA7AB9653EEA}"/>
              </a:ext>
            </a:extLst>
          </p:cNvPr>
          <p:cNvSpPr/>
          <p:nvPr/>
        </p:nvSpPr>
        <p:spPr>
          <a:xfrm>
            <a:off x="226833" y="4668225"/>
            <a:ext cx="5706114" cy="215444"/>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2B6F9E"/>
                </a:solidFill>
                <a:latin typeface="PingFang SC"/>
                <a:ea typeface="PingFang SC"/>
                <a:cs typeface="PingFang SC"/>
              </a:defRPr>
            </a:pPr>
            <a:r>
              <a:rPr sz="1400" b="1" dirty="0">
                <a:solidFill>
                  <a:srgbClr val="2B6F9E"/>
                </a:solidFill>
                <a:latin typeface="PingFang SC"/>
                <a:ea typeface="PingFang SC"/>
                <a:cs typeface="PingFang SC"/>
              </a:rPr>
              <a:t>profiling </a:t>
            </a:r>
            <a:r>
              <a:rPr sz="1400" b="1" dirty="0" err="1">
                <a:solidFill>
                  <a:srgbClr val="2B6F9E"/>
                </a:solidFill>
                <a:latin typeface="PingFang SC"/>
                <a:ea typeface="PingFang SC"/>
                <a:cs typeface="PingFang SC"/>
              </a:rPr>
              <a:t>开销</a:t>
            </a:r>
            <a:r>
              <a:rPr lang="zh-CN" altLang="en-US" sz="1400" b="1" dirty="0">
                <a:solidFill>
                  <a:srgbClr val="2B6F9E"/>
                </a:solidFill>
                <a:latin typeface="PingFang SC"/>
                <a:ea typeface="PingFang SC"/>
                <a:cs typeface="PingFang SC"/>
              </a:rPr>
              <a:t>降低</a:t>
            </a:r>
            <a:r>
              <a:rPr sz="1400" b="1" dirty="0">
                <a:solidFill>
                  <a:srgbClr val="FF0000"/>
                </a:solidFill>
                <a:latin typeface="PingFang SC"/>
                <a:ea typeface="PingFang SC"/>
                <a:cs typeface="PingFang SC"/>
              </a:rPr>
              <a:t>84.25%</a:t>
            </a:r>
            <a:r>
              <a:rPr sz="1400" b="1" dirty="0">
                <a:solidFill>
                  <a:srgbClr val="2B6F9E"/>
                </a:solidFill>
                <a:latin typeface="PingFang SC"/>
                <a:ea typeface="PingFang SC"/>
                <a:cs typeface="PingFang SC"/>
              </a:rPr>
              <a:t>；</a:t>
            </a:r>
            <a:r>
              <a:rPr sz="1400" b="1" dirty="0" err="1">
                <a:solidFill>
                  <a:srgbClr val="2B6F9E"/>
                </a:solidFill>
                <a:latin typeface="PingFang SC"/>
                <a:ea typeface="PingFang SC"/>
                <a:cs typeface="PingFang SC"/>
              </a:rPr>
              <a:t>支持</a:t>
            </a:r>
            <a:r>
              <a:rPr sz="1400" b="1" dirty="0">
                <a:solidFill>
                  <a:srgbClr val="2B6F9E"/>
                </a:solidFill>
                <a:latin typeface="PingFang SC"/>
                <a:ea typeface="PingFang SC"/>
                <a:cs typeface="PingFang SC"/>
              </a:rPr>
              <a:t> 4× </a:t>
            </a:r>
            <a:r>
              <a:rPr sz="1400" b="1" dirty="0" err="1">
                <a:solidFill>
                  <a:srgbClr val="2B6F9E"/>
                </a:solidFill>
                <a:latin typeface="PingFang SC"/>
                <a:ea typeface="PingFang SC"/>
                <a:cs typeface="PingFang SC"/>
              </a:rPr>
              <a:t>超</a:t>
            </a:r>
            <a:r>
              <a:rPr sz="1400" b="1" dirty="0">
                <a:solidFill>
                  <a:srgbClr val="2B6F9E"/>
                </a:solidFill>
                <a:latin typeface="PingFang SC"/>
                <a:ea typeface="PingFang SC"/>
                <a:cs typeface="PingFang SC"/>
              </a:rPr>
              <a:t> HBM</a:t>
            </a:r>
            <a:r>
              <a:rPr lang="zh-CN" altLang="en-US" sz="1400" b="1" dirty="0">
                <a:solidFill>
                  <a:srgbClr val="2B6F9E"/>
                </a:solidFill>
                <a:latin typeface="PingFang SC"/>
                <a:ea typeface="PingFang SC"/>
                <a:cs typeface="PingFang SC"/>
              </a:rPr>
              <a:t>训练</a:t>
            </a:r>
            <a:r>
              <a:rPr sz="1400" b="1" dirty="0">
                <a:solidFill>
                  <a:srgbClr val="2B6F9E"/>
                </a:solidFill>
                <a:latin typeface="PingFang SC"/>
                <a:ea typeface="PingFang SC"/>
                <a:cs typeface="PingFang SC"/>
              </a:rPr>
              <a:t>；</a:t>
            </a:r>
            <a:r>
              <a:rPr sz="1400" b="1" dirty="0" err="1">
                <a:solidFill>
                  <a:srgbClr val="2B6F9E"/>
                </a:solidFill>
                <a:latin typeface="PingFang SC"/>
                <a:ea typeface="PingFang SC"/>
                <a:cs typeface="PingFang SC"/>
              </a:rPr>
              <a:t>性能</a:t>
            </a:r>
            <a:r>
              <a:rPr lang="zh-CN" altLang="en-US" sz="1400" b="1" dirty="0">
                <a:solidFill>
                  <a:srgbClr val="2B6F9E"/>
                </a:solidFill>
                <a:latin typeface="PingFang SC"/>
                <a:ea typeface="PingFang SC"/>
                <a:cs typeface="PingFang SC"/>
              </a:rPr>
              <a:t>提升</a:t>
            </a:r>
            <a:r>
              <a:rPr sz="1400" b="1" dirty="0">
                <a:solidFill>
                  <a:srgbClr val="FF0000"/>
                </a:solidFill>
                <a:latin typeface="PingFang SC"/>
                <a:ea typeface="PingFang SC"/>
                <a:cs typeface="PingFang SC"/>
              </a:rPr>
              <a:t>38.94%</a:t>
            </a:r>
            <a:endParaRPr sz="1400" dirty="0">
              <a:solidFill>
                <a:srgbClr val="FF0000"/>
              </a:solidFill>
            </a:endParaRPr>
          </a:p>
        </p:txBody>
      </p:sp>
      <p:sp>
        <p:nvSpPr>
          <p:cNvPr id="16" name="card-TAKEAWAY">
            <a:extLst>
              <a:ext uri="{FF2B5EF4-FFF2-40B4-BE49-F238E27FC236}">
                <a16:creationId xmlns:a16="http://schemas.microsoft.com/office/drawing/2014/main" id="{12D40DCC-4650-4303-96D8-40B4F31D2474}"/>
              </a:ext>
            </a:extLst>
          </p:cNvPr>
          <p:cNvSpPr/>
          <p:nvPr/>
        </p:nvSpPr>
        <p:spPr>
          <a:xfrm>
            <a:off x="419100" y="5238750"/>
            <a:ext cx="5334000" cy="746494"/>
          </a:xfrm>
          <a:prstGeom prst="rect">
            <a:avLst/>
          </a:prstGeom>
          <a:solidFill>
            <a:srgbClr val="FFFFFF"/>
          </a:solidFill>
          <a:ln w="9525">
            <a:solidFill>
              <a:srgbClr val="2B6F9E">
                <a:alpha val="33333"/>
              </a:srgbClr>
            </a:solidFill>
            <a:prstDash val="solid"/>
          </a:ln>
        </p:spPr>
        <p:txBody>
          <a:bodyPr/>
          <a:lstStyle/>
          <a:p>
            <a:endParaRPr lang="zh-CN" altLang="en-US"/>
          </a:p>
        </p:txBody>
      </p:sp>
      <p:sp>
        <p:nvSpPr>
          <p:cNvPr id="17" name="card-accent-TAKEAWAY">
            <a:extLst>
              <a:ext uri="{FF2B5EF4-FFF2-40B4-BE49-F238E27FC236}">
                <a16:creationId xmlns:a16="http://schemas.microsoft.com/office/drawing/2014/main" id="{333AA8E2-412D-4620-AEE0-753AB70C5176}"/>
              </a:ext>
            </a:extLst>
          </p:cNvPr>
          <p:cNvSpPr/>
          <p:nvPr/>
        </p:nvSpPr>
        <p:spPr>
          <a:xfrm>
            <a:off x="419100" y="5238750"/>
            <a:ext cx="47625" cy="746494"/>
          </a:xfrm>
          <a:prstGeom prst="rect">
            <a:avLst/>
          </a:prstGeom>
          <a:solidFill>
            <a:srgbClr val="2B6F9E"/>
          </a:solidFill>
          <a:ln w="0">
            <a:solidFill>
              <a:srgbClr val="2B6F9E"/>
            </a:solidFill>
            <a:prstDash val="solid"/>
          </a:ln>
        </p:spPr>
        <p:txBody>
          <a:bodyPr/>
          <a:lstStyle/>
          <a:p>
            <a:endParaRPr lang="zh-CN" altLang="en-US"/>
          </a:p>
        </p:txBody>
      </p:sp>
      <p:sp>
        <p:nvSpPr>
          <p:cNvPr id="18" name="矩形 17">
            <a:extLst>
              <a:ext uri="{FF2B5EF4-FFF2-40B4-BE49-F238E27FC236}">
                <a16:creationId xmlns:a16="http://schemas.microsoft.com/office/drawing/2014/main" id="{AF200C39-AC8C-4AAB-9F08-EF0EE6175655}"/>
              </a:ext>
            </a:extLst>
          </p:cNvPr>
          <p:cNvSpPr/>
          <p:nvPr/>
        </p:nvSpPr>
        <p:spPr>
          <a:xfrm>
            <a:off x="571500" y="5334000"/>
            <a:ext cx="5048250" cy="182880"/>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dirty="0">
                <a:solidFill>
                  <a:srgbClr val="2B6F9E"/>
                </a:solidFill>
                <a:latin typeface="Aptos"/>
                <a:ea typeface="Aptos"/>
                <a:cs typeface="Aptos"/>
              </a:rPr>
              <a:t>TAKEAWAY</a:t>
            </a:r>
            <a:endParaRPr sz="1400" dirty="0"/>
          </a:p>
        </p:txBody>
      </p:sp>
      <p:sp>
        <p:nvSpPr>
          <p:cNvPr id="19" name="矩形 18">
            <a:extLst>
              <a:ext uri="{FF2B5EF4-FFF2-40B4-BE49-F238E27FC236}">
                <a16:creationId xmlns:a16="http://schemas.microsoft.com/office/drawing/2014/main" id="{0E039DE5-6361-4935-BD55-EC322AF94A21}"/>
              </a:ext>
            </a:extLst>
          </p:cNvPr>
          <p:cNvSpPr/>
          <p:nvPr/>
        </p:nvSpPr>
        <p:spPr>
          <a:xfrm>
            <a:off x="571500" y="5524500"/>
            <a:ext cx="4905375" cy="430887"/>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defRPr sz="1140" b="1">
                <a:solidFill>
                  <a:srgbClr val="17202A"/>
                </a:solidFill>
                <a:latin typeface="PingFang SC"/>
                <a:ea typeface="PingFang SC"/>
                <a:cs typeface="PingFang SC"/>
              </a:defRPr>
            </a:pPr>
            <a:r>
              <a:rPr lang="zh-CN" altLang="en-US" sz="1400" b="1" dirty="0">
                <a:solidFill>
                  <a:srgbClr val="17202A"/>
                </a:solidFill>
                <a:latin typeface="PingFang SC"/>
                <a:ea typeface="PingFang SC"/>
                <a:cs typeface="PingFang SC"/>
              </a:rPr>
              <a:t>把依赖固定计算图的 </a:t>
            </a:r>
            <a:r>
              <a:rPr lang="en" altLang="zh-CN" sz="1400" b="1" dirty="0">
                <a:solidFill>
                  <a:srgbClr val="17202A"/>
                </a:solidFill>
                <a:latin typeface="PingFang SC"/>
                <a:ea typeface="PingFang SC"/>
                <a:cs typeface="PingFang SC"/>
              </a:rPr>
              <a:t>swap </a:t>
            </a:r>
            <a:r>
              <a:rPr lang="zh-CN" altLang="en-US" sz="1400" b="1" dirty="0">
                <a:solidFill>
                  <a:srgbClr val="17202A"/>
                </a:solidFill>
                <a:latin typeface="PingFang SC"/>
                <a:ea typeface="PingFang SC"/>
                <a:cs typeface="PingFang SC"/>
              </a:rPr>
              <a:t>优化，扩展到真实 </a:t>
            </a:r>
            <a:r>
              <a:rPr lang="en" altLang="zh-CN" sz="1400" b="1" dirty="0">
                <a:solidFill>
                  <a:srgbClr val="17202A"/>
                </a:solidFill>
                <a:latin typeface="PingFang SC"/>
                <a:ea typeface="PingFang SC"/>
                <a:cs typeface="PingFang SC"/>
              </a:rPr>
              <a:t>Eager Mode </a:t>
            </a:r>
            <a:r>
              <a:rPr lang="zh-CN" altLang="en-US" sz="1400" b="1" dirty="0">
                <a:solidFill>
                  <a:srgbClr val="17202A"/>
                </a:solidFill>
                <a:latin typeface="PingFang SC"/>
                <a:ea typeface="PingFang SC"/>
                <a:cs typeface="PingFang SC"/>
              </a:rPr>
              <a:t>动态训练场景。</a:t>
            </a:r>
          </a:p>
        </p:txBody>
      </p:sp>
      <p:sp>
        <p:nvSpPr>
          <p:cNvPr id="21" name="矩形 20">
            <a:extLst>
              <a:ext uri="{FF2B5EF4-FFF2-40B4-BE49-F238E27FC236}">
                <a16:creationId xmlns:a16="http://schemas.microsoft.com/office/drawing/2014/main" id="{AC1685A7-B24A-4947-B3B8-F3CBA647112C}"/>
              </a:ext>
            </a:extLst>
          </p:cNvPr>
          <p:cNvSpPr/>
          <p:nvPr/>
        </p:nvSpPr>
        <p:spPr>
          <a:xfrm>
            <a:off x="381000" y="6477000"/>
            <a:ext cx="40005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18" b="0">
                <a:solidFill>
                  <a:srgbClr val="7A8393"/>
                </a:solidFill>
                <a:latin typeface="Aptos"/>
                <a:ea typeface="Aptos"/>
                <a:cs typeface="Aptos"/>
              </a:defRPr>
            </a:pPr>
            <a:r>
              <a:rPr sz="880" b="0" dirty="0">
                <a:solidFill>
                  <a:srgbClr val="7A8393"/>
                </a:solidFill>
                <a:latin typeface="Aptos"/>
                <a:ea typeface="Aptos"/>
                <a:cs typeface="Aptos"/>
              </a:rPr>
              <a:t>Source: local paper PDF · core figure cropped from paper</a:t>
            </a:r>
          </a:p>
        </p:txBody>
      </p:sp>
      <p:sp>
        <p:nvSpPr>
          <p:cNvPr id="22" name="矩形 21">
            <a:extLst>
              <a:ext uri="{FF2B5EF4-FFF2-40B4-BE49-F238E27FC236}">
                <a16:creationId xmlns:a16="http://schemas.microsoft.com/office/drawing/2014/main" id="{DB9CA877-82EC-4137-858D-826F8C8ECE81}"/>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05</a:t>
            </a:r>
          </a:p>
        </p:txBody>
      </p:sp>
      <p:pic>
        <p:nvPicPr>
          <p:cNvPr id="25" name="图片 24">
            <a:extLst>
              <a:ext uri="{FF2B5EF4-FFF2-40B4-BE49-F238E27FC236}">
                <a16:creationId xmlns:a16="http://schemas.microsoft.com/office/drawing/2014/main" id="{80B46F93-4E0B-4352-AECA-1FB92118F2E6}"/>
              </a:ext>
            </a:extLst>
          </p:cNvPr>
          <p:cNvPicPr>
            <a:picLocks noChangeAspect="1"/>
          </p:cNvPicPr>
          <p:nvPr/>
        </p:nvPicPr>
        <p:blipFill>
          <a:blip r:embed="rId3"/>
          <a:stretch>
            <a:fillRect/>
          </a:stretch>
        </p:blipFill>
        <p:spPr>
          <a:xfrm>
            <a:off x="6296540" y="1570341"/>
            <a:ext cx="5563700" cy="4892219"/>
          </a:xfrm>
          <a:prstGeom prst="rect">
            <a:avLst/>
          </a:prstGeom>
        </p:spPr>
      </p:pic>
    </p:spTree>
    <p:extLst>
      <p:ext uri="{BB962C8B-B14F-4D97-AF65-F5344CB8AC3E}">
        <p14:creationId xmlns:p14="http://schemas.microsoft.com/office/powerpoint/2010/main" val="941432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F872A408-943A-4763-9472-40E4ABEEB56B}"/>
              </a:ext>
            </a:extLst>
          </p:cNvPr>
          <p:cNvSpPr/>
          <p:nvPr/>
        </p:nvSpPr>
        <p:spPr>
          <a:xfrm>
            <a:off x="361950" y="323850"/>
            <a:ext cx="47625" cy="247650"/>
          </a:xfrm>
          <a:prstGeom prst="rect">
            <a:avLst/>
          </a:prstGeom>
          <a:solidFill>
            <a:srgbClr val="2B6F9E"/>
          </a:solidFill>
          <a:ln w="0">
            <a:solidFill>
              <a:srgbClr val="2B6F9E"/>
            </a:solidFill>
            <a:prstDash val="solid"/>
          </a:ln>
        </p:spPr>
        <p:txBody>
          <a:bodyPr/>
          <a:lstStyle/>
          <a:p>
            <a:endParaRPr lang="zh-CN" altLang="en-US"/>
          </a:p>
        </p:txBody>
      </p:sp>
      <p:sp>
        <p:nvSpPr>
          <p:cNvPr id="2" name="kicker-label">
            <a:extLst>
              <a:ext uri="{FF2B5EF4-FFF2-40B4-BE49-F238E27FC236}">
                <a16:creationId xmlns:a16="http://schemas.microsoft.com/office/drawing/2014/main" id="{2B511913-EE33-4AA2-958E-D2E36CB14487}"/>
              </a:ext>
            </a:extLst>
          </p:cNvPr>
          <p:cNvSpPr/>
          <p:nvPr/>
        </p:nvSpPr>
        <p:spPr>
          <a:xfrm>
            <a:off x="514350" y="333375"/>
            <a:ext cx="292608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PAPER 06 · TRAINING SYSTEMS</a:t>
            </a:r>
            <a:endParaRPr sz="1400"/>
          </a:p>
        </p:txBody>
      </p:sp>
      <p:sp>
        <p:nvSpPr>
          <p:cNvPr id="3" name="pill-INFOCOM'26">
            <a:extLst>
              <a:ext uri="{FF2B5EF4-FFF2-40B4-BE49-F238E27FC236}">
                <a16:creationId xmlns:a16="http://schemas.microsoft.com/office/drawing/2014/main" id="{2B5E152A-F0A1-40DD-83D2-98581BCC924B}"/>
              </a:ext>
            </a:extLst>
          </p:cNvPr>
          <p:cNvSpPr/>
          <p:nvPr/>
        </p:nvSpPr>
        <p:spPr>
          <a:xfrm>
            <a:off x="10144125" y="342519"/>
            <a:ext cx="1657350" cy="266700"/>
          </a:xfrm>
          <a:prstGeom prst="rect">
            <a:avLst/>
          </a:prstGeom>
          <a:solidFill>
            <a:srgbClr val="2B6F9E">
              <a:alpha val="8627"/>
            </a:srgbClr>
          </a:solidFill>
          <a:ln w="9525">
            <a:solidFill>
              <a:srgbClr val="2B6F9E">
                <a:alpha val="43922"/>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6A8AEE18-9339-4B43-9C94-80532D6DAF17}"/>
              </a:ext>
            </a:extLst>
          </p:cNvPr>
          <p:cNvSpPr/>
          <p:nvPr/>
        </p:nvSpPr>
        <p:spPr>
          <a:xfrm>
            <a:off x="10239375" y="352425"/>
            <a:ext cx="14668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2B6F9E"/>
                </a:solidFill>
                <a:latin typeface="Aptos"/>
                <a:ea typeface="Aptos"/>
                <a:cs typeface="Aptos"/>
              </a:defRPr>
            </a:pPr>
            <a:r>
              <a:rPr sz="1400" b="1">
                <a:solidFill>
                  <a:srgbClr val="2B6F9E"/>
                </a:solidFill>
                <a:latin typeface="Aptos"/>
                <a:ea typeface="Aptos"/>
                <a:cs typeface="Aptos"/>
              </a:rPr>
              <a:t>INFOCOM'26</a:t>
            </a:r>
            <a:endParaRPr sz="1400"/>
          </a:p>
        </p:txBody>
      </p:sp>
      <p:sp>
        <p:nvSpPr>
          <p:cNvPr id="5" name="矩形 4">
            <a:extLst>
              <a:ext uri="{FF2B5EF4-FFF2-40B4-BE49-F238E27FC236}">
                <a16:creationId xmlns:a16="http://schemas.microsoft.com/office/drawing/2014/main" id="{3C1260E9-02F6-4A1F-9FAE-61C964CD833C}"/>
              </a:ext>
            </a:extLst>
          </p:cNvPr>
          <p:cNvSpPr/>
          <p:nvPr/>
        </p:nvSpPr>
        <p:spPr>
          <a:xfrm>
            <a:off x="361950" y="666750"/>
            <a:ext cx="9715500" cy="419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2550" b="1">
                <a:solidFill>
                  <a:srgbClr val="17202A"/>
                </a:solidFill>
                <a:latin typeface="PingFang SC"/>
                <a:ea typeface="PingFang SC"/>
                <a:cs typeface="PingFang SC"/>
              </a:defRPr>
            </a:pPr>
            <a:r>
              <a:rPr sz="2550" b="1">
                <a:solidFill>
                  <a:srgbClr val="17202A"/>
                </a:solidFill>
                <a:latin typeface="PingFang SC"/>
                <a:ea typeface="PingFang SC"/>
                <a:cs typeface="PingFang SC"/>
              </a:rPr>
              <a:t>Chameleon-FT：故障后实时选择恢复策略</a:t>
            </a:r>
            <a:endParaRPr sz="1400"/>
          </a:p>
        </p:txBody>
      </p:sp>
      <p:sp>
        <p:nvSpPr>
          <p:cNvPr id="6" name="矩形 5">
            <a:extLst>
              <a:ext uri="{FF2B5EF4-FFF2-40B4-BE49-F238E27FC236}">
                <a16:creationId xmlns:a16="http://schemas.microsoft.com/office/drawing/2014/main" id="{B7E5C63E-54F2-462E-BD4D-815F69E6D409}"/>
              </a:ext>
            </a:extLst>
          </p:cNvPr>
          <p:cNvSpPr/>
          <p:nvPr/>
        </p:nvSpPr>
        <p:spPr>
          <a:xfrm>
            <a:off x="381000" y="1152525"/>
            <a:ext cx="93345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a:solidFill>
                  <a:srgbClr val="596273"/>
                </a:solidFill>
                <a:latin typeface="Aptos"/>
                <a:ea typeface="Aptos"/>
                <a:cs typeface="Aptos"/>
              </a:rPr>
              <a:t>Chameleon: Adaptive Fault Tolerance for Distributed Training via Real-time Policy Selection</a:t>
            </a:r>
            <a:endParaRPr sz="1400"/>
          </a:p>
        </p:txBody>
      </p:sp>
      <p:sp>
        <p:nvSpPr>
          <p:cNvPr id="7" name="top-rule">
            <a:extLst>
              <a:ext uri="{FF2B5EF4-FFF2-40B4-BE49-F238E27FC236}">
                <a16:creationId xmlns:a16="http://schemas.microsoft.com/office/drawing/2014/main" id="{A4C1CF00-79D1-48AD-B170-0035F4B35D40}"/>
              </a:ext>
            </a:extLst>
          </p:cNvPr>
          <p:cNvSpPr/>
          <p:nvPr/>
        </p:nvSpPr>
        <p:spPr>
          <a:xfrm>
            <a:off x="381000" y="1438275"/>
            <a:ext cx="11410950" cy="10478"/>
          </a:xfrm>
          <a:prstGeom prst="rect">
            <a:avLst/>
          </a:prstGeom>
          <a:solidFill>
            <a:srgbClr val="D8DEE8"/>
          </a:solidFill>
          <a:ln w="0">
            <a:solidFill>
              <a:srgbClr val="D8DEE8"/>
            </a:solidFill>
            <a:prstDash val="solid"/>
          </a:ln>
        </p:spPr>
        <p:txBody>
          <a:bodyPr/>
          <a:lstStyle/>
          <a:p>
            <a:endParaRPr lang="zh-CN" altLang="en-US"/>
          </a:p>
        </p:txBody>
      </p:sp>
      <p:sp>
        <p:nvSpPr>
          <p:cNvPr id="8" name="rule-CORE PROBLEM">
            <a:extLst>
              <a:ext uri="{FF2B5EF4-FFF2-40B4-BE49-F238E27FC236}">
                <a16:creationId xmlns:a16="http://schemas.microsoft.com/office/drawing/2014/main" id="{2AF37C0D-5E24-49F5-A747-E82E8FFDD836}"/>
              </a:ext>
            </a:extLst>
          </p:cNvPr>
          <p:cNvSpPr/>
          <p:nvPr/>
        </p:nvSpPr>
        <p:spPr>
          <a:xfrm>
            <a:off x="419100" y="1773650"/>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9" name="矩形 8">
            <a:extLst>
              <a:ext uri="{FF2B5EF4-FFF2-40B4-BE49-F238E27FC236}">
                <a16:creationId xmlns:a16="http://schemas.microsoft.com/office/drawing/2014/main" id="{7BD80DE4-99D5-4632-85DC-0A228B289D01}"/>
              </a:ext>
            </a:extLst>
          </p:cNvPr>
          <p:cNvSpPr/>
          <p:nvPr/>
        </p:nvSpPr>
        <p:spPr>
          <a:xfrm>
            <a:off x="742950" y="1657350"/>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CORE PROBLEM</a:t>
            </a:r>
            <a:endParaRPr sz="1400"/>
          </a:p>
        </p:txBody>
      </p:sp>
      <p:sp>
        <p:nvSpPr>
          <p:cNvPr id="10" name="矩形 9">
            <a:extLst>
              <a:ext uri="{FF2B5EF4-FFF2-40B4-BE49-F238E27FC236}">
                <a16:creationId xmlns:a16="http://schemas.microsoft.com/office/drawing/2014/main" id="{F3694F45-F6EC-4778-91BC-F814BD569866}"/>
              </a:ext>
            </a:extLst>
          </p:cNvPr>
          <p:cNvSpPr/>
          <p:nvPr/>
        </p:nvSpPr>
        <p:spPr>
          <a:xfrm>
            <a:off x="419100" y="1933575"/>
            <a:ext cx="3429000" cy="933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PingFang SC"/>
                <a:ea typeface="PingFang SC"/>
                <a:cs typeface="PingFang SC"/>
              </a:defRPr>
            </a:pPr>
            <a:r>
              <a:rPr sz="1400" b="0">
                <a:solidFill>
                  <a:srgbClr val="596273"/>
                </a:solidFill>
                <a:latin typeface="PingFang SC"/>
                <a:ea typeface="PingFang SC"/>
                <a:cs typeface="PingFang SC"/>
              </a:rPr>
              <a:t>不同 backup-free 容错策略在开销
恢复时间和恢复后吞吐上各有取舍。</a:t>
            </a:r>
            <a:endParaRPr sz="1400"/>
          </a:p>
        </p:txBody>
      </p:sp>
      <p:sp>
        <p:nvSpPr>
          <p:cNvPr id="11" name="rule-SYSTEM IDEA">
            <a:extLst>
              <a:ext uri="{FF2B5EF4-FFF2-40B4-BE49-F238E27FC236}">
                <a16:creationId xmlns:a16="http://schemas.microsoft.com/office/drawing/2014/main" id="{67A00310-E288-4CBB-ABBB-6BE56797E1DA}"/>
              </a:ext>
            </a:extLst>
          </p:cNvPr>
          <p:cNvSpPr/>
          <p:nvPr/>
        </p:nvSpPr>
        <p:spPr>
          <a:xfrm>
            <a:off x="419100" y="3154775"/>
            <a:ext cx="228600" cy="14288"/>
          </a:xfrm>
          <a:prstGeom prst="rect">
            <a:avLst/>
          </a:prstGeom>
          <a:solidFill>
            <a:srgbClr val="2B6F9E"/>
          </a:solidFill>
          <a:ln w="0">
            <a:solidFill>
              <a:srgbClr val="2B6F9E"/>
            </a:solidFill>
            <a:prstDash val="solid"/>
          </a:ln>
        </p:spPr>
        <p:txBody>
          <a:bodyPr/>
          <a:lstStyle/>
          <a:p>
            <a:endParaRPr lang="zh-CN" altLang="en-US"/>
          </a:p>
        </p:txBody>
      </p:sp>
      <p:sp>
        <p:nvSpPr>
          <p:cNvPr id="12" name="矩形 11">
            <a:extLst>
              <a:ext uri="{FF2B5EF4-FFF2-40B4-BE49-F238E27FC236}">
                <a16:creationId xmlns:a16="http://schemas.microsoft.com/office/drawing/2014/main" id="{F95E606B-F0DD-4B5E-9D4C-16FED6EBBF80}"/>
              </a:ext>
            </a:extLst>
          </p:cNvPr>
          <p:cNvSpPr/>
          <p:nvPr/>
        </p:nvSpPr>
        <p:spPr>
          <a:xfrm>
            <a:off x="742950" y="3038475"/>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SYSTEM IDEA</a:t>
            </a:r>
            <a:endParaRPr sz="1400"/>
          </a:p>
        </p:txBody>
      </p:sp>
      <p:sp>
        <p:nvSpPr>
          <p:cNvPr id="13" name="矩形 12">
            <a:extLst>
              <a:ext uri="{FF2B5EF4-FFF2-40B4-BE49-F238E27FC236}">
                <a16:creationId xmlns:a16="http://schemas.microsoft.com/office/drawing/2014/main" id="{A76A5CE3-AD85-4DA7-94FB-20F7B0F52054}"/>
              </a:ext>
            </a:extLst>
          </p:cNvPr>
          <p:cNvSpPr/>
          <p:nvPr/>
        </p:nvSpPr>
        <p:spPr>
          <a:xfrm>
            <a:off x="419100" y="3314700"/>
            <a:ext cx="3429000" cy="1181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 建模 fault-handling time 与
  post-recovery step time
• 搜索 DP / PP / batch / layer 分布
  生成执行计划
• 用权重迁移匹配与通信优化提升恢复效率</a:t>
            </a:r>
            <a:endParaRPr sz="1400"/>
          </a:p>
          <a:p>
            <a:pPr algn="l">
              <a:defRPr sz="1400" b="0">
                <a:solidFill>
                  <a:srgbClr val="17202A"/>
                </a:solidFill>
                <a:latin typeface="PingFang SC"/>
                <a:ea typeface="PingFang SC"/>
                <a:cs typeface="PingFang SC"/>
              </a:defRPr>
            </a:pPr>
            <a:endParaRPr sz="1400"/>
          </a:p>
          <a:p>
            <a:pPr algn="l">
              <a:defRPr sz="1400" b="0">
                <a:solidFill>
                  <a:srgbClr val="17202A"/>
                </a:solidFill>
                <a:latin typeface="PingFang SC"/>
                <a:ea typeface="PingFang SC"/>
                <a:cs typeface="PingFang SC"/>
              </a:defRPr>
            </a:pPr>
            <a:endParaRPr sz="1400"/>
          </a:p>
        </p:txBody>
      </p:sp>
      <p:sp>
        <p:nvSpPr>
          <p:cNvPr id="14" name="metric-box">
            <a:extLst>
              <a:ext uri="{FF2B5EF4-FFF2-40B4-BE49-F238E27FC236}">
                <a16:creationId xmlns:a16="http://schemas.microsoft.com/office/drawing/2014/main" id="{69D0C634-0C6E-41E0-A873-EB03FD90635F}"/>
              </a:ext>
            </a:extLst>
          </p:cNvPr>
          <p:cNvSpPr/>
          <p:nvPr/>
        </p:nvSpPr>
        <p:spPr>
          <a:xfrm>
            <a:off x="419100" y="4762500"/>
            <a:ext cx="3429000" cy="571500"/>
          </a:xfrm>
          <a:prstGeom prst="rect">
            <a:avLst/>
          </a:prstGeom>
          <a:solidFill>
            <a:srgbClr val="2B6F9E">
              <a:alpha val="6275"/>
            </a:srgbClr>
          </a:solidFill>
          <a:ln w="9525">
            <a:solidFill>
              <a:srgbClr val="2B6F9E">
                <a:alpha val="33333"/>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697543F6-7733-4CC7-8775-45FEF64E277A}"/>
              </a:ext>
            </a:extLst>
          </p:cNvPr>
          <p:cNvSpPr/>
          <p:nvPr/>
        </p:nvSpPr>
        <p:spPr>
          <a:xfrm>
            <a:off x="571500" y="4876800"/>
            <a:ext cx="3124200" cy="45262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2B6F9E"/>
                </a:solidFill>
                <a:latin typeface="PingFang SC"/>
                <a:ea typeface="PingFang SC"/>
                <a:cs typeface="PingFang SC"/>
              </a:defRPr>
            </a:pPr>
            <a:r>
              <a:rPr sz="1400" b="1">
                <a:solidFill>
                  <a:srgbClr val="2B6F9E"/>
                </a:solidFill>
                <a:latin typeface="PingFang SC"/>
                <a:ea typeface="PingFang SC"/>
                <a:cs typeface="PingFang SC"/>
              </a:rPr>
              <a:t>故障后自动选择 data rerouting
dynamic parallelism</a:t>
            </a:r>
            <a:endParaRPr sz="1400"/>
          </a:p>
        </p:txBody>
      </p:sp>
      <p:sp>
        <p:nvSpPr>
          <p:cNvPr id="16" name="card-TAKEAWAY">
            <a:extLst>
              <a:ext uri="{FF2B5EF4-FFF2-40B4-BE49-F238E27FC236}">
                <a16:creationId xmlns:a16="http://schemas.microsoft.com/office/drawing/2014/main" id="{683BAA04-43AF-4125-B086-A897894ADB79}"/>
              </a:ext>
            </a:extLst>
          </p:cNvPr>
          <p:cNvSpPr/>
          <p:nvPr/>
        </p:nvSpPr>
        <p:spPr>
          <a:xfrm>
            <a:off x="419100" y="5524499"/>
            <a:ext cx="3429000" cy="748709"/>
          </a:xfrm>
          <a:prstGeom prst="rect">
            <a:avLst/>
          </a:prstGeom>
          <a:solidFill>
            <a:srgbClr val="FFFFFF"/>
          </a:solidFill>
          <a:ln w="9525">
            <a:solidFill>
              <a:srgbClr val="2B6F9E">
                <a:alpha val="33333"/>
              </a:srgbClr>
            </a:solidFill>
            <a:prstDash val="solid"/>
          </a:ln>
        </p:spPr>
        <p:txBody>
          <a:bodyPr/>
          <a:lstStyle/>
          <a:p>
            <a:endParaRPr lang="zh-CN" altLang="en-US"/>
          </a:p>
        </p:txBody>
      </p:sp>
      <p:sp>
        <p:nvSpPr>
          <p:cNvPr id="17" name="card-accent-TAKEAWAY">
            <a:extLst>
              <a:ext uri="{FF2B5EF4-FFF2-40B4-BE49-F238E27FC236}">
                <a16:creationId xmlns:a16="http://schemas.microsoft.com/office/drawing/2014/main" id="{74805400-C39F-49A1-AD4E-470DA28F8F7F}"/>
              </a:ext>
            </a:extLst>
          </p:cNvPr>
          <p:cNvSpPr/>
          <p:nvPr/>
        </p:nvSpPr>
        <p:spPr>
          <a:xfrm>
            <a:off x="419100" y="5524499"/>
            <a:ext cx="47625" cy="748709"/>
          </a:xfrm>
          <a:prstGeom prst="rect">
            <a:avLst/>
          </a:prstGeom>
          <a:solidFill>
            <a:srgbClr val="2B6F9E"/>
          </a:solidFill>
          <a:ln w="0">
            <a:solidFill>
              <a:srgbClr val="2B6F9E"/>
            </a:solidFill>
            <a:prstDash val="solid"/>
          </a:ln>
        </p:spPr>
        <p:txBody>
          <a:bodyPr/>
          <a:lstStyle/>
          <a:p>
            <a:endParaRPr lang="zh-CN" altLang="en-US"/>
          </a:p>
        </p:txBody>
      </p:sp>
      <p:sp>
        <p:nvSpPr>
          <p:cNvPr id="18" name="矩形 17">
            <a:extLst>
              <a:ext uri="{FF2B5EF4-FFF2-40B4-BE49-F238E27FC236}">
                <a16:creationId xmlns:a16="http://schemas.microsoft.com/office/drawing/2014/main" id="{9C5D2EE3-DF69-4E3E-81D0-6A14C19645F6}"/>
              </a:ext>
            </a:extLst>
          </p:cNvPr>
          <p:cNvSpPr/>
          <p:nvPr/>
        </p:nvSpPr>
        <p:spPr>
          <a:xfrm>
            <a:off x="571500" y="5619750"/>
            <a:ext cx="3143250" cy="182880"/>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2B6F9E"/>
                </a:solidFill>
                <a:latin typeface="Aptos"/>
                <a:ea typeface="Aptos"/>
                <a:cs typeface="Aptos"/>
              </a:defRPr>
            </a:pPr>
            <a:r>
              <a:rPr sz="1400" b="1">
                <a:solidFill>
                  <a:srgbClr val="2B6F9E"/>
                </a:solidFill>
                <a:latin typeface="Aptos"/>
                <a:ea typeface="Aptos"/>
                <a:cs typeface="Aptos"/>
              </a:rPr>
              <a:t>TAKEAWAY</a:t>
            </a:r>
            <a:endParaRPr sz="1400"/>
          </a:p>
        </p:txBody>
      </p:sp>
      <p:sp>
        <p:nvSpPr>
          <p:cNvPr id="19" name="矩形 18">
            <a:extLst>
              <a:ext uri="{FF2B5EF4-FFF2-40B4-BE49-F238E27FC236}">
                <a16:creationId xmlns:a16="http://schemas.microsoft.com/office/drawing/2014/main" id="{6C8352F6-27D9-4DCB-8746-5B201EB4FD40}"/>
              </a:ext>
            </a:extLst>
          </p:cNvPr>
          <p:cNvSpPr/>
          <p:nvPr/>
        </p:nvSpPr>
        <p:spPr>
          <a:xfrm>
            <a:off x="571500" y="5810250"/>
            <a:ext cx="3276600" cy="492443"/>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lgn="l">
              <a:defRPr sz="1400" b="1">
                <a:solidFill>
                  <a:srgbClr val="17202A"/>
                </a:solidFill>
                <a:latin typeface="PingFang SC"/>
                <a:ea typeface="PingFang SC"/>
                <a:cs typeface="PingFang SC"/>
              </a:defRPr>
            </a:pPr>
            <a:r>
              <a:rPr sz="1400" b="1" dirty="0" err="1">
                <a:solidFill>
                  <a:srgbClr val="17202A"/>
                </a:solidFill>
                <a:latin typeface="PingFang SC"/>
                <a:ea typeface="PingFang SC"/>
                <a:cs typeface="PingFang SC"/>
              </a:rPr>
              <a:t>恢复策略由实时状态与性能模型自动决策</a:t>
            </a:r>
            <a:endParaRPr lang="en-US" sz="1400" b="1" dirty="0">
              <a:solidFill>
                <a:srgbClr val="17202A"/>
              </a:solidFill>
              <a:latin typeface="PingFang SC"/>
              <a:ea typeface="PingFang SC"/>
              <a:cs typeface="PingFang SC"/>
            </a:endParaRPr>
          </a:p>
          <a:p>
            <a:pPr algn="l">
              <a:defRPr sz="1400" b="1">
                <a:solidFill>
                  <a:srgbClr val="17202A"/>
                </a:solidFill>
                <a:latin typeface="PingFang SC"/>
                <a:ea typeface="PingFang SC"/>
                <a:cs typeface="PingFang SC"/>
              </a:defRPr>
            </a:pPr>
            <a:r>
              <a:rPr lang="en-US" altLang="zh-CN" sz="1800" b="0" i="0" u="none" strike="noStrike" baseline="0" dirty="0">
                <a:solidFill>
                  <a:srgbClr val="FF0000"/>
                </a:solidFill>
                <a:latin typeface="NimbusRomNo9L-Medi"/>
              </a:rPr>
              <a:t>1.355</a:t>
            </a:r>
            <a:r>
              <a:rPr lang="en-US" altLang="zh-CN" sz="1800" b="0" i="0" u="none" strike="noStrike" baseline="0" dirty="0">
                <a:solidFill>
                  <a:srgbClr val="FF0000"/>
                </a:solidFill>
                <a:latin typeface="CMSY9"/>
              </a:rPr>
              <a:t>× </a:t>
            </a:r>
            <a:r>
              <a:rPr lang="en-US" altLang="zh-CN" sz="1800" b="0" i="0" u="none" strike="noStrike" baseline="0" dirty="0">
                <a:latin typeface="NimbusRomNo9L-Medi"/>
              </a:rPr>
              <a:t>higher average</a:t>
            </a:r>
            <a:endParaRPr sz="1400" dirty="0"/>
          </a:p>
        </p:txBody>
      </p:sp>
      <p:pic>
        <p:nvPicPr>
          <p:cNvPr id="20" name="图片 19"/>
          <p:cNvPicPr/>
          <p:nvPr/>
        </p:nvPicPr>
        <p:blipFill>
          <a:blip r:embed="rId3"/>
          <a:srcRect l="7825" r="16586"/>
          <a:stretch>
            <a:fillRect/>
          </a:stretch>
        </p:blipFill>
        <p:spPr>
          <a:xfrm>
            <a:off x="4064934" y="1523079"/>
            <a:ext cx="7510378" cy="4621211"/>
          </a:xfrm>
          <a:prstGeom prst="rect">
            <a:avLst/>
          </a:prstGeom>
        </p:spPr>
      </p:pic>
      <p:sp>
        <p:nvSpPr>
          <p:cNvPr id="21" name="矩形 20">
            <a:extLst>
              <a:ext uri="{FF2B5EF4-FFF2-40B4-BE49-F238E27FC236}">
                <a16:creationId xmlns:a16="http://schemas.microsoft.com/office/drawing/2014/main" id="{A6C278EB-EEAE-4516-A28D-3CECC903D63D}"/>
              </a:ext>
            </a:extLst>
          </p:cNvPr>
          <p:cNvSpPr/>
          <p:nvPr/>
        </p:nvSpPr>
        <p:spPr>
          <a:xfrm>
            <a:off x="381000" y="6477000"/>
            <a:ext cx="40005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18" b="0">
                <a:solidFill>
                  <a:srgbClr val="7A8393"/>
                </a:solidFill>
                <a:latin typeface="Aptos"/>
                <a:ea typeface="Aptos"/>
                <a:cs typeface="Aptos"/>
              </a:defRPr>
            </a:pPr>
            <a:r>
              <a:rPr sz="880" b="0">
                <a:solidFill>
                  <a:srgbClr val="7A8393"/>
                </a:solidFill>
                <a:latin typeface="Aptos"/>
                <a:ea typeface="Aptos"/>
                <a:cs typeface="Aptos"/>
              </a:rPr>
              <a:t>Source: local paper PDF · core figure cropped from paper</a:t>
            </a:r>
          </a:p>
        </p:txBody>
      </p:sp>
      <p:sp>
        <p:nvSpPr>
          <p:cNvPr id="22" name="矩形 21">
            <a:extLst>
              <a:ext uri="{FF2B5EF4-FFF2-40B4-BE49-F238E27FC236}">
                <a16:creationId xmlns:a16="http://schemas.microsoft.com/office/drawing/2014/main" id="{3590CC93-D121-4CA3-BF89-5692FCCBEB7A}"/>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06</a:t>
            </a:r>
          </a:p>
        </p:txBody>
      </p:sp>
    </p:spTree>
    <p:extLst>
      <p:ext uri="{BB962C8B-B14F-4D97-AF65-F5344CB8AC3E}">
        <p14:creationId xmlns:p14="http://schemas.microsoft.com/office/powerpoint/2010/main" val="1389833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2857B035-7E27-4F80-9D71-5B095D41028F}"/>
              </a:ext>
            </a:extLst>
          </p:cNvPr>
          <p:cNvSpPr/>
          <p:nvPr/>
        </p:nvSpPr>
        <p:spPr>
          <a:xfrm>
            <a:off x="361950" y="323850"/>
            <a:ext cx="47625" cy="247650"/>
          </a:xfrm>
          <a:prstGeom prst="rect">
            <a:avLst/>
          </a:prstGeom>
          <a:solidFill>
            <a:srgbClr val="B7791F"/>
          </a:solidFill>
          <a:ln w="0">
            <a:solidFill>
              <a:srgbClr val="B7791F"/>
            </a:solidFill>
            <a:prstDash val="solid"/>
          </a:ln>
        </p:spPr>
        <p:txBody>
          <a:bodyPr/>
          <a:lstStyle/>
          <a:p>
            <a:endParaRPr lang="zh-CN" altLang="en-US"/>
          </a:p>
        </p:txBody>
      </p:sp>
      <p:sp>
        <p:nvSpPr>
          <p:cNvPr id="2" name="kicker-label">
            <a:extLst>
              <a:ext uri="{FF2B5EF4-FFF2-40B4-BE49-F238E27FC236}">
                <a16:creationId xmlns:a16="http://schemas.microsoft.com/office/drawing/2014/main" id="{E5CDCE4F-07B7-4EEF-8CE8-A993EB41D978}"/>
              </a:ext>
            </a:extLst>
          </p:cNvPr>
          <p:cNvSpPr/>
          <p:nvPr/>
        </p:nvSpPr>
        <p:spPr>
          <a:xfrm>
            <a:off x="514350" y="333375"/>
            <a:ext cx="292608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dirty="0">
                <a:solidFill>
                  <a:srgbClr val="B7791F"/>
                </a:solidFill>
                <a:latin typeface="Aptos"/>
                <a:ea typeface="Aptos"/>
                <a:cs typeface="Aptos"/>
              </a:rPr>
              <a:t>PAPER 07 · INFERENCE SERVING</a:t>
            </a:r>
            <a:endParaRPr sz="1400" dirty="0"/>
          </a:p>
        </p:txBody>
      </p:sp>
      <p:sp>
        <p:nvSpPr>
          <p:cNvPr id="3" name="pill-SIGMOD'26">
            <a:extLst>
              <a:ext uri="{FF2B5EF4-FFF2-40B4-BE49-F238E27FC236}">
                <a16:creationId xmlns:a16="http://schemas.microsoft.com/office/drawing/2014/main" id="{F50FBCE2-8EB9-4FA2-BA74-79BD1D894735}"/>
              </a:ext>
            </a:extLst>
          </p:cNvPr>
          <p:cNvSpPr/>
          <p:nvPr/>
        </p:nvSpPr>
        <p:spPr>
          <a:xfrm>
            <a:off x="10144125" y="342519"/>
            <a:ext cx="1657350" cy="266700"/>
          </a:xfrm>
          <a:prstGeom prst="rect">
            <a:avLst/>
          </a:prstGeom>
          <a:solidFill>
            <a:srgbClr val="B7791F">
              <a:alpha val="8627"/>
            </a:srgbClr>
          </a:solidFill>
          <a:ln w="9525">
            <a:solidFill>
              <a:srgbClr val="B7791F">
                <a:alpha val="43922"/>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4E23B42-6D50-45D3-8B11-1B623077ABBA}"/>
              </a:ext>
            </a:extLst>
          </p:cNvPr>
          <p:cNvSpPr/>
          <p:nvPr/>
        </p:nvSpPr>
        <p:spPr>
          <a:xfrm>
            <a:off x="10239375" y="352425"/>
            <a:ext cx="14668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B7791F"/>
                </a:solidFill>
                <a:latin typeface="Aptos"/>
                <a:ea typeface="Aptos"/>
                <a:cs typeface="Aptos"/>
              </a:defRPr>
            </a:pPr>
            <a:r>
              <a:rPr sz="1400" b="1">
                <a:solidFill>
                  <a:srgbClr val="B7791F"/>
                </a:solidFill>
                <a:latin typeface="Aptos"/>
                <a:ea typeface="Aptos"/>
                <a:cs typeface="Aptos"/>
              </a:rPr>
              <a:t>SIGMOD'26</a:t>
            </a:r>
            <a:endParaRPr sz="1400"/>
          </a:p>
        </p:txBody>
      </p:sp>
      <p:sp>
        <p:nvSpPr>
          <p:cNvPr id="5" name="矩形 4">
            <a:extLst>
              <a:ext uri="{FF2B5EF4-FFF2-40B4-BE49-F238E27FC236}">
                <a16:creationId xmlns:a16="http://schemas.microsoft.com/office/drawing/2014/main" id="{7F70B219-5536-48DA-86B9-C739F84F196B}"/>
              </a:ext>
            </a:extLst>
          </p:cNvPr>
          <p:cNvSpPr/>
          <p:nvPr/>
        </p:nvSpPr>
        <p:spPr>
          <a:xfrm>
            <a:off x="361950" y="666750"/>
            <a:ext cx="9715500" cy="419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2550" b="1">
                <a:solidFill>
                  <a:srgbClr val="17202A"/>
                </a:solidFill>
                <a:latin typeface="PingFang SC"/>
                <a:ea typeface="PingFang SC"/>
                <a:cs typeface="PingFang SC"/>
              </a:defRPr>
            </a:pPr>
            <a:r>
              <a:rPr sz="2550" b="1">
                <a:solidFill>
                  <a:srgbClr val="17202A"/>
                </a:solidFill>
                <a:latin typeface="PingFang SC"/>
                <a:ea typeface="PingFang SC"/>
                <a:cs typeface="PingFang SC"/>
              </a:rPr>
              <a:t>CoDec：Decode Attention 复用共享前缀</a:t>
            </a:r>
            <a:endParaRPr sz="1400"/>
          </a:p>
        </p:txBody>
      </p:sp>
      <p:sp>
        <p:nvSpPr>
          <p:cNvPr id="6" name="矩形 5">
            <a:extLst>
              <a:ext uri="{FF2B5EF4-FFF2-40B4-BE49-F238E27FC236}">
                <a16:creationId xmlns:a16="http://schemas.microsoft.com/office/drawing/2014/main" id="{5E13A55F-A8A8-4FFE-ABC0-696CAFF14EA9}"/>
              </a:ext>
            </a:extLst>
          </p:cNvPr>
          <p:cNvSpPr/>
          <p:nvPr/>
        </p:nvSpPr>
        <p:spPr>
          <a:xfrm>
            <a:off x="381000" y="1152525"/>
            <a:ext cx="93345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a:solidFill>
                  <a:srgbClr val="596273"/>
                </a:solidFill>
                <a:latin typeface="Aptos"/>
                <a:ea typeface="Aptos"/>
                <a:cs typeface="Aptos"/>
              </a:rPr>
              <a:t>CoDec: Prefix-Shared Decoding Kernel for LLMs</a:t>
            </a:r>
            <a:endParaRPr sz="1400"/>
          </a:p>
        </p:txBody>
      </p:sp>
      <p:sp>
        <p:nvSpPr>
          <p:cNvPr id="7" name="top-rule">
            <a:extLst>
              <a:ext uri="{FF2B5EF4-FFF2-40B4-BE49-F238E27FC236}">
                <a16:creationId xmlns:a16="http://schemas.microsoft.com/office/drawing/2014/main" id="{E7A9756B-4C0D-45F7-9EE1-213BE337C21D}"/>
              </a:ext>
            </a:extLst>
          </p:cNvPr>
          <p:cNvSpPr/>
          <p:nvPr/>
        </p:nvSpPr>
        <p:spPr>
          <a:xfrm>
            <a:off x="381000" y="1438275"/>
            <a:ext cx="11410950" cy="10478"/>
          </a:xfrm>
          <a:prstGeom prst="rect">
            <a:avLst/>
          </a:prstGeom>
          <a:solidFill>
            <a:srgbClr val="D8DEE8"/>
          </a:solidFill>
          <a:ln w="0">
            <a:solidFill>
              <a:srgbClr val="D8DEE8"/>
            </a:solidFill>
            <a:prstDash val="solid"/>
          </a:ln>
        </p:spPr>
        <p:txBody>
          <a:bodyPr/>
          <a:lstStyle/>
          <a:p>
            <a:endParaRPr lang="zh-CN" altLang="en-US"/>
          </a:p>
        </p:txBody>
      </p:sp>
      <p:pic>
        <p:nvPicPr>
          <p:cNvPr id="8" name="图片 7"/>
          <p:cNvPicPr/>
          <p:nvPr/>
        </p:nvPicPr>
        <p:blipFill>
          <a:blip r:embed="rId3"/>
          <a:stretch/>
        </p:blipFill>
        <p:spPr>
          <a:xfrm>
            <a:off x="191517" y="2088833"/>
            <a:ext cx="8053832" cy="3154680"/>
          </a:xfrm>
          <a:prstGeom prst="rect">
            <a:avLst/>
          </a:prstGeom>
        </p:spPr>
      </p:pic>
      <p:sp>
        <p:nvSpPr>
          <p:cNvPr id="9" name="card-PROBLEM">
            <a:extLst>
              <a:ext uri="{FF2B5EF4-FFF2-40B4-BE49-F238E27FC236}">
                <a16:creationId xmlns:a16="http://schemas.microsoft.com/office/drawing/2014/main" id="{2D54761D-185B-4A4A-A24E-8A701AE77B88}"/>
              </a:ext>
            </a:extLst>
          </p:cNvPr>
          <p:cNvSpPr/>
          <p:nvPr/>
        </p:nvSpPr>
        <p:spPr>
          <a:xfrm>
            <a:off x="7818120" y="2259140"/>
            <a:ext cx="3794760" cy="932688"/>
          </a:xfrm>
          <a:prstGeom prst="rect">
            <a:avLst/>
          </a:prstGeom>
          <a:solidFill>
            <a:srgbClr val="FFFFFF"/>
          </a:solidFill>
          <a:ln w="9525">
            <a:solidFill>
              <a:srgbClr val="D8DEE8"/>
            </a:solidFill>
            <a:prstDash val="solid"/>
          </a:ln>
        </p:spPr>
        <p:txBody>
          <a:bodyPr/>
          <a:lstStyle/>
          <a:p>
            <a:endParaRPr lang="zh-CN" altLang="en-US"/>
          </a:p>
        </p:txBody>
      </p:sp>
      <p:sp>
        <p:nvSpPr>
          <p:cNvPr id="10" name="card-accent-PROBLEM">
            <a:extLst>
              <a:ext uri="{FF2B5EF4-FFF2-40B4-BE49-F238E27FC236}">
                <a16:creationId xmlns:a16="http://schemas.microsoft.com/office/drawing/2014/main" id="{0260DB79-CD6E-4FD8-B213-E01D4435FB33}"/>
              </a:ext>
            </a:extLst>
          </p:cNvPr>
          <p:cNvSpPr/>
          <p:nvPr/>
        </p:nvSpPr>
        <p:spPr>
          <a:xfrm>
            <a:off x="7818120" y="2259140"/>
            <a:ext cx="45720" cy="932688"/>
          </a:xfrm>
          <a:prstGeom prst="rect">
            <a:avLst/>
          </a:prstGeom>
          <a:solidFill>
            <a:srgbClr val="B7791F"/>
          </a:solidFill>
          <a:ln w="0">
            <a:solidFill>
              <a:srgbClr val="B7791F"/>
            </a:solidFill>
            <a:prstDash val="solid"/>
          </a:ln>
        </p:spPr>
        <p:txBody>
          <a:bodyPr/>
          <a:lstStyle/>
          <a:p>
            <a:endParaRPr lang="zh-CN" altLang="en-US"/>
          </a:p>
        </p:txBody>
      </p:sp>
      <p:sp>
        <p:nvSpPr>
          <p:cNvPr id="11" name="矩形 10">
            <a:extLst>
              <a:ext uri="{FF2B5EF4-FFF2-40B4-BE49-F238E27FC236}">
                <a16:creationId xmlns:a16="http://schemas.microsoft.com/office/drawing/2014/main" id="{00BD1B6B-BAFB-4BB6-83EB-72B82987C676}"/>
              </a:ext>
            </a:extLst>
          </p:cNvPr>
          <p:cNvSpPr/>
          <p:nvPr/>
        </p:nvSpPr>
        <p:spPr>
          <a:xfrm>
            <a:off x="7973568" y="2350580"/>
            <a:ext cx="347472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B7791F"/>
                </a:solidFill>
                <a:latin typeface="Aptos"/>
                <a:ea typeface="Aptos"/>
                <a:cs typeface="Aptos"/>
              </a:defRPr>
            </a:pPr>
            <a:r>
              <a:rPr sz="1400" b="1">
                <a:solidFill>
                  <a:srgbClr val="B7791F"/>
                </a:solidFill>
                <a:latin typeface="Aptos"/>
                <a:ea typeface="Aptos"/>
                <a:cs typeface="Aptos"/>
              </a:rPr>
              <a:t>MECHANISM</a:t>
            </a:r>
            <a:endParaRPr sz="1400"/>
          </a:p>
        </p:txBody>
      </p:sp>
      <p:sp>
        <p:nvSpPr>
          <p:cNvPr id="12" name="矩形 11">
            <a:extLst>
              <a:ext uri="{FF2B5EF4-FFF2-40B4-BE49-F238E27FC236}">
                <a16:creationId xmlns:a16="http://schemas.microsoft.com/office/drawing/2014/main" id="{C0D6C0BF-6183-4EA5-8E7C-841E3930E171}"/>
              </a:ext>
            </a:extLst>
          </p:cNvPr>
          <p:cNvSpPr/>
          <p:nvPr/>
        </p:nvSpPr>
        <p:spPr>
          <a:xfrm>
            <a:off x="7973568" y="2597468"/>
            <a:ext cx="3429000" cy="45262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1.9× attention speedup</a:t>
            </a:r>
            <a:endParaRPr sz="1400"/>
          </a:p>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共享前缀 attention 路径复用</a:t>
            </a:r>
            <a:endParaRPr sz="1400"/>
          </a:p>
        </p:txBody>
      </p:sp>
      <p:sp>
        <p:nvSpPr>
          <p:cNvPr id="13" name="card-IDEA">
            <a:extLst>
              <a:ext uri="{FF2B5EF4-FFF2-40B4-BE49-F238E27FC236}">
                <a16:creationId xmlns:a16="http://schemas.microsoft.com/office/drawing/2014/main" id="{A20A1C0B-B28C-44F8-A5DF-1EB43995205A}"/>
              </a:ext>
            </a:extLst>
          </p:cNvPr>
          <p:cNvSpPr/>
          <p:nvPr/>
        </p:nvSpPr>
        <p:spPr>
          <a:xfrm>
            <a:off x="7818120" y="3356420"/>
            <a:ext cx="3794760" cy="932688"/>
          </a:xfrm>
          <a:prstGeom prst="rect">
            <a:avLst/>
          </a:prstGeom>
          <a:solidFill>
            <a:srgbClr val="FFFFFF"/>
          </a:solidFill>
          <a:ln w="9525">
            <a:solidFill>
              <a:srgbClr val="D8DEE8"/>
            </a:solidFill>
            <a:prstDash val="solid"/>
          </a:ln>
        </p:spPr>
        <p:txBody>
          <a:bodyPr/>
          <a:lstStyle/>
          <a:p>
            <a:endParaRPr lang="zh-CN" altLang="en-US"/>
          </a:p>
        </p:txBody>
      </p:sp>
      <p:sp>
        <p:nvSpPr>
          <p:cNvPr id="14" name="card-accent-IDEA">
            <a:extLst>
              <a:ext uri="{FF2B5EF4-FFF2-40B4-BE49-F238E27FC236}">
                <a16:creationId xmlns:a16="http://schemas.microsoft.com/office/drawing/2014/main" id="{96828505-774C-4F72-B8A7-E35B7E397A51}"/>
              </a:ext>
            </a:extLst>
          </p:cNvPr>
          <p:cNvSpPr/>
          <p:nvPr/>
        </p:nvSpPr>
        <p:spPr>
          <a:xfrm>
            <a:off x="7818120" y="3356420"/>
            <a:ext cx="45720" cy="932688"/>
          </a:xfrm>
          <a:prstGeom prst="rect">
            <a:avLst/>
          </a:prstGeom>
          <a:solidFill>
            <a:srgbClr val="B7791F"/>
          </a:solidFill>
          <a:ln w="0">
            <a:solidFill>
              <a:srgbClr val="B7791F"/>
            </a:solidFill>
            <a:prstDash val="solid"/>
          </a:ln>
        </p:spPr>
        <p:txBody>
          <a:bodyPr/>
          <a:lstStyle/>
          <a:p>
            <a:endParaRPr lang="zh-CN" altLang="en-US"/>
          </a:p>
        </p:txBody>
      </p:sp>
      <p:sp>
        <p:nvSpPr>
          <p:cNvPr id="15" name="矩形 14">
            <a:extLst>
              <a:ext uri="{FF2B5EF4-FFF2-40B4-BE49-F238E27FC236}">
                <a16:creationId xmlns:a16="http://schemas.microsoft.com/office/drawing/2014/main" id="{B6DEFFCB-7AA2-4A04-80DB-FAE3089819D4}"/>
              </a:ext>
            </a:extLst>
          </p:cNvPr>
          <p:cNvSpPr/>
          <p:nvPr/>
        </p:nvSpPr>
        <p:spPr>
          <a:xfrm>
            <a:off x="7973568" y="3447860"/>
            <a:ext cx="347472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B7791F"/>
                </a:solidFill>
                <a:latin typeface="Aptos"/>
                <a:ea typeface="Aptos"/>
                <a:cs typeface="Aptos"/>
              </a:defRPr>
            </a:pPr>
            <a:r>
              <a:rPr sz="1400" b="1">
                <a:solidFill>
                  <a:srgbClr val="B7791F"/>
                </a:solidFill>
                <a:latin typeface="Aptos"/>
                <a:ea typeface="Aptos"/>
                <a:cs typeface="Aptos"/>
              </a:rPr>
              <a:t>MEMORY</a:t>
            </a:r>
            <a:endParaRPr sz="1400"/>
          </a:p>
        </p:txBody>
      </p:sp>
      <p:sp>
        <p:nvSpPr>
          <p:cNvPr id="16" name="矩形 15">
            <a:extLst>
              <a:ext uri="{FF2B5EF4-FFF2-40B4-BE49-F238E27FC236}">
                <a16:creationId xmlns:a16="http://schemas.microsoft.com/office/drawing/2014/main" id="{06715ED3-DF4A-4798-8A4E-6E88223C8A00}"/>
              </a:ext>
            </a:extLst>
          </p:cNvPr>
          <p:cNvSpPr/>
          <p:nvPr/>
        </p:nvSpPr>
        <p:spPr>
          <a:xfrm>
            <a:off x="7973568" y="3694748"/>
            <a:ext cx="2785955" cy="43088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dirty="0">
                <a:solidFill>
                  <a:srgbClr val="FF0000"/>
                </a:solidFill>
                <a:latin typeface="PingFang SC"/>
                <a:ea typeface="PingFang SC"/>
                <a:cs typeface="PingFang SC"/>
              </a:rPr>
              <a:t>120.9× </a:t>
            </a:r>
            <a:r>
              <a:rPr sz="1400" b="0" dirty="0">
                <a:solidFill>
                  <a:srgbClr val="17202A"/>
                </a:solidFill>
                <a:latin typeface="PingFang SC"/>
                <a:ea typeface="PingFang SC"/>
                <a:cs typeface="PingFang SC"/>
              </a:rPr>
              <a:t>memory reduction</a:t>
            </a:r>
            <a:endParaRPr sz="1400" dirty="0"/>
          </a:p>
          <a:p>
            <a:pPr algn="l">
              <a:defRPr sz="1400" b="0">
                <a:solidFill>
                  <a:srgbClr val="17202A"/>
                </a:solidFill>
                <a:latin typeface="PingFang SC"/>
                <a:ea typeface="PingFang SC"/>
                <a:cs typeface="PingFang SC"/>
              </a:defRPr>
            </a:pPr>
            <a:r>
              <a:rPr sz="1400" b="0" dirty="0">
                <a:solidFill>
                  <a:srgbClr val="17202A"/>
                </a:solidFill>
                <a:latin typeface="PingFang SC"/>
                <a:ea typeface="PingFang SC"/>
                <a:cs typeface="PingFang SC"/>
              </a:rPr>
              <a:t>prefix-shared KV forest </a:t>
            </a:r>
            <a:r>
              <a:rPr sz="1400" b="0" dirty="0" err="1">
                <a:solidFill>
                  <a:srgbClr val="17202A"/>
                </a:solidFill>
                <a:latin typeface="PingFang SC"/>
                <a:ea typeface="PingFang SC"/>
                <a:cs typeface="PingFang SC"/>
              </a:rPr>
              <a:t>降低重复访问</a:t>
            </a:r>
            <a:endParaRPr sz="1400" dirty="0"/>
          </a:p>
        </p:txBody>
      </p:sp>
      <p:sp>
        <p:nvSpPr>
          <p:cNvPr id="17" name="card-RESULT / TAKEAWAY">
            <a:extLst>
              <a:ext uri="{FF2B5EF4-FFF2-40B4-BE49-F238E27FC236}">
                <a16:creationId xmlns:a16="http://schemas.microsoft.com/office/drawing/2014/main" id="{F309FB31-474B-4559-A318-AB348FF4D997}"/>
              </a:ext>
            </a:extLst>
          </p:cNvPr>
          <p:cNvSpPr/>
          <p:nvPr/>
        </p:nvSpPr>
        <p:spPr>
          <a:xfrm>
            <a:off x="7818120" y="4453700"/>
            <a:ext cx="3794760" cy="932688"/>
          </a:xfrm>
          <a:prstGeom prst="rect">
            <a:avLst/>
          </a:prstGeom>
          <a:solidFill>
            <a:srgbClr val="B7791F">
              <a:alpha val="6275"/>
            </a:srgbClr>
          </a:solidFill>
          <a:ln w="9525">
            <a:solidFill>
              <a:srgbClr val="B7791F">
                <a:alpha val="33333"/>
              </a:srgbClr>
            </a:solidFill>
            <a:prstDash val="solid"/>
          </a:ln>
        </p:spPr>
        <p:txBody>
          <a:bodyPr/>
          <a:lstStyle/>
          <a:p>
            <a:endParaRPr lang="zh-CN" altLang="en-US"/>
          </a:p>
        </p:txBody>
      </p:sp>
      <p:sp>
        <p:nvSpPr>
          <p:cNvPr id="18" name="card-accent-RESULT / TAKEAWAY">
            <a:extLst>
              <a:ext uri="{FF2B5EF4-FFF2-40B4-BE49-F238E27FC236}">
                <a16:creationId xmlns:a16="http://schemas.microsoft.com/office/drawing/2014/main" id="{0F175599-99BE-4BBB-9A4B-5D831022221E}"/>
              </a:ext>
            </a:extLst>
          </p:cNvPr>
          <p:cNvSpPr/>
          <p:nvPr/>
        </p:nvSpPr>
        <p:spPr>
          <a:xfrm>
            <a:off x="7818120" y="4453700"/>
            <a:ext cx="45720" cy="932688"/>
          </a:xfrm>
          <a:prstGeom prst="rect">
            <a:avLst/>
          </a:prstGeom>
          <a:solidFill>
            <a:srgbClr val="B7791F"/>
          </a:solidFill>
          <a:ln w="0">
            <a:solidFill>
              <a:srgbClr val="B7791F"/>
            </a:solidFill>
            <a:prstDash val="solid"/>
          </a:ln>
        </p:spPr>
        <p:txBody>
          <a:bodyPr/>
          <a:lstStyle/>
          <a:p>
            <a:endParaRPr lang="zh-CN" altLang="en-US"/>
          </a:p>
        </p:txBody>
      </p:sp>
      <p:sp>
        <p:nvSpPr>
          <p:cNvPr id="19" name="矩形 18">
            <a:extLst>
              <a:ext uri="{FF2B5EF4-FFF2-40B4-BE49-F238E27FC236}">
                <a16:creationId xmlns:a16="http://schemas.microsoft.com/office/drawing/2014/main" id="{5C8CCD3C-192B-4C4F-A595-3FEBA5183BC6}"/>
              </a:ext>
            </a:extLst>
          </p:cNvPr>
          <p:cNvSpPr/>
          <p:nvPr/>
        </p:nvSpPr>
        <p:spPr>
          <a:xfrm>
            <a:off x="7973568" y="4545140"/>
            <a:ext cx="347472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dirty="0">
                <a:solidFill>
                  <a:srgbClr val="B7791F"/>
                </a:solidFill>
                <a:latin typeface="Aptos"/>
                <a:ea typeface="Aptos"/>
                <a:cs typeface="Aptos"/>
              </a:rPr>
              <a:t>TAKEAWAY</a:t>
            </a:r>
            <a:endParaRPr sz="1400" dirty="0"/>
          </a:p>
        </p:txBody>
      </p:sp>
      <p:sp>
        <p:nvSpPr>
          <p:cNvPr id="20" name="矩形 19">
            <a:extLst>
              <a:ext uri="{FF2B5EF4-FFF2-40B4-BE49-F238E27FC236}">
                <a16:creationId xmlns:a16="http://schemas.microsoft.com/office/drawing/2014/main" id="{CE9726F0-9249-409B-8256-452EECE57F2B}"/>
              </a:ext>
            </a:extLst>
          </p:cNvPr>
          <p:cNvSpPr/>
          <p:nvPr/>
        </p:nvSpPr>
        <p:spPr>
          <a:xfrm>
            <a:off x="7973568" y="4792028"/>
            <a:ext cx="2777107" cy="43088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B7791F"/>
                </a:solidFill>
                <a:latin typeface="PingFang SC"/>
                <a:ea typeface="PingFang SC"/>
                <a:cs typeface="PingFang SC"/>
              </a:defRPr>
            </a:pPr>
            <a:r>
              <a:rPr sz="1400" b="1" dirty="0">
                <a:solidFill>
                  <a:srgbClr val="FF0000"/>
                </a:solidFill>
                <a:latin typeface="PingFang SC"/>
                <a:ea typeface="PingFang SC"/>
                <a:cs typeface="PingFang SC"/>
              </a:rPr>
              <a:t>3.8× </a:t>
            </a:r>
            <a:r>
              <a:rPr sz="1400" b="1" dirty="0">
                <a:solidFill>
                  <a:srgbClr val="B7791F"/>
                </a:solidFill>
                <a:latin typeface="PingFang SC"/>
                <a:ea typeface="PingFang SC"/>
                <a:cs typeface="PingFang SC"/>
              </a:rPr>
              <a:t>TPOT improvement</a:t>
            </a:r>
            <a:endParaRPr sz="1400" dirty="0"/>
          </a:p>
          <a:p>
            <a:pPr algn="l">
              <a:defRPr sz="1400" b="1">
                <a:solidFill>
                  <a:srgbClr val="B7791F"/>
                </a:solidFill>
                <a:latin typeface="PingFang SC"/>
                <a:ea typeface="PingFang SC"/>
                <a:cs typeface="PingFang SC"/>
              </a:defRPr>
            </a:pPr>
            <a:r>
              <a:rPr sz="1400" b="1" dirty="0" err="1">
                <a:solidFill>
                  <a:srgbClr val="B7791F"/>
                </a:solidFill>
                <a:latin typeface="PingFang SC"/>
                <a:ea typeface="PingFang SC"/>
                <a:cs typeface="PingFang SC"/>
              </a:rPr>
              <a:t>共享前缀改变</a:t>
            </a:r>
            <a:r>
              <a:rPr sz="1400" b="1" dirty="0">
                <a:solidFill>
                  <a:srgbClr val="B7791F"/>
                </a:solidFill>
                <a:latin typeface="PingFang SC"/>
                <a:ea typeface="PingFang SC"/>
                <a:cs typeface="PingFang SC"/>
              </a:rPr>
              <a:t> decode </a:t>
            </a:r>
            <a:r>
              <a:rPr sz="1400" b="1" dirty="0" err="1">
                <a:solidFill>
                  <a:srgbClr val="B7791F"/>
                </a:solidFill>
                <a:latin typeface="PingFang SC"/>
                <a:ea typeface="PingFang SC"/>
                <a:cs typeface="PingFang SC"/>
              </a:rPr>
              <a:t>阶段执行路径</a:t>
            </a:r>
            <a:endParaRPr sz="1400" dirty="0"/>
          </a:p>
        </p:txBody>
      </p:sp>
      <p:sp>
        <p:nvSpPr>
          <p:cNvPr id="21" name="矩形 20">
            <a:extLst>
              <a:ext uri="{FF2B5EF4-FFF2-40B4-BE49-F238E27FC236}">
                <a16:creationId xmlns:a16="http://schemas.microsoft.com/office/drawing/2014/main" id="{0F9CFC13-45B4-46C7-B2A7-3747807E1DDD}"/>
              </a:ext>
            </a:extLst>
          </p:cNvPr>
          <p:cNvSpPr/>
          <p:nvPr/>
        </p:nvSpPr>
        <p:spPr>
          <a:xfrm>
            <a:off x="381000" y="6477000"/>
            <a:ext cx="40005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18" b="0">
                <a:solidFill>
                  <a:srgbClr val="7A8393"/>
                </a:solidFill>
                <a:latin typeface="Aptos"/>
                <a:ea typeface="Aptos"/>
                <a:cs typeface="Aptos"/>
              </a:defRPr>
            </a:pPr>
            <a:r>
              <a:rPr sz="880" b="0">
                <a:solidFill>
                  <a:srgbClr val="7A8393"/>
                </a:solidFill>
                <a:latin typeface="Aptos"/>
                <a:ea typeface="Aptos"/>
                <a:cs typeface="Aptos"/>
              </a:rPr>
              <a:t>Source: local paper PDF · core figure cropped from paper</a:t>
            </a:r>
          </a:p>
        </p:txBody>
      </p:sp>
      <p:sp>
        <p:nvSpPr>
          <p:cNvPr id="22" name="矩形 21">
            <a:extLst>
              <a:ext uri="{FF2B5EF4-FFF2-40B4-BE49-F238E27FC236}">
                <a16:creationId xmlns:a16="http://schemas.microsoft.com/office/drawing/2014/main" id="{168CDEC3-C5F5-42CC-993D-AE63A52C7A31}"/>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07</a:t>
            </a:r>
          </a:p>
        </p:txBody>
      </p:sp>
    </p:spTree>
    <p:extLst>
      <p:ext uri="{BB962C8B-B14F-4D97-AF65-F5344CB8AC3E}">
        <p14:creationId xmlns:p14="http://schemas.microsoft.com/office/powerpoint/2010/main" val="1398291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5BF824CB-F70E-4C4D-9B0A-2F7A7386F6E3}"/>
              </a:ext>
            </a:extLst>
          </p:cNvPr>
          <p:cNvSpPr/>
          <p:nvPr/>
        </p:nvSpPr>
        <p:spPr>
          <a:xfrm>
            <a:off x="361950" y="323850"/>
            <a:ext cx="47625" cy="247650"/>
          </a:xfrm>
          <a:prstGeom prst="rect">
            <a:avLst/>
          </a:prstGeom>
          <a:solidFill>
            <a:srgbClr val="B7791F"/>
          </a:solidFill>
          <a:ln w="0">
            <a:solidFill>
              <a:srgbClr val="B7791F"/>
            </a:solidFill>
            <a:prstDash val="solid"/>
          </a:ln>
        </p:spPr>
        <p:txBody>
          <a:bodyPr/>
          <a:lstStyle/>
          <a:p>
            <a:endParaRPr lang="zh-CN" altLang="en-US"/>
          </a:p>
        </p:txBody>
      </p:sp>
      <p:sp>
        <p:nvSpPr>
          <p:cNvPr id="2" name="kicker-label">
            <a:extLst>
              <a:ext uri="{FF2B5EF4-FFF2-40B4-BE49-F238E27FC236}">
                <a16:creationId xmlns:a16="http://schemas.microsoft.com/office/drawing/2014/main" id="{DC00743E-82B9-4925-A5F4-622D77DDBC08}"/>
              </a:ext>
            </a:extLst>
          </p:cNvPr>
          <p:cNvSpPr/>
          <p:nvPr/>
        </p:nvSpPr>
        <p:spPr>
          <a:xfrm>
            <a:off x="514350" y="333375"/>
            <a:ext cx="292608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a:solidFill>
                  <a:srgbClr val="B7791F"/>
                </a:solidFill>
                <a:latin typeface="Aptos"/>
                <a:ea typeface="Aptos"/>
                <a:cs typeface="Aptos"/>
              </a:rPr>
              <a:t>PAPER 08 · INFERENCE SERVING</a:t>
            </a:r>
            <a:endParaRPr sz="1400"/>
          </a:p>
        </p:txBody>
      </p:sp>
      <p:sp>
        <p:nvSpPr>
          <p:cNvPr id="3" name="pill-HPDC'26">
            <a:extLst>
              <a:ext uri="{FF2B5EF4-FFF2-40B4-BE49-F238E27FC236}">
                <a16:creationId xmlns:a16="http://schemas.microsoft.com/office/drawing/2014/main" id="{6AEDFE4A-502D-47EB-87D7-B9E8564E9170}"/>
              </a:ext>
            </a:extLst>
          </p:cNvPr>
          <p:cNvSpPr/>
          <p:nvPr/>
        </p:nvSpPr>
        <p:spPr>
          <a:xfrm>
            <a:off x="10144125" y="342519"/>
            <a:ext cx="1657350" cy="266700"/>
          </a:xfrm>
          <a:prstGeom prst="rect">
            <a:avLst/>
          </a:prstGeom>
          <a:solidFill>
            <a:srgbClr val="B7791F">
              <a:alpha val="8627"/>
            </a:srgbClr>
          </a:solidFill>
          <a:ln w="9525">
            <a:solidFill>
              <a:srgbClr val="B7791F">
                <a:alpha val="43922"/>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F2A91D77-3219-4FDA-81DE-5A88A7EFC946}"/>
              </a:ext>
            </a:extLst>
          </p:cNvPr>
          <p:cNvSpPr/>
          <p:nvPr/>
        </p:nvSpPr>
        <p:spPr>
          <a:xfrm>
            <a:off x="10239375" y="352425"/>
            <a:ext cx="14668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B7791F"/>
                </a:solidFill>
                <a:latin typeface="Aptos"/>
                <a:ea typeface="Aptos"/>
                <a:cs typeface="Aptos"/>
              </a:defRPr>
            </a:pPr>
            <a:r>
              <a:rPr sz="1400" b="1">
                <a:solidFill>
                  <a:srgbClr val="B7791F"/>
                </a:solidFill>
                <a:latin typeface="Aptos"/>
                <a:ea typeface="Aptos"/>
                <a:cs typeface="Aptos"/>
              </a:rPr>
              <a:t>HPDC'26</a:t>
            </a:r>
            <a:endParaRPr sz="1400"/>
          </a:p>
        </p:txBody>
      </p:sp>
      <p:sp>
        <p:nvSpPr>
          <p:cNvPr id="5" name="矩形 4">
            <a:extLst>
              <a:ext uri="{FF2B5EF4-FFF2-40B4-BE49-F238E27FC236}">
                <a16:creationId xmlns:a16="http://schemas.microsoft.com/office/drawing/2014/main" id="{38F331FA-47BF-4512-A341-C9BD3E5F37F4}"/>
              </a:ext>
            </a:extLst>
          </p:cNvPr>
          <p:cNvSpPr/>
          <p:nvPr/>
        </p:nvSpPr>
        <p:spPr>
          <a:xfrm>
            <a:off x="361950" y="666750"/>
            <a:ext cx="9715500" cy="419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2550" b="1">
                <a:solidFill>
                  <a:srgbClr val="17202A"/>
                </a:solidFill>
                <a:latin typeface="PingFang SC"/>
                <a:ea typeface="PingFang SC"/>
                <a:cs typeface="PingFang SC"/>
              </a:defRPr>
            </a:pPr>
            <a:r>
              <a:rPr sz="2550" b="1">
                <a:solidFill>
                  <a:srgbClr val="17202A"/>
                </a:solidFill>
                <a:latin typeface="PingFang SC"/>
                <a:ea typeface="PingFang SC"/>
                <a:cs typeface="PingFang SC"/>
              </a:rPr>
              <a:t>STAR：Decode 阶段重调度长输出请求</a:t>
            </a:r>
            <a:endParaRPr sz="1400"/>
          </a:p>
        </p:txBody>
      </p:sp>
      <p:sp>
        <p:nvSpPr>
          <p:cNvPr id="6" name="矩形 5">
            <a:extLst>
              <a:ext uri="{FF2B5EF4-FFF2-40B4-BE49-F238E27FC236}">
                <a16:creationId xmlns:a16="http://schemas.microsoft.com/office/drawing/2014/main" id="{A7D447AD-8FC7-4762-BDDE-14371293CE6A}"/>
              </a:ext>
            </a:extLst>
          </p:cNvPr>
          <p:cNvSpPr/>
          <p:nvPr/>
        </p:nvSpPr>
        <p:spPr>
          <a:xfrm>
            <a:off x="381000" y="1152525"/>
            <a:ext cx="93345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a:solidFill>
                  <a:srgbClr val="596273"/>
                </a:solidFill>
                <a:latin typeface="Aptos"/>
                <a:ea typeface="Aptos"/>
                <a:cs typeface="Aptos"/>
              </a:rPr>
              <a:t>STAR: Decode-Phase Rescheduling for LLM Inference</a:t>
            </a:r>
            <a:endParaRPr sz="1400"/>
          </a:p>
        </p:txBody>
      </p:sp>
      <p:sp>
        <p:nvSpPr>
          <p:cNvPr id="7" name="top-rule">
            <a:extLst>
              <a:ext uri="{FF2B5EF4-FFF2-40B4-BE49-F238E27FC236}">
                <a16:creationId xmlns:a16="http://schemas.microsoft.com/office/drawing/2014/main" id="{EDF5926C-78C7-4CC0-BC7A-0DCC8518C7AC}"/>
              </a:ext>
            </a:extLst>
          </p:cNvPr>
          <p:cNvSpPr/>
          <p:nvPr/>
        </p:nvSpPr>
        <p:spPr>
          <a:xfrm>
            <a:off x="381000" y="1438275"/>
            <a:ext cx="11410950" cy="10478"/>
          </a:xfrm>
          <a:prstGeom prst="rect">
            <a:avLst/>
          </a:prstGeom>
          <a:solidFill>
            <a:srgbClr val="D8DEE8"/>
          </a:solidFill>
          <a:ln w="0">
            <a:solidFill>
              <a:srgbClr val="D8DEE8"/>
            </a:solidFill>
            <a:prstDash val="solid"/>
          </a:ln>
        </p:spPr>
        <p:txBody>
          <a:bodyPr/>
          <a:lstStyle/>
          <a:p>
            <a:endParaRPr lang="zh-CN" altLang="en-US"/>
          </a:p>
        </p:txBody>
      </p:sp>
      <p:sp>
        <p:nvSpPr>
          <p:cNvPr id="8" name="rule-CORE PROBLEM">
            <a:extLst>
              <a:ext uri="{FF2B5EF4-FFF2-40B4-BE49-F238E27FC236}">
                <a16:creationId xmlns:a16="http://schemas.microsoft.com/office/drawing/2014/main" id="{D531C207-2F9A-4E59-999B-3BDE9AB11976}"/>
              </a:ext>
            </a:extLst>
          </p:cNvPr>
          <p:cNvSpPr/>
          <p:nvPr/>
        </p:nvSpPr>
        <p:spPr>
          <a:xfrm>
            <a:off x="419100" y="1773650"/>
            <a:ext cx="228600" cy="14288"/>
          </a:xfrm>
          <a:prstGeom prst="rect">
            <a:avLst/>
          </a:prstGeom>
          <a:solidFill>
            <a:srgbClr val="B7791F"/>
          </a:solidFill>
          <a:ln w="0">
            <a:solidFill>
              <a:srgbClr val="B7791F"/>
            </a:solidFill>
            <a:prstDash val="solid"/>
          </a:ln>
        </p:spPr>
        <p:txBody>
          <a:bodyPr/>
          <a:lstStyle/>
          <a:p>
            <a:endParaRPr lang="zh-CN" altLang="en-US"/>
          </a:p>
        </p:txBody>
      </p:sp>
      <p:sp>
        <p:nvSpPr>
          <p:cNvPr id="9" name="矩形 8">
            <a:extLst>
              <a:ext uri="{FF2B5EF4-FFF2-40B4-BE49-F238E27FC236}">
                <a16:creationId xmlns:a16="http://schemas.microsoft.com/office/drawing/2014/main" id="{3B5B58E0-1292-46F5-8447-2F9592B7617C}"/>
              </a:ext>
            </a:extLst>
          </p:cNvPr>
          <p:cNvSpPr/>
          <p:nvPr/>
        </p:nvSpPr>
        <p:spPr>
          <a:xfrm>
            <a:off x="742950" y="1657350"/>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a:solidFill>
                  <a:srgbClr val="B7791F"/>
                </a:solidFill>
                <a:latin typeface="Aptos"/>
                <a:ea typeface="Aptos"/>
                <a:cs typeface="Aptos"/>
              </a:rPr>
              <a:t>CORE PROBLEM</a:t>
            </a:r>
            <a:endParaRPr sz="1400"/>
          </a:p>
        </p:txBody>
      </p:sp>
      <p:sp>
        <p:nvSpPr>
          <p:cNvPr id="10" name="矩形 9">
            <a:extLst>
              <a:ext uri="{FF2B5EF4-FFF2-40B4-BE49-F238E27FC236}">
                <a16:creationId xmlns:a16="http://schemas.microsoft.com/office/drawing/2014/main" id="{26A8C740-034F-4D96-9868-A1504F07FB6E}"/>
              </a:ext>
            </a:extLst>
          </p:cNvPr>
          <p:cNvSpPr/>
          <p:nvPr/>
        </p:nvSpPr>
        <p:spPr>
          <a:xfrm>
            <a:off x="419100" y="1933575"/>
            <a:ext cx="3714750" cy="933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PingFang SC"/>
                <a:ea typeface="PingFang SC"/>
                <a:cs typeface="PingFang SC"/>
              </a:defRPr>
            </a:pPr>
            <a:r>
              <a:rPr sz="1400" b="0">
                <a:solidFill>
                  <a:srgbClr val="596273"/>
                </a:solidFill>
                <a:latin typeface="PingFang SC"/>
                <a:ea typeface="PingFang SC"/>
                <a:cs typeface="PingFang SC"/>
              </a:rPr>
              <a:t>长输出请求让 decode 实例负载持续漂移
静态分配会推高 TPOT 尾延迟与 KV cache OOM</a:t>
            </a:r>
            <a:endParaRPr sz="1400"/>
          </a:p>
        </p:txBody>
      </p:sp>
      <p:sp>
        <p:nvSpPr>
          <p:cNvPr id="11" name="rule-SYSTEM IDEA">
            <a:extLst>
              <a:ext uri="{FF2B5EF4-FFF2-40B4-BE49-F238E27FC236}">
                <a16:creationId xmlns:a16="http://schemas.microsoft.com/office/drawing/2014/main" id="{AC33263B-0F17-42A5-981B-8CD15495D31F}"/>
              </a:ext>
            </a:extLst>
          </p:cNvPr>
          <p:cNvSpPr/>
          <p:nvPr/>
        </p:nvSpPr>
        <p:spPr>
          <a:xfrm>
            <a:off x="419100" y="3154775"/>
            <a:ext cx="228600" cy="14288"/>
          </a:xfrm>
          <a:prstGeom prst="rect">
            <a:avLst/>
          </a:prstGeom>
          <a:solidFill>
            <a:srgbClr val="B7791F"/>
          </a:solidFill>
          <a:ln w="0">
            <a:solidFill>
              <a:srgbClr val="B7791F"/>
            </a:solidFill>
            <a:prstDash val="solid"/>
          </a:ln>
        </p:spPr>
        <p:txBody>
          <a:bodyPr/>
          <a:lstStyle/>
          <a:p>
            <a:endParaRPr lang="zh-CN" altLang="en-US"/>
          </a:p>
        </p:txBody>
      </p:sp>
      <p:sp>
        <p:nvSpPr>
          <p:cNvPr id="12" name="矩形 11">
            <a:extLst>
              <a:ext uri="{FF2B5EF4-FFF2-40B4-BE49-F238E27FC236}">
                <a16:creationId xmlns:a16="http://schemas.microsoft.com/office/drawing/2014/main" id="{B599A67F-C268-4C4E-A539-56C54FF7CD08}"/>
              </a:ext>
            </a:extLst>
          </p:cNvPr>
          <p:cNvSpPr/>
          <p:nvPr/>
        </p:nvSpPr>
        <p:spPr>
          <a:xfrm>
            <a:off x="742950" y="3038475"/>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a:solidFill>
                  <a:srgbClr val="B7791F"/>
                </a:solidFill>
                <a:latin typeface="Aptos"/>
                <a:ea typeface="Aptos"/>
                <a:cs typeface="Aptos"/>
              </a:rPr>
              <a:t>SYSTEM IDEA</a:t>
            </a:r>
            <a:endParaRPr sz="1400"/>
          </a:p>
        </p:txBody>
      </p:sp>
      <p:sp>
        <p:nvSpPr>
          <p:cNvPr id="13" name="矩形 12">
            <a:extLst>
              <a:ext uri="{FF2B5EF4-FFF2-40B4-BE49-F238E27FC236}">
                <a16:creationId xmlns:a16="http://schemas.microsoft.com/office/drawing/2014/main" id="{B0FE69BC-7235-46C0-AD5C-0EB5103DB5EE}"/>
              </a:ext>
            </a:extLst>
          </p:cNvPr>
          <p:cNvSpPr/>
          <p:nvPr/>
        </p:nvSpPr>
        <p:spPr>
          <a:xfrm>
            <a:off x="419100" y="3314700"/>
            <a:ext cx="3714750" cy="1181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1. Predict remaining output length</a:t>
            </a:r>
            <a:endParaRPr sz="1400"/>
          </a:p>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2. Detect load drift during decode</a:t>
            </a:r>
            <a:endParaRPr sz="1400"/>
          </a:p>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3. Migrate request / KV cache</a:t>
            </a:r>
            <a:endParaRPr sz="1400"/>
          </a:p>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4. Rebalance serving instances</a:t>
            </a:r>
            <a:endParaRPr sz="1400"/>
          </a:p>
        </p:txBody>
      </p:sp>
      <p:sp>
        <p:nvSpPr>
          <p:cNvPr id="14" name="metric-box">
            <a:extLst>
              <a:ext uri="{FF2B5EF4-FFF2-40B4-BE49-F238E27FC236}">
                <a16:creationId xmlns:a16="http://schemas.microsoft.com/office/drawing/2014/main" id="{54FF19F2-95D7-43A5-81C8-DD1840A4FA5A}"/>
              </a:ext>
            </a:extLst>
          </p:cNvPr>
          <p:cNvSpPr/>
          <p:nvPr/>
        </p:nvSpPr>
        <p:spPr>
          <a:xfrm>
            <a:off x="419100" y="4629150"/>
            <a:ext cx="3714750" cy="571500"/>
          </a:xfrm>
          <a:prstGeom prst="rect">
            <a:avLst/>
          </a:prstGeom>
          <a:solidFill>
            <a:srgbClr val="B7791F">
              <a:alpha val="6275"/>
            </a:srgbClr>
          </a:solidFill>
          <a:ln w="9525">
            <a:solidFill>
              <a:srgbClr val="B7791F">
                <a:alpha val="33333"/>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CA1EC55D-35E0-431F-A4DA-EB893451684C}"/>
              </a:ext>
            </a:extLst>
          </p:cNvPr>
          <p:cNvSpPr/>
          <p:nvPr/>
        </p:nvSpPr>
        <p:spPr>
          <a:xfrm>
            <a:off x="646670" y="4807178"/>
            <a:ext cx="3259610" cy="215444"/>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B7791F"/>
                </a:solidFill>
                <a:latin typeface="PingFang SC"/>
                <a:ea typeface="PingFang SC"/>
                <a:cs typeface="PingFang SC"/>
              </a:defRPr>
            </a:pPr>
            <a:r>
              <a:rPr sz="1400" b="1" dirty="0">
                <a:solidFill>
                  <a:srgbClr val="B7791F"/>
                </a:solidFill>
                <a:latin typeface="PingFang SC"/>
                <a:ea typeface="PingFang SC"/>
                <a:cs typeface="PingFang SC"/>
              </a:rPr>
              <a:t>goodput </a:t>
            </a:r>
            <a:r>
              <a:rPr sz="1400" b="1" dirty="0" err="1">
                <a:solidFill>
                  <a:srgbClr val="B7791F"/>
                </a:solidFill>
                <a:latin typeface="PingFang SC"/>
                <a:ea typeface="PingFang SC"/>
                <a:cs typeface="PingFang SC"/>
              </a:rPr>
              <a:t>最高</a:t>
            </a:r>
            <a:r>
              <a:rPr sz="1400" b="1" dirty="0">
                <a:solidFill>
                  <a:srgbClr val="B7791F"/>
                </a:solidFill>
                <a:latin typeface="PingFang SC"/>
                <a:ea typeface="PingFang SC"/>
                <a:cs typeface="PingFang SC"/>
              </a:rPr>
              <a:t> </a:t>
            </a:r>
            <a:r>
              <a:rPr sz="1400" b="1" dirty="0">
                <a:solidFill>
                  <a:srgbClr val="FF0000"/>
                </a:solidFill>
                <a:latin typeface="PingFang SC"/>
                <a:ea typeface="PingFang SC"/>
                <a:cs typeface="PingFang SC"/>
              </a:rPr>
              <a:t>2.63×</a:t>
            </a:r>
            <a:r>
              <a:rPr sz="1400" b="1" dirty="0">
                <a:solidFill>
                  <a:srgbClr val="B7791F"/>
                </a:solidFill>
                <a:latin typeface="PingFang SC"/>
                <a:ea typeface="PingFang SC"/>
                <a:cs typeface="PingFang SC"/>
              </a:rPr>
              <a:t>；P99 TPOT </a:t>
            </a:r>
            <a:r>
              <a:rPr sz="1400" b="1" dirty="0" err="1">
                <a:solidFill>
                  <a:srgbClr val="B7791F"/>
                </a:solidFill>
                <a:latin typeface="PingFang SC"/>
                <a:ea typeface="PingFang SC"/>
                <a:cs typeface="PingFang SC"/>
              </a:rPr>
              <a:t>降低</a:t>
            </a:r>
            <a:r>
              <a:rPr sz="1400" b="1" dirty="0">
                <a:solidFill>
                  <a:srgbClr val="B7791F"/>
                </a:solidFill>
                <a:latin typeface="PingFang SC"/>
                <a:ea typeface="PingFang SC"/>
                <a:cs typeface="PingFang SC"/>
              </a:rPr>
              <a:t> </a:t>
            </a:r>
            <a:r>
              <a:rPr sz="1400" b="1" dirty="0">
                <a:solidFill>
                  <a:srgbClr val="FF0000"/>
                </a:solidFill>
                <a:latin typeface="PingFang SC"/>
                <a:ea typeface="PingFang SC"/>
                <a:cs typeface="PingFang SC"/>
              </a:rPr>
              <a:t>75.1%</a:t>
            </a:r>
            <a:endParaRPr sz="1400" dirty="0">
              <a:solidFill>
                <a:srgbClr val="FF0000"/>
              </a:solidFill>
            </a:endParaRPr>
          </a:p>
        </p:txBody>
      </p:sp>
      <p:sp>
        <p:nvSpPr>
          <p:cNvPr id="16" name="card-TAKEAWAY">
            <a:extLst>
              <a:ext uri="{FF2B5EF4-FFF2-40B4-BE49-F238E27FC236}">
                <a16:creationId xmlns:a16="http://schemas.microsoft.com/office/drawing/2014/main" id="{6255301C-D52D-4E49-90C6-54894E27732D}"/>
              </a:ext>
            </a:extLst>
          </p:cNvPr>
          <p:cNvSpPr/>
          <p:nvPr/>
        </p:nvSpPr>
        <p:spPr>
          <a:xfrm>
            <a:off x="419100" y="5391150"/>
            <a:ext cx="3714750" cy="903160"/>
          </a:xfrm>
          <a:prstGeom prst="rect">
            <a:avLst/>
          </a:prstGeom>
          <a:solidFill>
            <a:srgbClr val="FFFFFF"/>
          </a:solidFill>
          <a:ln w="9525">
            <a:solidFill>
              <a:srgbClr val="B7791F">
                <a:alpha val="33333"/>
              </a:srgbClr>
            </a:solidFill>
            <a:prstDash val="solid"/>
          </a:ln>
        </p:spPr>
        <p:txBody>
          <a:bodyPr/>
          <a:lstStyle/>
          <a:p>
            <a:endParaRPr lang="zh-CN" altLang="en-US"/>
          </a:p>
        </p:txBody>
      </p:sp>
      <p:sp>
        <p:nvSpPr>
          <p:cNvPr id="17" name="card-accent-TAKEAWAY">
            <a:extLst>
              <a:ext uri="{FF2B5EF4-FFF2-40B4-BE49-F238E27FC236}">
                <a16:creationId xmlns:a16="http://schemas.microsoft.com/office/drawing/2014/main" id="{C98E7271-4547-43EB-8534-52B3109F6DBC}"/>
              </a:ext>
            </a:extLst>
          </p:cNvPr>
          <p:cNvSpPr/>
          <p:nvPr/>
        </p:nvSpPr>
        <p:spPr>
          <a:xfrm>
            <a:off x="419100" y="5391150"/>
            <a:ext cx="47625" cy="903160"/>
          </a:xfrm>
          <a:prstGeom prst="rect">
            <a:avLst/>
          </a:prstGeom>
          <a:solidFill>
            <a:srgbClr val="B7791F"/>
          </a:solidFill>
          <a:ln w="0">
            <a:solidFill>
              <a:srgbClr val="B7791F"/>
            </a:solidFill>
            <a:prstDash val="solid"/>
          </a:ln>
        </p:spPr>
        <p:txBody>
          <a:bodyPr/>
          <a:lstStyle/>
          <a:p>
            <a:endParaRPr lang="zh-CN" altLang="en-US"/>
          </a:p>
        </p:txBody>
      </p:sp>
      <p:sp>
        <p:nvSpPr>
          <p:cNvPr id="18" name="矩形 17">
            <a:extLst>
              <a:ext uri="{FF2B5EF4-FFF2-40B4-BE49-F238E27FC236}">
                <a16:creationId xmlns:a16="http://schemas.microsoft.com/office/drawing/2014/main" id="{04ED6EDD-2728-4FD3-8901-8B0613F6BFF0}"/>
              </a:ext>
            </a:extLst>
          </p:cNvPr>
          <p:cNvSpPr/>
          <p:nvPr/>
        </p:nvSpPr>
        <p:spPr>
          <a:xfrm>
            <a:off x="571500" y="5486400"/>
            <a:ext cx="3429000" cy="182880"/>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dirty="0">
                <a:solidFill>
                  <a:srgbClr val="B7791F"/>
                </a:solidFill>
                <a:latin typeface="Aptos"/>
                <a:ea typeface="Aptos"/>
                <a:cs typeface="Aptos"/>
              </a:rPr>
              <a:t>TAKEAWAY</a:t>
            </a:r>
            <a:endParaRPr sz="1400" dirty="0"/>
          </a:p>
        </p:txBody>
      </p:sp>
      <p:sp>
        <p:nvSpPr>
          <p:cNvPr id="19" name="矩形 18">
            <a:extLst>
              <a:ext uri="{FF2B5EF4-FFF2-40B4-BE49-F238E27FC236}">
                <a16:creationId xmlns:a16="http://schemas.microsoft.com/office/drawing/2014/main" id="{6165CD77-6D59-4527-BF71-79669915B0BE}"/>
              </a:ext>
            </a:extLst>
          </p:cNvPr>
          <p:cNvSpPr/>
          <p:nvPr/>
        </p:nvSpPr>
        <p:spPr>
          <a:xfrm>
            <a:off x="571500" y="5676900"/>
            <a:ext cx="3411190" cy="43088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sz="1400" b="1" dirty="0" err="1">
                <a:solidFill>
                  <a:srgbClr val="17202A"/>
                </a:solidFill>
                <a:latin typeface="PingFang SC"/>
                <a:ea typeface="PingFang SC"/>
                <a:cs typeface="PingFang SC"/>
              </a:rPr>
              <a:t>调度必须把未来剩余生成长度纳入运行时负</a:t>
            </a:r>
            <a:endParaRPr lang="en-US" sz="1400" b="1" dirty="0">
              <a:solidFill>
                <a:srgbClr val="17202A"/>
              </a:solidFill>
              <a:latin typeface="PingFang SC"/>
              <a:ea typeface="PingFang SC"/>
              <a:cs typeface="PingFang SC"/>
            </a:endParaRPr>
          </a:p>
          <a:p>
            <a:pPr algn="l">
              <a:defRPr sz="1400" b="1">
                <a:solidFill>
                  <a:srgbClr val="17202A"/>
                </a:solidFill>
                <a:latin typeface="PingFang SC"/>
                <a:ea typeface="PingFang SC"/>
                <a:cs typeface="PingFang SC"/>
              </a:defRPr>
            </a:pPr>
            <a:r>
              <a:rPr sz="1400" b="1" dirty="0" err="1">
                <a:solidFill>
                  <a:srgbClr val="17202A"/>
                </a:solidFill>
                <a:latin typeface="PingFang SC"/>
                <a:ea typeface="PingFang SC"/>
                <a:cs typeface="PingFang SC"/>
              </a:rPr>
              <a:t>载均衡</a:t>
            </a:r>
            <a:r>
              <a:rPr sz="1400" b="1" dirty="0">
                <a:solidFill>
                  <a:srgbClr val="17202A"/>
                </a:solidFill>
                <a:latin typeface="PingFang SC"/>
                <a:ea typeface="PingFang SC"/>
                <a:cs typeface="PingFang SC"/>
              </a:rPr>
              <a:t>。</a:t>
            </a:r>
            <a:endParaRPr sz="1400" dirty="0"/>
          </a:p>
        </p:txBody>
      </p:sp>
      <p:pic>
        <p:nvPicPr>
          <p:cNvPr id="20" name="图片 19"/>
          <p:cNvPicPr/>
          <p:nvPr/>
        </p:nvPicPr>
        <p:blipFill>
          <a:blip r:embed="rId3"/>
          <a:stretch/>
        </p:blipFill>
        <p:spPr>
          <a:xfrm>
            <a:off x="4505989" y="1904238"/>
            <a:ext cx="6762750" cy="3457077"/>
          </a:xfrm>
          <a:prstGeom prst="rect">
            <a:avLst/>
          </a:prstGeom>
        </p:spPr>
      </p:pic>
      <p:sp>
        <p:nvSpPr>
          <p:cNvPr id="21" name="矩形 20">
            <a:extLst>
              <a:ext uri="{FF2B5EF4-FFF2-40B4-BE49-F238E27FC236}">
                <a16:creationId xmlns:a16="http://schemas.microsoft.com/office/drawing/2014/main" id="{DDBF5604-2500-49E0-A3AD-1003717F3FC6}"/>
              </a:ext>
            </a:extLst>
          </p:cNvPr>
          <p:cNvSpPr/>
          <p:nvPr/>
        </p:nvSpPr>
        <p:spPr>
          <a:xfrm>
            <a:off x="381000" y="6343650"/>
            <a:ext cx="40005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18" b="0">
                <a:solidFill>
                  <a:srgbClr val="7A8393"/>
                </a:solidFill>
                <a:latin typeface="Aptos"/>
                <a:ea typeface="Aptos"/>
                <a:cs typeface="Aptos"/>
              </a:defRPr>
            </a:pPr>
            <a:r>
              <a:rPr sz="880" b="0" dirty="0">
                <a:solidFill>
                  <a:srgbClr val="7A8393"/>
                </a:solidFill>
                <a:latin typeface="Aptos"/>
                <a:ea typeface="Aptos"/>
                <a:cs typeface="Aptos"/>
              </a:rPr>
              <a:t>Source: local paper PDF · core figure cropped from paper</a:t>
            </a:r>
          </a:p>
        </p:txBody>
      </p:sp>
      <p:sp>
        <p:nvSpPr>
          <p:cNvPr id="22" name="矩形 21">
            <a:extLst>
              <a:ext uri="{FF2B5EF4-FFF2-40B4-BE49-F238E27FC236}">
                <a16:creationId xmlns:a16="http://schemas.microsoft.com/office/drawing/2014/main" id="{486C4228-5288-451A-97E0-825005526EE0}"/>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08</a:t>
            </a:r>
          </a:p>
        </p:txBody>
      </p:sp>
    </p:spTree>
    <p:extLst>
      <p:ext uri="{BB962C8B-B14F-4D97-AF65-F5344CB8AC3E}">
        <p14:creationId xmlns:p14="http://schemas.microsoft.com/office/powerpoint/2010/main" val="410896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ADB3B166-A797-408A-918E-924936AFF52A}"/>
              </a:ext>
            </a:extLst>
          </p:cNvPr>
          <p:cNvSpPr/>
          <p:nvPr/>
        </p:nvSpPr>
        <p:spPr>
          <a:xfrm>
            <a:off x="361950" y="323850"/>
            <a:ext cx="47625" cy="247650"/>
          </a:xfrm>
          <a:prstGeom prst="rect">
            <a:avLst/>
          </a:prstGeom>
          <a:solidFill>
            <a:srgbClr val="0D8A94"/>
          </a:solidFill>
          <a:ln w="0">
            <a:solidFill>
              <a:srgbClr val="0D8A94"/>
            </a:solidFill>
            <a:prstDash val="solid"/>
          </a:ln>
        </p:spPr>
        <p:txBody>
          <a:bodyPr/>
          <a:lstStyle/>
          <a:p>
            <a:endParaRPr lang="zh-CN" altLang="en-US"/>
          </a:p>
        </p:txBody>
      </p:sp>
      <p:sp>
        <p:nvSpPr>
          <p:cNvPr id="2" name="kicker-label">
            <a:extLst>
              <a:ext uri="{FF2B5EF4-FFF2-40B4-BE49-F238E27FC236}">
                <a16:creationId xmlns:a16="http://schemas.microsoft.com/office/drawing/2014/main" id="{4D1D9FED-7C09-477C-9A35-9336DC647376}"/>
              </a:ext>
            </a:extLst>
          </p:cNvPr>
          <p:cNvSpPr/>
          <p:nvPr/>
        </p:nvSpPr>
        <p:spPr>
          <a:xfrm>
            <a:off x="514350" y="333375"/>
            <a:ext cx="292608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0D8A94"/>
                </a:solidFill>
                <a:latin typeface="Aptos"/>
                <a:ea typeface="Aptos"/>
                <a:cs typeface="Aptos"/>
              </a:defRPr>
            </a:pPr>
            <a:r>
              <a:rPr sz="1400" b="1">
                <a:solidFill>
                  <a:srgbClr val="0D8A94"/>
                </a:solidFill>
                <a:latin typeface="Aptos"/>
                <a:ea typeface="Aptos"/>
                <a:cs typeface="Aptos"/>
              </a:rPr>
              <a:t>PAPER 09 · OBSERVABILITY &amp; AIOPS</a:t>
            </a:r>
            <a:endParaRPr sz="1400"/>
          </a:p>
        </p:txBody>
      </p:sp>
      <p:sp>
        <p:nvSpPr>
          <p:cNvPr id="3" name="pill-ASPLOS'26">
            <a:extLst>
              <a:ext uri="{FF2B5EF4-FFF2-40B4-BE49-F238E27FC236}">
                <a16:creationId xmlns:a16="http://schemas.microsoft.com/office/drawing/2014/main" id="{9A4F44F7-58C2-4631-8A68-075A0DE9B7DD}"/>
              </a:ext>
            </a:extLst>
          </p:cNvPr>
          <p:cNvSpPr/>
          <p:nvPr/>
        </p:nvSpPr>
        <p:spPr>
          <a:xfrm>
            <a:off x="10144125" y="323850"/>
            <a:ext cx="1657350" cy="266700"/>
          </a:xfrm>
          <a:prstGeom prst="rect">
            <a:avLst/>
          </a:prstGeom>
          <a:solidFill>
            <a:srgbClr val="0D8A94">
              <a:alpha val="8627"/>
            </a:srgbClr>
          </a:solidFill>
          <a:ln w="9525">
            <a:solidFill>
              <a:srgbClr val="0D8A94">
                <a:alpha val="43922"/>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8686643C-B740-439A-AEC7-82FABECECE5B}"/>
              </a:ext>
            </a:extLst>
          </p:cNvPr>
          <p:cNvSpPr/>
          <p:nvPr/>
        </p:nvSpPr>
        <p:spPr>
          <a:xfrm>
            <a:off x="10239375" y="365760"/>
            <a:ext cx="1466850" cy="182880"/>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0D8A94"/>
                </a:solidFill>
                <a:latin typeface="Aptos"/>
                <a:ea typeface="Aptos"/>
                <a:cs typeface="Aptos"/>
              </a:defRPr>
            </a:pPr>
            <a:r>
              <a:rPr sz="1400" b="1">
                <a:solidFill>
                  <a:srgbClr val="0D8A94"/>
                </a:solidFill>
                <a:latin typeface="Aptos"/>
                <a:ea typeface="Aptos"/>
                <a:cs typeface="Aptos"/>
              </a:rPr>
              <a:t>ASPLOS'26</a:t>
            </a:r>
            <a:endParaRPr sz="1400"/>
          </a:p>
        </p:txBody>
      </p:sp>
      <p:sp>
        <p:nvSpPr>
          <p:cNvPr id="5" name="矩形 4">
            <a:extLst>
              <a:ext uri="{FF2B5EF4-FFF2-40B4-BE49-F238E27FC236}">
                <a16:creationId xmlns:a16="http://schemas.microsoft.com/office/drawing/2014/main" id="{A3D3A25D-711C-41DC-A064-1600850ACA7D}"/>
              </a:ext>
            </a:extLst>
          </p:cNvPr>
          <p:cNvSpPr/>
          <p:nvPr/>
        </p:nvSpPr>
        <p:spPr>
          <a:xfrm>
            <a:off x="361950" y="666750"/>
            <a:ext cx="9715500" cy="419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2550" b="1">
                <a:solidFill>
                  <a:srgbClr val="17202A"/>
                </a:solidFill>
                <a:latin typeface="PingFang SC"/>
                <a:ea typeface="PingFang SC"/>
                <a:cs typeface="PingFang SC"/>
              </a:defRPr>
            </a:pPr>
            <a:r>
              <a:rPr sz="2550" b="1">
                <a:solidFill>
                  <a:srgbClr val="17202A"/>
                </a:solidFill>
                <a:latin typeface="PingFang SC"/>
                <a:ea typeface="PingFang SC"/>
                <a:cs typeface="PingFang SC"/>
              </a:rPr>
              <a:t>Pulse：RNIC → Host Agent → Analyzer 定位训练异常</a:t>
            </a:r>
            <a:endParaRPr sz="1400"/>
          </a:p>
        </p:txBody>
      </p:sp>
      <p:sp>
        <p:nvSpPr>
          <p:cNvPr id="6" name="矩形 5">
            <a:extLst>
              <a:ext uri="{FF2B5EF4-FFF2-40B4-BE49-F238E27FC236}">
                <a16:creationId xmlns:a16="http://schemas.microsoft.com/office/drawing/2014/main" id="{EB6B9CF6-64EE-4DAF-9CDF-B957F5A36C02}"/>
              </a:ext>
            </a:extLst>
          </p:cNvPr>
          <p:cNvSpPr/>
          <p:nvPr/>
        </p:nvSpPr>
        <p:spPr>
          <a:xfrm>
            <a:off x="381000" y="1152525"/>
            <a:ext cx="93345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dirty="0">
                <a:solidFill>
                  <a:srgbClr val="596273"/>
                </a:solidFill>
                <a:latin typeface="Aptos"/>
                <a:ea typeface="Aptos"/>
                <a:cs typeface="Aptos"/>
              </a:rPr>
              <a:t>Fine-grained and Non-intrusive LLM Training Monitoring via Microsecond-level Traffic Measurement</a:t>
            </a:r>
            <a:endParaRPr sz="1400"/>
          </a:p>
        </p:txBody>
      </p:sp>
      <p:sp>
        <p:nvSpPr>
          <p:cNvPr id="7" name="top-rule">
            <a:extLst>
              <a:ext uri="{FF2B5EF4-FFF2-40B4-BE49-F238E27FC236}">
                <a16:creationId xmlns:a16="http://schemas.microsoft.com/office/drawing/2014/main" id="{DB3175B1-BDFF-4CD0-941F-8FB61336EE08}"/>
              </a:ext>
            </a:extLst>
          </p:cNvPr>
          <p:cNvSpPr/>
          <p:nvPr/>
        </p:nvSpPr>
        <p:spPr>
          <a:xfrm>
            <a:off x="381000" y="1438275"/>
            <a:ext cx="11410950" cy="10478"/>
          </a:xfrm>
          <a:prstGeom prst="rect">
            <a:avLst/>
          </a:prstGeom>
          <a:solidFill>
            <a:srgbClr val="D8DEE8"/>
          </a:solidFill>
          <a:ln w="0">
            <a:solidFill>
              <a:srgbClr val="D8DEE8"/>
            </a:solidFill>
            <a:prstDash val="solid"/>
          </a:ln>
        </p:spPr>
        <p:txBody>
          <a:bodyPr/>
          <a:lstStyle/>
          <a:p>
            <a:endParaRPr lang="zh-CN" altLang="en-US"/>
          </a:p>
        </p:txBody>
      </p:sp>
      <p:pic>
        <p:nvPicPr>
          <p:cNvPr id="8" name="图片 7"/>
          <p:cNvPicPr/>
          <p:nvPr/>
        </p:nvPicPr>
        <p:blipFill>
          <a:blip r:embed="rId3"/>
          <a:srcRect r="2936"/>
          <a:stretch>
            <a:fillRect/>
          </a:stretch>
        </p:blipFill>
        <p:spPr>
          <a:xfrm>
            <a:off x="240649" y="1801178"/>
            <a:ext cx="7697787" cy="3571302"/>
          </a:xfrm>
          <a:prstGeom prst="rect">
            <a:avLst/>
          </a:prstGeom>
        </p:spPr>
      </p:pic>
      <p:grpSp>
        <p:nvGrpSpPr>
          <p:cNvPr id="24" name="组合 23">
            <a:extLst>
              <a:ext uri="{FF2B5EF4-FFF2-40B4-BE49-F238E27FC236}">
                <a16:creationId xmlns:a16="http://schemas.microsoft.com/office/drawing/2014/main" id="{DCB79DD5-140D-5372-89DF-6DC3014E0A6B}"/>
              </a:ext>
            </a:extLst>
          </p:cNvPr>
          <p:cNvGrpSpPr/>
          <p:nvPr/>
        </p:nvGrpSpPr>
        <p:grpSpPr>
          <a:xfrm>
            <a:off x="8001000" y="2023205"/>
            <a:ext cx="3703320" cy="3127248"/>
            <a:chOff x="8001000" y="1664208"/>
            <a:chExt cx="3703320" cy="3127248"/>
          </a:xfrm>
        </p:grpSpPr>
        <p:sp>
          <p:nvSpPr>
            <p:cNvPr id="9" name="card-PROBLEM">
              <a:extLst>
                <a:ext uri="{FF2B5EF4-FFF2-40B4-BE49-F238E27FC236}">
                  <a16:creationId xmlns:a16="http://schemas.microsoft.com/office/drawing/2014/main" id="{B5C04926-B4F7-48D2-9F44-D7550BA82738}"/>
                </a:ext>
              </a:extLst>
            </p:cNvPr>
            <p:cNvSpPr/>
            <p:nvPr/>
          </p:nvSpPr>
          <p:spPr>
            <a:xfrm>
              <a:off x="8001000" y="1664208"/>
              <a:ext cx="3703320" cy="932688"/>
            </a:xfrm>
            <a:prstGeom prst="rect">
              <a:avLst/>
            </a:prstGeom>
            <a:solidFill>
              <a:srgbClr val="FFFFFF"/>
            </a:solidFill>
            <a:ln w="9525">
              <a:solidFill>
                <a:srgbClr val="D8DEE8"/>
              </a:solidFill>
              <a:prstDash val="solid"/>
            </a:ln>
          </p:spPr>
          <p:txBody>
            <a:bodyPr/>
            <a:lstStyle/>
            <a:p>
              <a:endParaRPr lang="zh-CN" altLang="en-US"/>
            </a:p>
          </p:txBody>
        </p:sp>
        <p:sp>
          <p:nvSpPr>
            <p:cNvPr id="10" name="card-accent-PROBLEM">
              <a:extLst>
                <a:ext uri="{FF2B5EF4-FFF2-40B4-BE49-F238E27FC236}">
                  <a16:creationId xmlns:a16="http://schemas.microsoft.com/office/drawing/2014/main" id="{CF5816F7-2FC0-48E0-97D9-4655AE4DD0BA}"/>
                </a:ext>
              </a:extLst>
            </p:cNvPr>
            <p:cNvSpPr/>
            <p:nvPr/>
          </p:nvSpPr>
          <p:spPr>
            <a:xfrm>
              <a:off x="8001000" y="1664208"/>
              <a:ext cx="45720" cy="932688"/>
            </a:xfrm>
            <a:prstGeom prst="rect">
              <a:avLst/>
            </a:prstGeom>
            <a:solidFill>
              <a:srgbClr val="0D8A94"/>
            </a:solidFill>
            <a:ln w="0">
              <a:solidFill>
                <a:srgbClr val="0D8A94"/>
              </a:solidFill>
              <a:prstDash val="solid"/>
            </a:ln>
          </p:spPr>
          <p:txBody>
            <a:bodyPr/>
            <a:lstStyle/>
            <a:p>
              <a:endParaRPr lang="zh-CN" altLang="en-US"/>
            </a:p>
          </p:txBody>
        </p:sp>
        <p:sp>
          <p:nvSpPr>
            <p:cNvPr id="11" name="矩形 10">
              <a:extLst>
                <a:ext uri="{FF2B5EF4-FFF2-40B4-BE49-F238E27FC236}">
                  <a16:creationId xmlns:a16="http://schemas.microsoft.com/office/drawing/2014/main" id="{5B513625-E523-4685-A65E-D0C9F161ADD4}"/>
                </a:ext>
              </a:extLst>
            </p:cNvPr>
            <p:cNvSpPr/>
            <p:nvPr/>
          </p:nvSpPr>
          <p:spPr>
            <a:xfrm>
              <a:off x="8156448" y="1755648"/>
              <a:ext cx="3401568"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0D8A94"/>
                  </a:solidFill>
                  <a:latin typeface="Aptos"/>
                  <a:ea typeface="Aptos"/>
                  <a:cs typeface="Aptos"/>
                </a:defRPr>
              </a:pPr>
              <a:r>
                <a:rPr sz="1400" b="1">
                  <a:solidFill>
                    <a:srgbClr val="0D8A94"/>
                  </a:solidFill>
                  <a:latin typeface="Aptos"/>
                  <a:ea typeface="Aptos"/>
                  <a:cs typeface="Aptos"/>
                </a:rPr>
                <a:t>RNIC / NIC Agent</a:t>
              </a:r>
              <a:endParaRPr sz="1400"/>
            </a:p>
          </p:txBody>
        </p:sp>
        <p:sp>
          <p:nvSpPr>
            <p:cNvPr id="12" name="矩形 11">
              <a:extLst>
                <a:ext uri="{FF2B5EF4-FFF2-40B4-BE49-F238E27FC236}">
                  <a16:creationId xmlns:a16="http://schemas.microsoft.com/office/drawing/2014/main" id="{30E74930-944C-4A01-B4FB-B4B125D8DF71}"/>
                </a:ext>
              </a:extLst>
            </p:cNvPr>
            <p:cNvSpPr/>
            <p:nvPr/>
          </p:nvSpPr>
          <p:spPr>
            <a:xfrm>
              <a:off x="8156448" y="1993392"/>
              <a:ext cx="3401568"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dirty="0">
                  <a:solidFill>
                    <a:srgbClr val="17202A"/>
                  </a:solidFill>
                  <a:latin typeface="PingFang SC"/>
                  <a:ea typeface="PingFang SC"/>
                  <a:cs typeface="PingFang SC"/>
                </a:rPr>
                <a:t>per-QP 微秒级 RDMA 速率测量</a:t>
              </a:r>
            </a:p>
          </p:txBody>
        </p:sp>
        <p:sp>
          <p:nvSpPr>
            <p:cNvPr id="13" name="card-IDEA">
              <a:extLst>
                <a:ext uri="{FF2B5EF4-FFF2-40B4-BE49-F238E27FC236}">
                  <a16:creationId xmlns:a16="http://schemas.microsoft.com/office/drawing/2014/main" id="{35485117-B5E3-463A-AC70-7B4D769A5F24}"/>
                </a:ext>
              </a:extLst>
            </p:cNvPr>
            <p:cNvSpPr/>
            <p:nvPr/>
          </p:nvSpPr>
          <p:spPr>
            <a:xfrm>
              <a:off x="8001000" y="2761488"/>
              <a:ext cx="3703320" cy="932688"/>
            </a:xfrm>
            <a:prstGeom prst="rect">
              <a:avLst/>
            </a:prstGeom>
            <a:solidFill>
              <a:srgbClr val="FFFFFF"/>
            </a:solidFill>
            <a:ln w="9525">
              <a:solidFill>
                <a:srgbClr val="D8DEE8"/>
              </a:solidFill>
              <a:prstDash val="solid"/>
            </a:ln>
          </p:spPr>
          <p:txBody>
            <a:bodyPr/>
            <a:lstStyle/>
            <a:p>
              <a:endParaRPr lang="zh-CN" altLang="en-US"/>
            </a:p>
          </p:txBody>
        </p:sp>
        <p:sp>
          <p:nvSpPr>
            <p:cNvPr id="14" name="card-accent-IDEA">
              <a:extLst>
                <a:ext uri="{FF2B5EF4-FFF2-40B4-BE49-F238E27FC236}">
                  <a16:creationId xmlns:a16="http://schemas.microsoft.com/office/drawing/2014/main" id="{F93CB021-B638-4C87-A1F1-CA1D331FFCBE}"/>
                </a:ext>
              </a:extLst>
            </p:cNvPr>
            <p:cNvSpPr/>
            <p:nvPr/>
          </p:nvSpPr>
          <p:spPr>
            <a:xfrm>
              <a:off x="8001000" y="2761488"/>
              <a:ext cx="45720" cy="932688"/>
            </a:xfrm>
            <a:prstGeom prst="rect">
              <a:avLst/>
            </a:prstGeom>
            <a:solidFill>
              <a:srgbClr val="0D8A94"/>
            </a:solidFill>
            <a:ln w="0">
              <a:solidFill>
                <a:srgbClr val="0D8A94"/>
              </a:solidFill>
              <a:prstDash val="solid"/>
            </a:ln>
          </p:spPr>
          <p:txBody>
            <a:bodyPr/>
            <a:lstStyle/>
            <a:p>
              <a:endParaRPr lang="zh-CN" altLang="en-US"/>
            </a:p>
          </p:txBody>
        </p:sp>
        <p:sp>
          <p:nvSpPr>
            <p:cNvPr id="15" name="矩形 14">
              <a:extLst>
                <a:ext uri="{FF2B5EF4-FFF2-40B4-BE49-F238E27FC236}">
                  <a16:creationId xmlns:a16="http://schemas.microsoft.com/office/drawing/2014/main" id="{F817862E-6B43-4C6E-AC8D-3AB6B1CE30BD}"/>
                </a:ext>
              </a:extLst>
            </p:cNvPr>
            <p:cNvSpPr/>
            <p:nvPr/>
          </p:nvSpPr>
          <p:spPr>
            <a:xfrm>
              <a:off x="8156448" y="2852928"/>
              <a:ext cx="3401568"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0D8A94"/>
                  </a:solidFill>
                  <a:latin typeface="Aptos"/>
                  <a:ea typeface="Aptos"/>
                  <a:cs typeface="Aptos"/>
                </a:defRPr>
              </a:pPr>
              <a:r>
                <a:rPr sz="1400" b="1">
                  <a:solidFill>
                    <a:srgbClr val="0D8A94"/>
                  </a:solidFill>
                  <a:latin typeface="Aptos"/>
                  <a:ea typeface="Aptos"/>
                  <a:cs typeface="Aptos"/>
                </a:rPr>
                <a:t>Host Agent</a:t>
              </a:r>
              <a:endParaRPr sz="1400"/>
            </a:p>
          </p:txBody>
        </p:sp>
        <p:sp>
          <p:nvSpPr>
            <p:cNvPr id="16" name="矩形 15">
              <a:extLst>
                <a:ext uri="{FF2B5EF4-FFF2-40B4-BE49-F238E27FC236}">
                  <a16:creationId xmlns:a16="http://schemas.microsoft.com/office/drawing/2014/main" id="{D1F90857-4FEA-4551-A62D-2D2D4A2CFF76}"/>
                </a:ext>
              </a:extLst>
            </p:cNvPr>
            <p:cNvSpPr/>
            <p:nvPr/>
          </p:nvSpPr>
          <p:spPr>
            <a:xfrm>
              <a:off x="8156448" y="3090672"/>
              <a:ext cx="3401568"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hook NCCL / RDMA API，映射 collective
P2P operator</a:t>
              </a:r>
              <a:endParaRPr sz="1400"/>
            </a:p>
          </p:txBody>
        </p:sp>
        <p:sp>
          <p:nvSpPr>
            <p:cNvPr id="17" name="card-RESULT / TAKEAWAY">
              <a:extLst>
                <a:ext uri="{FF2B5EF4-FFF2-40B4-BE49-F238E27FC236}">
                  <a16:creationId xmlns:a16="http://schemas.microsoft.com/office/drawing/2014/main" id="{D98323D1-97A5-419B-8312-3B00F2D82FBC}"/>
                </a:ext>
              </a:extLst>
            </p:cNvPr>
            <p:cNvSpPr/>
            <p:nvPr/>
          </p:nvSpPr>
          <p:spPr>
            <a:xfrm>
              <a:off x="8001000" y="3858768"/>
              <a:ext cx="3703320" cy="932688"/>
            </a:xfrm>
            <a:prstGeom prst="rect">
              <a:avLst/>
            </a:prstGeom>
            <a:solidFill>
              <a:srgbClr val="0D8A94">
                <a:alpha val="6275"/>
              </a:srgbClr>
            </a:solidFill>
            <a:ln w="9525">
              <a:solidFill>
                <a:srgbClr val="0D8A94">
                  <a:alpha val="33333"/>
                </a:srgbClr>
              </a:solidFill>
              <a:prstDash val="solid"/>
            </a:ln>
          </p:spPr>
          <p:txBody>
            <a:bodyPr/>
            <a:lstStyle/>
            <a:p>
              <a:endParaRPr lang="zh-CN" altLang="en-US"/>
            </a:p>
          </p:txBody>
        </p:sp>
        <p:sp>
          <p:nvSpPr>
            <p:cNvPr id="18" name="card-accent-RESULT / TAKEAWAY">
              <a:extLst>
                <a:ext uri="{FF2B5EF4-FFF2-40B4-BE49-F238E27FC236}">
                  <a16:creationId xmlns:a16="http://schemas.microsoft.com/office/drawing/2014/main" id="{892C6CB4-D001-431C-B516-BE769CB493A5}"/>
                </a:ext>
              </a:extLst>
            </p:cNvPr>
            <p:cNvSpPr/>
            <p:nvPr/>
          </p:nvSpPr>
          <p:spPr>
            <a:xfrm>
              <a:off x="8001000" y="3858768"/>
              <a:ext cx="45720" cy="932688"/>
            </a:xfrm>
            <a:prstGeom prst="rect">
              <a:avLst/>
            </a:prstGeom>
            <a:solidFill>
              <a:srgbClr val="0D8A94"/>
            </a:solidFill>
            <a:ln w="0">
              <a:solidFill>
                <a:srgbClr val="0D8A94"/>
              </a:solidFill>
              <a:prstDash val="solid"/>
            </a:ln>
          </p:spPr>
          <p:txBody>
            <a:bodyPr/>
            <a:lstStyle/>
            <a:p>
              <a:endParaRPr lang="zh-CN" altLang="en-US"/>
            </a:p>
          </p:txBody>
        </p:sp>
        <p:sp>
          <p:nvSpPr>
            <p:cNvPr id="19" name="矩形 18">
              <a:extLst>
                <a:ext uri="{FF2B5EF4-FFF2-40B4-BE49-F238E27FC236}">
                  <a16:creationId xmlns:a16="http://schemas.microsoft.com/office/drawing/2014/main" id="{1E2D0F36-4B5F-4280-B4DC-D539F16031F9}"/>
                </a:ext>
              </a:extLst>
            </p:cNvPr>
            <p:cNvSpPr/>
            <p:nvPr/>
          </p:nvSpPr>
          <p:spPr>
            <a:xfrm>
              <a:off x="8156448" y="3950208"/>
              <a:ext cx="3401568" cy="18288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0D8A94"/>
                  </a:solidFill>
                  <a:latin typeface="Aptos"/>
                  <a:ea typeface="Aptos"/>
                  <a:cs typeface="Aptos"/>
                </a:defRPr>
              </a:pPr>
              <a:r>
                <a:rPr sz="1400" b="1">
                  <a:solidFill>
                    <a:srgbClr val="0D8A94"/>
                  </a:solidFill>
                  <a:latin typeface="Aptos"/>
                  <a:ea typeface="Aptos"/>
                  <a:cs typeface="Aptos"/>
                </a:rPr>
                <a:t>Pulse Analyzer</a:t>
              </a:r>
              <a:endParaRPr sz="1400"/>
            </a:p>
          </p:txBody>
        </p:sp>
        <p:sp>
          <p:nvSpPr>
            <p:cNvPr id="20" name="矩形 19">
              <a:extLst>
                <a:ext uri="{FF2B5EF4-FFF2-40B4-BE49-F238E27FC236}">
                  <a16:creationId xmlns:a16="http://schemas.microsoft.com/office/drawing/2014/main" id="{946A1944-2DC6-4DF4-B1C7-1534D2E7341B}"/>
                </a:ext>
              </a:extLst>
            </p:cNvPr>
            <p:cNvSpPr/>
            <p:nvPr/>
          </p:nvSpPr>
          <p:spPr>
            <a:xfrm>
              <a:off x="8156448" y="4187952"/>
              <a:ext cx="2281074" cy="43088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0D8A94"/>
                  </a:solidFill>
                  <a:latin typeface="PingFang SC"/>
                  <a:ea typeface="PingFang SC"/>
                  <a:cs typeface="PingFang SC"/>
                </a:defRPr>
              </a:pPr>
              <a:r>
                <a:rPr sz="1400" b="1" dirty="0">
                  <a:solidFill>
                    <a:srgbClr val="FF0000"/>
                  </a:solidFill>
                  <a:latin typeface="PingFang SC"/>
                  <a:ea typeface="PingFang SC"/>
                  <a:cs typeface="PingFang SC"/>
                </a:rPr>
                <a:t>12 </a:t>
              </a:r>
              <a:r>
                <a:rPr sz="1400" b="1" dirty="0" err="1">
                  <a:solidFill>
                    <a:srgbClr val="FF0000"/>
                  </a:solidFill>
                  <a:latin typeface="PingFang SC"/>
                  <a:ea typeface="PingFang SC"/>
                  <a:cs typeface="PingFang SC"/>
                </a:rPr>
                <a:t>类故障中</a:t>
              </a:r>
              <a:r>
                <a:rPr sz="1400" b="1" dirty="0">
                  <a:solidFill>
                    <a:srgbClr val="FF0000"/>
                  </a:solidFill>
                  <a:latin typeface="PingFang SC"/>
                  <a:ea typeface="PingFang SC"/>
                  <a:cs typeface="PingFang SC"/>
                </a:rPr>
                <a:t> 10 </a:t>
              </a:r>
              <a:r>
                <a:rPr sz="1400" b="1" dirty="0" err="1">
                  <a:solidFill>
                    <a:srgbClr val="FF0000"/>
                  </a:solidFill>
                  <a:latin typeface="PingFang SC"/>
                  <a:ea typeface="PingFang SC"/>
                  <a:cs typeface="PingFang SC"/>
                </a:rPr>
                <a:t>类机器级定位</a:t>
              </a:r>
              <a:r>
                <a:rPr sz="1400" b="1" dirty="0">
                  <a:solidFill>
                    <a:srgbClr val="0D8A94"/>
                  </a:solidFill>
                  <a:latin typeface="PingFang SC"/>
                  <a:ea typeface="PingFang SC"/>
                  <a:cs typeface="PingFang SC"/>
                </a:rPr>
                <a:t>
100% NIC </a:t>
              </a:r>
              <a:r>
                <a:rPr sz="1400" b="1" dirty="0" err="1">
                  <a:solidFill>
                    <a:srgbClr val="0D8A94"/>
                  </a:solidFill>
                  <a:latin typeface="PingFang SC"/>
                  <a:ea typeface="PingFang SC"/>
                  <a:cs typeface="PingFang SC"/>
                </a:rPr>
                <a:t>流量可见</a:t>
              </a:r>
              <a:endParaRPr sz="1400" dirty="0"/>
            </a:p>
          </p:txBody>
        </p:sp>
      </p:grpSp>
      <p:sp>
        <p:nvSpPr>
          <p:cNvPr id="21" name="矩形 20">
            <a:extLst>
              <a:ext uri="{FF2B5EF4-FFF2-40B4-BE49-F238E27FC236}">
                <a16:creationId xmlns:a16="http://schemas.microsoft.com/office/drawing/2014/main" id="{7CD6005E-5E0A-42F9-B749-780DE64C7B28}"/>
              </a:ext>
            </a:extLst>
          </p:cNvPr>
          <p:cNvSpPr/>
          <p:nvPr/>
        </p:nvSpPr>
        <p:spPr>
          <a:xfrm>
            <a:off x="381000" y="6477000"/>
            <a:ext cx="40005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18" b="0">
                <a:solidFill>
                  <a:srgbClr val="7A8393"/>
                </a:solidFill>
                <a:latin typeface="Aptos"/>
                <a:ea typeface="Aptos"/>
                <a:cs typeface="Aptos"/>
              </a:defRPr>
            </a:pPr>
            <a:r>
              <a:rPr sz="880" b="0">
                <a:solidFill>
                  <a:srgbClr val="7A8393"/>
                </a:solidFill>
                <a:latin typeface="Aptos"/>
                <a:ea typeface="Aptos"/>
                <a:cs typeface="Aptos"/>
              </a:rPr>
              <a:t>Source: local paper PDF · core figure cropped from paper</a:t>
            </a:r>
          </a:p>
        </p:txBody>
      </p:sp>
      <p:sp>
        <p:nvSpPr>
          <p:cNvPr id="22" name="矩形 21">
            <a:extLst>
              <a:ext uri="{FF2B5EF4-FFF2-40B4-BE49-F238E27FC236}">
                <a16:creationId xmlns:a16="http://schemas.microsoft.com/office/drawing/2014/main" id="{7D46601C-DE25-492E-B3AD-722A9CFA2176}"/>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09</a:t>
            </a:r>
          </a:p>
        </p:txBody>
      </p:sp>
    </p:spTree>
    <p:extLst>
      <p:ext uri="{BB962C8B-B14F-4D97-AF65-F5344CB8AC3E}">
        <p14:creationId xmlns:p14="http://schemas.microsoft.com/office/powerpoint/2010/main" val="646692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C9EC6EBB-C8B0-4366-ABAE-9BE94EB47C46}"/>
              </a:ext>
            </a:extLst>
          </p:cNvPr>
          <p:cNvSpPr/>
          <p:nvPr/>
        </p:nvSpPr>
        <p:spPr>
          <a:xfrm>
            <a:off x="361950" y="323850"/>
            <a:ext cx="47625" cy="247650"/>
          </a:xfrm>
          <a:prstGeom prst="rect">
            <a:avLst/>
          </a:prstGeom>
          <a:solidFill>
            <a:srgbClr val="0D8A94"/>
          </a:solidFill>
          <a:ln w="0">
            <a:solidFill>
              <a:srgbClr val="0D8A94"/>
            </a:solidFill>
            <a:prstDash val="solid"/>
          </a:ln>
        </p:spPr>
        <p:txBody>
          <a:bodyPr/>
          <a:lstStyle/>
          <a:p>
            <a:endParaRPr lang="zh-CN" altLang="en-US"/>
          </a:p>
        </p:txBody>
      </p:sp>
      <p:sp>
        <p:nvSpPr>
          <p:cNvPr id="2" name="kicker-label">
            <a:extLst>
              <a:ext uri="{FF2B5EF4-FFF2-40B4-BE49-F238E27FC236}">
                <a16:creationId xmlns:a16="http://schemas.microsoft.com/office/drawing/2014/main" id="{746657F9-28AC-47D3-AAFB-C16ECC1D935D}"/>
              </a:ext>
            </a:extLst>
          </p:cNvPr>
          <p:cNvSpPr/>
          <p:nvPr/>
        </p:nvSpPr>
        <p:spPr>
          <a:xfrm>
            <a:off x="514350" y="333375"/>
            <a:ext cx="292608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0D8A94"/>
                </a:solidFill>
                <a:latin typeface="Aptos"/>
                <a:ea typeface="Aptos"/>
                <a:cs typeface="Aptos"/>
              </a:defRPr>
            </a:pPr>
            <a:r>
              <a:rPr sz="1400" b="1">
                <a:solidFill>
                  <a:srgbClr val="0D8A94"/>
                </a:solidFill>
                <a:latin typeface="Aptos"/>
                <a:ea typeface="Aptos"/>
                <a:cs typeface="Aptos"/>
              </a:rPr>
              <a:t>PAPER 10 · OBSERVABILITY &amp; AIOPS</a:t>
            </a:r>
            <a:endParaRPr sz="1400"/>
          </a:p>
        </p:txBody>
      </p:sp>
      <p:sp>
        <p:nvSpPr>
          <p:cNvPr id="3" name="pill-SIGCOMM'25">
            <a:extLst>
              <a:ext uri="{FF2B5EF4-FFF2-40B4-BE49-F238E27FC236}">
                <a16:creationId xmlns:a16="http://schemas.microsoft.com/office/drawing/2014/main" id="{4FCD5B11-053B-4115-8D9C-B0DCEFEEEBEB}"/>
              </a:ext>
            </a:extLst>
          </p:cNvPr>
          <p:cNvSpPr/>
          <p:nvPr/>
        </p:nvSpPr>
        <p:spPr>
          <a:xfrm>
            <a:off x="10144125" y="342519"/>
            <a:ext cx="1657350" cy="266700"/>
          </a:xfrm>
          <a:prstGeom prst="rect">
            <a:avLst/>
          </a:prstGeom>
          <a:solidFill>
            <a:srgbClr val="0D8A94">
              <a:alpha val="8627"/>
            </a:srgbClr>
          </a:solidFill>
          <a:ln w="9525">
            <a:solidFill>
              <a:srgbClr val="0D8A94">
                <a:alpha val="43922"/>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79F8D3D4-BC92-4C63-82E4-0CE1E416B8E3}"/>
              </a:ext>
            </a:extLst>
          </p:cNvPr>
          <p:cNvSpPr/>
          <p:nvPr/>
        </p:nvSpPr>
        <p:spPr>
          <a:xfrm>
            <a:off x="10239375" y="352425"/>
            <a:ext cx="14668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0D8A94"/>
                </a:solidFill>
                <a:latin typeface="Aptos"/>
                <a:ea typeface="Aptos"/>
                <a:cs typeface="Aptos"/>
              </a:defRPr>
            </a:pPr>
            <a:r>
              <a:rPr sz="1400" b="1">
                <a:solidFill>
                  <a:srgbClr val="0D8A94"/>
                </a:solidFill>
                <a:latin typeface="Aptos"/>
                <a:ea typeface="Aptos"/>
                <a:cs typeface="Aptos"/>
              </a:rPr>
              <a:t>SIGCOMM'25</a:t>
            </a:r>
            <a:endParaRPr sz="1400"/>
          </a:p>
        </p:txBody>
      </p:sp>
      <p:sp>
        <p:nvSpPr>
          <p:cNvPr id="5" name="矩形 4">
            <a:extLst>
              <a:ext uri="{FF2B5EF4-FFF2-40B4-BE49-F238E27FC236}">
                <a16:creationId xmlns:a16="http://schemas.microsoft.com/office/drawing/2014/main" id="{44847F3E-89CA-44FD-B5AB-53A48C6A748C}"/>
              </a:ext>
            </a:extLst>
          </p:cNvPr>
          <p:cNvSpPr/>
          <p:nvPr/>
        </p:nvSpPr>
        <p:spPr>
          <a:xfrm>
            <a:off x="361950" y="666750"/>
            <a:ext cx="9715500" cy="419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2550" b="1">
                <a:solidFill>
                  <a:srgbClr val="17202A"/>
                </a:solidFill>
                <a:latin typeface="PingFang SC"/>
                <a:ea typeface="PingFang SC"/>
                <a:cs typeface="PingFang SC"/>
              </a:defRPr>
            </a:pPr>
            <a:r>
              <a:rPr sz="2550" b="1">
                <a:solidFill>
                  <a:srgbClr val="17202A"/>
                </a:solidFill>
                <a:latin typeface="PingFang SC"/>
                <a:ea typeface="PingFang SC"/>
                <a:cs typeface="PingFang SC"/>
              </a:rPr>
              <a:t>BiAn：LLM 编排生产网络故障定位推理</a:t>
            </a:r>
            <a:endParaRPr sz="1400"/>
          </a:p>
        </p:txBody>
      </p:sp>
      <p:sp>
        <p:nvSpPr>
          <p:cNvPr id="6" name="矩形 5">
            <a:extLst>
              <a:ext uri="{FF2B5EF4-FFF2-40B4-BE49-F238E27FC236}">
                <a16:creationId xmlns:a16="http://schemas.microsoft.com/office/drawing/2014/main" id="{FEE19E46-5691-41CF-B6F3-3FCBAA492DC8}"/>
              </a:ext>
            </a:extLst>
          </p:cNvPr>
          <p:cNvSpPr/>
          <p:nvPr/>
        </p:nvSpPr>
        <p:spPr>
          <a:xfrm>
            <a:off x="381000" y="1152525"/>
            <a:ext cx="93345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a:solidFill>
                  <a:srgbClr val="596273"/>
                </a:solidFill>
                <a:latin typeface="Aptos"/>
                <a:ea typeface="Aptos"/>
                <a:cs typeface="Aptos"/>
              </a:rPr>
              <a:t>Towards LLM-Based Failure Localization in Production-Scale Networks</a:t>
            </a:r>
            <a:endParaRPr sz="1400"/>
          </a:p>
        </p:txBody>
      </p:sp>
      <p:sp>
        <p:nvSpPr>
          <p:cNvPr id="7" name="top-rule">
            <a:extLst>
              <a:ext uri="{FF2B5EF4-FFF2-40B4-BE49-F238E27FC236}">
                <a16:creationId xmlns:a16="http://schemas.microsoft.com/office/drawing/2014/main" id="{20604822-BC3A-4EB0-B06A-9B439B60C4AF}"/>
              </a:ext>
            </a:extLst>
          </p:cNvPr>
          <p:cNvSpPr/>
          <p:nvPr/>
        </p:nvSpPr>
        <p:spPr>
          <a:xfrm>
            <a:off x="381000" y="1438275"/>
            <a:ext cx="11410950" cy="10478"/>
          </a:xfrm>
          <a:prstGeom prst="rect">
            <a:avLst/>
          </a:prstGeom>
          <a:solidFill>
            <a:srgbClr val="D8DEE8"/>
          </a:solidFill>
          <a:ln w="0">
            <a:solidFill>
              <a:srgbClr val="D8DEE8"/>
            </a:solidFill>
            <a:prstDash val="solid"/>
          </a:ln>
        </p:spPr>
        <p:txBody>
          <a:bodyPr/>
          <a:lstStyle/>
          <a:p>
            <a:endParaRPr lang="zh-CN" altLang="en-US"/>
          </a:p>
        </p:txBody>
      </p:sp>
      <p:sp>
        <p:nvSpPr>
          <p:cNvPr id="8" name="rule-CORE PROBLEM">
            <a:extLst>
              <a:ext uri="{FF2B5EF4-FFF2-40B4-BE49-F238E27FC236}">
                <a16:creationId xmlns:a16="http://schemas.microsoft.com/office/drawing/2014/main" id="{40C0D244-6F89-44DE-BE81-BD4DF46DD335}"/>
              </a:ext>
            </a:extLst>
          </p:cNvPr>
          <p:cNvSpPr/>
          <p:nvPr/>
        </p:nvSpPr>
        <p:spPr>
          <a:xfrm>
            <a:off x="419100" y="1773650"/>
            <a:ext cx="228600" cy="14288"/>
          </a:xfrm>
          <a:prstGeom prst="rect">
            <a:avLst/>
          </a:prstGeom>
          <a:solidFill>
            <a:srgbClr val="0D8A94"/>
          </a:solidFill>
          <a:ln w="0">
            <a:solidFill>
              <a:srgbClr val="0D8A94"/>
            </a:solidFill>
            <a:prstDash val="solid"/>
          </a:ln>
        </p:spPr>
        <p:txBody>
          <a:bodyPr/>
          <a:lstStyle/>
          <a:p>
            <a:endParaRPr lang="zh-CN" altLang="en-US"/>
          </a:p>
        </p:txBody>
      </p:sp>
      <p:sp>
        <p:nvSpPr>
          <p:cNvPr id="9" name="矩形 8">
            <a:extLst>
              <a:ext uri="{FF2B5EF4-FFF2-40B4-BE49-F238E27FC236}">
                <a16:creationId xmlns:a16="http://schemas.microsoft.com/office/drawing/2014/main" id="{57413327-1153-47E6-8163-BA9EA0E94E6B}"/>
              </a:ext>
            </a:extLst>
          </p:cNvPr>
          <p:cNvSpPr/>
          <p:nvPr/>
        </p:nvSpPr>
        <p:spPr>
          <a:xfrm>
            <a:off x="742950" y="1657350"/>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0D8A94"/>
                </a:solidFill>
                <a:latin typeface="Aptos"/>
                <a:ea typeface="Aptos"/>
                <a:cs typeface="Aptos"/>
              </a:defRPr>
            </a:pPr>
            <a:r>
              <a:rPr sz="1400" b="1">
                <a:solidFill>
                  <a:srgbClr val="0D8A94"/>
                </a:solidFill>
                <a:latin typeface="Aptos"/>
                <a:ea typeface="Aptos"/>
                <a:cs typeface="Aptos"/>
              </a:rPr>
              <a:t>CORE PROBLEM</a:t>
            </a:r>
            <a:endParaRPr sz="1400"/>
          </a:p>
        </p:txBody>
      </p:sp>
      <p:sp>
        <p:nvSpPr>
          <p:cNvPr id="10" name="矩形 9">
            <a:extLst>
              <a:ext uri="{FF2B5EF4-FFF2-40B4-BE49-F238E27FC236}">
                <a16:creationId xmlns:a16="http://schemas.microsoft.com/office/drawing/2014/main" id="{DE8D0E67-920B-4B49-99D3-697133145F09}"/>
              </a:ext>
            </a:extLst>
          </p:cNvPr>
          <p:cNvSpPr/>
          <p:nvPr/>
        </p:nvSpPr>
        <p:spPr>
          <a:xfrm>
            <a:off x="419100" y="1933575"/>
            <a:ext cx="2952750" cy="933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PingFang SC"/>
                <a:ea typeface="PingFang SC"/>
                <a:cs typeface="PingFang SC"/>
              </a:defRPr>
            </a:pPr>
            <a:r>
              <a:rPr sz="1400" b="0">
                <a:solidFill>
                  <a:srgbClr val="596273"/>
                </a:solidFill>
                <a:latin typeface="PingFang SC"/>
                <a:ea typeface="PingFang SC"/>
                <a:cs typeface="PingFang SC"/>
              </a:rPr>
              <a:t>生产网络事故叠加告警、拓扑与时间依
赖，人工 root causing 慢且难覆盖
未知复杂事故。</a:t>
            </a:r>
            <a:endParaRPr sz="1400"/>
          </a:p>
        </p:txBody>
      </p:sp>
      <p:sp>
        <p:nvSpPr>
          <p:cNvPr id="11" name="rule-SYSTEM IDEA">
            <a:extLst>
              <a:ext uri="{FF2B5EF4-FFF2-40B4-BE49-F238E27FC236}">
                <a16:creationId xmlns:a16="http://schemas.microsoft.com/office/drawing/2014/main" id="{A978DA9A-94AE-471C-83B2-0E7FE8F60DE4}"/>
              </a:ext>
            </a:extLst>
          </p:cNvPr>
          <p:cNvSpPr/>
          <p:nvPr/>
        </p:nvSpPr>
        <p:spPr>
          <a:xfrm>
            <a:off x="419100" y="3154775"/>
            <a:ext cx="228600" cy="14288"/>
          </a:xfrm>
          <a:prstGeom prst="rect">
            <a:avLst/>
          </a:prstGeom>
          <a:solidFill>
            <a:srgbClr val="0D8A94"/>
          </a:solidFill>
          <a:ln w="0">
            <a:solidFill>
              <a:srgbClr val="0D8A94"/>
            </a:solidFill>
            <a:prstDash val="solid"/>
          </a:ln>
        </p:spPr>
        <p:txBody>
          <a:bodyPr/>
          <a:lstStyle/>
          <a:p>
            <a:endParaRPr lang="zh-CN" altLang="en-US"/>
          </a:p>
        </p:txBody>
      </p:sp>
      <p:sp>
        <p:nvSpPr>
          <p:cNvPr id="12" name="矩形 11">
            <a:extLst>
              <a:ext uri="{FF2B5EF4-FFF2-40B4-BE49-F238E27FC236}">
                <a16:creationId xmlns:a16="http://schemas.microsoft.com/office/drawing/2014/main" id="{D2D2F406-BC22-4044-BF98-421699370EA9}"/>
              </a:ext>
            </a:extLst>
          </p:cNvPr>
          <p:cNvSpPr/>
          <p:nvPr/>
        </p:nvSpPr>
        <p:spPr>
          <a:xfrm>
            <a:off x="742950" y="3038475"/>
            <a:ext cx="1428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0D8A94"/>
                </a:solidFill>
                <a:latin typeface="Aptos"/>
                <a:ea typeface="Aptos"/>
                <a:cs typeface="Aptos"/>
              </a:defRPr>
            </a:pPr>
            <a:r>
              <a:rPr sz="1400" b="1">
                <a:solidFill>
                  <a:srgbClr val="0D8A94"/>
                </a:solidFill>
                <a:latin typeface="Aptos"/>
                <a:ea typeface="Aptos"/>
                <a:cs typeface="Aptos"/>
              </a:rPr>
              <a:t>SYSTEM IDEA</a:t>
            </a:r>
            <a:endParaRPr sz="1400"/>
          </a:p>
        </p:txBody>
      </p:sp>
      <p:sp>
        <p:nvSpPr>
          <p:cNvPr id="13" name="矩形 12">
            <a:extLst>
              <a:ext uri="{FF2B5EF4-FFF2-40B4-BE49-F238E27FC236}">
                <a16:creationId xmlns:a16="http://schemas.microsoft.com/office/drawing/2014/main" id="{CA9849BF-97FA-4438-9B6A-109081F689E3}"/>
              </a:ext>
            </a:extLst>
          </p:cNvPr>
          <p:cNvSpPr/>
          <p:nvPr/>
        </p:nvSpPr>
        <p:spPr>
          <a:xfrm>
            <a:off x="419100" y="3314700"/>
            <a:ext cx="2952750" cy="11811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dirty="0">
                <a:solidFill>
                  <a:srgbClr val="17202A"/>
                </a:solidFill>
                <a:latin typeface="PingFang SC"/>
                <a:ea typeface="PingFang SC"/>
                <a:cs typeface="PingFang SC"/>
              </a:rPr>
              <a:t>Monitor Alert Summary → Device
Anomaly Analysis → Integrated
Root </a:t>
            </a:r>
            <a:r>
              <a:rPr sz="1400" b="0" dirty="0" err="1">
                <a:solidFill>
                  <a:srgbClr val="17202A"/>
                </a:solidFill>
                <a:latin typeface="PingFang SC"/>
                <a:ea typeface="PingFang SC"/>
                <a:cs typeface="PingFang SC"/>
              </a:rPr>
              <a:t>Causing融合设备异常</a:t>
            </a:r>
            <a:r>
              <a:rPr sz="1400" b="0" dirty="0">
                <a:solidFill>
                  <a:srgbClr val="17202A"/>
                </a:solidFill>
                <a:latin typeface="PingFang SC"/>
                <a:ea typeface="PingFang SC"/>
                <a:cs typeface="PingFang SC"/>
              </a:rPr>
              <a:t>
</a:t>
            </a:r>
            <a:r>
              <a:rPr sz="1400" b="0" dirty="0" err="1">
                <a:solidFill>
                  <a:srgbClr val="17202A"/>
                </a:solidFill>
                <a:latin typeface="PingFang SC"/>
                <a:ea typeface="PingFang SC"/>
                <a:cs typeface="PingFang SC"/>
              </a:rPr>
              <a:t>网络拓扑与事件时间线，低延迟输出定</a:t>
            </a:r>
            <a:r>
              <a:rPr sz="1400" b="0" dirty="0">
                <a:solidFill>
                  <a:srgbClr val="17202A"/>
                </a:solidFill>
                <a:latin typeface="PingFang SC"/>
                <a:ea typeface="PingFang SC"/>
                <a:cs typeface="PingFang SC"/>
              </a:rPr>
              <a:t>
</a:t>
            </a:r>
            <a:r>
              <a:rPr sz="1400" b="0" dirty="0" err="1">
                <a:solidFill>
                  <a:srgbClr val="17202A"/>
                </a:solidFill>
                <a:latin typeface="PingFang SC"/>
                <a:ea typeface="PingFang SC"/>
                <a:cs typeface="PingFang SC"/>
              </a:rPr>
              <a:t>位结论</a:t>
            </a:r>
            <a:r>
              <a:rPr sz="1400" b="0" dirty="0">
                <a:solidFill>
                  <a:srgbClr val="17202A"/>
                </a:solidFill>
                <a:latin typeface="PingFang SC"/>
                <a:ea typeface="PingFang SC"/>
                <a:cs typeface="PingFang SC"/>
              </a:rPr>
              <a:t>。</a:t>
            </a:r>
            <a:endParaRPr sz="1400" dirty="0"/>
          </a:p>
          <a:p>
            <a:pPr algn="l">
              <a:defRPr sz="1400" b="0">
                <a:solidFill>
                  <a:srgbClr val="17202A"/>
                </a:solidFill>
                <a:latin typeface="PingFang SC"/>
                <a:ea typeface="PingFang SC"/>
                <a:cs typeface="PingFang SC"/>
              </a:defRPr>
            </a:pPr>
            <a:endParaRPr sz="1400" dirty="0"/>
          </a:p>
        </p:txBody>
      </p:sp>
      <p:sp>
        <p:nvSpPr>
          <p:cNvPr id="14" name="metric-box">
            <a:extLst>
              <a:ext uri="{FF2B5EF4-FFF2-40B4-BE49-F238E27FC236}">
                <a16:creationId xmlns:a16="http://schemas.microsoft.com/office/drawing/2014/main" id="{313CF498-DEA0-4615-84D3-FF84967D5B7A}"/>
              </a:ext>
            </a:extLst>
          </p:cNvPr>
          <p:cNvSpPr/>
          <p:nvPr/>
        </p:nvSpPr>
        <p:spPr>
          <a:xfrm>
            <a:off x="419100" y="4762500"/>
            <a:ext cx="2952750" cy="571500"/>
          </a:xfrm>
          <a:prstGeom prst="rect">
            <a:avLst/>
          </a:prstGeom>
          <a:solidFill>
            <a:srgbClr val="0D8A94">
              <a:alpha val="6275"/>
            </a:srgbClr>
          </a:solidFill>
          <a:ln w="9525">
            <a:solidFill>
              <a:srgbClr val="0D8A94">
                <a:alpha val="33333"/>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466EE682-4D1E-4C6B-B360-3981D351FB92}"/>
              </a:ext>
            </a:extLst>
          </p:cNvPr>
          <p:cNvSpPr/>
          <p:nvPr/>
        </p:nvSpPr>
        <p:spPr>
          <a:xfrm>
            <a:off x="1037195" y="4832807"/>
            <a:ext cx="1716560" cy="430887"/>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defRPr sz="1400" b="1">
                <a:solidFill>
                  <a:srgbClr val="0D8A94"/>
                </a:solidFill>
                <a:latin typeface="PingFang SC"/>
                <a:ea typeface="PingFang SC"/>
                <a:cs typeface="PingFang SC"/>
              </a:defRPr>
            </a:pPr>
            <a:r>
              <a:rPr lang="en-US" altLang="zh-CN" sz="1400" b="1" dirty="0">
                <a:solidFill>
                  <a:srgbClr val="0D8A94"/>
                </a:solidFill>
                <a:latin typeface="PingFang SC"/>
                <a:ea typeface="PingFang SC"/>
                <a:cs typeface="PingFang SC"/>
              </a:rPr>
              <a:t>· </a:t>
            </a:r>
            <a:r>
              <a:rPr sz="1400" b="1" dirty="0">
                <a:solidFill>
                  <a:srgbClr val="0D8A94"/>
                </a:solidFill>
                <a:latin typeface="PingFang SC"/>
                <a:ea typeface="PingFang SC"/>
                <a:cs typeface="PingFang SC"/>
              </a:rPr>
              <a:t>Top-1 accuracy </a:t>
            </a:r>
            <a:r>
              <a:rPr sz="1400" b="1" dirty="0">
                <a:solidFill>
                  <a:srgbClr val="FF0000"/>
                </a:solidFill>
                <a:latin typeface="PingFang SC"/>
                <a:ea typeface="PingFang SC"/>
                <a:cs typeface="PingFang SC"/>
              </a:rPr>
              <a:t>95.5%</a:t>
            </a:r>
            <a:r>
              <a:rPr sz="1400" b="1" dirty="0">
                <a:solidFill>
                  <a:srgbClr val="0D8A94"/>
                </a:solidFill>
                <a:latin typeface="PingFang SC"/>
                <a:ea typeface="PingFang SC"/>
                <a:cs typeface="PingFang SC"/>
              </a:rPr>
              <a:t> </a:t>
            </a:r>
            <a:endParaRPr lang="en-US" sz="1400" b="1" dirty="0">
              <a:solidFill>
                <a:srgbClr val="0D8A94"/>
              </a:solidFill>
              <a:latin typeface="PingFang SC"/>
              <a:ea typeface="PingFang SC"/>
              <a:cs typeface="PingFang SC"/>
            </a:endParaRPr>
          </a:p>
          <a:p>
            <a:pPr>
              <a:defRPr sz="1400" b="1">
                <a:solidFill>
                  <a:srgbClr val="0D8A94"/>
                </a:solidFill>
                <a:latin typeface="PingFang SC"/>
                <a:ea typeface="PingFang SC"/>
                <a:cs typeface="PingFang SC"/>
              </a:defRPr>
            </a:pPr>
            <a:r>
              <a:rPr sz="1400" b="1" dirty="0">
                <a:solidFill>
                  <a:srgbClr val="0D8A94"/>
                </a:solidFill>
                <a:latin typeface="PingFang SC"/>
                <a:ea typeface="PingFang SC"/>
                <a:cs typeface="PingFang SC"/>
              </a:rPr>
              <a:t>· TTR</a:t>
            </a:r>
            <a:r>
              <a:rPr lang="en-US" sz="1400" b="1" dirty="0">
                <a:solidFill>
                  <a:srgbClr val="0D8A94"/>
                </a:solidFill>
                <a:latin typeface="PingFang SC"/>
                <a:ea typeface="PingFang SC"/>
                <a:cs typeface="PingFang SC"/>
              </a:rPr>
              <a:t> </a:t>
            </a:r>
            <a:r>
              <a:rPr sz="1400" b="1" dirty="0">
                <a:solidFill>
                  <a:srgbClr val="FF0000"/>
                </a:solidFill>
                <a:latin typeface="PingFang SC"/>
                <a:ea typeface="PingFang SC"/>
                <a:cs typeface="PingFang SC"/>
              </a:rPr>
              <a:t>-20.5%</a:t>
            </a:r>
            <a:endParaRPr sz="1400" dirty="0">
              <a:solidFill>
                <a:srgbClr val="FF0000"/>
              </a:solidFill>
            </a:endParaRPr>
          </a:p>
        </p:txBody>
      </p:sp>
      <p:sp>
        <p:nvSpPr>
          <p:cNvPr id="16" name="card-TAKEAWAY">
            <a:extLst>
              <a:ext uri="{FF2B5EF4-FFF2-40B4-BE49-F238E27FC236}">
                <a16:creationId xmlns:a16="http://schemas.microsoft.com/office/drawing/2014/main" id="{2FA8403B-196D-4612-9A26-D83061003F55}"/>
              </a:ext>
            </a:extLst>
          </p:cNvPr>
          <p:cNvSpPr/>
          <p:nvPr/>
        </p:nvSpPr>
        <p:spPr>
          <a:xfrm>
            <a:off x="419100" y="5524500"/>
            <a:ext cx="2952750" cy="819150"/>
          </a:xfrm>
          <a:prstGeom prst="rect">
            <a:avLst/>
          </a:prstGeom>
          <a:solidFill>
            <a:srgbClr val="FFFFFF"/>
          </a:solidFill>
          <a:ln w="9525">
            <a:solidFill>
              <a:srgbClr val="0D8A94">
                <a:alpha val="33333"/>
              </a:srgbClr>
            </a:solidFill>
            <a:prstDash val="solid"/>
          </a:ln>
        </p:spPr>
        <p:txBody>
          <a:bodyPr/>
          <a:lstStyle/>
          <a:p>
            <a:endParaRPr lang="zh-CN" altLang="en-US"/>
          </a:p>
        </p:txBody>
      </p:sp>
      <p:sp>
        <p:nvSpPr>
          <p:cNvPr id="17" name="card-accent-TAKEAWAY">
            <a:extLst>
              <a:ext uri="{FF2B5EF4-FFF2-40B4-BE49-F238E27FC236}">
                <a16:creationId xmlns:a16="http://schemas.microsoft.com/office/drawing/2014/main" id="{E390FE42-791F-468F-AD71-E3341BD11F9A}"/>
              </a:ext>
            </a:extLst>
          </p:cNvPr>
          <p:cNvSpPr/>
          <p:nvPr/>
        </p:nvSpPr>
        <p:spPr>
          <a:xfrm>
            <a:off x="419100" y="5524500"/>
            <a:ext cx="47625" cy="819150"/>
          </a:xfrm>
          <a:prstGeom prst="rect">
            <a:avLst/>
          </a:prstGeom>
          <a:solidFill>
            <a:srgbClr val="0D8A94"/>
          </a:solidFill>
          <a:ln w="0">
            <a:solidFill>
              <a:srgbClr val="0D8A94"/>
            </a:solidFill>
            <a:prstDash val="solid"/>
          </a:ln>
        </p:spPr>
        <p:txBody>
          <a:bodyPr/>
          <a:lstStyle/>
          <a:p>
            <a:endParaRPr lang="zh-CN" altLang="en-US"/>
          </a:p>
        </p:txBody>
      </p:sp>
      <p:sp>
        <p:nvSpPr>
          <p:cNvPr id="18" name="矩形 17">
            <a:extLst>
              <a:ext uri="{FF2B5EF4-FFF2-40B4-BE49-F238E27FC236}">
                <a16:creationId xmlns:a16="http://schemas.microsoft.com/office/drawing/2014/main" id="{7623F4A6-FF94-4D22-9750-FB4C515B212C}"/>
              </a:ext>
            </a:extLst>
          </p:cNvPr>
          <p:cNvSpPr/>
          <p:nvPr/>
        </p:nvSpPr>
        <p:spPr>
          <a:xfrm>
            <a:off x="571500" y="5619750"/>
            <a:ext cx="2667000" cy="182880"/>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0D8A94"/>
                </a:solidFill>
                <a:latin typeface="Aptos"/>
                <a:ea typeface="Aptos"/>
                <a:cs typeface="Aptos"/>
              </a:defRPr>
            </a:pPr>
            <a:r>
              <a:rPr sz="1400" b="1">
                <a:solidFill>
                  <a:srgbClr val="0D8A94"/>
                </a:solidFill>
                <a:latin typeface="Aptos"/>
                <a:ea typeface="Aptos"/>
                <a:cs typeface="Aptos"/>
              </a:rPr>
              <a:t>TAKEAWAY</a:t>
            </a:r>
            <a:endParaRPr sz="1400"/>
          </a:p>
        </p:txBody>
      </p:sp>
      <p:sp>
        <p:nvSpPr>
          <p:cNvPr id="19" name="矩形 18">
            <a:extLst>
              <a:ext uri="{FF2B5EF4-FFF2-40B4-BE49-F238E27FC236}">
                <a16:creationId xmlns:a16="http://schemas.microsoft.com/office/drawing/2014/main" id="{D8951112-2993-4A19-A7F1-0FBCE4C97A23}"/>
              </a:ext>
            </a:extLst>
          </p:cNvPr>
          <p:cNvSpPr/>
          <p:nvPr/>
        </p:nvSpPr>
        <p:spPr>
          <a:xfrm>
            <a:off x="571500" y="5810250"/>
            <a:ext cx="2667000" cy="5334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sz="1400" b="1">
                <a:solidFill>
                  <a:srgbClr val="17202A"/>
                </a:solidFill>
                <a:latin typeface="PingFang SC"/>
                <a:ea typeface="PingFang SC"/>
                <a:cs typeface="PingFang SC"/>
              </a:rPr>
              <a:t>LLM 需要结构化、多阶段
低延迟流水线，才能上线辅助运维</a:t>
            </a:r>
            <a:endParaRPr sz="1400"/>
          </a:p>
        </p:txBody>
      </p:sp>
      <p:pic>
        <p:nvPicPr>
          <p:cNvPr id="20" name="图片 19"/>
          <p:cNvPicPr/>
          <p:nvPr/>
        </p:nvPicPr>
        <p:blipFill>
          <a:blip r:embed="rId3"/>
          <a:stretch/>
        </p:blipFill>
        <p:spPr>
          <a:xfrm>
            <a:off x="3467100" y="1877377"/>
            <a:ext cx="8555065" cy="3760089"/>
          </a:xfrm>
          <a:prstGeom prst="rect">
            <a:avLst/>
          </a:prstGeom>
        </p:spPr>
      </p:pic>
      <p:sp>
        <p:nvSpPr>
          <p:cNvPr id="21" name="矩形 20">
            <a:extLst>
              <a:ext uri="{FF2B5EF4-FFF2-40B4-BE49-F238E27FC236}">
                <a16:creationId xmlns:a16="http://schemas.microsoft.com/office/drawing/2014/main" id="{BF89A35B-DC44-4CA8-9315-8F4C0FE3E250}"/>
              </a:ext>
            </a:extLst>
          </p:cNvPr>
          <p:cNvSpPr/>
          <p:nvPr/>
        </p:nvSpPr>
        <p:spPr>
          <a:xfrm>
            <a:off x="381000" y="6477000"/>
            <a:ext cx="40005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18" b="0">
                <a:solidFill>
                  <a:srgbClr val="7A8393"/>
                </a:solidFill>
                <a:latin typeface="Aptos"/>
                <a:ea typeface="Aptos"/>
                <a:cs typeface="Aptos"/>
              </a:defRPr>
            </a:pPr>
            <a:r>
              <a:rPr sz="880" b="0">
                <a:solidFill>
                  <a:srgbClr val="7A8393"/>
                </a:solidFill>
                <a:latin typeface="Aptos"/>
                <a:ea typeface="Aptos"/>
                <a:cs typeface="Aptos"/>
              </a:rPr>
              <a:t>Source: local paper PDF · core figure cropped from paper</a:t>
            </a:r>
          </a:p>
        </p:txBody>
      </p:sp>
      <p:sp>
        <p:nvSpPr>
          <p:cNvPr id="22" name="矩形 21">
            <a:extLst>
              <a:ext uri="{FF2B5EF4-FFF2-40B4-BE49-F238E27FC236}">
                <a16:creationId xmlns:a16="http://schemas.microsoft.com/office/drawing/2014/main" id="{77636726-72AE-43F5-9F19-8BD5C13D258B}"/>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10</a:t>
            </a:r>
          </a:p>
        </p:txBody>
      </p:sp>
    </p:spTree>
    <p:extLst>
      <p:ext uri="{BB962C8B-B14F-4D97-AF65-F5344CB8AC3E}">
        <p14:creationId xmlns:p14="http://schemas.microsoft.com/office/powerpoint/2010/main" val="1942269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4FA06-7AA6-85E5-0790-B65D3E1C51F9}"/>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D42E4553-6EFE-0DE1-0072-F6B25C2042BA}"/>
              </a:ext>
            </a:extLst>
          </p:cNvPr>
          <p:cNvSpPr>
            <a:spLocks noGrp="1"/>
          </p:cNvSpPr>
          <p:nvPr/>
        </p:nvSpPr>
        <p:spPr>
          <a:xfrm>
            <a:off x="685800" y="990600"/>
            <a:ext cx="9867900" cy="12383"/>
          </a:xfrm>
          <a:prstGeom prst="rect">
            <a:avLst/>
          </a:prstGeom>
          <a:solidFill>
            <a:srgbClr val="E6DCE9"/>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D3DE831C-5749-34D3-7A9D-164AD1122EE6}"/>
              </a:ext>
            </a:extLst>
          </p:cNvPr>
          <p:cNvSpPr>
            <a:spLocks noGrp="1"/>
          </p:cNvSpPr>
          <p:nvPr/>
        </p:nvSpPr>
        <p:spPr>
          <a:xfrm>
            <a:off x="685800" y="564541"/>
            <a:ext cx="9620250" cy="4000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algn="l">
              <a:defRPr sz="2310" b="1">
                <a:solidFill>
                  <a:srgbClr val="1F3154"/>
                </a:solidFill>
                <a:latin typeface="Arial" panose="020B0604020202090204"/>
                <a:ea typeface="Arial" panose="020B0604020202090204"/>
                <a:cs typeface="Arial" panose="020B0604020202090204"/>
              </a:defRPr>
            </a:pPr>
            <a:r>
              <a:rPr lang="en-US" altLang="zh-CN" sz="2400" dirty="0">
                <a:sym typeface="+mn-ea"/>
              </a:rPr>
              <a:t>Future Directions</a:t>
            </a:r>
            <a:endParaRPr lang="en-US" altLang="zh-CN" sz="2400" b="1" dirty="0">
              <a:solidFill>
                <a:srgbClr val="1F3154"/>
              </a:solidFill>
              <a:latin typeface="Arial" panose="020B0604020202090204"/>
              <a:ea typeface="Arial" panose="020B0604020202090204"/>
              <a:cs typeface="Arial" panose="020B0604020202090204"/>
            </a:endParaRPr>
          </a:p>
        </p:txBody>
      </p:sp>
      <p:grpSp>
        <p:nvGrpSpPr>
          <p:cNvPr id="32" name="组合 31">
            <a:extLst>
              <a:ext uri="{FF2B5EF4-FFF2-40B4-BE49-F238E27FC236}">
                <a16:creationId xmlns:a16="http://schemas.microsoft.com/office/drawing/2014/main" id="{64470592-F92E-007B-213A-C5A3F0A8D04F}"/>
              </a:ext>
            </a:extLst>
          </p:cNvPr>
          <p:cNvGrpSpPr/>
          <p:nvPr/>
        </p:nvGrpSpPr>
        <p:grpSpPr>
          <a:xfrm>
            <a:off x="653245" y="1117283"/>
            <a:ext cx="10885510" cy="5472000"/>
            <a:chOff x="915965" y="1117283"/>
            <a:chExt cx="10885510" cy="5472000"/>
          </a:xfrm>
        </p:grpSpPr>
        <p:sp>
          <p:nvSpPr>
            <p:cNvPr id="4" name="矩形 3">
              <a:extLst>
                <a:ext uri="{FF2B5EF4-FFF2-40B4-BE49-F238E27FC236}">
                  <a16:creationId xmlns:a16="http://schemas.microsoft.com/office/drawing/2014/main" id="{AE434C12-FB4D-5B81-87A3-943109DB1A72}"/>
                </a:ext>
              </a:extLst>
            </p:cNvPr>
            <p:cNvSpPr/>
            <p:nvPr/>
          </p:nvSpPr>
          <p:spPr>
            <a:xfrm>
              <a:off x="11679647" y="6438900"/>
              <a:ext cx="121828" cy="135422"/>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lang="en-US" sz="880" b="0" dirty="0">
                  <a:solidFill>
                    <a:srgbClr val="7A8393"/>
                  </a:solidFill>
                  <a:latin typeface="Aptos"/>
                  <a:ea typeface="Aptos"/>
                  <a:cs typeface="Aptos"/>
                </a:rPr>
                <a:t>11</a:t>
              </a:r>
              <a:endParaRPr sz="880" b="0" dirty="0">
                <a:solidFill>
                  <a:srgbClr val="7A8393"/>
                </a:solidFill>
                <a:latin typeface="Aptos"/>
                <a:ea typeface="Aptos"/>
                <a:cs typeface="Aptos"/>
              </a:endParaRPr>
            </a:p>
          </p:txBody>
        </p:sp>
        <p:pic>
          <p:nvPicPr>
            <p:cNvPr id="18" name="图片 17">
              <a:extLst>
                <a:ext uri="{FF2B5EF4-FFF2-40B4-BE49-F238E27FC236}">
                  <a16:creationId xmlns:a16="http://schemas.microsoft.com/office/drawing/2014/main" id="{6228D2CF-505A-9818-F346-229B477EF48B}"/>
                </a:ext>
              </a:extLst>
            </p:cNvPr>
            <p:cNvPicPr>
              <a:picLocks noChangeAspect="1"/>
            </p:cNvPicPr>
            <p:nvPr/>
          </p:nvPicPr>
          <p:blipFill>
            <a:blip r:embed="rId3">
              <a:extLst>
                <a:ext uri="{28A0092B-C50C-407E-A947-70E740481C1C}">
                  <a14:useLocalDpi xmlns:a14="http://schemas.microsoft.com/office/drawing/2010/main" val="0"/>
                </a:ext>
              </a:extLst>
            </a:blip>
            <a:srcRect t="2383" b="8204"/>
            <a:stretch>
              <a:fillRect/>
            </a:stretch>
          </p:blipFill>
          <p:spPr>
            <a:xfrm>
              <a:off x="915965" y="1117283"/>
              <a:ext cx="10885510" cy="5472000"/>
            </a:xfrm>
            <a:prstGeom prst="rect">
              <a:avLst/>
            </a:prstGeom>
          </p:spPr>
        </p:pic>
        <p:sp>
          <p:nvSpPr>
            <p:cNvPr id="25" name="文本框 24">
              <a:extLst>
                <a:ext uri="{FF2B5EF4-FFF2-40B4-BE49-F238E27FC236}">
                  <a16:creationId xmlns:a16="http://schemas.microsoft.com/office/drawing/2014/main" id="{61AE808A-4FE5-62AA-28A6-415DDD49AADA}"/>
                </a:ext>
              </a:extLst>
            </p:cNvPr>
            <p:cNvSpPr txBox="1"/>
            <p:nvPr/>
          </p:nvSpPr>
          <p:spPr>
            <a:xfrm>
              <a:off x="1536231" y="4827129"/>
              <a:ext cx="4467532" cy="830997"/>
            </a:xfrm>
            <a:prstGeom prst="rect">
              <a:avLst/>
            </a:prstGeom>
            <a:noFill/>
          </p:spPr>
          <p:txBody>
            <a:bodyPr wrap="square">
              <a:spAutoFit/>
            </a:bodyPr>
            <a:lstStyle/>
            <a:p>
              <a:pPr marL="285750" indent="-285750">
                <a:buFont typeface="Arial" panose="020B0604020202020204" pitchFamily="34" charset="0"/>
                <a:buChar char="•"/>
                <a:defRPr sz="1735" b="1">
                  <a:solidFill>
                    <a:srgbClr val="1F3154"/>
                  </a:solidFill>
                  <a:latin typeface="Arial" panose="020B0604020202090204"/>
                  <a:ea typeface="Arial" panose="020B0604020202090204"/>
                  <a:cs typeface="Arial" panose="020B0604020202090204"/>
                </a:defRPr>
              </a:pPr>
              <a:r>
                <a:rPr lang="en-US" altLang="zh-CN" sz="2400" b="1" dirty="0">
                  <a:solidFill>
                    <a:srgbClr val="1F3154"/>
                  </a:solidFill>
                  <a:latin typeface="Arial" panose="020B0604020202090204"/>
                  <a:cs typeface="Arial" panose="020B0604020202090204"/>
                </a:rPr>
                <a:t>Closed-Loop Feedback</a:t>
              </a:r>
            </a:p>
            <a:p>
              <a:pPr marL="285750" indent="-285750">
                <a:buFont typeface="Arial" panose="020B0604020202020204" pitchFamily="34" charset="0"/>
                <a:buChar char="•"/>
                <a:defRPr sz="1735" b="1">
                  <a:solidFill>
                    <a:srgbClr val="1F3154"/>
                  </a:solidFill>
                  <a:latin typeface="Arial" panose="020B0604020202090204"/>
                  <a:ea typeface="Arial" panose="020B0604020202090204"/>
                  <a:cs typeface="Arial" panose="020B0604020202090204"/>
                </a:defRPr>
              </a:pPr>
              <a:r>
                <a:rPr lang="en-US" altLang="zh-CN" sz="2400" b="1" dirty="0">
                  <a:solidFill>
                    <a:srgbClr val="1F3154"/>
                  </a:solidFill>
                  <a:latin typeface="Arial" panose="020B0604020202090204"/>
                  <a:cs typeface="Arial" panose="020B0604020202090204"/>
                </a:rPr>
                <a:t>Train with Multi-Turn </a:t>
              </a:r>
              <a:r>
                <a:rPr lang="en-US" altLang="zh-CN" sz="2400" b="1" dirty="0" err="1">
                  <a:solidFill>
                    <a:srgbClr val="1F3154"/>
                  </a:solidFill>
                  <a:latin typeface="Arial" panose="020B0604020202090204"/>
                  <a:cs typeface="Arial" panose="020B0604020202090204"/>
                </a:rPr>
                <a:t>RL</a:t>
              </a:r>
              <a:endParaRPr lang="zh-CN" altLang="en-US" sz="2400" b="1" dirty="0">
                <a:solidFill>
                  <a:srgbClr val="1F3154"/>
                </a:solidFill>
                <a:latin typeface="Arial" panose="020B0604020202090204"/>
                <a:cs typeface="Arial" panose="020B0604020202090204"/>
              </a:endParaRPr>
            </a:p>
          </p:txBody>
        </p:sp>
        <p:sp>
          <p:nvSpPr>
            <p:cNvPr id="27" name="文本框 26">
              <a:extLst>
                <a:ext uri="{FF2B5EF4-FFF2-40B4-BE49-F238E27FC236}">
                  <a16:creationId xmlns:a16="http://schemas.microsoft.com/office/drawing/2014/main" id="{22943DA4-B852-331D-CDB2-33BD0AFC9D0A}"/>
                </a:ext>
              </a:extLst>
            </p:cNvPr>
            <p:cNvSpPr txBox="1"/>
            <p:nvPr/>
          </p:nvSpPr>
          <p:spPr>
            <a:xfrm>
              <a:off x="1536231" y="2187433"/>
              <a:ext cx="4363890" cy="830997"/>
            </a:xfrm>
            <a:prstGeom prst="rect">
              <a:avLst/>
            </a:prstGeom>
            <a:noFill/>
          </p:spPr>
          <p:txBody>
            <a:bodyPr wrap="square">
              <a:spAutoFit/>
            </a:bodyPr>
            <a:lstStyle/>
            <a:p>
              <a:pPr marL="285750" indent="-285750">
                <a:buFont typeface="Arial" panose="020B0604020202020204" pitchFamily="34" charset="0"/>
                <a:buChar char="•"/>
                <a:defRPr sz="1735" b="1">
                  <a:solidFill>
                    <a:srgbClr val="1F3154"/>
                  </a:solidFill>
                  <a:latin typeface="Arial" panose="020B0604020202090204"/>
                  <a:ea typeface="Arial" panose="020B0604020202090204"/>
                  <a:cs typeface="Arial" panose="020B0604020202090204"/>
                </a:defRPr>
              </a:pPr>
              <a:r>
                <a:rPr lang="en-US" altLang="zh-CN" sz="2400" b="1" dirty="0">
                  <a:solidFill>
                    <a:srgbClr val="1F3154"/>
                  </a:solidFill>
                  <a:latin typeface="Arial" panose="020B0604020202090204"/>
                  <a:cs typeface="Arial" panose="020B0604020202090204"/>
                </a:rPr>
                <a:t>Extend to Domestic GPUs and </a:t>
              </a:r>
              <a:r>
                <a:rPr lang="en-US" altLang="zh-CN" sz="2400" b="1" dirty="0" err="1">
                  <a:solidFill>
                    <a:srgbClr val="1F3154"/>
                  </a:solidFill>
                  <a:latin typeface="Arial" panose="020B0604020202090204"/>
                  <a:cs typeface="Arial" panose="020B0604020202090204"/>
                </a:rPr>
                <a:t>NPUs</a:t>
              </a:r>
              <a:r>
                <a:rPr lang="en-US" altLang="zh-CN" sz="2400" b="1" dirty="0">
                  <a:solidFill>
                    <a:srgbClr val="1F3154"/>
                  </a:solidFill>
                  <a:latin typeface="Arial" panose="020B0604020202090204"/>
                  <a:cs typeface="Arial" panose="020B0604020202090204"/>
                </a:rPr>
                <a:t> </a:t>
              </a:r>
              <a:endParaRPr lang="zh-CN" altLang="en-US" sz="2400" b="1" dirty="0">
                <a:solidFill>
                  <a:srgbClr val="1F3154"/>
                </a:solidFill>
                <a:latin typeface="Arial" panose="020B0604020202090204"/>
                <a:cs typeface="Arial" panose="020B0604020202090204"/>
              </a:endParaRPr>
            </a:p>
          </p:txBody>
        </p:sp>
        <p:sp>
          <p:nvSpPr>
            <p:cNvPr id="29" name="文本框 28">
              <a:extLst>
                <a:ext uri="{FF2B5EF4-FFF2-40B4-BE49-F238E27FC236}">
                  <a16:creationId xmlns:a16="http://schemas.microsoft.com/office/drawing/2014/main" id="{0C8F3F64-B7E4-8B71-B5D1-6B68D5169E18}"/>
                </a:ext>
              </a:extLst>
            </p:cNvPr>
            <p:cNvSpPr txBox="1"/>
            <p:nvPr/>
          </p:nvSpPr>
          <p:spPr>
            <a:xfrm>
              <a:off x="6817320" y="4827129"/>
              <a:ext cx="3970866" cy="830997"/>
            </a:xfrm>
            <a:prstGeom prst="rect">
              <a:avLst/>
            </a:prstGeom>
            <a:noFill/>
          </p:spPr>
          <p:txBody>
            <a:bodyPr wrap="square">
              <a:spAutoFit/>
            </a:bodyPr>
            <a:lstStyle/>
            <a:p>
              <a:pPr marL="285750" indent="-285750">
                <a:buFont typeface="Arial" panose="020B0604020202020204" pitchFamily="34" charset="0"/>
                <a:buChar char="•"/>
                <a:defRPr sz="1735" b="1">
                  <a:solidFill>
                    <a:srgbClr val="1F3154"/>
                  </a:solidFill>
                  <a:latin typeface="Arial" panose="020B0604020202090204"/>
                  <a:ea typeface="Arial" panose="020B0604020202090204"/>
                  <a:cs typeface="Arial" panose="020B0604020202090204"/>
                </a:defRPr>
              </a:pPr>
              <a:r>
                <a:rPr lang="zh-CN" altLang="en-US" sz="2400" b="1" dirty="0">
                  <a:solidFill>
                    <a:srgbClr val="1F3154"/>
                  </a:solidFill>
                  <a:latin typeface="Arial" panose="020B0604020202090204"/>
                  <a:cs typeface="Arial" panose="020B0604020202090204"/>
                </a:rPr>
                <a:t>Deterministic </a:t>
              </a:r>
              <a:r>
                <a:rPr lang="en-US" altLang="zh-CN" sz="2400" b="1" dirty="0">
                  <a:solidFill>
                    <a:srgbClr val="1F3154"/>
                  </a:solidFill>
                  <a:latin typeface="Arial" panose="020B0604020202090204"/>
                  <a:cs typeface="Arial" panose="020B0604020202090204"/>
                </a:rPr>
                <a:t>Execution</a:t>
              </a:r>
              <a:endParaRPr lang="zh-CN" altLang="en-US" sz="2400" b="1" dirty="0">
                <a:solidFill>
                  <a:srgbClr val="1F3154"/>
                </a:solidFill>
                <a:latin typeface="Arial" panose="020B0604020202090204"/>
                <a:cs typeface="Arial" panose="020B0604020202090204"/>
              </a:endParaRPr>
            </a:p>
            <a:p>
              <a:pPr>
                <a:defRPr sz="1735" b="1">
                  <a:solidFill>
                    <a:srgbClr val="1F3154"/>
                  </a:solidFill>
                  <a:latin typeface="Arial" panose="020B0604020202090204"/>
                  <a:ea typeface="Arial" panose="020B0604020202090204"/>
                  <a:cs typeface="Arial" panose="020B0604020202090204"/>
                </a:defRPr>
              </a:pPr>
              <a:endParaRPr lang="zh-CN" altLang="en-US" sz="2400" b="1" dirty="0">
                <a:solidFill>
                  <a:srgbClr val="1F3154"/>
                </a:solidFill>
                <a:latin typeface="Arial" panose="020B0604020202090204"/>
                <a:cs typeface="Arial" panose="020B0604020202090204"/>
              </a:endParaRPr>
            </a:p>
          </p:txBody>
        </p:sp>
        <p:sp>
          <p:nvSpPr>
            <p:cNvPr id="31" name="文本框 30">
              <a:extLst>
                <a:ext uri="{FF2B5EF4-FFF2-40B4-BE49-F238E27FC236}">
                  <a16:creationId xmlns:a16="http://schemas.microsoft.com/office/drawing/2014/main" id="{1D098668-BCE2-FE8C-048F-4C5D1A3FC4E3}"/>
                </a:ext>
              </a:extLst>
            </p:cNvPr>
            <p:cNvSpPr txBox="1"/>
            <p:nvPr/>
          </p:nvSpPr>
          <p:spPr>
            <a:xfrm>
              <a:off x="6817320" y="2187433"/>
              <a:ext cx="3970866" cy="1200329"/>
            </a:xfrm>
            <a:prstGeom prst="rect">
              <a:avLst/>
            </a:prstGeom>
            <a:noFill/>
          </p:spPr>
          <p:txBody>
            <a:bodyPr wrap="square">
              <a:spAutoFit/>
            </a:bodyPr>
            <a:lstStyle/>
            <a:p>
              <a:pPr marL="285750" indent="-285750">
                <a:buFont typeface="Arial" panose="020B0604020202020204" pitchFamily="34" charset="0"/>
                <a:buChar char="•"/>
                <a:defRPr sz="1735" b="1">
                  <a:solidFill>
                    <a:srgbClr val="1F3154"/>
                  </a:solidFill>
                  <a:latin typeface="Arial" panose="020B0604020202090204"/>
                  <a:ea typeface="Arial" panose="020B0604020202090204"/>
                  <a:cs typeface="Arial" panose="020B0604020202090204"/>
                </a:defRPr>
              </a:pPr>
              <a:r>
                <a:rPr lang="zh-CN" altLang="en-US" sz="2400" b="1" dirty="0">
                  <a:solidFill>
                    <a:srgbClr val="1F3154"/>
                  </a:solidFill>
                  <a:latin typeface="Arial" panose="020B0604020202090204"/>
                  <a:cs typeface="Arial" panose="020B0604020202090204"/>
                </a:rPr>
                <a:t>KV-Aware Routing</a:t>
              </a:r>
              <a:endParaRPr lang="en-US" altLang="zh-CN" sz="2400" b="1" dirty="0">
                <a:solidFill>
                  <a:srgbClr val="1F3154"/>
                </a:solidFill>
                <a:latin typeface="Arial" panose="020B0604020202090204"/>
                <a:cs typeface="Arial" panose="020B0604020202090204"/>
              </a:endParaRPr>
            </a:p>
            <a:p>
              <a:pPr marL="285750" indent="-285750">
                <a:buFont typeface="Arial" panose="020B0604020202020204" pitchFamily="34" charset="0"/>
                <a:buChar char="•"/>
                <a:defRPr sz="1735" b="1">
                  <a:solidFill>
                    <a:srgbClr val="1F3154"/>
                  </a:solidFill>
                  <a:latin typeface="Arial" panose="020B0604020202090204"/>
                  <a:ea typeface="Arial" panose="020B0604020202090204"/>
                  <a:cs typeface="Arial" panose="020B0604020202090204"/>
                </a:defRPr>
              </a:pPr>
              <a:r>
                <a:rPr lang="en-US" altLang="zh-CN" sz="2400" b="1" dirty="0">
                  <a:solidFill>
                    <a:srgbClr val="1F3154"/>
                  </a:solidFill>
                  <a:latin typeface="Arial" panose="020B0604020202090204"/>
                  <a:cs typeface="Arial" panose="020B0604020202090204"/>
                </a:rPr>
                <a:t>Prefix Merge Training</a:t>
              </a:r>
              <a:endParaRPr lang="zh-CN" altLang="en-US" sz="2400" b="1" dirty="0">
                <a:solidFill>
                  <a:srgbClr val="1F3154"/>
                </a:solidFill>
                <a:latin typeface="Arial" panose="020B0604020202090204"/>
                <a:cs typeface="Arial" panose="020B0604020202090204"/>
              </a:endParaRPr>
            </a:p>
            <a:p>
              <a:pPr>
                <a:defRPr sz="1735" b="1">
                  <a:solidFill>
                    <a:srgbClr val="1F3154"/>
                  </a:solidFill>
                  <a:latin typeface="Arial" panose="020B0604020202090204"/>
                  <a:ea typeface="Arial" panose="020B0604020202090204"/>
                  <a:cs typeface="Arial" panose="020B0604020202090204"/>
                </a:defRPr>
              </a:pPr>
              <a:endParaRPr lang="zh-CN" altLang="en-US" sz="2400" b="1" dirty="0">
                <a:solidFill>
                  <a:srgbClr val="1F3154"/>
                </a:solidFill>
                <a:latin typeface="Arial" panose="020B0604020202090204"/>
                <a:cs typeface="Arial" panose="020B0604020202090204"/>
              </a:endParaRPr>
            </a:p>
          </p:txBody>
        </p:sp>
      </p:grpSp>
      <p:sp>
        <p:nvSpPr>
          <p:cNvPr id="2" name="kicker-marker">
            <a:extLst>
              <a:ext uri="{FF2B5EF4-FFF2-40B4-BE49-F238E27FC236}">
                <a16:creationId xmlns:a16="http://schemas.microsoft.com/office/drawing/2014/main" id="{39155E4D-7457-C967-BBB3-3AC0072AC345}"/>
              </a:ext>
            </a:extLst>
          </p:cNvPr>
          <p:cNvSpPr/>
          <p:nvPr/>
        </p:nvSpPr>
        <p:spPr>
          <a:xfrm>
            <a:off x="361950" y="323850"/>
            <a:ext cx="47625" cy="247650"/>
          </a:xfrm>
          <a:prstGeom prst="rect">
            <a:avLst/>
          </a:prstGeom>
          <a:solidFill>
            <a:srgbClr val="0D8A94"/>
          </a:solidFill>
          <a:ln w="0">
            <a:solidFill>
              <a:srgbClr val="0D8A94"/>
            </a:solidFill>
            <a:prstDash val="solid"/>
          </a:ln>
        </p:spPr>
        <p:txBody>
          <a:bodyPr/>
          <a:lstStyle/>
          <a:p>
            <a:endParaRPr lang="zh-CN" altLang="en-US"/>
          </a:p>
        </p:txBody>
      </p:sp>
      <p:sp>
        <p:nvSpPr>
          <p:cNvPr id="3" name="kicker-label">
            <a:extLst>
              <a:ext uri="{FF2B5EF4-FFF2-40B4-BE49-F238E27FC236}">
                <a16:creationId xmlns:a16="http://schemas.microsoft.com/office/drawing/2014/main" id="{2975AE6A-550B-18AB-604B-FB1539D88EDB}"/>
              </a:ext>
            </a:extLst>
          </p:cNvPr>
          <p:cNvSpPr/>
          <p:nvPr/>
        </p:nvSpPr>
        <p:spPr>
          <a:xfrm>
            <a:off x="514350" y="349097"/>
            <a:ext cx="2926080" cy="215444"/>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0D8A94"/>
                </a:solidFill>
                <a:latin typeface="Aptos"/>
                <a:ea typeface="Aptos"/>
                <a:cs typeface="Aptos"/>
              </a:defRPr>
            </a:pPr>
            <a:r>
              <a:rPr sz="1400" b="1" dirty="0">
                <a:solidFill>
                  <a:srgbClr val="0D8A94"/>
                </a:solidFill>
                <a:latin typeface="Aptos"/>
                <a:ea typeface="Aptos"/>
                <a:cs typeface="Aptos"/>
              </a:rPr>
              <a:t>PAPER 11 · Future Works</a:t>
            </a:r>
            <a:endParaRPr sz="1400" dirty="0"/>
          </a:p>
        </p:txBody>
      </p:sp>
      <p:sp>
        <p:nvSpPr>
          <p:cNvPr id="5" name="矩形 4">
            <a:extLst>
              <a:ext uri="{FF2B5EF4-FFF2-40B4-BE49-F238E27FC236}">
                <a16:creationId xmlns:a16="http://schemas.microsoft.com/office/drawing/2014/main" id="{9FCE0A0A-CEB4-F244-986C-757CF660469E}"/>
              </a:ext>
            </a:extLst>
          </p:cNvPr>
          <p:cNvSpPr/>
          <p:nvPr/>
        </p:nvSpPr>
        <p:spPr>
          <a:xfrm>
            <a:off x="11382375" y="64389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11</a:t>
            </a:r>
          </a:p>
        </p:txBody>
      </p:sp>
      <p:sp>
        <p:nvSpPr>
          <p:cNvPr id="6" name="矩形 5">
            <a:extLst>
              <a:ext uri="{FF2B5EF4-FFF2-40B4-BE49-F238E27FC236}">
                <a16:creationId xmlns:a16="http://schemas.microsoft.com/office/drawing/2014/main" id="{A6440F9E-F942-5083-9BE0-3ED29CE55D80}"/>
              </a:ext>
            </a:extLst>
          </p:cNvPr>
          <p:cNvSpPr/>
          <p:nvPr/>
        </p:nvSpPr>
        <p:spPr>
          <a:xfrm>
            <a:off x="1574157" y="1354238"/>
            <a:ext cx="4259484" cy="71889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800" b="1" dirty="0">
                <a:solidFill>
                  <a:srgbClr val="1F3154"/>
                </a:solidFill>
              </a:rPr>
              <a:t>Kernel Generate Agent</a:t>
            </a:r>
            <a:endParaRPr lang="zh-CN" altLang="en-US" sz="2800" b="1" dirty="0">
              <a:solidFill>
                <a:srgbClr val="1F3154"/>
              </a:solidFill>
            </a:endParaRPr>
          </a:p>
        </p:txBody>
      </p:sp>
      <p:sp>
        <p:nvSpPr>
          <p:cNvPr id="7" name="矩形 6">
            <a:extLst>
              <a:ext uri="{FF2B5EF4-FFF2-40B4-BE49-F238E27FC236}">
                <a16:creationId xmlns:a16="http://schemas.microsoft.com/office/drawing/2014/main" id="{3DFF1495-49E1-AE14-E47B-DFBBB5FEE2A7}"/>
              </a:ext>
            </a:extLst>
          </p:cNvPr>
          <p:cNvSpPr/>
          <p:nvPr/>
        </p:nvSpPr>
        <p:spPr>
          <a:xfrm>
            <a:off x="6923591" y="1319513"/>
            <a:ext cx="4259484" cy="81212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800" b="1" dirty="0">
                <a:solidFill>
                  <a:srgbClr val="1F3154"/>
                </a:solidFill>
              </a:rPr>
              <a:t>Efficient and Stable </a:t>
            </a:r>
            <a:r>
              <a:rPr lang="en-US" altLang="zh-CN" sz="2800" b="1" dirty="0" err="1">
                <a:solidFill>
                  <a:srgbClr val="1F3154"/>
                </a:solidFill>
              </a:rPr>
              <a:t>RL</a:t>
            </a:r>
            <a:r>
              <a:rPr lang="en-US" altLang="zh-CN" sz="2800" b="1" dirty="0">
                <a:solidFill>
                  <a:srgbClr val="1F3154"/>
                </a:solidFill>
              </a:rPr>
              <a:t> Infra</a:t>
            </a:r>
            <a:endParaRPr lang="zh-CN" altLang="en-US" sz="2800" b="1" dirty="0">
              <a:solidFill>
                <a:srgbClr val="1F3154"/>
              </a:solidFill>
            </a:endParaRPr>
          </a:p>
        </p:txBody>
      </p:sp>
    </p:spTree>
    <p:extLst>
      <p:ext uri="{BB962C8B-B14F-4D97-AF65-F5344CB8AC3E}">
        <p14:creationId xmlns:p14="http://schemas.microsoft.com/office/powerpoint/2010/main" val="326095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kicker-marker">
            <a:extLst>
              <a:ext uri="{FF2B5EF4-FFF2-40B4-BE49-F238E27FC236}">
                <a16:creationId xmlns:a16="http://schemas.microsoft.com/office/drawing/2014/main" id="{9AD35351-6B08-4688-AEC0-C7954485E5A9}"/>
              </a:ext>
            </a:extLst>
          </p:cNvPr>
          <p:cNvSpPr/>
          <p:nvPr/>
        </p:nvSpPr>
        <p:spPr>
          <a:xfrm>
            <a:off x="361950" y="323850"/>
            <a:ext cx="47625" cy="247650"/>
          </a:xfrm>
          <a:prstGeom prst="rect">
            <a:avLst/>
          </a:prstGeom>
          <a:solidFill>
            <a:srgbClr val="B7791F"/>
          </a:solidFill>
          <a:ln w="0">
            <a:solidFill>
              <a:srgbClr val="B7791F"/>
            </a:solidFill>
            <a:prstDash val="solid"/>
          </a:ln>
        </p:spPr>
        <p:txBody>
          <a:bodyPr/>
          <a:lstStyle/>
          <a:p>
            <a:endParaRPr lang="zh-CN" altLang="en-US"/>
          </a:p>
        </p:txBody>
      </p:sp>
      <p:sp>
        <p:nvSpPr>
          <p:cNvPr id="3" name="矩形 2">
            <a:extLst>
              <a:ext uri="{FF2B5EF4-FFF2-40B4-BE49-F238E27FC236}">
                <a16:creationId xmlns:a16="http://schemas.microsoft.com/office/drawing/2014/main" id="{BF8A298D-C9C1-4DE6-BA91-20598808B27C}"/>
              </a:ext>
            </a:extLst>
          </p:cNvPr>
          <p:cNvSpPr/>
          <p:nvPr/>
        </p:nvSpPr>
        <p:spPr>
          <a:xfrm>
            <a:off x="361950" y="666750"/>
            <a:ext cx="2471382" cy="48474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defRPr sz="3150" b="1">
                <a:solidFill>
                  <a:srgbClr val="17202A"/>
                </a:solidFill>
                <a:latin typeface="PingFang SC"/>
                <a:ea typeface="PingFang SC"/>
                <a:cs typeface="PingFang SC"/>
              </a:defRPr>
            </a:pPr>
            <a:r>
              <a:rPr sz="3150" b="1" dirty="0" err="1">
                <a:solidFill>
                  <a:srgbClr val="17202A"/>
                </a:solidFill>
                <a:latin typeface="PingFang SC"/>
                <a:ea typeface="PingFang SC"/>
                <a:cs typeface="PingFang SC"/>
              </a:rPr>
              <a:t>CoDec</a:t>
            </a:r>
            <a:r>
              <a:rPr sz="3150" b="1" dirty="0">
                <a:solidFill>
                  <a:srgbClr val="17202A"/>
                </a:solidFill>
                <a:latin typeface="PingFang SC"/>
                <a:ea typeface="PingFang SC"/>
                <a:cs typeface="PingFang SC"/>
              </a:rPr>
              <a:t> 与 STAR</a:t>
            </a:r>
            <a:endParaRPr sz="1400" dirty="0"/>
          </a:p>
        </p:txBody>
      </p:sp>
      <p:sp>
        <p:nvSpPr>
          <p:cNvPr id="4" name="矩形 3">
            <a:extLst>
              <a:ext uri="{FF2B5EF4-FFF2-40B4-BE49-F238E27FC236}">
                <a16:creationId xmlns:a16="http://schemas.microsoft.com/office/drawing/2014/main" id="{33E5BB01-E6FC-41D6-887C-ED581726876D}"/>
              </a:ext>
            </a:extLst>
          </p:cNvPr>
          <p:cNvSpPr/>
          <p:nvPr/>
        </p:nvSpPr>
        <p:spPr>
          <a:xfrm>
            <a:off x="381000" y="1181100"/>
            <a:ext cx="5641929"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PingFang SC"/>
                <a:ea typeface="PingFang SC"/>
                <a:cs typeface="PingFang SC"/>
              </a:defRPr>
            </a:pPr>
            <a:r>
              <a:rPr sz="1400" b="0" dirty="0" err="1">
                <a:solidFill>
                  <a:srgbClr val="596273"/>
                </a:solidFill>
                <a:latin typeface="PingFang SC"/>
                <a:ea typeface="PingFang SC"/>
                <a:cs typeface="PingFang SC"/>
              </a:rPr>
              <a:t>CoDec</a:t>
            </a:r>
            <a:r>
              <a:rPr sz="1400" b="0" dirty="0">
                <a:solidFill>
                  <a:srgbClr val="596273"/>
                </a:solidFill>
                <a:latin typeface="PingFang SC"/>
                <a:ea typeface="PingFang SC"/>
                <a:cs typeface="PingFang SC"/>
              </a:rPr>
              <a:t> 的 prefix-shared decode kernel 与 STAR 的 decode-phase rescheduling</a:t>
            </a:r>
            <a:endParaRPr sz="1400" dirty="0"/>
          </a:p>
        </p:txBody>
      </p:sp>
      <p:sp>
        <p:nvSpPr>
          <p:cNvPr id="5" name="top-rule">
            <a:extLst>
              <a:ext uri="{FF2B5EF4-FFF2-40B4-BE49-F238E27FC236}">
                <a16:creationId xmlns:a16="http://schemas.microsoft.com/office/drawing/2014/main" id="{5EA82A9F-976F-4A7F-B567-26167A59BDBE}"/>
              </a:ext>
            </a:extLst>
          </p:cNvPr>
          <p:cNvSpPr/>
          <p:nvPr/>
        </p:nvSpPr>
        <p:spPr>
          <a:xfrm>
            <a:off x="381000" y="1390650"/>
            <a:ext cx="11410950" cy="11430"/>
          </a:xfrm>
          <a:prstGeom prst="rect">
            <a:avLst/>
          </a:prstGeom>
          <a:solidFill>
            <a:srgbClr val="D8DEE8"/>
          </a:solidFill>
          <a:ln w="0">
            <a:solidFill>
              <a:srgbClr val="D8DEE8"/>
            </a:solidFill>
            <a:prstDash val="solid"/>
          </a:ln>
        </p:spPr>
        <p:txBody>
          <a:bodyPr/>
          <a:lstStyle/>
          <a:p>
            <a:endParaRPr lang="zh-CN" altLang="en-US"/>
          </a:p>
        </p:txBody>
      </p:sp>
      <p:grpSp>
        <p:nvGrpSpPr>
          <p:cNvPr id="68" name="组合 67">
            <a:extLst>
              <a:ext uri="{FF2B5EF4-FFF2-40B4-BE49-F238E27FC236}">
                <a16:creationId xmlns:a16="http://schemas.microsoft.com/office/drawing/2014/main" id="{F4ADCEC6-075F-D511-C5D0-A3A9A74AE758}"/>
              </a:ext>
            </a:extLst>
          </p:cNvPr>
          <p:cNvGrpSpPr/>
          <p:nvPr/>
        </p:nvGrpSpPr>
        <p:grpSpPr>
          <a:xfrm>
            <a:off x="381000" y="1504950"/>
            <a:ext cx="2571750" cy="552450"/>
            <a:chOff x="381000" y="1504950"/>
            <a:chExt cx="2571750" cy="552450"/>
          </a:xfrm>
        </p:grpSpPr>
        <p:sp>
          <p:nvSpPr>
            <p:cNvPr id="6" name="direction-01">
              <a:extLst>
                <a:ext uri="{FF2B5EF4-FFF2-40B4-BE49-F238E27FC236}">
                  <a16:creationId xmlns:a16="http://schemas.microsoft.com/office/drawing/2014/main" id="{6E7578B1-0016-4CF9-B651-E3F13BE20EFA}"/>
                </a:ext>
              </a:extLst>
            </p:cNvPr>
            <p:cNvSpPr/>
            <p:nvPr/>
          </p:nvSpPr>
          <p:spPr>
            <a:xfrm>
              <a:off x="381000" y="1504950"/>
              <a:ext cx="2571750" cy="552450"/>
            </a:xfrm>
            <a:prstGeom prst="rect">
              <a:avLst/>
            </a:prstGeom>
            <a:solidFill>
              <a:srgbClr val="FFFFFF"/>
            </a:solidFill>
            <a:ln w="9525">
              <a:solidFill>
                <a:srgbClr val="2B6F9E"/>
              </a:solidFill>
              <a:prstDash val="solid"/>
            </a:ln>
          </p:spPr>
          <p:txBody>
            <a:bodyPr/>
            <a:lstStyle/>
            <a:p>
              <a:endParaRPr lang="zh-CN" altLang="en-US"/>
            </a:p>
          </p:txBody>
        </p:sp>
        <p:sp>
          <p:nvSpPr>
            <p:cNvPr id="7" name="direction-accent-01">
              <a:extLst>
                <a:ext uri="{FF2B5EF4-FFF2-40B4-BE49-F238E27FC236}">
                  <a16:creationId xmlns:a16="http://schemas.microsoft.com/office/drawing/2014/main" id="{84FE8AD3-E377-4629-9992-2C122F8205C4}"/>
                </a:ext>
              </a:extLst>
            </p:cNvPr>
            <p:cNvSpPr/>
            <p:nvPr/>
          </p:nvSpPr>
          <p:spPr>
            <a:xfrm>
              <a:off x="381000" y="1504950"/>
              <a:ext cx="2571750" cy="47625"/>
            </a:xfrm>
            <a:prstGeom prst="rect">
              <a:avLst/>
            </a:prstGeom>
            <a:solidFill>
              <a:srgbClr val="2B6F9E"/>
            </a:solidFill>
            <a:ln w="0">
              <a:solidFill>
                <a:srgbClr val="2B6F9E"/>
              </a:solidFill>
              <a:prstDash val="solid"/>
            </a:ln>
          </p:spPr>
          <p:txBody>
            <a:bodyPr/>
            <a:lstStyle/>
            <a:p>
              <a:endParaRPr lang="zh-CN" altLang="en-US"/>
            </a:p>
          </p:txBody>
        </p:sp>
      </p:grpSp>
      <p:sp>
        <p:nvSpPr>
          <p:cNvPr id="8" name="矩形 7">
            <a:extLst>
              <a:ext uri="{FF2B5EF4-FFF2-40B4-BE49-F238E27FC236}">
                <a16:creationId xmlns:a16="http://schemas.microsoft.com/office/drawing/2014/main" id="{358C73FC-A1AD-4E21-A115-E03594BE6BDF}"/>
              </a:ext>
            </a:extLst>
          </p:cNvPr>
          <p:cNvSpPr/>
          <p:nvPr/>
        </p:nvSpPr>
        <p:spPr>
          <a:xfrm>
            <a:off x="552450" y="1690687"/>
            <a:ext cx="4191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Aptos Display"/>
                <a:ea typeface="Aptos Display"/>
                <a:cs typeface="Aptos Display"/>
              </a:defRPr>
            </a:pPr>
            <a:r>
              <a:rPr sz="1400" b="1">
                <a:solidFill>
                  <a:srgbClr val="2B6F9E"/>
                </a:solidFill>
                <a:latin typeface="Aptos Display"/>
                <a:ea typeface="Aptos Display"/>
                <a:cs typeface="Aptos Display"/>
              </a:rPr>
              <a:t>01</a:t>
            </a:r>
            <a:endParaRPr sz="1400"/>
          </a:p>
        </p:txBody>
      </p:sp>
      <p:sp>
        <p:nvSpPr>
          <p:cNvPr id="9" name="矩形 8">
            <a:extLst>
              <a:ext uri="{FF2B5EF4-FFF2-40B4-BE49-F238E27FC236}">
                <a16:creationId xmlns:a16="http://schemas.microsoft.com/office/drawing/2014/main" id="{921B9EF1-EA15-4ECE-A817-689E12DD3B31}"/>
              </a:ext>
            </a:extLst>
          </p:cNvPr>
          <p:cNvSpPr/>
          <p:nvPr/>
        </p:nvSpPr>
        <p:spPr>
          <a:xfrm>
            <a:off x="971550" y="1680781"/>
            <a:ext cx="1231106"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sz="1600" b="1" dirty="0" err="1">
                <a:solidFill>
                  <a:srgbClr val="17202A"/>
                </a:solidFill>
                <a:latin typeface="PingFang SC"/>
                <a:ea typeface="PingFang SC"/>
                <a:cs typeface="PingFang SC"/>
              </a:rPr>
              <a:t>训练系统优化</a:t>
            </a:r>
            <a:endParaRPr sz="1600" dirty="0"/>
          </a:p>
        </p:txBody>
      </p:sp>
      <p:grpSp>
        <p:nvGrpSpPr>
          <p:cNvPr id="70" name="组合 69">
            <a:extLst>
              <a:ext uri="{FF2B5EF4-FFF2-40B4-BE49-F238E27FC236}">
                <a16:creationId xmlns:a16="http://schemas.microsoft.com/office/drawing/2014/main" id="{DE5F7BAC-C3D5-F68B-EA7C-DE78FD1E0072}"/>
              </a:ext>
            </a:extLst>
          </p:cNvPr>
          <p:cNvGrpSpPr/>
          <p:nvPr/>
        </p:nvGrpSpPr>
        <p:grpSpPr>
          <a:xfrm>
            <a:off x="3257550" y="1504950"/>
            <a:ext cx="2571750" cy="552450"/>
            <a:chOff x="3257550" y="1504950"/>
            <a:chExt cx="2571750" cy="552450"/>
          </a:xfrm>
        </p:grpSpPr>
        <p:sp>
          <p:nvSpPr>
            <p:cNvPr id="10" name="direction-02">
              <a:extLst>
                <a:ext uri="{FF2B5EF4-FFF2-40B4-BE49-F238E27FC236}">
                  <a16:creationId xmlns:a16="http://schemas.microsoft.com/office/drawing/2014/main" id="{DAF9F9AC-56BE-4C9C-A4D5-5397BF4DA217}"/>
                </a:ext>
              </a:extLst>
            </p:cNvPr>
            <p:cNvSpPr/>
            <p:nvPr/>
          </p:nvSpPr>
          <p:spPr>
            <a:xfrm>
              <a:off x="3257550" y="1504950"/>
              <a:ext cx="2571750" cy="552450"/>
            </a:xfrm>
            <a:prstGeom prst="rect">
              <a:avLst/>
            </a:prstGeom>
            <a:solidFill>
              <a:srgbClr val="FFF8E8"/>
            </a:solidFill>
            <a:ln w="17145">
              <a:solidFill>
                <a:srgbClr val="B7791F"/>
              </a:solidFill>
              <a:prstDash val="solid"/>
            </a:ln>
          </p:spPr>
          <p:txBody>
            <a:bodyPr/>
            <a:lstStyle/>
            <a:p>
              <a:endParaRPr lang="zh-CN" altLang="en-US"/>
            </a:p>
          </p:txBody>
        </p:sp>
        <p:sp>
          <p:nvSpPr>
            <p:cNvPr id="11" name="direction-accent-02">
              <a:extLst>
                <a:ext uri="{FF2B5EF4-FFF2-40B4-BE49-F238E27FC236}">
                  <a16:creationId xmlns:a16="http://schemas.microsoft.com/office/drawing/2014/main" id="{27839DED-92C4-4C7B-AE50-D2CA8F1B4228}"/>
                </a:ext>
              </a:extLst>
            </p:cNvPr>
            <p:cNvSpPr/>
            <p:nvPr/>
          </p:nvSpPr>
          <p:spPr>
            <a:xfrm>
              <a:off x="3257550" y="1504950"/>
              <a:ext cx="2571750" cy="47625"/>
            </a:xfrm>
            <a:prstGeom prst="rect">
              <a:avLst/>
            </a:prstGeom>
            <a:solidFill>
              <a:srgbClr val="B7791F"/>
            </a:solidFill>
            <a:ln w="0">
              <a:solidFill>
                <a:srgbClr val="B7791F"/>
              </a:solidFill>
              <a:prstDash val="solid"/>
            </a:ln>
          </p:spPr>
          <p:txBody>
            <a:bodyPr/>
            <a:lstStyle/>
            <a:p>
              <a:endParaRPr lang="zh-CN" altLang="en-US"/>
            </a:p>
          </p:txBody>
        </p:sp>
      </p:grpSp>
      <p:sp>
        <p:nvSpPr>
          <p:cNvPr id="12" name="矩形 11">
            <a:extLst>
              <a:ext uri="{FF2B5EF4-FFF2-40B4-BE49-F238E27FC236}">
                <a16:creationId xmlns:a16="http://schemas.microsoft.com/office/drawing/2014/main" id="{9EEC0811-C2EB-4BEE-B5E9-08766D4E4A71}"/>
              </a:ext>
            </a:extLst>
          </p:cNvPr>
          <p:cNvSpPr/>
          <p:nvPr/>
        </p:nvSpPr>
        <p:spPr>
          <a:xfrm>
            <a:off x="3429000" y="1690687"/>
            <a:ext cx="4191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B7791F"/>
                </a:solidFill>
                <a:latin typeface="Aptos Display"/>
                <a:ea typeface="Aptos Display"/>
                <a:cs typeface="Aptos Display"/>
              </a:defRPr>
            </a:pPr>
            <a:r>
              <a:rPr sz="1400" b="1">
                <a:solidFill>
                  <a:srgbClr val="B7791F"/>
                </a:solidFill>
                <a:latin typeface="Aptos Display"/>
                <a:ea typeface="Aptos Display"/>
                <a:cs typeface="Aptos Display"/>
              </a:rPr>
              <a:t>02</a:t>
            </a:r>
            <a:endParaRPr sz="1400"/>
          </a:p>
        </p:txBody>
      </p:sp>
      <p:sp>
        <p:nvSpPr>
          <p:cNvPr id="13" name="矩形 12">
            <a:extLst>
              <a:ext uri="{FF2B5EF4-FFF2-40B4-BE49-F238E27FC236}">
                <a16:creationId xmlns:a16="http://schemas.microsoft.com/office/drawing/2014/main" id="{93B71768-4307-44BA-8C69-2D294CD1D981}"/>
              </a:ext>
            </a:extLst>
          </p:cNvPr>
          <p:cNvSpPr/>
          <p:nvPr/>
        </p:nvSpPr>
        <p:spPr>
          <a:xfrm>
            <a:off x="3848100" y="1680781"/>
            <a:ext cx="1231106"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sz="1600" b="1" dirty="0" err="1">
                <a:solidFill>
                  <a:srgbClr val="17202A"/>
                </a:solidFill>
                <a:latin typeface="PingFang SC"/>
                <a:ea typeface="PingFang SC"/>
                <a:cs typeface="PingFang SC"/>
              </a:rPr>
              <a:t>推理服务优化</a:t>
            </a:r>
            <a:endParaRPr sz="1600" dirty="0"/>
          </a:p>
        </p:txBody>
      </p:sp>
      <p:grpSp>
        <p:nvGrpSpPr>
          <p:cNvPr id="71" name="组合 70">
            <a:extLst>
              <a:ext uri="{FF2B5EF4-FFF2-40B4-BE49-F238E27FC236}">
                <a16:creationId xmlns:a16="http://schemas.microsoft.com/office/drawing/2014/main" id="{9DD0336B-963D-F402-BB38-674249FAA174}"/>
              </a:ext>
            </a:extLst>
          </p:cNvPr>
          <p:cNvGrpSpPr/>
          <p:nvPr/>
        </p:nvGrpSpPr>
        <p:grpSpPr>
          <a:xfrm>
            <a:off x="6134100" y="1504950"/>
            <a:ext cx="2571750" cy="552450"/>
            <a:chOff x="6134100" y="1504950"/>
            <a:chExt cx="2571750" cy="552450"/>
          </a:xfrm>
        </p:grpSpPr>
        <p:sp>
          <p:nvSpPr>
            <p:cNvPr id="14" name="direction-03">
              <a:extLst>
                <a:ext uri="{FF2B5EF4-FFF2-40B4-BE49-F238E27FC236}">
                  <a16:creationId xmlns:a16="http://schemas.microsoft.com/office/drawing/2014/main" id="{CED744F5-1DA8-40C2-9675-F74F9B793917}"/>
                </a:ext>
              </a:extLst>
            </p:cNvPr>
            <p:cNvSpPr/>
            <p:nvPr/>
          </p:nvSpPr>
          <p:spPr>
            <a:xfrm>
              <a:off x="6134100" y="1504950"/>
              <a:ext cx="2571750" cy="552450"/>
            </a:xfrm>
            <a:prstGeom prst="rect">
              <a:avLst/>
            </a:prstGeom>
            <a:solidFill>
              <a:srgbClr val="FFFFFF"/>
            </a:solidFill>
            <a:ln w="9525">
              <a:solidFill>
                <a:srgbClr val="2B6F9E"/>
              </a:solidFill>
              <a:prstDash val="solid"/>
            </a:ln>
          </p:spPr>
          <p:txBody>
            <a:bodyPr/>
            <a:lstStyle/>
            <a:p>
              <a:endParaRPr lang="zh-CN" altLang="en-US"/>
            </a:p>
          </p:txBody>
        </p:sp>
        <p:sp>
          <p:nvSpPr>
            <p:cNvPr id="15" name="direction-accent-03">
              <a:extLst>
                <a:ext uri="{FF2B5EF4-FFF2-40B4-BE49-F238E27FC236}">
                  <a16:creationId xmlns:a16="http://schemas.microsoft.com/office/drawing/2014/main" id="{28EB3787-7074-416E-8C77-779AD92B59DF}"/>
                </a:ext>
              </a:extLst>
            </p:cNvPr>
            <p:cNvSpPr/>
            <p:nvPr/>
          </p:nvSpPr>
          <p:spPr>
            <a:xfrm>
              <a:off x="6134100" y="1504950"/>
              <a:ext cx="2571750" cy="47625"/>
            </a:xfrm>
            <a:prstGeom prst="rect">
              <a:avLst/>
            </a:prstGeom>
            <a:solidFill>
              <a:srgbClr val="2B6F9E"/>
            </a:solidFill>
            <a:ln w="0">
              <a:solidFill>
                <a:srgbClr val="2B6F9E"/>
              </a:solidFill>
              <a:prstDash val="solid"/>
            </a:ln>
          </p:spPr>
          <p:txBody>
            <a:bodyPr/>
            <a:lstStyle/>
            <a:p>
              <a:endParaRPr lang="zh-CN" altLang="en-US"/>
            </a:p>
          </p:txBody>
        </p:sp>
      </p:grpSp>
      <p:sp>
        <p:nvSpPr>
          <p:cNvPr id="16" name="矩形 15">
            <a:extLst>
              <a:ext uri="{FF2B5EF4-FFF2-40B4-BE49-F238E27FC236}">
                <a16:creationId xmlns:a16="http://schemas.microsoft.com/office/drawing/2014/main" id="{22AFFC9E-F838-4C7E-B7BB-B8D05CBA7340}"/>
              </a:ext>
            </a:extLst>
          </p:cNvPr>
          <p:cNvSpPr/>
          <p:nvPr/>
        </p:nvSpPr>
        <p:spPr>
          <a:xfrm>
            <a:off x="6305550" y="1690687"/>
            <a:ext cx="4191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Aptos Display"/>
                <a:ea typeface="Aptos Display"/>
                <a:cs typeface="Aptos Display"/>
              </a:defRPr>
            </a:pPr>
            <a:r>
              <a:rPr sz="1400" b="1">
                <a:solidFill>
                  <a:srgbClr val="2B6F9E"/>
                </a:solidFill>
                <a:latin typeface="Aptos Display"/>
                <a:ea typeface="Aptos Display"/>
                <a:cs typeface="Aptos Display"/>
              </a:rPr>
              <a:t>03</a:t>
            </a:r>
            <a:endParaRPr sz="1400"/>
          </a:p>
        </p:txBody>
      </p:sp>
      <p:sp>
        <p:nvSpPr>
          <p:cNvPr id="17" name="矩形 16">
            <a:extLst>
              <a:ext uri="{FF2B5EF4-FFF2-40B4-BE49-F238E27FC236}">
                <a16:creationId xmlns:a16="http://schemas.microsoft.com/office/drawing/2014/main" id="{764A7FF2-4EE3-453E-A7A5-1909C7F8C6B1}"/>
              </a:ext>
            </a:extLst>
          </p:cNvPr>
          <p:cNvSpPr/>
          <p:nvPr/>
        </p:nvSpPr>
        <p:spPr>
          <a:xfrm>
            <a:off x="6724650" y="1680781"/>
            <a:ext cx="1377557"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sz="1600" b="1" dirty="0" err="1">
                <a:solidFill>
                  <a:srgbClr val="17202A"/>
                </a:solidFill>
                <a:latin typeface="PingFang SC"/>
                <a:ea typeface="PingFang SC"/>
                <a:cs typeface="PingFang SC"/>
              </a:rPr>
              <a:t>可观测与</a:t>
            </a:r>
            <a:r>
              <a:rPr sz="1600" b="1" dirty="0">
                <a:solidFill>
                  <a:srgbClr val="17202A"/>
                </a:solidFill>
                <a:latin typeface="PingFang SC"/>
                <a:ea typeface="PingFang SC"/>
                <a:cs typeface="PingFang SC"/>
              </a:rPr>
              <a:t> AIOps</a:t>
            </a:r>
            <a:endParaRPr sz="1600" dirty="0"/>
          </a:p>
        </p:txBody>
      </p:sp>
      <p:grpSp>
        <p:nvGrpSpPr>
          <p:cNvPr id="72" name="组合 71">
            <a:extLst>
              <a:ext uri="{FF2B5EF4-FFF2-40B4-BE49-F238E27FC236}">
                <a16:creationId xmlns:a16="http://schemas.microsoft.com/office/drawing/2014/main" id="{DD53931E-18F0-8A98-DD18-46364F6E903D}"/>
              </a:ext>
            </a:extLst>
          </p:cNvPr>
          <p:cNvGrpSpPr/>
          <p:nvPr/>
        </p:nvGrpSpPr>
        <p:grpSpPr>
          <a:xfrm>
            <a:off x="9010650" y="1504950"/>
            <a:ext cx="2571750" cy="552450"/>
            <a:chOff x="9010650" y="1504950"/>
            <a:chExt cx="2571750" cy="552450"/>
          </a:xfrm>
        </p:grpSpPr>
        <p:sp>
          <p:nvSpPr>
            <p:cNvPr id="18" name="direction-04">
              <a:extLst>
                <a:ext uri="{FF2B5EF4-FFF2-40B4-BE49-F238E27FC236}">
                  <a16:creationId xmlns:a16="http://schemas.microsoft.com/office/drawing/2014/main" id="{82BB6972-2494-49EB-8754-5932D5F737BA}"/>
                </a:ext>
              </a:extLst>
            </p:cNvPr>
            <p:cNvSpPr/>
            <p:nvPr/>
          </p:nvSpPr>
          <p:spPr>
            <a:xfrm>
              <a:off x="9010650" y="1504950"/>
              <a:ext cx="2571750" cy="552450"/>
            </a:xfrm>
            <a:prstGeom prst="rect">
              <a:avLst/>
            </a:prstGeom>
            <a:solidFill>
              <a:srgbClr val="FFFFFF"/>
            </a:solidFill>
            <a:ln w="9525">
              <a:solidFill>
                <a:srgbClr val="2B6F9E"/>
              </a:solidFill>
              <a:prstDash val="solid"/>
            </a:ln>
          </p:spPr>
          <p:txBody>
            <a:bodyPr/>
            <a:lstStyle/>
            <a:p>
              <a:endParaRPr lang="zh-CN" altLang="en-US"/>
            </a:p>
          </p:txBody>
        </p:sp>
        <p:sp>
          <p:nvSpPr>
            <p:cNvPr id="19" name="direction-accent-04">
              <a:extLst>
                <a:ext uri="{FF2B5EF4-FFF2-40B4-BE49-F238E27FC236}">
                  <a16:creationId xmlns:a16="http://schemas.microsoft.com/office/drawing/2014/main" id="{AEC0E991-3D20-4D58-9467-DF9538D0D50E}"/>
                </a:ext>
              </a:extLst>
            </p:cNvPr>
            <p:cNvSpPr/>
            <p:nvPr/>
          </p:nvSpPr>
          <p:spPr>
            <a:xfrm>
              <a:off x="9010650" y="1504950"/>
              <a:ext cx="2571750" cy="47625"/>
            </a:xfrm>
            <a:prstGeom prst="rect">
              <a:avLst/>
            </a:prstGeom>
            <a:solidFill>
              <a:srgbClr val="2B6F9E"/>
            </a:solidFill>
            <a:ln w="0">
              <a:solidFill>
                <a:srgbClr val="2B6F9E"/>
              </a:solidFill>
              <a:prstDash val="solid"/>
            </a:ln>
          </p:spPr>
          <p:txBody>
            <a:bodyPr/>
            <a:lstStyle/>
            <a:p>
              <a:endParaRPr lang="zh-CN" altLang="en-US"/>
            </a:p>
          </p:txBody>
        </p:sp>
      </p:grpSp>
      <p:sp>
        <p:nvSpPr>
          <p:cNvPr id="20" name="矩形 19">
            <a:extLst>
              <a:ext uri="{FF2B5EF4-FFF2-40B4-BE49-F238E27FC236}">
                <a16:creationId xmlns:a16="http://schemas.microsoft.com/office/drawing/2014/main" id="{098FFCD1-BDFB-4AE6-A198-2BF54696DCF0}"/>
              </a:ext>
            </a:extLst>
          </p:cNvPr>
          <p:cNvSpPr/>
          <p:nvPr/>
        </p:nvSpPr>
        <p:spPr>
          <a:xfrm>
            <a:off x="9182100" y="1690687"/>
            <a:ext cx="419100" cy="246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2B6F9E"/>
                </a:solidFill>
                <a:latin typeface="Aptos Display"/>
                <a:ea typeface="Aptos Display"/>
                <a:cs typeface="Aptos Display"/>
              </a:defRPr>
            </a:pPr>
            <a:r>
              <a:rPr sz="1400" b="1">
                <a:solidFill>
                  <a:srgbClr val="2B6F9E"/>
                </a:solidFill>
                <a:latin typeface="Aptos Display"/>
                <a:ea typeface="Aptos Display"/>
                <a:cs typeface="Aptos Display"/>
              </a:rPr>
              <a:t>04</a:t>
            </a:r>
            <a:endParaRPr sz="1400"/>
          </a:p>
        </p:txBody>
      </p:sp>
      <p:sp>
        <p:nvSpPr>
          <p:cNvPr id="21" name="矩形 20">
            <a:extLst>
              <a:ext uri="{FF2B5EF4-FFF2-40B4-BE49-F238E27FC236}">
                <a16:creationId xmlns:a16="http://schemas.microsoft.com/office/drawing/2014/main" id="{E06A0DB2-6028-4BD8-9EE3-8C459476653A}"/>
              </a:ext>
            </a:extLst>
          </p:cNvPr>
          <p:cNvSpPr/>
          <p:nvPr/>
        </p:nvSpPr>
        <p:spPr>
          <a:xfrm>
            <a:off x="9601200" y="1680781"/>
            <a:ext cx="820738"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sz="1600" b="1" dirty="0" err="1">
                <a:solidFill>
                  <a:srgbClr val="17202A"/>
                </a:solidFill>
                <a:latin typeface="PingFang SC"/>
                <a:ea typeface="PingFang SC"/>
                <a:cs typeface="PingFang SC"/>
              </a:rPr>
              <a:t>未来工作</a:t>
            </a:r>
            <a:endParaRPr sz="1600" dirty="0"/>
          </a:p>
        </p:txBody>
      </p:sp>
      <p:sp>
        <p:nvSpPr>
          <p:cNvPr id="22" name="pain-panel">
            <a:extLst>
              <a:ext uri="{FF2B5EF4-FFF2-40B4-BE49-F238E27FC236}">
                <a16:creationId xmlns:a16="http://schemas.microsoft.com/office/drawing/2014/main" id="{D8885351-D5F6-4932-A39E-D264E5C5CEFA}"/>
              </a:ext>
            </a:extLst>
          </p:cNvPr>
          <p:cNvSpPr/>
          <p:nvPr/>
        </p:nvSpPr>
        <p:spPr>
          <a:xfrm>
            <a:off x="381000" y="2457451"/>
            <a:ext cx="3619500" cy="3667124"/>
          </a:xfrm>
          <a:prstGeom prst="rect">
            <a:avLst/>
          </a:prstGeom>
          <a:solidFill>
            <a:srgbClr val="FFF8E8"/>
          </a:solidFill>
          <a:ln w="13335">
            <a:solidFill>
              <a:srgbClr val="B7791F">
                <a:alpha val="53333"/>
              </a:srgbClr>
            </a:solidFill>
            <a:prstDash val="solid"/>
          </a:ln>
        </p:spPr>
        <p:txBody>
          <a:bodyPr/>
          <a:lstStyle/>
          <a:p>
            <a:endParaRPr lang="zh-CN" altLang="en-US"/>
          </a:p>
        </p:txBody>
      </p:sp>
      <p:sp>
        <p:nvSpPr>
          <p:cNvPr id="23" name="pain-accent">
            <a:extLst>
              <a:ext uri="{FF2B5EF4-FFF2-40B4-BE49-F238E27FC236}">
                <a16:creationId xmlns:a16="http://schemas.microsoft.com/office/drawing/2014/main" id="{DADBA35D-C46B-4E10-A09A-8B5D35031B53}"/>
              </a:ext>
            </a:extLst>
          </p:cNvPr>
          <p:cNvSpPr/>
          <p:nvPr/>
        </p:nvSpPr>
        <p:spPr>
          <a:xfrm>
            <a:off x="381000" y="2457451"/>
            <a:ext cx="95250" cy="3667124"/>
          </a:xfrm>
          <a:prstGeom prst="rect">
            <a:avLst/>
          </a:prstGeom>
          <a:solidFill>
            <a:srgbClr val="B7791F"/>
          </a:solidFill>
          <a:ln w="0">
            <a:solidFill>
              <a:srgbClr val="B7791F"/>
            </a:solidFill>
            <a:prstDash val="solid"/>
          </a:ln>
        </p:spPr>
        <p:txBody>
          <a:bodyPr/>
          <a:lstStyle/>
          <a:p>
            <a:endParaRPr lang="zh-CN" altLang="en-US"/>
          </a:p>
        </p:txBody>
      </p:sp>
      <p:sp>
        <p:nvSpPr>
          <p:cNvPr id="24" name="rule-SERVE">
            <a:extLst>
              <a:ext uri="{FF2B5EF4-FFF2-40B4-BE49-F238E27FC236}">
                <a16:creationId xmlns:a16="http://schemas.microsoft.com/office/drawing/2014/main" id="{E29F0F23-6278-4FB6-BD58-A806DD403224}"/>
              </a:ext>
            </a:extLst>
          </p:cNvPr>
          <p:cNvSpPr/>
          <p:nvPr/>
        </p:nvSpPr>
        <p:spPr>
          <a:xfrm>
            <a:off x="647700" y="2905126"/>
            <a:ext cx="285750" cy="17145"/>
          </a:xfrm>
          <a:prstGeom prst="rect">
            <a:avLst/>
          </a:prstGeom>
          <a:solidFill>
            <a:srgbClr val="B7791F"/>
          </a:solidFill>
          <a:ln w="0">
            <a:solidFill>
              <a:srgbClr val="B7791F"/>
            </a:solidFill>
            <a:prstDash val="solid"/>
          </a:ln>
        </p:spPr>
        <p:txBody>
          <a:bodyPr/>
          <a:lstStyle/>
          <a:p>
            <a:endParaRPr lang="zh-CN" altLang="en-US"/>
          </a:p>
        </p:txBody>
      </p:sp>
      <p:sp>
        <p:nvSpPr>
          <p:cNvPr id="25" name="矩形 24">
            <a:extLst>
              <a:ext uri="{FF2B5EF4-FFF2-40B4-BE49-F238E27FC236}">
                <a16:creationId xmlns:a16="http://schemas.microsoft.com/office/drawing/2014/main" id="{4E6CA30F-540F-4E33-968F-F4092527DC04}"/>
              </a:ext>
            </a:extLst>
          </p:cNvPr>
          <p:cNvSpPr/>
          <p:nvPr/>
        </p:nvSpPr>
        <p:spPr>
          <a:xfrm>
            <a:off x="1047750" y="2790254"/>
            <a:ext cx="1809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dirty="0">
                <a:solidFill>
                  <a:srgbClr val="B7791F"/>
                </a:solidFill>
                <a:latin typeface="Aptos"/>
                <a:ea typeface="Aptos"/>
                <a:cs typeface="Aptos"/>
              </a:rPr>
              <a:t>SERVE</a:t>
            </a:r>
            <a:endParaRPr sz="1400" dirty="0"/>
          </a:p>
        </p:txBody>
      </p:sp>
      <p:sp>
        <p:nvSpPr>
          <p:cNvPr id="26" name="矩形 25">
            <a:extLst>
              <a:ext uri="{FF2B5EF4-FFF2-40B4-BE49-F238E27FC236}">
                <a16:creationId xmlns:a16="http://schemas.microsoft.com/office/drawing/2014/main" id="{75CB66C1-082F-486A-8FD7-29D948527A45}"/>
              </a:ext>
            </a:extLst>
          </p:cNvPr>
          <p:cNvSpPr/>
          <p:nvPr/>
        </p:nvSpPr>
        <p:spPr>
          <a:xfrm>
            <a:off x="647700" y="3095054"/>
            <a:ext cx="3048000" cy="3238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575" b="1">
                <a:solidFill>
                  <a:srgbClr val="17202A"/>
                </a:solidFill>
                <a:latin typeface="PingFang SC"/>
                <a:ea typeface="PingFang SC"/>
                <a:cs typeface="PingFang SC"/>
              </a:defRPr>
            </a:pPr>
            <a:r>
              <a:rPr sz="1575" b="1">
                <a:solidFill>
                  <a:srgbClr val="17202A"/>
                </a:solidFill>
                <a:latin typeface="PingFang SC"/>
                <a:ea typeface="PingFang SC"/>
                <a:cs typeface="PingFang SC"/>
              </a:rPr>
              <a:t>在线 LLM serving 与用户请求</a:t>
            </a:r>
            <a:endParaRPr sz="1400"/>
          </a:p>
        </p:txBody>
      </p:sp>
      <p:sp>
        <p:nvSpPr>
          <p:cNvPr id="27" name="rule-CORE PAIN">
            <a:extLst>
              <a:ext uri="{FF2B5EF4-FFF2-40B4-BE49-F238E27FC236}">
                <a16:creationId xmlns:a16="http://schemas.microsoft.com/office/drawing/2014/main" id="{1AD1C02E-EAFE-4D1F-84C1-9AE98810DBFE}"/>
              </a:ext>
            </a:extLst>
          </p:cNvPr>
          <p:cNvSpPr/>
          <p:nvPr/>
        </p:nvSpPr>
        <p:spPr>
          <a:xfrm>
            <a:off x="647700" y="3591435"/>
            <a:ext cx="285750" cy="17145"/>
          </a:xfrm>
          <a:prstGeom prst="rect">
            <a:avLst/>
          </a:prstGeom>
          <a:solidFill>
            <a:srgbClr val="B7791F"/>
          </a:solidFill>
          <a:ln w="0">
            <a:solidFill>
              <a:srgbClr val="B7791F"/>
            </a:solidFill>
            <a:prstDash val="solid"/>
          </a:ln>
        </p:spPr>
        <p:txBody>
          <a:bodyPr/>
          <a:lstStyle/>
          <a:p>
            <a:endParaRPr lang="zh-CN" altLang="en-US"/>
          </a:p>
        </p:txBody>
      </p:sp>
      <p:sp>
        <p:nvSpPr>
          <p:cNvPr id="28" name="矩形 27">
            <a:extLst>
              <a:ext uri="{FF2B5EF4-FFF2-40B4-BE49-F238E27FC236}">
                <a16:creationId xmlns:a16="http://schemas.microsoft.com/office/drawing/2014/main" id="{5CD2A48E-AD65-4DC1-B7AF-643AC991E55B}"/>
              </a:ext>
            </a:extLst>
          </p:cNvPr>
          <p:cNvSpPr/>
          <p:nvPr/>
        </p:nvSpPr>
        <p:spPr>
          <a:xfrm>
            <a:off x="1047750" y="3476563"/>
            <a:ext cx="1809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dirty="0">
                <a:solidFill>
                  <a:srgbClr val="B7791F"/>
                </a:solidFill>
                <a:latin typeface="Aptos"/>
                <a:ea typeface="Aptos"/>
                <a:cs typeface="Aptos"/>
              </a:rPr>
              <a:t>CORE PAIN</a:t>
            </a:r>
            <a:endParaRPr sz="1400" dirty="0"/>
          </a:p>
        </p:txBody>
      </p:sp>
      <p:sp>
        <p:nvSpPr>
          <p:cNvPr id="29" name="矩形 28">
            <a:extLst>
              <a:ext uri="{FF2B5EF4-FFF2-40B4-BE49-F238E27FC236}">
                <a16:creationId xmlns:a16="http://schemas.microsoft.com/office/drawing/2014/main" id="{FE786D83-FE03-47BC-A274-94D16147CEED}"/>
              </a:ext>
            </a:extLst>
          </p:cNvPr>
          <p:cNvSpPr/>
          <p:nvPr/>
        </p:nvSpPr>
        <p:spPr>
          <a:xfrm>
            <a:off x="590550" y="3790888"/>
            <a:ext cx="3359150" cy="715581"/>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algn="l">
              <a:defRPr sz="1425" b="0">
                <a:solidFill>
                  <a:srgbClr val="17202A"/>
                </a:solidFill>
                <a:latin typeface="PingFang SC"/>
                <a:ea typeface="PingFang SC"/>
                <a:cs typeface="PingFang SC"/>
              </a:defRPr>
            </a:pPr>
            <a:r>
              <a:rPr sz="1550" b="0" dirty="0" err="1">
                <a:solidFill>
                  <a:srgbClr val="17202A"/>
                </a:solidFill>
                <a:latin typeface="PingFang SC"/>
                <a:ea typeface="PingFang SC"/>
                <a:cs typeface="PingFang SC"/>
              </a:rPr>
              <a:t>长上下文与长输出请求共同放大</a:t>
            </a:r>
            <a:br>
              <a:rPr sz="1550" b="0" dirty="0">
                <a:solidFill>
                  <a:srgbClr val="17202A"/>
                </a:solidFill>
                <a:latin typeface="PingFang SC"/>
                <a:ea typeface="PingFang SC"/>
                <a:cs typeface="PingFang SC"/>
              </a:rPr>
            </a:br>
            <a:r>
              <a:rPr sz="1550" b="0" dirty="0">
                <a:solidFill>
                  <a:srgbClr val="17202A"/>
                </a:solidFill>
                <a:latin typeface="PingFang SC"/>
                <a:ea typeface="PingFang SC"/>
                <a:cs typeface="PingFang SC"/>
              </a:rPr>
              <a:t>decode </a:t>
            </a:r>
            <a:r>
              <a:rPr sz="1550" b="0" dirty="0" err="1">
                <a:solidFill>
                  <a:srgbClr val="17202A"/>
                </a:solidFill>
                <a:latin typeface="PingFang SC"/>
                <a:ea typeface="PingFang SC"/>
                <a:cs typeface="PingFang SC"/>
              </a:rPr>
              <a:t>阶段负载</a:t>
            </a:r>
            <a:r>
              <a:rPr lang="en-US" sz="1550" b="0" dirty="0" err="1">
                <a:solidFill>
                  <a:srgbClr val="17202A"/>
                </a:solidFill>
                <a:latin typeface="PingFang SC"/>
                <a:ea typeface="PingFang SC"/>
                <a:cs typeface="PingFang SC"/>
              </a:rPr>
              <a:t>;</a:t>
            </a:r>
            <a:r>
              <a:rPr sz="1550" b="0" dirty="0" err="1">
                <a:solidFill>
                  <a:srgbClr val="17202A"/>
                </a:solidFill>
                <a:latin typeface="PingFang SC"/>
                <a:ea typeface="PingFang SC"/>
                <a:cs typeface="PingFang SC"/>
              </a:rPr>
              <a:t>后续部分</a:t>
            </a:r>
            <a:r>
              <a:rPr lang="zh-CN" altLang="en-US" sz="1550" b="0" dirty="0">
                <a:solidFill>
                  <a:srgbClr val="17202A"/>
                </a:solidFill>
                <a:latin typeface="PingFang SC"/>
                <a:ea typeface="PingFang SC"/>
                <a:cs typeface="PingFang SC"/>
              </a:rPr>
              <a:t>将</a:t>
            </a:r>
            <a:r>
              <a:rPr sz="1550" b="0" dirty="0" err="1">
                <a:solidFill>
                  <a:srgbClr val="17202A"/>
                </a:solidFill>
                <a:latin typeface="PingFang SC"/>
                <a:ea typeface="PingFang SC"/>
                <a:cs typeface="PingFang SC"/>
              </a:rPr>
              <a:t>分别</a:t>
            </a:r>
            <a:r>
              <a:rPr lang="zh-CN" altLang="en-US" sz="1550" b="0" dirty="0">
                <a:solidFill>
                  <a:srgbClr val="17202A"/>
                </a:solidFill>
                <a:latin typeface="PingFang SC"/>
                <a:ea typeface="PingFang SC"/>
                <a:cs typeface="PingFang SC"/>
              </a:rPr>
              <a:t>从</a:t>
            </a:r>
            <a:r>
              <a:rPr sz="1550" b="0" dirty="0">
                <a:solidFill>
                  <a:srgbClr val="17202A"/>
                </a:solidFill>
                <a:latin typeface="PingFang SC"/>
                <a:ea typeface="PingFang SC"/>
                <a:cs typeface="PingFang SC"/>
              </a:rPr>
              <a:t>kernel reuse</a:t>
            </a:r>
            <a:r>
              <a:rPr lang="zh-CN" altLang="en-US" sz="1550" b="0" dirty="0">
                <a:solidFill>
                  <a:srgbClr val="17202A"/>
                </a:solidFill>
                <a:latin typeface="PingFang SC"/>
                <a:ea typeface="PingFang SC"/>
                <a:cs typeface="PingFang SC"/>
              </a:rPr>
              <a:t>与</a:t>
            </a:r>
            <a:r>
              <a:rPr sz="1550" b="0" dirty="0">
                <a:solidFill>
                  <a:srgbClr val="17202A"/>
                </a:solidFill>
                <a:latin typeface="PingFang SC"/>
                <a:ea typeface="PingFang SC"/>
                <a:cs typeface="PingFang SC"/>
              </a:rPr>
              <a:t>runtime</a:t>
            </a:r>
            <a:r>
              <a:rPr lang="zh-CN" altLang="en-US" sz="1550" b="0" dirty="0">
                <a:solidFill>
                  <a:srgbClr val="17202A"/>
                </a:solidFill>
                <a:latin typeface="PingFang SC"/>
                <a:ea typeface="PingFang SC"/>
                <a:cs typeface="PingFang SC"/>
              </a:rPr>
              <a:t> </a:t>
            </a:r>
            <a:r>
              <a:rPr sz="1550" b="0" dirty="0">
                <a:solidFill>
                  <a:srgbClr val="17202A"/>
                </a:solidFill>
                <a:latin typeface="PingFang SC"/>
                <a:ea typeface="PingFang SC"/>
                <a:cs typeface="PingFang SC"/>
              </a:rPr>
              <a:t>rescheduling </a:t>
            </a:r>
            <a:r>
              <a:rPr sz="1550" b="0" dirty="0" err="1">
                <a:solidFill>
                  <a:srgbClr val="17202A"/>
                </a:solidFill>
                <a:latin typeface="PingFang SC"/>
                <a:ea typeface="PingFang SC"/>
                <a:cs typeface="PingFang SC"/>
              </a:rPr>
              <a:t>切入</a:t>
            </a:r>
            <a:endParaRPr sz="1550" b="0" dirty="0">
              <a:solidFill>
                <a:srgbClr val="17202A"/>
              </a:solidFill>
              <a:latin typeface="PingFang SC"/>
              <a:ea typeface="PingFang SC"/>
              <a:cs typeface="PingFang SC"/>
            </a:endParaRPr>
          </a:p>
        </p:txBody>
      </p:sp>
      <p:sp>
        <p:nvSpPr>
          <p:cNvPr id="30" name="rule-CAPABILITY">
            <a:extLst>
              <a:ext uri="{FF2B5EF4-FFF2-40B4-BE49-F238E27FC236}">
                <a16:creationId xmlns:a16="http://schemas.microsoft.com/office/drawing/2014/main" id="{C79EDA5F-12AF-4A54-8864-48487E29DAF2}"/>
              </a:ext>
            </a:extLst>
          </p:cNvPr>
          <p:cNvSpPr/>
          <p:nvPr/>
        </p:nvSpPr>
        <p:spPr>
          <a:xfrm>
            <a:off x="647700" y="4983861"/>
            <a:ext cx="285750" cy="17145"/>
          </a:xfrm>
          <a:prstGeom prst="rect">
            <a:avLst/>
          </a:prstGeom>
          <a:solidFill>
            <a:srgbClr val="B7791F"/>
          </a:solidFill>
          <a:ln w="0">
            <a:solidFill>
              <a:srgbClr val="B7791F"/>
            </a:solidFill>
            <a:prstDash val="solid"/>
          </a:ln>
        </p:spPr>
        <p:txBody>
          <a:bodyPr/>
          <a:lstStyle/>
          <a:p>
            <a:endParaRPr lang="zh-CN" altLang="en-US"/>
          </a:p>
        </p:txBody>
      </p:sp>
      <p:sp>
        <p:nvSpPr>
          <p:cNvPr id="31" name="矩形 30">
            <a:extLst>
              <a:ext uri="{FF2B5EF4-FFF2-40B4-BE49-F238E27FC236}">
                <a16:creationId xmlns:a16="http://schemas.microsoft.com/office/drawing/2014/main" id="{11BD6BAD-DAD8-41C4-92F5-23B15030897B}"/>
              </a:ext>
            </a:extLst>
          </p:cNvPr>
          <p:cNvSpPr/>
          <p:nvPr/>
        </p:nvSpPr>
        <p:spPr>
          <a:xfrm>
            <a:off x="1047750" y="4868990"/>
            <a:ext cx="1809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dirty="0">
                <a:solidFill>
                  <a:srgbClr val="B7791F"/>
                </a:solidFill>
                <a:latin typeface="Aptos"/>
                <a:ea typeface="Aptos"/>
                <a:cs typeface="Aptos"/>
              </a:rPr>
              <a:t>CAPABILITY</a:t>
            </a:r>
            <a:endParaRPr sz="1400" dirty="0"/>
          </a:p>
        </p:txBody>
      </p:sp>
      <p:sp>
        <p:nvSpPr>
          <p:cNvPr id="32" name="矩形 31">
            <a:extLst>
              <a:ext uri="{FF2B5EF4-FFF2-40B4-BE49-F238E27FC236}">
                <a16:creationId xmlns:a16="http://schemas.microsoft.com/office/drawing/2014/main" id="{08CAD95F-AE86-4A5C-914D-FD5A0C8C346A}"/>
              </a:ext>
            </a:extLst>
          </p:cNvPr>
          <p:cNvSpPr/>
          <p:nvPr/>
        </p:nvSpPr>
        <p:spPr>
          <a:xfrm>
            <a:off x="647700" y="5166361"/>
            <a:ext cx="3215624" cy="73866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17202A"/>
                </a:solidFill>
                <a:latin typeface="PingFang SC"/>
                <a:ea typeface="PingFang SC"/>
                <a:cs typeface="PingFang SC"/>
              </a:defRPr>
            </a:pPr>
            <a:r>
              <a:rPr sz="1600" b="1" dirty="0">
                <a:solidFill>
                  <a:srgbClr val="17202A"/>
                </a:solidFill>
                <a:latin typeface="PingFang SC"/>
                <a:ea typeface="PingFang SC"/>
                <a:cs typeface="PingFang SC"/>
              </a:rPr>
              <a:t>先</a:t>
            </a:r>
            <a:r>
              <a:rPr lang="zh-CN" altLang="en-US" sz="1600" b="1" dirty="0">
                <a:solidFill>
                  <a:srgbClr val="17202A"/>
                </a:solidFill>
                <a:latin typeface="PingFang SC"/>
                <a:ea typeface="PingFang SC"/>
                <a:cs typeface="PingFang SC"/>
              </a:rPr>
              <a:t>讨论</a:t>
            </a:r>
            <a:r>
              <a:rPr sz="1600" b="1" dirty="0">
                <a:solidFill>
                  <a:srgbClr val="17202A"/>
                </a:solidFill>
                <a:latin typeface="PingFang SC"/>
                <a:ea typeface="PingFang SC"/>
                <a:cs typeface="PingFang SC"/>
              </a:rPr>
              <a:t> CoDec 如何减少重复 KV </a:t>
            </a:r>
            <a:r>
              <a:rPr sz="1600" b="1" dirty="0" err="1">
                <a:solidFill>
                  <a:srgbClr val="17202A"/>
                </a:solidFill>
                <a:latin typeface="PingFang SC"/>
                <a:ea typeface="PingFang SC"/>
                <a:cs typeface="PingFang SC"/>
              </a:rPr>
              <a:t>读取</a:t>
            </a:r>
            <a:br>
              <a:rPr sz="1600" b="1" dirty="0">
                <a:solidFill>
                  <a:srgbClr val="17202A"/>
                </a:solidFill>
                <a:latin typeface="PingFang SC"/>
                <a:ea typeface="PingFang SC"/>
                <a:cs typeface="PingFang SC"/>
              </a:rPr>
            </a:br>
            <a:r>
              <a:rPr sz="1600" b="1" dirty="0">
                <a:solidFill>
                  <a:srgbClr val="17202A"/>
                </a:solidFill>
                <a:latin typeface="PingFang SC"/>
                <a:ea typeface="PingFang SC"/>
                <a:cs typeface="PingFang SC"/>
              </a:rPr>
              <a:t>再</a:t>
            </a:r>
            <a:r>
              <a:rPr lang="zh-CN" altLang="en-US" sz="1600" b="1" dirty="0">
                <a:solidFill>
                  <a:srgbClr val="17202A"/>
                </a:solidFill>
                <a:latin typeface="PingFang SC"/>
                <a:ea typeface="PingFang SC"/>
                <a:cs typeface="PingFang SC"/>
              </a:rPr>
              <a:t>讨论 </a:t>
            </a:r>
            <a:r>
              <a:rPr sz="1600" b="1" dirty="0">
                <a:solidFill>
                  <a:srgbClr val="17202A"/>
                </a:solidFill>
                <a:latin typeface="PingFang SC"/>
                <a:ea typeface="PingFang SC"/>
                <a:cs typeface="PingFang SC"/>
              </a:rPr>
              <a:t>STAR </a:t>
            </a:r>
            <a:r>
              <a:rPr sz="1600" b="1" dirty="0" err="1">
                <a:solidFill>
                  <a:srgbClr val="17202A"/>
                </a:solidFill>
                <a:latin typeface="PingFang SC"/>
                <a:ea typeface="PingFang SC"/>
                <a:cs typeface="PingFang SC"/>
              </a:rPr>
              <a:t>如何预测剩余输出并迁</a:t>
            </a:r>
            <a:endParaRPr lang="en-US" sz="1600" b="1" dirty="0">
              <a:solidFill>
                <a:srgbClr val="17202A"/>
              </a:solidFill>
              <a:latin typeface="PingFang SC"/>
              <a:ea typeface="PingFang SC"/>
              <a:cs typeface="PingFang SC"/>
            </a:endParaRPr>
          </a:p>
          <a:p>
            <a:pPr algn="l">
              <a:defRPr sz="1400" b="1">
                <a:solidFill>
                  <a:srgbClr val="17202A"/>
                </a:solidFill>
                <a:latin typeface="PingFang SC"/>
                <a:ea typeface="PingFang SC"/>
                <a:cs typeface="PingFang SC"/>
              </a:defRPr>
            </a:pPr>
            <a:r>
              <a:rPr sz="1600" b="1" dirty="0" err="1">
                <a:solidFill>
                  <a:srgbClr val="17202A"/>
                </a:solidFill>
                <a:latin typeface="PingFang SC"/>
                <a:ea typeface="PingFang SC"/>
                <a:cs typeface="PingFang SC"/>
              </a:rPr>
              <a:t>移重均衡</a:t>
            </a:r>
            <a:endParaRPr sz="1600" b="1" dirty="0">
              <a:solidFill>
                <a:srgbClr val="17202A"/>
              </a:solidFill>
              <a:latin typeface="PingFang SC"/>
              <a:ea typeface="PingFang SC"/>
              <a:cs typeface="PingFang SC"/>
            </a:endParaRPr>
          </a:p>
        </p:txBody>
      </p:sp>
      <p:sp>
        <p:nvSpPr>
          <p:cNvPr id="33" name="paper-CoDec">
            <a:extLst>
              <a:ext uri="{FF2B5EF4-FFF2-40B4-BE49-F238E27FC236}">
                <a16:creationId xmlns:a16="http://schemas.microsoft.com/office/drawing/2014/main" id="{9C1AAC61-6CF7-4031-B8D2-0A107C8934D1}"/>
              </a:ext>
            </a:extLst>
          </p:cNvPr>
          <p:cNvSpPr/>
          <p:nvPr/>
        </p:nvSpPr>
        <p:spPr>
          <a:xfrm>
            <a:off x="4305300" y="2457450"/>
            <a:ext cx="3429000" cy="1835150"/>
          </a:xfrm>
          <a:prstGeom prst="rect">
            <a:avLst/>
          </a:prstGeom>
          <a:solidFill>
            <a:srgbClr val="FFFFFF"/>
          </a:solidFill>
          <a:ln w="10478">
            <a:solidFill>
              <a:srgbClr val="B7791F">
                <a:alpha val="40000"/>
              </a:srgbClr>
            </a:solidFill>
            <a:prstDash val="solid"/>
          </a:ln>
        </p:spPr>
        <p:txBody>
          <a:bodyPr/>
          <a:lstStyle/>
          <a:p>
            <a:endParaRPr lang="zh-CN" altLang="en-US"/>
          </a:p>
        </p:txBody>
      </p:sp>
      <p:sp>
        <p:nvSpPr>
          <p:cNvPr id="34" name="paper-accent-CoDec">
            <a:extLst>
              <a:ext uri="{FF2B5EF4-FFF2-40B4-BE49-F238E27FC236}">
                <a16:creationId xmlns:a16="http://schemas.microsoft.com/office/drawing/2014/main" id="{23144A19-9F37-4DE8-95B4-6CA65F4A4148}"/>
              </a:ext>
            </a:extLst>
          </p:cNvPr>
          <p:cNvSpPr/>
          <p:nvPr/>
        </p:nvSpPr>
        <p:spPr>
          <a:xfrm>
            <a:off x="4305300" y="2457450"/>
            <a:ext cx="57150" cy="1835150"/>
          </a:xfrm>
          <a:prstGeom prst="rect">
            <a:avLst/>
          </a:prstGeom>
          <a:solidFill>
            <a:srgbClr val="B7791F"/>
          </a:solidFill>
          <a:ln w="0">
            <a:solidFill>
              <a:srgbClr val="B7791F"/>
            </a:solidFill>
            <a:prstDash val="solid"/>
          </a:ln>
        </p:spPr>
        <p:txBody>
          <a:bodyPr/>
          <a:lstStyle/>
          <a:p>
            <a:endParaRPr lang="zh-CN" altLang="en-US"/>
          </a:p>
        </p:txBody>
      </p:sp>
      <p:sp>
        <p:nvSpPr>
          <p:cNvPr id="35" name="venue-CoDec">
            <a:extLst>
              <a:ext uri="{FF2B5EF4-FFF2-40B4-BE49-F238E27FC236}">
                <a16:creationId xmlns:a16="http://schemas.microsoft.com/office/drawing/2014/main" id="{4FA62423-273D-4699-9C11-D15E72F6855E}"/>
              </a:ext>
            </a:extLst>
          </p:cNvPr>
          <p:cNvSpPr/>
          <p:nvPr/>
        </p:nvSpPr>
        <p:spPr>
          <a:xfrm>
            <a:off x="4531188" y="2596515"/>
            <a:ext cx="1066800" cy="266700"/>
          </a:xfrm>
          <a:prstGeom prst="rect">
            <a:avLst/>
          </a:prstGeom>
          <a:solidFill>
            <a:srgbClr val="B7791F">
              <a:alpha val="7843"/>
            </a:srgbClr>
          </a:solidFill>
          <a:ln w="9525">
            <a:solidFill>
              <a:srgbClr val="B7791F">
                <a:alpha val="43922"/>
              </a:srgbClr>
            </a:solidFill>
            <a:prstDash val="solid"/>
          </a:ln>
        </p:spPr>
        <p:txBody>
          <a:bodyPr/>
          <a:lstStyle/>
          <a:p>
            <a:endParaRPr lang="zh-CN" altLang="en-US"/>
          </a:p>
        </p:txBody>
      </p:sp>
      <p:sp>
        <p:nvSpPr>
          <p:cNvPr id="36" name="矩形 35">
            <a:extLst>
              <a:ext uri="{FF2B5EF4-FFF2-40B4-BE49-F238E27FC236}">
                <a16:creationId xmlns:a16="http://schemas.microsoft.com/office/drawing/2014/main" id="{AF8B4B3F-07FB-4D5B-906B-6E59E5CBB74F}"/>
              </a:ext>
            </a:extLst>
          </p:cNvPr>
          <p:cNvSpPr/>
          <p:nvPr/>
        </p:nvSpPr>
        <p:spPr>
          <a:xfrm>
            <a:off x="4607388" y="2606421"/>
            <a:ext cx="91440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B7791F"/>
                </a:solidFill>
                <a:latin typeface="Aptos"/>
                <a:ea typeface="Aptos"/>
                <a:cs typeface="Aptos"/>
              </a:defRPr>
            </a:pPr>
            <a:r>
              <a:rPr sz="1400" b="1" dirty="0">
                <a:solidFill>
                  <a:srgbClr val="B7791F"/>
                </a:solidFill>
                <a:latin typeface="Aptos"/>
                <a:ea typeface="Aptos"/>
                <a:cs typeface="Aptos"/>
              </a:rPr>
              <a:t>SIGMOD'26</a:t>
            </a:r>
            <a:endParaRPr sz="1400" dirty="0"/>
          </a:p>
        </p:txBody>
      </p:sp>
      <p:sp>
        <p:nvSpPr>
          <p:cNvPr id="37" name="矩形 36">
            <a:extLst>
              <a:ext uri="{FF2B5EF4-FFF2-40B4-BE49-F238E27FC236}">
                <a16:creationId xmlns:a16="http://schemas.microsoft.com/office/drawing/2014/main" id="{43D4F1B7-2D8A-4616-9A44-2F9627C7CAAD}"/>
              </a:ext>
            </a:extLst>
          </p:cNvPr>
          <p:cNvSpPr/>
          <p:nvPr/>
        </p:nvSpPr>
        <p:spPr>
          <a:xfrm>
            <a:off x="5715000" y="2590800"/>
            <a:ext cx="743793" cy="30777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875" b="1">
                <a:solidFill>
                  <a:srgbClr val="17202A"/>
                </a:solidFill>
                <a:latin typeface="Aptos Display"/>
                <a:ea typeface="Aptos Display"/>
                <a:cs typeface="Aptos Display"/>
              </a:defRPr>
            </a:pPr>
            <a:r>
              <a:rPr sz="2000" b="1" dirty="0" err="1">
                <a:solidFill>
                  <a:srgbClr val="17202A"/>
                </a:solidFill>
                <a:latin typeface="Aptos Display"/>
                <a:ea typeface="Aptos Display"/>
                <a:cs typeface="Aptos Display"/>
              </a:rPr>
              <a:t>CoDec</a:t>
            </a:r>
            <a:endParaRPr sz="1600" dirty="0"/>
          </a:p>
        </p:txBody>
      </p:sp>
      <p:sp>
        <p:nvSpPr>
          <p:cNvPr id="38" name="矩形 37">
            <a:extLst>
              <a:ext uri="{FF2B5EF4-FFF2-40B4-BE49-F238E27FC236}">
                <a16:creationId xmlns:a16="http://schemas.microsoft.com/office/drawing/2014/main" id="{4979FB09-DA9E-470A-BF82-3F6C0B903FED}"/>
              </a:ext>
            </a:extLst>
          </p:cNvPr>
          <p:cNvSpPr/>
          <p:nvPr/>
        </p:nvSpPr>
        <p:spPr>
          <a:xfrm>
            <a:off x="4476750" y="2990850"/>
            <a:ext cx="3048000" cy="2476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dirty="0">
                <a:solidFill>
                  <a:srgbClr val="596273"/>
                </a:solidFill>
                <a:latin typeface="Aptos"/>
                <a:ea typeface="Aptos"/>
                <a:cs typeface="Aptos"/>
              </a:rPr>
              <a:t>Prefix-shared decode kernel</a:t>
            </a:r>
            <a:endParaRPr sz="1400" dirty="0"/>
          </a:p>
        </p:txBody>
      </p:sp>
      <p:sp>
        <p:nvSpPr>
          <p:cNvPr id="39" name="矩形 38">
            <a:extLst>
              <a:ext uri="{FF2B5EF4-FFF2-40B4-BE49-F238E27FC236}">
                <a16:creationId xmlns:a16="http://schemas.microsoft.com/office/drawing/2014/main" id="{55E1DAAC-6B85-4D1B-A4E4-762426272EF8}"/>
              </a:ext>
            </a:extLst>
          </p:cNvPr>
          <p:cNvSpPr/>
          <p:nvPr/>
        </p:nvSpPr>
        <p:spPr>
          <a:xfrm>
            <a:off x="4476750" y="3329940"/>
            <a:ext cx="3048000" cy="27432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dirty="0" err="1">
                <a:solidFill>
                  <a:srgbClr val="17202A"/>
                </a:solidFill>
                <a:latin typeface="PingFang SC"/>
                <a:ea typeface="PingFang SC"/>
                <a:cs typeface="PingFang SC"/>
              </a:rPr>
              <a:t>共享前缀仍反复读取</a:t>
            </a:r>
            <a:r>
              <a:rPr sz="1400" b="0" dirty="0">
                <a:solidFill>
                  <a:srgbClr val="17202A"/>
                </a:solidFill>
                <a:latin typeface="PingFang SC"/>
                <a:ea typeface="PingFang SC"/>
                <a:cs typeface="PingFang SC"/>
              </a:rPr>
              <a:t> KV cache</a:t>
            </a:r>
            <a:endParaRPr sz="1400" dirty="0"/>
          </a:p>
        </p:txBody>
      </p:sp>
      <p:sp>
        <p:nvSpPr>
          <p:cNvPr id="40" name="矩形 39">
            <a:extLst>
              <a:ext uri="{FF2B5EF4-FFF2-40B4-BE49-F238E27FC236}">
                <a16:creationId xmlns:a16="http://schemas.microsoft.com/office/drawing/2014/main" id="{B8CEC801-89A9-4672-9E43-D4AAE12B2A37}"/>
              </a:ext>
            </a:extLst>
          </p:cNvPr>
          <p:cNvSpPr/>
          <p:nvPr/>
        </p:nvSpPr>
        <p:spPr>
          <a:xfrm>
            <a:off x="4476750" y="3695700"/>
            <a:ext cx="3048000" cy="27432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B7791F"/>
                </a:solidFill>
                <a:latin typeface="PingFang SC"/>
                <a:ea typeface="PingFang SC"/>
                <a:cs typeface="PingFang SC"/>
              </a:defRPr>
            </a:pPr>
            <a:r>
              <a:rPr sz="1400" b="1" dirty="0" err="1">
                <a:solidFill>
                  <a:srgbClr val="B7791F"/>
                </a:solidFill>
                <a:latin typeface="PingFang SC"/>
                <a:ea typeface="PingFang SC"/>
                <a:cs typeface="PingFang SC"/>
              </a:rPr>
              <a:t>复用前缀</a:t>
            </a:r>
            <a:r>
              <a:rPr sz="1400" b="1" dirty="0">
                <a:solidFill>
                  <a:srgbClr val="B7791F"/>
                </a:solidFill>
                <a:latin typeface="PingFang SC"/>
                <a:ea typeface="PingFang SC"/>
                <a:cs typeface="PingFang SC"/>
              </a:rPr>
              <a:t> </a:t>
            </a:r>
            <a:r>
              <a:rPr sz="1400" b="1" dirty="0" err="1">
                <a:solidFill>
                  <a:srgbClr val="B7791F"/>
                </a:solidFill>
                <a:latin typeface="PingFang SC"/>
                <a:ea typeface="PingFang SC"/>
                <a:cs typeface="PingFang SC"/>
              </a:rPr>
              <a:t>attention，降低</a:t>
            </a:r>
            <a:r>
              <a:rPr sz="1400" b="1" dirty="0">
                <a:solidFill>
                  <a:srgbClr val="B7791F"/>
                </a:solidFill>
                <a:latin typeface="PingFang SC"/>
                <a:ea typeface="PingFang SC"/>
                <a:cs typeface="PingFang SC"/>
              </a:rPr>
              <a:t> memory
traffic</a:t>
            </a:r>
            <a:endParaRPr sz="1400" dirty="0"/>
          </a:p>
        </p:txBody>
      </p:sp>
      <p:sp>
        <p:nvSpPr>
          <p:cNvPr id="41" name="paper-STAR">
            <a:extLst>
              <a:ext uri="{FF2B5EF4-FFF2-40B4-BE49-F238E27FC236}">
                <a16:creationId xmlns:a16="http://schemas.microsoft.com/office/drawing/2014/main" id="{2559795B-EB64-4A36-90FD-D5EB50C074DF}"/>
              </a:ext>
            </a:extLst>
          </p:cNvPr>
          <p:cNvSpPr/>
          <p:nvPr/>
        </p:nvSpPr>
        <p:spPr>
          <a:xfrm>
            <a:off x="7981950" y="2457450"/>
            <a:ext cx="3429000" cy="1835150"/>
          </a:xfrm>
          <a:prstGeom prst="rect">
            <a:avLst/>
          </a:prstGeom>
          <a:solidFill>
            <a:srgbClr val="FFFFFF"/>
          </a:solidFill>
          <a:ln w="10478">
            <a:solidFill>
              <a:srgbClr val="B7791F">
                <a:alpha val="40000"/>
              </a:srgbClr>
            </a:solidFill>
            <a:prstDash val="solid"/>
          </a:ln>
        </p:spPr>
        <p:txBody>
          <a:bodyPr/>
          <a:lstStyle/>
          <a:p>
            <a:endParaRPr lang="zh-CN" altLang="en-US"/>
          </a:p>
        </p:txBody>
      </p:sp>
      <p:sp>
        <p:nvSpPr>
          <p:cNvPr id="42" name="paper-accent-STAR">
            <a:extLst>
              <a:ext uri="{FF2B5EF4-FFF2-40B4-BE49-F238E27FC236}">
                <a16:creationId xmlns:a16="http://schemas.microsoft.com/office/drawing/2014/main" id="{2BA9B655-514A-4745-82A1-BDDCDD2EB22A}"/>
              </a:ext>
            </a:extLst>
          </p:cNvPr>
          <p:cNvSpPr/>
          <p:nvPr/>
        </p:nvSpPr>
        <p:spPr>
          <a:xfrm>
            <a:off x="7981950" y="2457450"/>
            <a:ext cx="57150" cy="1835150"/>
          </a:xfrm>
          <a:prstGeom prst="rect">
            <a:avLst/>
          </a:prstGeom>
          <a:solidFill>
            <a:srgbClr val="B7791F"/>
          </a:solidFill>
          <a:ln w="0">
            <a:solidFill>
              <a:srgbClr val="B7791F"/>
            </a:solidFill>
            <a:prstDash val="solid"/>
          </a:ln>
        </p:spPr>
        <p:txBody>
          <a:bodyPr/>
          <a:lstStyle/>
          <a:p>
            <a:endParaRPr lang="zh-CN" altLang="en-US"/>
          </a:p>
        </p:txBody>
      </p:sp>
      <p:sp>
        <p:nvSpPr>
          <p:cNvPr id="43" name="venue-STAR">
            <a:extLst>
              <a:ext uri="{FF2B5EF4-FFF2-40B4-BE49-F238E27FC236}">
                <a16:creationId xmlns:a16="http://schemas.microsoft.com/office/drawing/2014/main" id="{3B042428-7597-4400-A9C5-728182814BF3}"/>
              </a:ext>
            </a:extLst>
          </p:cNvPr>
          <p:cNvSpPr/>
          <p:nvPr/>
        </p:nvSpPr>
        <p:spPr>
          <a:xfrm>
            <a:off x="8207838" y="2596515"/>
            <a:ext cx="1066800" cy="266700"/>
          </a:xfrm>
          <a:prstGeom prst="rect">
            <a:avLst/>
          </a:prstGeom>
          <a:solidFill>
            <a:srgbClr val="B7791F">
              <a:alpha val="7843"/>
            </a:srgbClr>
          </a:solidFill>
          <a:ln w="9525">
            <a:solidFill>
              <a:srgbClr val="B7791F">
                <a:alpha val="43922"/>
              </a:srgbClr>
            </a:solidFill>
            <a:prstDash val="solid"/>
          </a:ln>
        </p:spPr>
        <p:txBody>
          <a:bodyPr/>
          <a:lstStyle/>
          <a:p>
            <a:endParaRPr lang="zh-CN" altLang="en-US"/>
          </a:p>
        </p:txBody>
      </p:sp>
      <p:sp>
        <p:nvSpPr>
          <p:cNvPr id="44" name="矩形 43">
            <a:extLst>
              <a:ext uri="{FF2B5EF4-FFF2-40B4-BE49-F238E27FC236}">
                <a16:creationId xmlns:a16="http://schemas.microsoft.com/office/drawing/2014/main" id="{63365473-EAD9-4C91-8925-4CB4C5A1E0E7}"/>
              </a:ext>
            </a:extLst>
          </p:cNvPr>
          <p:cNvSpPr/>
          <p:nvPr/>
        </p:nvSpPr>
        <p:spPr>
          <a:xfrm>
            <a:off x="8284038" y="2606421"/>
            <a:ext cx="91440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400" b="1">
                <a:solidFill>
                  <a:srgbClr val="B7791F"/>
                </a:solidFill>
                <a:latin typeface="Aptos"/>
                <a:ea typeface="Aptos"/>
                <a:cs typeface="Aptos"/>
              </a:defRPr>
            </a:pPr>
            <a:r>
              <a:rPr sz="1400" b="1" dirty="0">
                <a:solidFill>
                  <a:srgbClr val="B7791F"/>
                </a:solidFill>
                <a:latin typeface="Aptos"/>
                <a:ea typeface="Aptos"/>
                <a:cs typeface="Aptos"/>
              </a:rPr>
              <a:t>HPDC'26</a:t>
            </a:r>
            <a:endParaRPr sz="1400" dirty="0"/>
          </a:p>
        </p:txBody>
      </p:sp>
      <p:sp>
        <p:nvSpPr>
          <p:cNvPr id="45" name="矩形 44">
            <a:extLst>
              <a:ext uri="{FF2B5EF4-FFF2-40B4-BE49-F238E27FC236}">
                <a16:creationId xmlns:a16="http://schemas.microsoft.com/office/drawing/2014/main" id="{E914E808-A0C7-482B-B0FC-4077EC124DF1}"/>
              </a:ext>
            </a:extLst>
          </p:cNvPr>
          <p:cNvSpPr/>
          <p:nvPr/>
        </p:nvSpPr>
        <p:spPr>
          <a:xfrm>
            <a:off x="9427723" y="2590800"/>
            <a:ext cx="573298" cy="30777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875" b="1">
                <a:solidFill>
                  <a:srgbClr val="17202A"/>
                </a:solidFill>
                <a:latin typeface="Aptos Display"/>
                <a:ea typeface="Aptos Display"/>
                <a:cs typeface="Aptos Display"/>
              </a:defRPr>
            </a:pPr>
            <a:r>
              <a:rPr sz="2000" b="1" dirty="0">
                <a:solidFill>
                  <a:srgbClr val="17202A"/>
                </a:solidFill>
                <a:latin typeface="Aptos Display"/>
                <a:ea typeface="Aptos Display"/>
                <a:cs typeface="Aptos Display"/>
              </a:rPr>
              <a:t>STAR</a:t>
            </a:r>
            <a:endParaRPr sz="2000" dirty="0"/>
          </a:p>
        </p:txBody>
      </p:sp>
      <p:sp>
        <p:nvSpPr>
          <p:cNvPr id="46" name="矩形 45">
            <a:extLst>
              <a:ext uri="{FF2B5EF4-FFF2-40B4-BE49-F238E27FC236}">
                <a16:creationId xmlns:a16="http://schemas.microsoft.com/office/drawing/2014/main" id="{6A2BB8D2-5085-44D3-BFB2-DDE195795030}"/>
              </a:ext>
            </a:extLst>
          </p:cNvPr>
          <p:cNvSpPr/>
          <p:nvPr/>
        </p:nvSpPr>
        <p:spPr>
          <a:xfrm>
            <a:off x="8153400" y="2990850"/>
            <a:ext cx="3048000" cy="2476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596273"/>
                </a:solidFill>
                <a:latin typeface="Aptos"/>
                <a:ea typeface="Aptos"/>
                <a:cs typeface="Aptos"/>
              </a:defRPr>
            </a:pPr>
            <a:r>
              <a:rPr sz="1400" b="0" dirty="0">
                <a:solidFill>
                  <a:srgbClr val="596273"/>
                </a:solidFill>
                <a:latin typeface="Aptos"/>
                <a:ea typeface="Aptos"/>
                <a:cs typeface="Aptos"/>
              </a:rPr>
              <a:t>Decode-phase rescheduling</a:t>
            </a:r>
            <a:endParaRPr sz="1400" dirty="0"/>
          </a:p>
        </p:txBody>
      </p:sp>
      <p:sp>
        <p:nvSpPr>
          <p:cNvPr id="47" name="矩形 46">
            <a:extLst>
              <a:ext uri="{FF2B5EF4-FFF2-40B4-BE49-F238E27FC236}">
                <a16:creationId xmlns:a16="http://schemas.microsoft.com/office/drawing/2014/main" id="{4034C9E5-D66A-4ACC-8C22-5E69DD451D6A}"/>
              </a:ext>
            </a:extLst>
          </p:cNvPr>
          <p:cNvSpPr/>
          <p:nvPr/>
        </p:nvSpPr>
        <p:spPr>
          <a:xfrm>
            <a:off x="8153400" y="3329940"/>
            <a:ext cx="3048000" cy="27432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0">
                <a:solidFill>
                  <a:srgbClr val="17202A"/>
                </a:solidFill>
                <a:latin typeface="PingFang SC"/>
                <a:ea typeface="PingFang SC"/>
                <a:cs typeface="PingFang SC"/>
              </a:defRPr>
            </a:pPr>
            <a:r>
              <a:rPr sz="1400" b="0">
                <a:solidFill>
                  <a:srgbClr val="17202A"/>
                </a:solidFill>
                <a:latin typeface="PingFang SC"/>
                <a:ea typeface="PingFang SC"/>
                <a:cs typeface="PingFang SC"/>
              </a:rPr>
              <a:t>长输出请求导致实例负载漂移</a:t>
            </a:r>
            <a:endParaRPr sz="1400"/>
          </a:p>
        </p:txBody>
      </p:sp>
      <p:sp>
        <p:nvSpPr>
          <p:cNvPr id="48" name="矩形 47">
            <a:extLst>
              <a:ext uri="{FF2B5EF4-FFF2-40B4-BE49-F238E27FC236}">
                <a16:creationId xmlns:a16="http://schemas.microsoft.com/office/drawing/2014/main" id="{5A8228EC-9F9B-476D-A2CC-501704466FF5}"/>
              </a:ext>
            </a:extLst>
          </p:cNvPr>
          <p:cNvSpPr/>
          <p:nvPr/>
        </p:nvSpPr>
        <p:spPr>
          <a:xfrm>
            <a:off x="8153400" y="3695700"/>
            <a:ext cx="3048000" cy="27432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1400" b="1">
                <a:solidFill>
                  <a:srgbClr val="B7791F"/>
                </a:solidFill>
                <a:latin typeface="PingFang SC"/>
                <a:ea typeface="PingFang SC"/>
                <a:cs typeface="PingFang SC"/>
              </a:defRPr>
            </a:pPr>
            <a:r>
              <a:rPr sz="1400" b="1" dirty="0" err="1">
                <a:solidFill>
                  <a:srgbClr val="B7791F"/>
                </a:solidFill>
                <a:latin typeface="PingFang SC"/>
                <a:ea typeface="PingFang SC"/>
                <a:cs typeface="PingFang SC"/>
              </a:rPr>
              <a:t>预测剩余长度，运行时迁移重均衡</a:t>
            </a:r>
            <a:endParaRPr sz="1400" dirty="0"/>
          </a:p>
        </p:txBody>
      </p:sp>
      <p:sp>
        <p:nvSpPr>
          <p:cNvPr id="49" name="capability-flow">
            <a:extLst>
              <a:ext uri="{FF2B5EF4-FFF2-40B4-BE49-F238E27FC236}">
                <a16:creationId xmlns:a16="http://schemas.microsoft.com/office/drawing/2014/main" id="{13576F62-BDF3-4AF8-AD8A-91362B402E27}"/>
              </a:ext>
            </a:extLst>
          </p:cNvPr>
          <p:cNvSpPr/>
          <p:nvPr/>
        </p:nvSpPr>
        <p:spPr>
          <a:xfrm>
            <a:off x="4305300" y="4602479"/>
            <a:ext cx="7105650" cy="1483995"/>
          </a:xfrm>
          <a:prstGeom prst="rect">
            <a:avLst/>
          </a:prstGeom>
          <a:solidFill>
            <a:srgbClr val="FFFFFF"/>
          </a:solidFill>
          <a:ln w="9525">
            <a:solidFill>
              <a:srgbClr val="B7791F">
                <a:alpha val="33333"/>
              </a:srgbClr>
            </a:solidFill>
            <a:prstDash val="solid"/>
          </a:ln>
        </p:spPr>
        <p:txBody>
          <a:bodyPr/>
          <a:lstStyle/>
          <a:p>
            <a:endParaRPr lang="zh-CN" altLang="en-US"/>
          </a:p>
        </p:txBody>
      </p:sp>
      <p:sp>
        <p:nvSpPr>
          <p:cNvPr id="50" name="rule-SYSTEM VIEW">
            <a:extLst>
              <a:ext uri="{FF2B5EF4-FFF2-40B4-BE49-F238E27FC236}">
                <a16:creationId xmlns:a16="http://schemas.microsoft.com/office/drawing/2014/main" id="{287A02DE-E711-4CB6-BC13-9982C8048FC4}"/>
              </a:ext>
            </a:extLst>
          </p:cNvPr>
          <p:cNvSpPr/>
          <p:nvPr/>
        </p:nvSpPr>
        <p:spPr>
          <a:xfrm>
            <a:off x="4533900" y="4926901"/>
            <a:ext cx="285750" cy="17145"/>
          </a:xfrm>
          <a:prstGeom prst="rect">
            <a:avLst/>
          </a:prstGeom>
          <a:solidFill>
            <a:srgbClr val="B7791F"/>
          </a:solidFill>
          <a:ln w="0">
            <a:solidFill>
              <a:srgbClr val="B7791F"/>
            </a:solidFill>
            <a:prstDash val="solid"/>
          </a:ln>
        </p:spPr>
        <p:txBody>
          <a:bodyPr/>
          <a:lstStyle/>
          <a:p>
            <a:endParaRPr lang="zh-CN" altLang="en-US"/>
          </a:p>
        </p:txBody>
      </p:sp>
      <p:sp>
        <p:nvSpPr>
          <p:cNvPr id="51" name="矩形 50">
            <a:extLst>
              <a:ext uri="{FF2B5EF4-FFF2-40B4-BE49-F238E27FC236}">
                <a16:creationId xmlns:a16="http://schemas.microsoft.com/office/drawing/2014/main" id="{35BCCC94-DCF4-4A10-9546-1AA345D946C6}"/>
              </a:ext>
            </a:extLst>
          </p:cNvPr>
          <p:cNvSpPr/>
          <p:nvPr/>
        </p:nvSpPr>
        <p:spPr>
          <a:xfrm>
            <a:off x="4933950" y="4812030"/>
            <a:ext cx="1809750" cy="2468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l">
              <a:defRPr sz="1400" b="1">
                <a:solidFill>
                  <a:srgbClr val="B7791F"/>
                </a:solidFill>
                <a:latin typeface="Aptos"/>
                <a:ea typeface="Aptos"/>
                <a:cs typeface="Aptos"/>
              </a:defRPr>
            </a:pPr>
            <a:r>
              <a:rPr sz="1400" b="1">
                <a:solidFill>
                  <a:srgbClr val="B7791F"/>
                </a:solidFill>
                <a:latin typeface="Aptos"/>
                <a:ea typeface="Aptos"/>
                <a:cs typeface="Aptos"/>
              </a:rPr>
              <a:t>SYSTEM VIEW</a:t>
            </a:r>
            <a:endParaRPr sz="1400"/>
          </a:p>
        </p:txBody>
      </p:sp>
      <p:sp>
        <p:nvSpPr>
          <p:cNvPr id="52" name="cap-Kernel">
            <a:extLst>
              <a:ext uri="{FF2B5EF4-FFF2-40B4-BE49-F238E27FC236}">
                <a16:creationId xmlns:a16="http://schemas.microsoft.com/office/drawing/2014/main" id="{9BA92818-AD12-40B7-93FD-B2A1475DA714}"/>
              </a:ext>
            </a:extLst>
          </p:cNvPr>
          <p:cNvSpPr/>
          <p:nvPr/>
        </p:nvSpPr>
        <p:spPr>
          <a:xfrm>
            <a:off x="4552950" y="5173980"/>
            <a:ext cx="1619250" cy="666750"/>
          </a:xfrm>
          <a:prstGeom prst="rect">
            <a:avLst/>
          </a:prstGeom>
          <a:solidFill>
            <a:srgbClr val="FFFFFF"/>
          </a:solidFill>
          <a:ln w="9525">
            <a:solidFill>
              <a:srgbClr val="B7791F">
                <a:alpha val="43922"/>
              </a:srgbClr>
            </a:solidFill>
            <a:prstDash val="solid"/>
          </a:ln>
        </p:spPr>
        <p:txBody>
          <a:bodyPr/>
          <a:lstStyle/>
          <a:p>
            <a:endParaRPr lang="zh-CN" altLang="en-US"/>
          </a:p>
        </p:txBody>
      </p:sp>
      <p:sp>
        <p:nvSpPr>
          <p:cNvPr id="53" name="矩形 52">
            <a:extLst>
              <a:ext uri="{FF2B5EF4-FFF2-40B4-BE49-F238E27FC236}">
                <a16:creationId xmlns:a16="http://schemas.microsoft.com/office/drawing/2014/main" id="{55E2C288-3720-40B3-881E-81520952AF92}"/>
              </a:ext>
            </a:extLst>
          </p:cNvPr>
          <p:cNvSpPr/>
          <p:nvPr/>
        </p:nvSpPr>
        <p:spPr>
          <a:xfrm>
            <a:off x="5088718" y="5288280"/>
            <a:ext cx="547714"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ctr">
              <a:defRPr sz="1400" b="1">
                <a:solidFill>
                  <a:srgbClr val="17202A"/>
                </a:solidFill>
                <a:latin typeface="PingFang SC"/>
                <a:ea typeface="PingFang SC"/>
                <a:cs typeface="PingFang SC"/>
              </a:defRPr>
            </a:pPr>
            <a:r>
              <a:rPr sz="1600" b="1" dirty="0">
                <a:solidFill>
                  <a:srgbClr val="17202A"/>
                </a:solidFill>
                <a:latin typeface="PingFang SC"/>
                <a:ea typeface="PingFang SC"/>
                <a:cs typeface="PingFang SC"/>
              </a:rPr>
              <a:t>Kernel</a:t>
            </a:r>
            <a:endParaRPr sz="1600" dirty="0"/>
          </a:p>
        </p:txBody>
      </p:sp>
      <p:sp>
        <p:nvSpPr>
          <p:cNvPr id="54" name="矩形 53">
            <a:extLst>
              <a:ext uri="{FF2B5EF4-FFF2-40B4-BE49-F238E27FC236}">
                <a16:creationId xmlns:a16="http://schemas.microsoft.com/office/drawing/2014/main" id="{CB9D6675-61EB-45B8-B480-207F1769D763}"/>
              </a:ext>
            </a:extLst>
          </p:cNvPr>
          <p:cNvSpPr/>
          <p:nvPr/>
        </p:nvSpPr>
        <p:spPr>
          <a:xfrm>
            <a:off x="4705350" y="5554980"/>
            <a:ext cx="1314450" cy="219456"/>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ctr">
              <a:defRPr sz="1400" b="0">
                <a:solidFill>
                  <a:srgbClr val="596273"/>
                </a:solidFill>
                <a:latin typeface="Aptos"/>
                <a:ea typeface="Aptos"/>
                <a:cs typeface="Aptos"/>
              </a:defRPr>
            </a:pPr>
            <a:r>
              <a:rPr sz="1400" b="0">
                <a:solidFill>
                  <a:srgbClr val="596273"/>
                </a:solidFill>
                <a:latin typeface="Aptos"/>
                <a:ea typeface="Aptos"/>
                <a:cs typeface="Aptos"/>
              </a:rPr>
              <a:t>attention reuse</a:t>
            </a:r>
            <a:endParaRPr sz="1400"/>
          </a:p>
        </p:txBody>
      </p:sp>
      <p:sp>
        <p:nvSpPr>
          <p:cNvPr id="55" name="cap-arrow">
            <a:extLst>
              <a:ext uri="{FF2B5EF4-FFF2-40B4-BE49-F238E27FC236}">
                <a16:creationId xmlns:a16="http://schemas.microsoft.com/office/drawing/2014/main" id="{4BF9573B-071A-47C1-BBEA-1D589EDA4CD6}"/>
              </a:ext>
            </a:extLst>
          </p:cNvPr>
          <p:cNvSpPr/>
          <p:nvPr/>
        </p:nvSpPr>
        <p:spPr>
          <a:xfrm>
            <a:off x="6286500" y="5488305"/>
            <a:ext cx="457200" cy="19050"/>
          </a:xfrm>
          <a:prstGeom prst="rect">
            <a:avLst/>
          </a:prstGeom>
          <a:solidFill>
            <a:srgbClr val="D8DEE8"/>
          </a:solidFill>
          <a:ln w="0">
            <a:solidFill>
              <a:srgbClr val="D8DEE8"/>
            </a:solidFill>
            <a:prstDash val="solid"/>
          </a:ln>
        </p:spPr>
        <p:txBody>
          <a:bodyPr/>
          <a:lstStyle/>
          <a:p>
            <a:endParaRPr lang="zh-CN" altLang="en-US"/>
          </a:p>
        </p:txBody>
      </p:sp>
      <p:sp>
        <p:nvSpPr>
          <p:cNvPr id="56" name="矩形 55">
            <a:extLst>
              <a:ext uri="{FF2B5EF4-FFF2-40B4-BE49-F238E27FC236}">
                <a16:creationId xmlns:a16="http://schemas.microsoft.com/office/drawing/2014/main" id="{12C76CF8-9B69-4BB1-AD50-79A0D71BB715}"/>
              </a:ext>
            </a:extLst>
          </p:cNvPr>
          <p:cNvSpPr/>
          <p:nvPr/>
        </p:nvSpPr>
        <p:spPr>
          <a:xfrm>
            <a:off x="6610350" y="5345430"/>
            <a:ext cx="209550" cy="285750"/>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800" b="1">
                <a:solidFill>
                  <a:srgbClr val="B7791F"/>
                </a:solidFill>
                <a:latin typeface="Aptos"/>
                <a:ea typeface="Aptos"/>
                <a:cs typeface="Aptos"/>
              </a:defRPr>
            </a:pPr>
            <a:r>
              <a:rPr sz="1800" b="1">
                <a:solidFill>
                  <a:srgbClr val="B7791F"/>
                </a:solidFill>
                <a:latin typeface="Aptos"/>
                <a:ea typeface="Aptos"/>
                <a:cs typeface="Aptos"/>
              </a:rPr>
              <a:t>&gt;</a:t>
            </a:r>
            <a:endParaRPr sz="1400"/>
          </a:p>
        </p:txBody>
      </p:sp>
      <p:sp>
        <p:nvSpPr>
          <p:cNvPr id="57" name="cap-Scheduler">
            <a:extLst>
              <a:ext uri="{FF2B5EF4-FFF2-40B4-BE49-F238E27FC236}">
                <a16:creationId xmlns:a16="http://schemas.microsoft.com/office/drawing/2014/main" id="{849275C8-B268-4D56-8502-57972B3BF339}"/>
              </a:ext>
            </a:extLst>
          </p:cNvPr>
          <p:cNvSpPr/>
          <p:nvPr/>
        </p:nvSpPr>
        <p:spPr>
          <a:xfrm>
            <a:off x="6838950" y="5173980"/>
            <a:ext cx="1809750" cy="666750"/>
          </a:xfrm>
          <a:prstGeom prst="rect">
            <a:avLst/>
          </a:prstGeom>
          <a:solidFill>
            <a:srgbClr val="FFFFFF"/>
          </a:solidFill>
          <a:ln w="9525">
            <a:solidFill>
              <a:srgbClr val="B7791F">
                <a:alpha val="43922"/>
              </a:srgbClr>
            </a:solidFill>
            <a:prstDash val="solid"/>
          </a:ln>
        </p:spPr>
        <p:txBody>
          <a:bodyPr/>
          <a:lstStyle/>
          <a:p>
            <a:endParaRPr lang="zh-CN" altLang="en-US"/>
          </a:p>
        </p:txBody>
      </p:sp>
      <p:sp>
        <p:nvSpPr>
          <p:cNvPr id="58" name="矩形 57">
            <a:extLst>
              <a:ext uri="{FF2B5EF4-FFF2-40B4-BE49-F238E27FC236}">
                <a16:creationId xmlns:a16="http://schemas.microsoft.com/office/drawing/2014/main" id="{4DC5B72F-EBA0-4975-A1CE-31827D2A3978}"/>
              </a:ext>
            </a:extLst>
          </p:cNvPr>
          <p:cNvSpPr/>
          <p:nvPr/>
        </p:nvSpPr>
        <p:spPr>
          <a:xfrm>
            <a:off x="7321433" y="5288280"/>
            <a:ext cx="844783"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ctr">
              <a:defRPr sz="1400" b="1">
                <a:solidFill>
                  <a:srgbClr val="17202A"/>
                </a:solidFill>
                <a:latin typeface="PingFang SC"/>
                <a:ea typeface="PingFang SC"/>
                <a:cs typeface="PingFang SC"/>
              </a:defRPr>
            </a:pPr>
            <a:r>
              <a:rPr sz="1600" b="1" dirty="0">
                <a:solidFill>
                  <a:srgbClr val="17202A"/>
                </a:solidFill>
                <a:latin typeface="PingFang SC"/>
                <a:ea typeface="PingFang SC"/>
                <a:cs typeface="PingFang SC"/>
              </a:rPr>
              <a:t>Scheduler</a:t>
            </a:r>
            <a:endParaRPr sz="1600" dirty="0"/>
          </a:p>
        </p:txBody>
      </p:sp>
      <p:sp>
        <p:nvSpPr>
          <p:cNvPr id="59" name="矩形 58">
            <a:extLst>
              <a:ext uri="{FF2B5EF4-FFF2-40B4-BE49-F238E27FC236}">
                <a16:creationId xmlns:a16="http://schemas.microsoft.com/office/drawing/2014/main" id="{861ADBCF-C607-4E46-9D88-D1A318D60AC5}"/>
              </a:ext>
            </a:extLst>
          </p:cNvPr>
          <p:cNvSpPr/>
          <p:nvPr/>
        </p:nvSpPr>
        <p:spPr>
          <a:xfrm>
            <a:off x="6991350" y="5554980"/>
            <a:ext cx="1504950" cy="219456"/>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ctr">
              <a:defRPr sz="1400" b="0">
                <a:solidFill>
                  <a:srgbClr val="596273"/>
                </a:solidFill>
                <a:latin typeface="Aptos"/>
                <a:ea typeface="Aptos"/>
                <a:cs typeface="Aptos"/>
              </a:defRPr>
            </a:pPr>
            <a:r>
              <a:rPr sz="1400" b="0">
                <a:solidFill>
                  <a:srgbClr val="596273"/>
                </a:solidFill>
                <a:latin typeface="Aptos"/>
                <a:ea typeface="Aptos"/>
                <a:cs typeface="Aptos"/>
              </a:rPr>
              <a:t>decode rebalance</a:t>
            </a:r>
            <a:endParaRPr sz="1400"/>
          </a:p>
        </p:txBody>
      </p:sp>
      <p:sp>
        <p:nvSpPr>
          <p:cNvPr id="60" name="cap-arrow">
            <a:extLst>
              <a:ext uri="{FF2B5EF4-FFF2-40B4-BE49-F238E27FC236}">
                <a16:creationId xmlns:a16="http://schemas.microsoft.com/office/drawing/2014/main" id="{0F03DFD9-05AB-4641-962F-DE5AB094FF04}"/>
              </a:ext>
            </a:extLst>
          </p:cNvPr>
          <p:cNvSpPr/>
          <p:nvPr/>
        </p:nvSpPr>
        <p:spPr>
          <a:xfrm>
            <a:off x="8763000" y="5488305"/>
            <a:ext cx="457200" cy="19050"/>
          </a:xfrm>
          <a:prstGeom prst="rect">
            <a:avLst/>
          </a:prstGeom>
          <a:solidFill>
            <a:srgbClr val="D8DEE8"/>
          </a:solidFill>
          <a:ln w="0">
            <a:solidFill>
              <a:srgbClr val="D8DEE8"/>
            </a:solidFill>
            <a:prstDash val="solid"/>
          </a:ln>
        </p:spPr>
        <p:txBody>
          <a:bodyPr/>
          <a:lstStyle/>
          <a:p>
            <a:endParaRPr lang="zh-CN" altLang="en-US"/>
          </a:p>
        </p:txBody>
      </p:sp>
      <p:sp>
        <p:nvSpPr>
          <p:cNvPr id="61" name="矩形 60">
            <a:extLst>
              <a:ext uri="{FF2B5EF4-FFF2-40B4-BE49-F238E27FC236}">
                <a16:creationId xmlns:a16="http://schemas.microsoft.com/office/drawing/2014/main" id="{98BAEF83-685E-4534-980F-A9FFCE035532}"/>
              </a:ext>
            </a:extLst>
          </p:cNvPr>
          <p:cNvSpPr/>
          <p:nvPr/>
        </p:nvSpPr>
        <p:spPr>
          <a:xfrm>
            <a:off x="9086850" y="5345430"/>
            <a:ext cx="209550" cy="285750"/>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lgn="ctr">
              <a:defRPr sz="1800" b="1">
                <a:solidFill>
                  <a:srgbClr val="B7791F"/>
                </a:solidFill>
                <a:latin typeface="Aptos"/>
                <a:ea typeface="Aptos"/>
                <a:cs typeface="Aptos"/>
              </a:defRPr>
            </a:pPr>
            <a:r>
              <a:rPr sz="1800" b="1">
                <a:solidFill>
                  <a:srgbClr val="B7791F"/>
                </a:solidFill>
                <a:latin typeface="Aptos"/>
                <a:ea typeface="Aptos"/>
                <a:cs typeface="Aptos"/>
              </a:rPr>
              <a:t>&gt;</a:t>
            </a:r>
            <a:endParaRPr sz="1400"/>
          </a:p>
        </p:txBody>
      </p:sp>
      <p:sp>
        <p:nvSpPr>
          <p:cNvPr id="62" name="cap-Serving SLO">
            <a:extLst>
              <a:ext uri="{FF2B5EF4-FFF2-40B4-BE49-F238E27FC236}">
                <a16:creationId xmlns:a16="http://schemas.microsoft.com/office/drawing/2014/main" id="{C71B75A7-A0A4-4129-B66C-22412BE44722}"/>
              </a:ext>
            </a:extLst>
          </p:cNvPr>
          <p:cNvSpPr/>
          <p:nvPr/>
        </p:nvSpPr>
        <p:spPr>
          <a:xfrm>
            <a:off x="9315450" y="5173980"/>
            <a:ext cx="1714500" cy="666750"/>
          </a:xfrm>
          <a:prstGeom prst="rect">
            <a:avLst/>
          </a:prstGeom>
          <a:solidFill>
            <a:srgbClr val="FFFFFF"/>
          </a:solidFill>
          <a:ln w="9525">
            <a:solidFill>
              <a:srgbClr val="B7791F">
                <a:alpha val="43922"/>
              </a:srgbClr>
            </a:solidFill>
            <a:prstDash val="solid"/>
          </a:ln>
        </p:spPr>
        <p:txBody>
          <a:bodyPr/>
          <a:lstStyle/>
          <a:p>
            <a:endParaRPr lang="zh-CN" altLang="en-US"/>
          </a:p>
        </p:txBody>
      </p:sp>
      <p:sp>
        <p:nvSpPr>
          <p:cNvPr id="63" name="矩形 62">
            <a:extLst>
              <a:ext uri="{FF2B5EF4-FFF2-40B4-BE49-F238E27FC236}">
                <a16:creationId xmlns:a16="http://schemas.microsoft.com/office/drawing/2014/main" id="{76EC2FFF-AC22-4150-9F71-8993E38197C4}"/>
              </a:ext>
            </a:extLst>
          </p:cNvPr>
          <p:cNvSpPr/>
          <p:nvPr/>
        </p:nvSpPr>
        <p:spPr>
          <a:xfrm>
            <a:off x="9673461" y="5288280"/>
            <a:ext cx="998478"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ctr">
              <a:defRPr sz="1400" b="1">
                <a:solidFill>
                  <a:srgbClr val="17202A"/>
                </a:solidFill>
                <a:latin typeface="PingFang SC"/>
                <a:ea typeface="PingFang SC"/>
                <a:cs typeface="PingFang SC"/>
              </a:defRPr>
            </a:pPr>
            <a:r>
              <a:rPr sz="1600" b="1" dirty="0">
                <a:solidFill>
                  <a:srgbClr val="17202A"/>
                </a:solidFill>
                <a:latin typeface="PingFang SC"/>
                <a:ea typeface="PingFang SC"/>
                <a:cs typeface="PingFang SC"/>
              </a:rPr>
              <a:t>Serving SLO</a:t>
            </a:r>
            <a:endParaRPr sz="1600" dirty="0"/>
          </a:p>
        </p:txBody>
      </p:sp>
      <p:sp>
        <p:nvSpPr>
          <p:cNvPr id="64" name="矩形 63">
            <a:extLst>
              <a:ext uri="{FF2B5EF4-FFF2-40B4-BE49-F238E27FC236}">
                <a16:creationId xmlns:a16="http://schemas.microsoft.com/office/drawing/2014/main" id="{7603DAA0-8D34-43EF-A961-5D998995487C}"/>
              </a:ext>
            </a:extLst>
          </p:cNvPr>
          <p:cNvSpPr/>
          <p:nvPr/>
        </p:nvSpPr>
        <p:spPr>
          <a:xfrm>
            <a:off x="9467850" y="5554980"/>
            <a:ext cx="1409700" cy="219456"/>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ctr">
              <a:defRPr sz="1400" b="0">
                <a:solidFill>
                  <a:srgbClr val="596273"/>
                </a:solidFill>
                <a:latin typeface="Aptos"/>
                <a:ea typeface="Aptos"/>
                <a:cs typeface="Aptos"/>
              </a:defRPr>
            </a:pPr>
            <a:r>
              <a:rPr sz="1400" b="0">
                <a:solidFill>
                  <a:srgbClr val="596273"/>
                </a:solidFill>
                <a:latin typeface="Aptos"/>
                <a:ea typeface="Aptos"/>
                <a:cs typeface="Aptos"/>
              </a:rPr>
              <a:t>latency / OOM</a:t>
            </a:r>
            <a:endParaRPr sz="1400"/>
          </a:p>
        </p:txBody>
      </p:sp>
      <p:sp>
        <p:nvSpPr>
          <p:cNvPr id="65" name="矩形 64">
            <a:extLst>
              <a:ext uri="{FF2B5EF4-FFF2-40B4-BE49-F238E27FC236}">
                <a16:creationId xmlns:a16="http://schemas.microsoft.com/office/drawing/2014/main" id="{2BF0B04B-D0A6-4D56-904A-8FB2253EFAFC}"/>
              </a:ext>
            </a:extLst>
          </p:cNvPr>
          <p:cNvSpPr/>
          <p:nvPr/>
        </p:nvSpPr>
        <p:spPr>
          <a:xfrm>
            <a:off x="381000" y="6629400"/>
            <a:ext cx="53340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l">
              <a:defRPr sz="840" b="0">
                <a:solidFill>
                  <a:srgbClr val="7A8393"/>
                </a:solidFill>
                <a:latin typeface="Aptos"/>
                <a:ea typeface="Aptos"/>
                <a:cs typeface="Aptos"/>
              </a:defRPr>
            </a:pPr>
            <a:r>
              <a:rPr sz="880" b="0" dirty="0">
                <a:solidFill>
                  <a:srgbClr val="7A8393"/>
                </a:solidFill>
                <a:latin typeface="Aptos"/>
                <a:ea typeface="Aptos"/>
                <a:cs typeface="Aptos"/>
              </a:rPr>
              <a:t>Source: transition into detailed CoDec and STAR sections</a:t>
            </a:r>
          </a:p>
        </p:txBody>
      </p:sp>
      <p:sp>
        <p:nvSpPr>
          <p:cNvPr id="66" name="矩形 65">
            <a:extLst>
              <a:ext uri="{FF2B5EF4-FFF2-40B4-BE49-F238E27FC236}">
                <a16:creationId xmlns:a16="http://schemas.microsoft.com/office/drawing/2014/main" id="{755832B3-077C-4C8D-AD8E-8B34BD6F5DFC}"/>
              </a:ext>
            </a:extLst>
          </p:cNvPr>
          <p:cNvSpPr/>
          <p:nvPr/>
        </p:nvSpPr>
        <p:spPr>
          <a:xfrm>
            <a:off x="11382375" y="6591300"/>
            <a:ext cx="419100" cy="17145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7A8393"/>
                </a:solidFill>
                <a:latin typeface="Aptos"/>
                <a:ea typeface="Aptos"/>
                <a:cs typeface="Aptos"/>
              </a:rPr>
              <a:t>12</a:t>
            </a:r>
          </a:p>
        </p:txBody>
      </p:sp>
      <p:sp>
        <p:nvSpPr>
          <p:cNvPr id="69" name="kicker-label">
            <a:extLst>
              <a:ext uri="{FF2B5EF4-FFF2-40B4-BE49-F238E27FC236}">
                <a16:creationId xmlns:a16="http://schemas.microsoft.com/office/drawing/2014/main" id="{C8E2DB0C-8E79-7187-CD6B-1D106A448971}"/>
              </a:ext>
            </a:extLst>
          </p:cNvPr>
          <p:cNvSpPr/>
          <p:nvPr/>
        </p:nvSpPr>
        <p:spPr>
          <a:xfrm>
            <a:off x="514350" y="349097"/>
            <a:ext cx="2926080" cy="215444"/>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a:defRPr sz="1400" b="1">
                <a:solidFill>
                  <a:srgbClr val="B7791F"/>
                </a:solidFill>
                <a:latin typeface="Aptos"/>
                <a:ea typeface="Aptos"/>
                <a:cs typeface="Aptos"/>
              </a:defRPr>
            </a:pPr>
            <a:r>
              <a:rPr lang="en-US" altLang="zh-CN" sz="1400" b="1" dirty="0">
                <a:solidFill>
                  <a:srgbClr val="B7791F"/>
                </a:solidFill>
                <a:latin typeface="Aptos"/>
              </a:rPr>
              <a:t>PAPER 12 · Transition</a:t>
            </a:r>
          </a:p>
        </p:txBody>
      </p:sp>
    </p:spTree>
    <p:extLst>
      <p:ext uri="{BB962C8B-B14F-4D97-AF65-F5344CB8AC3E}">
        <p14:creationId xmlns:p14="http://schemas.microsoft.com/office/powerpoint/2010/main" val="2105102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78896" y="-9007"/>
            <a:ext cx="12192000" cy="6858000"/>
          </a:xfrm>
          <a:prstGeom prst="rect">
            <a:avLst/>
          </a:prstGeom>
          <a:solidFill>
            <a:srgbClr val="FFFFFF"/>
          </a:solidFill>
          <a:ln w="0">
            <a:solidFill>
              <a:srgbClr val="000000">
                <a:alpha val="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5" name="图片 1"/>
          <p:cNvPicPr/>
          <p:nvPr/>
        </p:nvPicPr>
        <p:blipFill>
          <a:blip r:embed="rId3"/>
          <a:srcRect t="24440" b="24440"/>
          <a:stretch>
            <a:fillRect/>
          </a:stretch>
        </p:blipFill>
        <p:spPr>
          <a:xfrm>
            <a:off x="0" y="5905500"/>
            <a:ext cx="12192000" cy="952500"/>
          </a:xfrm>
          <a:prstGeom prst="rect">
            <a:avLst/>
          </a:prstGeom>
        </p:spPr>
      </p:pic>
      <p:pic>
        <p:nvPicPr>
          <p:cNvPr id="16" name="图片 2"/>
          <p:cNvPicPr/>
          <p:nvPr/>
        </p:nvPicPr>
        <p:blipFill>
          <a:blip r:embed="rId4"/>
          <a:stretch>
            <a:fillRect/>
          </a:stretch>
        </p:blipFill>
        <p:spPr>
          <a:xfrm>
            <a:off x="8826364" y="438150"/>
            <a:ext cx="2216423" cy="704850"/>
          </a:xfrm>
          <a:prstGeom prst="rect">
            <a:avLst/>
          </a:prstGeom>
        </p:spPr>
      </p:pic>
      <p:pic>
        <p:nvPicPr>
          <p:cNvPr id="17" name="图片 3"/>
          <p:cNvPicPr/>
          <p:nvPr/>
        </p:nvPicPr>
        <p:blipFill>
          <a:blip r:embed="rId5"/>
          <a:stretch>
            <a:fillRect/>
          </a:stretch>
        </p:blipFill>
        <p:spPr>
          <a:xfrm>
            <a:off x="6953250" y="702276"/>
            <a:ext cx="1524000" cy="195649"/>
          </a:xfrm>
          <a:prstGeom prst="rect">
            <a:avLst/>
          </a:prstGeom>
        </p:spPr>
      </p:pic>
      <p:sp>
        <p:nvSpPr>
          <p:cNvPr id="5" name="矩形 4"/>
          <p:cNvSpPr/>
          <p:nvPr/>
        </p:nvSpPr>
        <p:spPr>
          <a:xfrm>
            <a:off x="685800" y="1162050"/>
            <a:ext cx="400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5100" b="1">
                <a:solidFill>
                  <a:srgbClr val="5B1B73"/>
                </a:solidFill>
                <a:latin typeface="Aptos"/>
                <a:ea typeface="Aptos"/>
                <a:cs typeface="Aptos"/>
              </a:defRPr>
            </a:pPr>
            <a:r>
              <a:rPr kumimoji="0" sz="5100" b="1" i="0" u="none" strike="noStrike" kern="1200" cap="none" spc="0" normalizeH="0" baseline="0" noProof="0" dirty="0" err="1">
                <a:ln>
                  <a:noFill/>
                </a:ln>
                <a:solidFill>
                  <a:srgbClr val="5B1B73"/>
                </a:solidFill>
                <a:effectLst/>
                <a:uLnTx/>
                <a:uFillTx/>
                <a:latin typeface="Aptos"/>
                <a:ea typeface="Aptos"/>
                <a:cs typeface="Aptos"/>
              </a:rPr>
              <a:t>CoDec</a:t>
            </a:r>
            <a:endParaRPr kumimoji="0" sz="5100" b="1" i="0" u="none" strike="noStrike" kern="1200" cap="none" spc="0" normalizeH="0" baseline="0" noProof="0" dirty="0">
              <a:ln>
                <a:noFill/>
              </a:ln>
              <a:solidFill>
                <a:srgbClr val="5B1B73"/>
              </a:solidFill>
              <a:effectLst/>
              <a:uLnTx/>
              <a:uFillTx/>
              <a:latin typeface="Aptos"/>
              <a:ea typeface="Aptos"/>
              <a:cs typeface="Aptos"/>
            </a:endParaRPr>
          </a:p>
        </p:txBody>
      </p:sp>
      <p:sp>
        <p:nvSpPr>
          <p:cNvPr id="6" name="矩形 5"/>
          <p:cNvSpPr/>
          <p:nvPr/>
        </p:nvSpPr>
        <p:spPr>
          <a:xfrm>
            <a:off x="723900" y="1924050"/>
            <a:ext cx="7810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2850" b="1">
                <a:solidFill>
                  <a:srgbClr val="15121A"/>
                </a:solidFill>
                <a:latin typeface="Aptos"/>
                <a:ea typeface="Aptos"/>
                <a:cs typeface="Aptos"/>
              </a:defRPr>
            </a:pPr>
            <a:r>
              <a:rPr kumimoji="0" sz="2850" b="1" i="0" u="none" strike="noStrike" kern="1200" cap="none" spc="0" normalizeH="0" baseline="0" noProof="0">
                <a:ln>
                  <a:noFill/>
                </a:ln>
                <a:solidFill>
                  <a:srgbClr val="15121A"/>
                </a:solidFill>
                <a:effectLst/>
                <a:uLnTx/>
                <a:uFillTx/>
                <a:latin typeface="Aptos"/>
                <a:ea typeface="Aptos"/>
                <a:cs typeface="Aptos"/>
              </a:rPr>
              <a:t>Prefix-Shared Decoding Kernel for LLMs</a:t>
            </a:r>
          </a:p>
        </p:txBody>
      </p:sp>
      <p:sp>
        <p:nvSpPr>
          <p:cNvPr id="7" name="矩形 6"/>
          <p:cNvSpPr/>
          <p:nvPr/>
        </p:nvSpPr>
        <p:spPr>
          <a:xfrm>
            <a:off x="742950" y="2724150"/>
            <a:ext cx="46863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1275" b="0">
                <a:solidFill>
                  <a:srgbClr val="4E4B57"/>
                </a:solidFill>
                <a:latin typeface="Aptos"/>
                <a:ea typeface="Aptos"/>
                <a:cs typeface="Aptos"/>
              </a:defRPr>
            </a:pPr>
            <a:r>
              <a:rPr kumimoji="0" sz="1400" i="0" u="none" strike="noStrike" kern="1200" cap="none" spc="0" normalizeH="0" baseline="0" noProof="0" dirty="0">
                <a:ln>
                  <a:noFill/>
                </a:ln>
                <a:solidFill>
                  <a:srgbClr val="4E4B57"/>
                </a:solidFill>
                <a:effectLst/>
                <a:uLnTx/>
                <a:uFillTx/>
                <a:latin typeface="Aptos"/>
                <a:ea typeface="Aptos"/>
                <a:cs typeface="Aptos"/>
              </a:rPr>
              <a:t>Zhibin Wang</a:t>
            </a:r>
            <a:r>
              <a:rPr kumimoji="0" sz="140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Rui Ning</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Chao Fang</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Zhonghui Zhang</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Xi Lin</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Shaobo Ma</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Mo Zhou</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Xue Li</a:t>
            </a:r>
            <a:r>
              <a:rPr kumimoji="0" sz="1400" b="0" i="0" u="none" strike="noStrike" kern="1200" cap="none" spc="0" normalizeH="0" baseline="30000" noProof="0" dirty="0">
                <a:ln>
                  <a:noFill/>
                </a:ln>
                <a:solidFill>
                  <a:srgbClr val="4E4B57"/>
                </a:solidFill>
                <a:effectLst/>
                <a:uLnTx/>
                <a:uFillTx/>
                <a:latin typeface="Aptos"/>
                <a:ea typeface="Aptos"/>
                <a:cs typeface="Aptos"/>
              </a:rPr>
              <a:t>2</a:t>
            </a:r>
            <a:r>
              <a:rPr kumimoji="0" sz="1400" b="0" i="0" u="none" strike="noStrike" kern="1200" cap="none" spc="0" normalizeH="0" baseline="0" noProof="0" dirty="0">
                <a:ln>
                  <a:noFill/>
                </a:ln>
                <a:solidFill>
                  <a:srgbClr val="4E4B57"/>
                </a:solidFill>
                <a:effectLst/>
                <a:uLnTx/>
                <a:uFillTx/>
                <a:latin typeface="Aptos"/>
                <a:ea typeface="Aptos"/>
                <a:cs typeface="Aptos"/>
              </a:rPr>
              <a:t>, Zhongfeng Wang</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Chengying Huan</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Rong Gu</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Kun Yang</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Guihai Chen</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Sheng Zhong</a:t>
            </a:r>
            <a:r>
              <a:rPr kumimoji="0" sz="1400" b="0" i="0" u="none" strike="noStrike" kern="1200" cap="none" spc="0" normalizeH="0" baseline="30000" noProof="0" dirty="0">
                <a:ln>
                  <a:noFill/>
                </a:ln>
                <a:solidFill>
                  <a:srgbClr val="4E4B57"/>
                </a:solidFill>
                <a:effectLst/>
                <a:uLnTx/>
                <a:uFillTx/>
                <a:latin typeface="Aptos"/>
                <a:ea typeface="Aptos"/>
                <a:cs typeface="Aptos"/>
              </a:rPr>
              <a:t>1</a:t>
            </a:r>
            <a:r>
              <a:rPr kumimoji="0" sz="1400" b="0" i="0" u="none" strike="noStrike" kern="1200" cap="none" spc="0" normalizeH="0" baseline="0" noProof="0" dirty="0">
                <a:ln>
                  <a:noFill/>
                </a:ln>
                <a:solidFill>
                  <a:srgbClr val="4E4B57"/>
                </a:solidFill>
                <a:effectLst/>
                <a:uLnTx/>
                <a:uFillTx/>
                <a:latin typeface="Aptos"/>
                <a:ea typeface="Aptos"/>
                <a:cs typeface="Aptos"/>
              </a:rPr>
              <a:t>, Chen Tian</a:t>
            </a:r>
            <a:r>
              <a:rPr kumimoji="0" sz="1400" b="0" i="0" u="none" strike="noStrike" kern="1200" cap="none" spc="0" normalizeH="0" baseline="30000" noProof="0" dirty="0">
                <a:ln>
                  <a:noFill/>
                </a:ln>
                <a:solidFill>
                  <a:srgbClr val="4E4B57"/>
                </a:solidFill>
                <a:effectLst/>
                <a:uLnTx/>
                <a:uFillTx/>
                <a:latin typeface="Aptos"/>
                <a:ea typeface="Aptos"/>
                <a:cs typeface="Aptos"/>
              </a:rPr>
              <a:t>1</a:t>
            </a:r>
          </a:p>
        </p:txBody>
      </p:sp>
      <p:sp>
        <p:nvSpPr>
          <p:cNvPr id="8" name="矩形 7"/>
          <p:cNvSpPr/>
          <p:nvPr/>
        </p:nvSpPr>
        <p:spPr>
          <a:xfrm>
            <a:off x="730959" y="3762375"/>
            <a:ext cx="4381500" cy="19050"/>
          </a:xfrm>
          <a:prstGeom prst="rect">
            <a:avLst/>
          </a:prstGeom>
          <a:solidFill>
            <a:srgbClr val="C99A2E"/>
          </a:solidFill>
          <a:ln w="0">
            <a:solidFill>
              <a:srgbClr val="000000">
                <a:alpha val="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矩形 11"/>
          <p:cNvSpPr/>
          <p:nvPr/>
        </p:nvSpPr>
        <p:spPr>
          <a:xfrm>
            <a:off x="730959" y="5102977"/>
            <a:ext cx="3349625" cy="952499"/>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675" b="0">
                <a:solidFill>
                  <a:srgbClr val="76717F"/>
                </a:solidFill>
                <a:latin typeface="Aptos"/>
                <a:ea typeface="Aptos"/>
                <a:cs typeface="Aptos"/>
              </a:defRPr>
            </a:pPr>
            <a:r>
              <a:rPr kumimoji="0" sz="2000" b="0" i="0" u="none" strike="noStrike" kern="1200" cap="none" spc="0" normalizeH="0" baseline="0" noProof="0" dirty="0">
                <a:ln>
                  <a:noFill/>
                </a:ln>
                <a:solidFill>
                  <a:srgbClr val="76717F"/>
                </a:solidFill>
                <a:effectLst/>
                <a:uLnTx/>
                <a:uFillTx/>
                <a:latin typeface="Aptos"/>
                <a:ea typeface="Aptos"/>
                <a:cs typeface="Aptos"/>
              </a:rPr>
              <a:t>SIGMOD'26 </a:t>
            </a:r>
            <a:r>
              <a:rPr lang="en-US" altLang="zh-CN" sz="2000" b="0" i="0" dirty="0">
                <a:solidFill>
                  <a:srgbClr val="333333"/>
                </a:solidFill>
                <a:effectLst/>
                <a:latin typeface="Arial" panose="020B0604020202020204" pitchFamily="34" charset="0"/>
              </a:rPr>
              <a:t>Bengaluru, India, on May 31 - June 05, 2026.</a:t>
            </a:r>
            <a:endParaRPr kumimoji="0" sz="2000" b="0" i="0" u="none" strike="noStrike" kern="1200" cap="none" spc="0" normalizeH="0" baseline="0" noProof="0" dirty="0">
              <a:ln>
                <a:noFill/>
              </a:ln>
              <a:solidFill>
                <a:srgbClr val="76717F"/>
              </a:solidFill>
              <a:effectLst/>
              <a:uLnTx/>
              <a:uFillTx/>
              <a:latin typeface="Aptos"/>
              <a:ea typeface="Aptos"/>
              <a:cs typeface="Aptos"/>
            </a:endParaRPr>
          </a:p>
        </p:txBody>
      </p:sp>
      <p:sp>
        <p:nvSpPr>
          <p:cNvPr id="18" name="Editable diagram - Before panel"/>
          <p:cNvSpPr/>
          <p:nvPr/>
        </p:nvSpPr>
        <p:spPr>
          <a:xfrm>
            <a:off x="5812576" y="2440443"/>
            <a:ext cx="2688101" cy="3221338"/>
          </a:xfrm>
          <a:prstGeom prst="roundRect">
            <a:avLst/>
          </a:prstGeom>
          <a:solidFill>
            <a:srgbClr val="FFFFFF"/>
          </a:solidFill>
          <a:ln w="14000">
            <a:solidFill>
              <a:srgbClr val="DAC9E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9" name="Editable diagram - CoDec panel"/>
          <p:cNvSpPr/>
          <p:nvPr/>
        </p:nvSpPr>
        <p:spPr>
          <a:xfrm>
            <a:off x="8926472" y="2440443"/>
            <a:ext cx="2870412" cy="3221338"/>
          </a:xfrm>
          <a:prstGeom prst="roundRect">
            <a:avLst/>
          </a:prstGeom>
          <a:solidFill>
            <a:srgbClr val="FFFFFF"/>
          </a:solidFill>
          <a:ln w="14000">
            <a:solidFill>
              <a:srgbClr val="DAC9E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 name="Editable diagram divider"/>
          <p:cNvSpPr/>
          <p:nvPr/>
        </p:nvSpPr>
        <p:spPr>
          <a:xfrm>
            <a:off x="8734425" y="2703409"/>
            <a:ext cx="1" cy="2695406"/>
          </a:xfrm>
          <a:prstGeom prst="line">
            <a:avLst/>
          </a:prstGeom>
          <a:noFill/>
          <a:ln w="9000">
            <a:solidFill>
              <a:srgbClr val="DAC9E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1" name="Before pill"/>
          <p:cNvSpPr/>
          <p:nvPr/>
        </p:nvSpPr>
        <p:spPr>
          <a:xfrm>
            <a:off x="6017104" y="2621231"/>
            <a:ext cx="759681" cy="230091"/>
          </a:xfrm>
          <a:prstGeom prst="roundRect">
            <a:avLst/>
          </a:prstGeom>
          <a:solidFill>
            <a:srgbClr val="FFF1EA"/>
          </a:solidFill>
          <a:ln w="0">
            <a:solidFill>
              <a:srgbClr val="FFF1EA"/>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FF5A1F"/>
                </a:solidFill>
                <a:effectLst/>
                <a:uLnTx/>
                <a:uFillTx/>
                <a:latin typeface="Aptos"/>
                <a:ea typeface="Aptos"/>
                <a:cs typeface="Aptos"/>
              </a:rPr>
              <a:t>Before</a:t>
            </a:r>
            <a:endParaRPr kumimoji="0" sz="1050" b="0" i="0" u="none" strike="noStrike" kern="1200" cap="none" spc="0" normalizeH="0" baseline="0" noProof="0" dirty="0">
              <a:ln>
                <a:noFill/>
              </a:ln>
              <a:solidFill>
                <a:prstClr val="black"/>
              </a:solidFill>
              <a:effectLst/>
              <a:uLnTx/>
              <a:uFillTx/>
              <a:latin typeface="Calibri"/>
              <a:ea typeface="+mn-ea"/>
              <a:cs typeface="+mn-cs"/>
            </a:endParaRPr>
          </a:p>
        </p:txBody>
      </p:sp>
      <p:sp>
        <p:nvSpPr>
          <p:cNvPr id="22" name="x4 reads"/>
          <p:cNvSpPr/>
          <p:nvPr/>
        </p:nvSpPr>
        <p:spPr>
          <a:xfrm>
            <a:off x="6601475" y="2588362"/>
            <a:ext cx="1051866" cy="230096"/>
          </a:xfrm>
          <a:prstGeom prst="rect">
            <a:avLst/>
          </a:prstGeom>
          <a:noFill/>
          <a:ln w="0">
            <a:no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50" b="1" i="0" u="none" strike="noStrike" kern="1200" cap="none" spc="0" normalizeH="0" baseline="0" noProof="0" dirty="0">
                <a:ln>
                  <a:noFill/>
                </a:ln>
                <a:solidFill>
                  <a:srgbClr val="181521"/>
                </a:solidFill>
                <a:effectLst/>
                <a:uLnTx/>
                <a:uFillTx/>
                <a:latin typeface="Aptos"/>
                <a:ea typeface="Aptos"/>
                <a:cs typeface="Aptos"/>
              </a:rPr>
              <a:t>x4 reads</a:t>
            </a:r>
            <a:endParaRPr kumimoji="0" sz="1450" b="0" i="0" u="none" strike="noStrike" kern="1200" cap="none" spc="0" normalizeH="0" baseline="0" noProof="0" dirty="0">
              <a:ln>
                <a:noFill/>
              </a:ln>
              <a:solidFill>
                <a:prstClr val="black"/>
              </a:solidFill>
              <a:effectLst/>
              <a:uLnTx/>
              <a:uFillTx/>
              <a:latin typeface="Calibri"/>
              <a:ea typeface="+mn-ea"/>
              <a:cs typeface="+mn-cs"/>
            </a:endParaRPr>
          </a:p>
        </p:txBody>
      </p:sp>
      <p:sp>
        <p:nvSpPr>
          <p:cNvPr id="23" name="CoDec pill"/>
          <p:cNvSpPr/>
          <p:nvPr/>
        </p:nvSpPr>
        <p:spPr>
          <a:xfrm>
            <a:off x="9201921" y="2621232"/>
            <a:ext cx="724618" cy="203802"/>
          </a:xfrm>
          <a:prstGeom prst="roundRect">
            <a:avLst/>
          </a:prstGeom>
          <a:solidFill>
            <a:srgbClr val="F5EDF9"/>
          </a:solidFill>
          <a:ln w="0">
            <a:solidFill>
              <a:srgbClr val="F5EDF9"/>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6D1B7B"/>
                </a:solidFill>
                <a:effectLst/>
                <a:uLnTx/>
                <a:uFillTx/>
                <a:latin typeface="Aptos"/>
                <a:ea typeface="Aptos"/>
                <a:cs typeface="Aptos"/>
              </a:rPr>
              <a:t>CoDec</a:t>
            </a:r>
            <a:endParaRPr kumimoji="0" sz="1050" b="0" i="0" u="none" strike="noStrike" kern="1200" cap="none" spc="0" normalizeH="0" baseline="0" noProof="0" dirty="0">
              <a:ln>
                <a:noFill/>
              </a:ln>
              <a:solidFill>
                <a:prstClr val="black"/>
              </a:solidFill>
              <a:effectLst/>
              <a:uLnTx/>
              <a:uFillTx/>
              <a:latin typeface="Calibri"/>
              <a:ea typeface="+mn-ea"/>
              <a:cs typeface="+mn-cs"/>
            </a:endParaRPr>
          </a:p>
        </p:txBody>
      </p:sp>
      <p:sp>
        <p:nvSpPr>
          <p:cNvPr id="24" name="x1 read"/>
          <p:cNvSpPr/>
          <p:nvPr/>
        </p:nvSpPr>
        <p:spPr>
          <a:xfrm>
            <a:off x="9786291" y="2588362"/>
            <a:ext cx="934992" cy="230096"/>
          </a:xfrm>
          <a:prstGeom prst="rect">
            <a:avLst/>
          </a:prstGeom>
          <a:noFill/>
          <a:ln w="0">
            <a:no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50" b="1" i="0" u="none" strike="noStrike" kern="1200" cap="none" spc="0" normalizeH="0" baseline="0" noProof="0" dirty="0">
                <a:ln>
                  <a:noFill/>
                </a:ln>
                <a:solidFill>
                  <a:srgbClr val="181521"/>
                </a:solidFill>
                <a:effectLst/>
                <a:uLnTx/>
                <a:uFillTx/>
                <a:latin typeface="Aptos"/>
                <a:ea typeface="Aptos"/>
                <a:cs typeface="Aptos"/>
              </a:rPr>
              <a:t>x1 read</a:t>
            </a:r>
            <a:endParaRPr kumimoji="0" sz="1450" b="0" i="0" u="none" strike="noStrike" kern="1200" cap="none" spc="0" normalizeH="0" baseline="0" noProof="0" dirty="0">
              <a:ln>
                <a:noFill/>
              </a:ln>
              <a:solidFill>
                <a:prstClr val="black"/>
              </a:solidFill>
              <a:effectLst/>
              <a:uLnTx/>
              <a:uFillTx/>
              <a:latin typeface="Calibri"/>
              <a:ea typeface="+mn-ea"/>
              <a:cs typeface="+mn-cs"/>
            </a:endParaRPr>
          </a:p>
        </p:txBody>
      </p:sp>
      <p:sp>
        <p:nvSpPr>
          <p:cNvPr id="25" name="Before Q1 box"/>
          <p:cNvSpPr/>
          <p:nvPr/>
        </p:nvSpPr>
        <p:spPr>
          <a:xfrm>
            <a:off x="6075542" y="3163601"/>
            <a:ext cx="467496" cy="256392"/>
          </a:xfrm>
          <a:prstGeom prst="roundRect">
            <a:avLst/>
          </a:prstGeom>
          <a:solidFill>
            <a:srgbClr val="FFFFFF"/>
          </a:solidFill>
          <a:ln w="10000">
            <a:solidFill>
              <a:srgbClr val="6D1B7B"/>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60" b="1" i="0" u="none" strike="noStrike" kern="1200" cap="none" spc="0" normalizeH="0" baseline="0" noProof="0" dirty="0">
                <a:ln>
                  <a:noFill/>
                </a:ln>
                <a:solidFill>
                  <a:srgbClr val="181521"/>
                </a:solidFill>
                <a:effectLst/>
                <a:uLnTx/>
                <a:uFillTx/>
                <a:latin typeface="Aptos"/>
                <a:ea typeface="Aptos"/>
                <a:cs typeface="Aptos"/>
              </a:rPr>
              <a:t>  Q1</a:t>
            </a:r>
            <a:endParaRPr kumimoji="0" sz="760" b="0" i="0" u="none" strike="noStrike" kern="1200" cap="none" spc="0" normalizeH="0" baseline="0" noProof="0" dirty="0">
              <a:ln>
                <a:noFill/>
              </a:ln>
              <a:solidFill>
                <a:prstClr val="black"/>
              </a:solidFill>
              <a:effectLst/>
              <a:uLnTx/>
              <a:uFillTx/>
              <a:latin typeface="Calibri"/>
              <a:ea typeface="+mn-ea"/>
              <a:cs typeface="+mn-cs"/>
            </a:endParaRPr>
          </a:p>
        </p:txBody>
      </p:sp>
      <p:sp>
        <p:nvSpPr>
          <p:cNvPr id="26" name="Before Q1 color"/>
          <p:cNvSpPr/>
          <p:nvPr/>
        </p:nvSpPr>
        <p:spPr>
          <a:xfrm>
            <a:off x="6106354" y="3211479"/>
            <a:ext cx="116874" cy="131483"/>
          </a:xfrm>
          <a:prstGeom prst="roundRect">
            <a:avLst/>
          </a:prstGeom>
          <a:solidFill>
            <a:srgbClr val="6D1B7B"/>
          </a:solidFill>
          <a:ln w="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7" name="Before Q1 arrow"/>
          <p:cNvSpPr/>
          <p:nvPr/>
        </p:nvSpPr>
        <p:spPr>
          <a:xfrm>
            <a:off x="6613163" y="3291797"/>
            <a:ext cx="298029" cy="1"/>
          </a:xfrm>
          <a:prstGeom prst="line">
            <a:avLst/>
          </a:prstGeom>
          <a:noFill/>
          <a:ln w="14000">
            <a:solidFill>
              <a:srgbClr val="FF5A1F"/>
            </a:solidFill>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8" name="Before KV1"/>
          <p:cNvSpPr/>
          <p:nvPr/>
        </p:nvSpPr>
        <p:spPr>
          <a:xfrm>
            <a:off x="7010535" y="3163600"/>
            <a:ext cx="987586" cy="262947"/>
          </a:xfrm>
          <a:prstGeom prst="roundRect">
            <a:avLst/>
          </a:prstGeom>
          <a:solidFill>
            <a:srgbClr val="FFFFFF"/>
          </a:solidFill>
          <a:ln w="1000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9" name="Before KV1 token 1"/>
          <p:cNvSpPr/>
          <p:nvPr/>
        </p:nvSpPr>
        <p:spPr>
          <a:xfrm>
            <a:off x="7098190" y="3219481"/>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0" name="Before KV1 token 2"/>
          <p:cNvSpPr/>
          <p:nvPr/>
        </p:nvSpPr>
        <p:spPr>
          <a:xfrm>
            <a:off x="7212142" y="3219481"/>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1" name="Before KV1 token 3"/>
          <p:cNvSpPr/>
          <p:nvPr/>
        </p:nvSpPr>
        <p:spPr>
          <a:xfrm>
            <a:off x="7326094" y="3219481"/>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2" name="Before KV1 token 4"/>
          <p:cNvSpPr/>
          <p:nvPr/>
        </p:nvSpPr>
        <p:spPr>
          <a:xfrm>
            <a:off x="7440046" y="3219481"/>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3" name="Before KV1 token 5"/>
          <p:cNvSpPr/>
          <p:nvPr/>
        </p:nvSpPr>
        <p:spPr>
          <a:xfrm>
            <a:off x="7553998" y="3219481"/>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4" name="Before KV1 token 6"/>
          <p:cNvSpPr/>
          <p:nvPr/>
        </p:nvSpPr>
        <p:spPr>
          <a:xfrm>
            <a:off x="7667950" y="3219481"/>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5" name="Before KV1 token 7"/>
          <p:cNvSpPr/>
          <p:nvPr/>
        </p:nvSpPr>
        <p:spPr>
          <a:xfrm>
            <a:off x="7781902" y="3219481"/>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6" name="Before KV1 token 8"/>
          <p:cNvSpPr/>
          <p:nvPr/>
        </p:nvSpPr>
        <p:spPr>
          <a:xfrm>
            <a:off x="7895854" y="3219481"/>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7" name="Before Q2 box"/>
          <p:cNvSpPr/>
          <p:nvPr/>
        </p:nvSpPr>
        <p:spPr>
          <a:xfrm>
            <a:off x="6075542" y="3821017"/>
            <a:ext cx="467496" cy="256392"/>
          </a:xfrm>
          <a:prstGeom prst="roundRect">
            <a:avLst/>
          </a:prstGeom>
          <a:solidFill>
            <a:srgbClr val="FFFFFF"/>
          </a:solidFill>
          <a:ln w="10000">
            <a:solidFill>
              <a:srgbClr val="3A77AC"/>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60" b="1" i="0" u="none" strike="noStrike" kern="1200" cap="none" spc="0" normalizeH="0" baseline="0" noProof="0" dirty="0">
                <a:ln>
                  <a:noFill/>
                </a:ln>
                <a:solidFill>
                  <a:srgbClr val="181521"/>
                </a:solidFill>
                <a:effectLst/>
                <a:uLnTx/>
                <a:uFillTx/>
                <a:latin typeface="Aptos"/>
                <a:ea typeface="Aptos"/>
                <a:cs typeface="Aptos"/>
              </a:rPr>
              <a:t>  Q2</a:t>
            </a:r>
            <a:endParaRPr kumimoji="0" sz="760" b="0" i="0" u="none" strike="noStrike" kern="1200" cap="none" spc="0" normalizeH="0" baseline="0" noProof="0" dirty="0">
              <a:ln>
                <a:noFill/>
              </a:ln>
              <a:solidFill>
                <a:prstClr val="black"/>
              </a:solidFill>
              <a:effectLst/>
              <a:uLnTx/>
              <a:uFillTx/>
              <a:latin typeface="Calibri"/>
              <a:ea typeface="+mn-ea"/>
              <a:cs typeface="+mn-cs"/>
            </a:endParaRPr>
          </a:p>
        </p:txBody>
      </p:sp>
      <p:sp>
        <p:nvSpPr>
          <p:cNvPr id="38" name="Before Q2 color"/>
          <p:cNvSpPr/>
          <p:nvPr/>
        </p:nvSpPr>
        <p:spPr>
          <a:xfrm>
            <a:off x="6106354" y="3868895"/>
            <a:ext cx="116874" cy="131483"/>
          </a:xfrm>
          <a:prstGeom prst="roundRect">
            <a:avLst/>
          </a:prstGeom>
          <a:solidFill>
            <a:srgbClr val="3A77AC"/>
          </a:solidFill>
          <a:ln w="0">
            <a:solidFill>
              <a:srgbClr val="3A77A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9" name="Before Q2 arrow"/>
          <p:cNvSpPr/>
          <p:nvPr/>
        </p:nvSpPr>
        <p:spPr>
          <a:xfrm>
            <a:off x="6613163" y="3949213"/>
            <a:ext cx="298029" cy="1"/>
          </a:xfrm>
          <a:prstGeom prst="line">
            <a:avLst/>
          </a:prstGeom>
          <a:noFill/>
          <a:ln w="14000">
            <a:solidFill>
              <a:srgbClr val="FF5A1F"/>
            </a:solidFill>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0" name="Before KV2"/>
          <p:cNvSpPr/>
          <p:nvPr/>
        </p:nvSpPr>
        <p:spPr>
          <a:xfrm>
            <a:off x="7010535" y="3821016"/>
            <a:ext cx="987586" cy="262947"/>
          </a:xfrm>
          <a:prstGeom prst="roundRect">
            <a:avLst/>
          </a:prstGeom>
          <a:solidFill>
            <a:srgbClr val="FFFFFF"/>
          </a:solidFill>
          <a:ln w="1000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1" name="Before KV2 token 1"/>
          <p:cNvSpPr/>
          <p:nvPr/>
        </p:nvSpPr>
        <p:spPr>
          <a:xfrm>
            <a:off x="7098190" y="3876897"/>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2" name="Before KV2 token 2"/>
          <p:cNvSpPr/>
          <p:nvPr/>
        </p:nvSpPr>
        <p:spPr>
          <a:xfrm>
            <a:off x="7212142" y="3876897"/>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3" name="Before KV2 token 3"/>
          <p:cNvSpPr/>
          <p:nvPr/>
        </p:nvSpPr>
        <p:spPr>
          <a:xfrm>
            <a:off x="7326094" y="3876897"/>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4" name="Before KV2 token 4"/>
          <p:cNvSpPr/>
          <p:nvPr/>
        </p:nvSpPr>
        <p:spPr>
          <a:xfrm>
            <a:off x="7440046" y="3876897"/>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5" name="Before KV2 token 5"/>
          <p:cNvSpPr/>
          <p:nvPr/>
        </p:nvSpPr>
        <p:spPr>
          <a:xfrm>
            <a:off x="7553998" y="3876897"/>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6" name="Before KV2 token 6"/>
          <p:cNvSpPr/>
          <p:nvPr/>
        </p:nvSpPr>
        <p:spPr>
          <a:xfrm>
            <a:off x="7667950" y="3876897"/>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7" name="Before KV2 token 7"/>
          <p:cNvSpPr/>
          <p:nvPr/>
        </p:nvSpPr>
        <p:spPr>
          <a:xfrm>
            <a:off x="7781902" y="3876897"/>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8" name="Before KV2 token 8"/>
          <p:cNvSpPr/>
          <p:nvPr/>
        </p:nvSpPr>
        <p:spPr>
          <a:xfrm>
            <a:off x="7895854" y="3876897"/>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9" name="Before Q3 box"/>
          <p:cNvSpPr/>
          <p:nvPr/>
        </p:nvSpPr>
        <p:spPr>
          <a:xfrm>
            <a:off x="6075542" y="4478433"/>
            <a:ext cx="467496" cy="256392"/>
          </a:xfrm>
          <a:prstGeom prst="roundRect">
            <a:avLst/>
          </a:prstGeom>
          <a:solidFill>
            <a:srgbClr val="FFFFFF"/>
          </a:solidFill>
          <a:ln w="10000">
            <a:solidFill>
              <a:srgbClr val="248A5A"/>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60" b="1" i="0" u="none" strike="noStrike" kern="1200" cap="none" spc="0" normalizeH="0" baseline="0" noProof="0" dirty="0">
                <a:ln>
                  <a:noFill/>
                </a:ln>
                <a:solidFill>
                  <a:srgbClr val="181521"/>
                </a:solidFill>
                <a:effectLst/>
                <a:uLnTx/>
                <a:uFillTx/>
                <a:latin typeface="Aptos"/>
                <a:ea typeface="Aptos"/>
                <a:cs typeface="Aptos"/>
              </a:rPr>
              <a:t>  Q3</a:t>
            </a:r>
            <a:endParaRPr kumimoji="0" sz="760" b="0" i="0" u="none" strike="noStrike" kern="1200" cap="none" spc="0" normalizeH="0" baseline="0" noProof="0" dirty="0">
              <a:ln>
                <a:noFill/>
              </a:ln>
              <a:solidFill>
                <a:prstClr val="black"/>
              </a:solidFill>
              <a:effectLst/>
              <a:uLnTx/>
              <a:uFillTx/>
              <a:latin typeface="Calibri"/>
              <a:ea typeface="+mn-ea"/>
              <a:cs typeface="+mn-cs"/>
            </a:endParaRPr>
          </a:p>
        </p:txBody>
      </p:sp>
      <p:sp>
        <p:nvSpPr>
          <p:cNvPr id="50" name="Before Q3 color"/>
          <p:cNvSpPr/>
          <p:nvPr/>
        </p:nvSpPr>
        <p:spPr>
          <a:xfrm>
            <a:off x="6106354" y="4526311"/>
            <a:ext cx="116874" cy="131483"/>
          </a:xfrm>
          <a:prstGeom prst="roundRect">
            <a:avLst/>
          </a:prstGeom>
          <a:solidFill>
            <a:srgbClr val="248A5A"/>
          </a:solidFill>
          <a:ln w="0">
            <a:solidFill>
              <a:srgbClr val="248A5A"/>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1" name="Before Q3 arrow"/>
          <p:cNvSpPr/>
          <p:nvPr/>
        </p:nvSpPr>
        <p:spPr>
          <a:xfrm>
            <a:off x="6613163" y="4606629"/>
            <a:ext cx="298029" cy="1"/>
          </a:xfrm>
          <a:prstGeom prst="line">
            <a:avLst/>
          </a:prstGeom>
          <a:noFill/>
          <a:ln w="14000">
            <a:solidFill>
              <a:srgbClr val="FF5A1F"/>
            </a:solidFill>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2" name="Before KV3"/>
          <p:cNvSpPr/>
          <p:nvPr/>
        </p:nvSpPr>
        <p:spPr>
          <a:xfrm>
            <a:off x="7010535" y="4478432"/>
            <a:ext cx="987586" cy="262947"/>
          </a:xfrm>
          <a:prstGeom prst="roundRect">
            <a:avLst/>
          </a:prstGeom>
          <a:solidFill>
            <a:srgbClr val="FFFFFF"/>
          </a:solidFill>
          <a:ln w="1000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3" name="Before KV3 token 1"/>
          <p:cNvSpPr/>
          <p:nvPr/>
        </p:nvSpPr>
        <p:spPr>
          <a:xfrm>
            <a:off x="7098190" y="4534313"/>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4" name="Before KV3 token 2"/>
          <p:cNvSpPr/>
          <p:nvPr/>
        </p:nvSpPr>
        <p:spPr>
          <a:xfrm>
            <a:off x="7212142" y="4534313"/>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5" name="Before KV3 token 3"/>
          <p:cNvSpPr/>
          <p:nvPr/>
        </p:nvSpPr>
        <p:spPr>
          <a:xfrm>
            <a:off x="7326094" y="4534313"/>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6" name="Before KV3 token 4"/>
          <p:cNvSpPr/>
          <p:nvPr/>
        </p:nvSpPr>
        <p:spPr>
          <a:xfrm>
            <a:off x="7440046" y="4534313"/>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7" name="Before KV3 token 5"/>
          <p:cNvSpPr/>
          <p:nvPr/>
        </p:nvSpPr>
        <p:spPr>
          <a:xfrm>
            <a:off x="7553998" y="4534313"/>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8" name="Before KV3 token 6"/>
          <p:cNvSpPr/>
          <p:nvPr/>
        </p:nvSpPr>
        <p:spPr>
          <a:xfrm>
            <a:off x="7667950" y="4534313"/>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9" name="Before KV3 token 7"/>
          <p:cNvSpPr/>
          <p:nvPr/>
        </p:nvSpPr>
        <p:spPr>
          <a:xfrm>
            <a:off x="7781902" y="4534313"/>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0" name="Before KV3 token 8"/>
          <p:cNvSpPr/>
          <p:nvPr/>
        </p:nvSpPr>
        <p:spPr>
          <a:xfrm>
            <a:off x="7895854" y="4534313"/>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1" name="Before Q4 box"/>
          <p:cNvSpPr/>
          <p:nvPr/>
        </p:nvSpPr>
        <p:spPr>
          <a:xfrm>
            <a:off x="6075542" y="5135849"/>
            <a:ext cx="467496" cy="256392"/>
          </a:xfrm>
          <a:prstGeom prst="roundRect">
            <a:avLst/>
          </a:prstGeom>
          <a:solidFill>
            <a:srgbClr val="FFFFFF"/>
          </a:solidFill>
          <a:ln w="10000">
            <a:solidFill>
              <a:srgbClr val="D744A1"/>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60" b="1" i="0" u="none" strike="noStrike" kern="1200" cap="none" spc="0" normalizeH="0" baseline="0" noProof="0" dirty="0">
                <a:ln>
                  <a:noFill/>
                </a:ln>
                <a:solidFill>
                  <a:srgbClr val="181521"/>
                </a:solidFill>
                <a:effectLst/>
                <a:uLnTx/>
                <a:uFillTx/>
                <a:latin typeface="Aptos"/>
                <a:ea typeface="Aptos"/>
                <a:cs typeface="Aptos"/>
              </a:rPr>
              <a:t>  Q4</a:t>
            </a:r>
            <a:endParaRPr kumimoji="0" sz="760" b="0" i="0" u="none" strike="noStrike" kern="1200" cap="none" spc="0" normalizeH="0" baseline="0" noProof="0" dirty="0">
              <a:ln>
                <a:noFill/>
              </a:ln>
              <a:solidFill>
                <a:prstClr val="black"/>
              </a:solidFill>
              <a:effectLst/>
              <a:uLnTx/>
              <a:uFillTx/>
              <a:latin typeface="Calibri"/>
              <a:ea typeface="+mn-ea"/>
              <a:cs typeface="+mn-cs"/>
            </a:endParaRPr>
          </a:p>
        </p:txBody>
      </p:sp>
      <p:sp>
        <p:nvSpPr>
          <p:cNvPr id="62" name="Before Q4 color"/>
          <p:cNvSpPr/>
          <p:nvPr/>
        </p:nvSpPr>
        <p:spPr>
          <a:xfrm>
            <a:off x="6106354" y="5183727"/>
            <a:ext cx="116874" cy="131483"/>
          </a:xfrm>
          <a:prstGeom prst="roundRect">
            <a:avLst/>
          </a:prstGeom>
          <a:solidFill>
            <a:srgbClr val="D744A1"/>
          </a:solidFill>
          <a:ln w="0">
            <a:solidFill>
              <a:srgbClr val="D744A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3" name="Before Q4 arrow"/>
          <p:cNvSpPr/>
          <p:nvPr/>
        </p:nvSpPr>
        <p:spPr>
          <a:xfrm>
            <a:off x="6613163" y="5264045"/>
            <a:ext cx="298029" cy="1"/>
          </a:xfrm>
          <a:prstGeom prst="line">
            <a:avLst/>
          </a:prstGeom>
          <a:noFill/>
          <a:ln w="14000">
            <a:solidFill>
              <a:srgbClr val="FF5A1F"/>
            </a:solidFill>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4" name="Before KV4"/>
          <p:cNvSpPr/>
          <p:nvPr/>
        </p:nvSpPr>
        <p:spPr>
          <a:xfrm>
            <a:off x="7010535" y="5135848"/>
            <a:ext cx="987586" cy="262947"/>
          </a:xfrm>
          <a:prstGeom prst="roundRect">
            <a:avLst/>
          </a:prstGeom>
          <a:solidFill>
            <a:srgbClr val="FFFFFF"/>
          </a:solidFill>
          <a:ln w="1000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5" name="Before KV4 token 1"/>
          <p:cNvSpPr/>
          <p:nvPr/>
        </p:nvSpPr>
        <p:spPr>
          <a:xfrm>
            <a:off x="7098190" y="5191729"/>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6" name="Before KV4 token 2"/>
          <p:cNvSpPr/>
          <p:nvPr/>
        </p:nvSpPr>
        <p:spPr>
          <a:xfrm>
            <a:off x="7212142" y="5191729"/>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7" name="Before KV4 token 3"/>
          <p:cNvSpPr/>
          <p:nvPr/>
        </p:nvSpPr>
        <p:spPr>
          <a:xfrm>
            <a:off x="7326094" y="5191729"/>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8" name="Before KV4 token 4"/>
          <p:cNvSpPr/>
          <p:nvPr/>
        </p:nvSpPr>
        <p:spPr>
          <a:xfrm>
            <a:off x="7440046" y="5191729"/>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9" name="Before KV4 token 5"/>
          <p:cNvSpPr/>
          <p:nvPr/>
        </p:nvSpPr>
        <p:spPr>
          <a:xfrm>
            <a:off x="7553998" y="5191729"/>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0" name="Before KV4 token 6"/>
          <p:cNvSpPr/>
          <p:nvPr/>
        </p:nvSpPr>
        <p:spPr>
          <a:xfrm>
            <a:off x="7667950" y="5191729"/>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1" name="Before KV4 token 7"/>
          <p:cNvSpPr/>
          <p:nvPr/>
        </p:nvSpPr>
        <p:spPr>
          <a:xfrm>
            <a:off x="7781902" y="5191729"/>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2" name="Before KV4 token 8"/>
          <p:cNvSpPr/>
          <p:nvPr/>
        </p:nvSpPr>
        <p:spPr>
          <a:xfrm>
            <a:off x="7895854" y="5191729"/>
            <a:ext cx="64281" cy="144632"/>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3" name="x4 bracket"/>
          <p:cNvSpPr/>
          <p:nvPr/>
        </p:nvSpPr>
        <p:spPr>
          <a:xfrm>
            <a:off x="8179274" y="3459438"/>
            <a:ext cx="204529" cy="1643540"/>
          </a:xfrm>
          <a:prstGeom prst="roundRect">
            <a:avLst/>
          </a:prstGeom>
          <a:solidFill>
            <a:srgbClr val="FFF4EE"/>
          </a:solidFill>
          <a:ln w="9000">
            <a:solidFill>
              <a:srgbClr val="FF5A1F"/>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4" name="x4 marker"/>
          <p:cNvSpPr/>
          <p:nvPr/>
        </p:nvSpPr>
        <p:spPr>
          <a:xfrm>
            <a:off x="8084978" y="4142586"/>
            <a:ext cx="409059" cy="230096"/>
          </a:xfrm>
          <a:prstGeom prst="rect">
            <a:avLst/>
          </a:prstGeom>
          <a:noFill/>
          <a:ln w="0">
            <a:no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5A1F"/>
                </a:solidFill>
                <a:effectLst/>
                <a:uLnTx/>
                <a:uFillTx/>
                <a:latin typeface="Aptos"/>
                <a:ea typeface="Aptos"/>
                <a:cs typeface="Aptos"/>
              </a:rPr>
              <a:t>x4</a:t>
            </a:r>
            <a:endParaRPr kumimoji="0"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5" name="CoDec Q1 box"/>
          <p:cNvSpPr/>
          <p:nvPr/>
        </p:nvSpPr>
        <p:spPr>
          <a:xfrm>
            <a:off x="9231139" y="3163601"/>
            <a:ext cx="467496" cy="256392"/>
          </a:xfrm>
          <a:prstGeom prst="roundRect">
            <a:avLst/>
          </a:prstGeom>
          <a:solidFill>
            <a:srgbClr val="FFFFFF"/>
          </a:solidFill>
          <a:ln w="10000">
            <a:solidFill>
              <a:srgbClr val="6D1B7B"/>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60" b="1" i="0" u="none" strike="noStrike" kern="1200" cap="none" spc="0" normalizeH="0" baseline="0" noProof="0" dirty="0">
                <a:ln>
                  <a:noFill/>
                </a:ln>
                <a:solidFill>
                  <a:srgbClr val="181521"/>
                </a:solidFill>
                <a:effectLst/>
                <a:uLnTx/>
                <a:uFillTx/>
                <a:latin typeface="Aptos"/>
                <a:ea typeface="Aptos"/>
                <a:cs typeface="Aptos"/>
              </a:rPr>
              <a:t>  Q1</a:t>
            </a:r>
            <a:endParaRPr kumimoji="0" sz="760" b="0" i="0" u="none" strike="noStrike" kern="1200" cap="none" spc="0" normalizeH="0" baseline="0" noProof="0" dirty="0">
              <a:ln>
                <a:noFill/>
              </a:ln>
              <a:solidFill>
                <a:prstClr val="black"/>
              </a:solidFill>
              <a:effectLst/>
              <a:uLnTx/>
              <a:uFillTx/>
              <a:latin typeface="Calibri"/>
              <a:ea typeface="+mn-ea"/>
              <a:cs typeface="+mn-cs"/>
            </a:endParaRPr>
          </a:p>
        </p:txBody>
      </p:sp>
      <p:sp>
        <p:nvSpPr>
          <p:cNvPr id="76" name="CoDec Q1 color"/>
          <p:cNvSpPr/>
          <p:nvPr/>
        </p:nvSpPr>
        <p:spPr>
          <a:xfrm>
            <a:off x="9284529" y="3211479"/>
            <a:ext cx="116874" cy="131483"/>
          </a:xfrm>
          <a:prstGeom prst="roundRect">
            <a:avLst/>
          </a:prstGeom>
          <a:solidFill>
            <a:srgbClr val="6D1B7B"/>
          </a:solidFill>
          <a:ln w="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7" name="CoDec Q1 branch"/>
          <p:cNvSpPr/>
          <p:nvPr/>
        </p:nvSpPr>
        <p:spPr>
          <a:xfrm>
            <a:off x="9698635" y="3291797"/>
            <a:ext cx="227904" cy="1"/>
          </a:xfrm>
          <a:prstGeom prst="line">
            <a:avLst/>
          </a:prstGeom>
          <a:noFill/>
          <a:ln w="9000">
            <a:solidFill>
              <a:srgbClr val="C7C0CF"/>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8" name="CoDec Q2 box"/>
          <p:cNvSpPr/>
          <p:nvPr/>
        </p:nvSpPr>
        <p:spPr>
          <a:xfrm>
            <a:off x="9231139" y="3821017"/>
            <a:ext cx="467496" cy="256392"/>
          </a:xfrm>
          <a:prstGeom prst="roundRect">
            <a:avLst/>
          </a:prstGeom>
          <a:solidFill>
            <a:srgbClr val="FFFFFF"/>
          </a:solidFill>
          <a:ln w="10000">
            <a:solidFill>
              <a:srgbClr val="3A77AC"/>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60" b="1" i="0" u="none" strike="noStrike" kern="1200" cap="none" spc="0" normalizeH="0" baseline="0" noProof="0" dirty="0">
                <a:ln>
                  <a:noFill/>
                </a:ln>
                <a:solidFill>
                  <a:srgbClr val="181521"/>
                </a:solidFill>
                <a:effectLst/>
                <a:uLnTx/>
                <a:uFillTx/>
                <a:latin typeface="Aptos"/>
                <a:ea typeface="Aptos"/>
                <a:cs typeface="Aptos"/>
              </a:rPr>
              <a:t>  Q2</a:t>
            </a:r>
            <a:endParaRPr kumimoji="0" sz="760" b="0" i="0" u="none" strike="noStrike" kern="1200" cap="none" spc="0" normalizeH="0" baseline="0" noProof="0" dirty="0">
              <a:ln>
                <a:noFill/>
              </a:ln>
              <a:solidFill>
                <a:prstClr val="black"/>
              </a:solidFill>
              <a:effectLst/>
              <a:uLnTx/>
              <a:uFillTx/>
              <a:latin typeface="Calibri"/>
              <a:ea typeface="+mn-ea"/>
              <a:cs typeface="+mn-cs"/>
            </a:endParaRPr>
          </a:p>
        </p:txBody>
      </p:sp>
      <p:sp>
        <p:nvSpPr>
          <p:cNvPr id="79" name="CoDec Q2 color"/>
          <p:cNvSpPr/>
          <p:nvPr/>
        </p:nvSpPr>
        <p:spPr>
          <a:xfrm>
            <a:off x="9284529" y="3868895"/>
            <a:ext cx="116874" cy="131483"/>
          </a:xfrm>
          <a:prstGeom prst="roundRect">
            <a:avLst/>
          </a:prstGeom>
          <a:solidFill>
            <a:srgbClr val="3A77AC"/>
          </a:solidFill>
          <a:ln w="0">
            <a:solidFill>
              <a:srgbClr val="3A77A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0" name="CoDec Q2 branch"/>
          <p:cNvSpPr/>
          <p:nvPr/>
        </p:nvSpPr>
        <p:spPr>
          <a:xfrm>
            <a:off x="9698635" y="3949213"/>
            <a:ext cx="227904" cy="1"/>
          </a:xfrm>
          <a:prstGeom prst="line">
            <a:avLst/>
          </a:prstGeom>
          <a:noFill/>
          <a:ln w="9000">
            <a:solidFill>
              <a:srgbClr val="C7C0CF"/>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1" name="CoDec Q3 box"/>
          <p:cNvSpPr/>
          <p:nvPr/>
        </p:nvSpPr>
        <p:spPr>
          <a:xfrm>
            <a:off x="9231139" y="4478433"/>
            <a:ext cx="467496" cy="256392"/>
          </a:xfrm>
          <a:prstGeom prst="roundRect">
            <a:avLst/>
          </a:prstGeom>
          <a:solidFill>
            <a:srgbClr val="FFFFFF"/>
          </a:solidFill>
          <a:ln w="10000">
            <a:solidFill>
              <a:srgbClr val="248A5A"/>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60" b="1" i="0" u="none" strike="noStrike" kern="1200" cap="none" spc="0" normalizeH="0" baseline="0" noProof="0" dirty="0">
                <a:ln>
                  <a:noFill/>
                </a:ln>
                <a:solidFill>
                  <a:srgbClr val="181521"/>
                </a:solidFill>
                <a:effectLst/>
                <a:uLnTx/>
                <a:uFillTx/>
                <a:latin typeface="Aptos"/>
                <a:ea typeface="Aptos"/>
                <a:cs typeface="Aptos"/>
              </a:rPr>
              <a:t>  Q3</a:t>
            </a:r>
            <a:endParaRPr kumimoji="0" sz="760" b="0" i="0" u="none" strike="noStrike" kern="1200" cap="none" spc="0" normalizeH="0" baseline="0" noProof="0" dirty="0">
              <a:ln>
                <a:noFill/>
              </a:ln>
              <a:solidFill>
                <a:prstClr val="black"/>
              </a:solidFill>
              <a:effectLst/>
              <a:uLnTx/>
              <a:uFillTx/>
              <a:latin typeface="Calibri"/>
              <a:ea typeface="+mn-ea"/>
              <a:cs typeface="+mn-cs"/>
            </a:endParaRPr>
          </a:p>
        </p:txBody>
      </p:sp>
      <p:sp>
        <p:nvSpPr>
          <p:cNvPr id="82" name="CoDec Q3 color"/>
          <p:cNvSpPr/>
          <p:nvPr/>
        </p:nvSpPr>
        <p:spPr>
          <a:xfrm>
            <a:off x="9284529" y="4526311"/>
            <a:ext cx="116874" cy="131483"/>
          </a:xfrm>
          <a:prstGeom prst="roundRect">
            <a:avLst/>
          </a:prstGeom>
          <a:solidFill>
            <a:srgbClr val="248A5A"/>
          </a:solidFill>
          <a:ln w="0">
            <a:solidFill>
              <a:srgbClr val="248A5A"/>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3" name="CoDec Q3 branch"/>
          <p:cNvSpPr/>
          <p:nvPr/>
        </p:nvSpPr>
        <p:spPr>
          <a:xfrm>
            <a:off x="9698635" y="4606629"/>
            <a:ext cx="227904" cy="1"/>
          </a:xfrm>
          <a:prstGeom prst="line">
            <a:avLst/>
          </a:prstGeom>
          <a:noFill/>
          <a:ln w="9000">
            <a:solidFill>
              <a:srgbClr val="C7C0CF"/>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4" name="CoDec Q4 box"/>
          <p:cNvSpPr/>
          <p:nvPr/>
        </p:nvSpPr>
        <p:spPr>
          <a:xfrm>
            <a:off x="9231139" y="5135849"/>
            <a:ext cx="467496" cy="256392"/>
          </a:xfrm>
          <a:prstGeom prst="roundRect">
            <a:avLst/>
          </a:prstGeom>
          <a:solidFill>
            <a:srgbClr val="FFFFFF"/>
          </a:solidFill>
          <a:ln w="10000">
            <a:solidFill>
              <a:srgbClr val="D744A1"/>
            </a:solid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60" b="1" i="0" u="none" strike="noStrike" kern="1200" cap="none" spc="0" normalizeH="0" baseline="0" noProof="0" dirty="0">
                <a:ln>
                  <a:noFill/>
                </a:ln>
                <a:solidFill>
                  <a:srgbClr val="181521"/>
                </a:solidFill>
                <a:effectLst/>
                <a:uLnTx/>
                <a:uFillTx/>
                <a:latin typeface="Aptos"/>
                <a:ea typeface="Aptos"/>
                <a:cs typeface="Aptos"/>
              </a:rPr>
              <a:t>  Q4</a:t>
            </a:r>
            <a:endParaRPr kumimoji="0" sz="760" b="0" i="0" u="none" strike="noStrike" kern="1200" cap="none" spc="0" normalizeH="0" baseline="0" noProof="0" dirty="0">
              <a:ln>
                <a:noFill/>
              </a:ln>
              <a:solidFill>
                <a:prstClr val="black"/>
              </a:solidFill>
              <a:effectLst/>
              <a:uLnTx/>
              <a:uFillTx/>
              <a:latin typeface="Calibri"/>
              <a:ea typeface="+mn-ea"/>
              <a:cs typeface="+mn-cs"/>
            </a:endParaRPr>
          </a:p>
        </p:txBody>
      </p:sp>
      <p:sp>
        <p:nvSpPr>
          <p:cNvPr id="85" name="CoDec Q4 color"/>
          <p:cNvSpPr/>
          <p:nvPr/>
        </p:nvSpPr>
        <p:spPr>
          <a:xfrm>
            <a:off x="9284529" y="5183727"/>
            <a:ext cx="116874" cy="131483"/>
          </a:xfrm>
          <a:prstGeom prst="roundRect">
            <a:avLst/>
          </a:prstGeom>
          <a:solidFill>
            <a:srgbClr val="D744A1"/>
          </a:solidFill>
          <a:ln w="0">
            <a:solidFill>
              <a:srgbClr val="D744A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6" name="CoDec Q4 branch"/>
          <p:cNvSpPr/>
          <p:nvPr/>
        </p:nvSpPr>
        <p:spPr>
          <a:xfrm>
            <a:off x="9698635" y="5264045"/>
            <a:ext cx="227904" cy="1"/>
          </a:xfrm>
          <a:prstGeom prst="line">
            <a:avLst/>
          </a:prstGeom>
          <a:noFill/>
          <a:ln w="9000">
            <a:solidFill>
              <a:srgbClr val="C7C0CF"/>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7" name="CoDec tree trunk"/>
          <p:cNvSpPr/>
          <p:nvPr/>
        </p:nvSpPr>
        <p:spPr>
          <a:xfrm>
            <a:off x="9926539" y="3291797"/>
            <a:ext cx="1" cy="1972248"/>
          </a:xfrm>
          <a:prstGeom prst="line">
            <a:avLst/>
          </a:prstGeom>
          <a:noFill/>
          <a:ln w="9000">
            <a:solidFill>
              <a:srgbClr val="C7C0CF"/>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8" name="CoDec to KV"/>
          <p:cNvSpPr/>
          <p:nvPr/>
        </p:nvSpPr>
        <p:spPr>
          <a:xfrm>
            <a:off x="9926539" y="4248337"/>
            <a:ext cx="227904" cy="1"/>
          </a:xfrm>
          <a:prstGeom prst="line">
            <a:avLst/>
          </a:prstGeom>
          <a:noFill/>
          <a:ln w="9000">
            <a:solidFill>
              <a:srgbClr val="C7C0CF"/>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9" name="CoDec shared KV"/>
          <p:cNvSpPr/>
          <p:nvPr/>
        </p:nvSpPr>
        <p:spPr>
          <a:xfrm>
            <a:off x="10151521" y="4082635"/>
            <a:ext cx="934992" cy="345143"/>
          </a:xfrm>
          <a:prstGeom prst="roundRect">
            <a:avLst/>
          </a:prstGeom>
          <a:solidFill>
            <a:srgbClr val="FFFFFF"/>
          </a:solidFill>
          <a:ln w="1000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0" name="CoDec KV token 1"/>
          <p:cNvSpPr/>
          <p:nvPr/>
        </p:nvSpPr>
        <p:spPr>
          <a:xfrm>
            <a:off x="10250863" y="4174673"/>
            <a:ext cx="58437" cy="157780"/>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1" name="CoDec KV token 2"/>
          <p:cNvSpPr/>
          <p:nvPr/>
        </p:nvSpPr>
        <p:spPr>
          <a:xfrm>
            <a:off x="10356050" y="4174673"/>
            <a:ext cx="58437" cy="157780"/>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2" name="CoDec KV token 3"/>
          <p:cNvSpPr/>
          <p:nvPr/>
        </p:nvSpPr>
        <p:spPr>
          <a:xfrm>
            <a:off x="10461237" y="4174673"/>
            <a:ext cx="58437" cy="157780"/>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3" name="CoDec KV token 4"/>
          <p:cNvSpPr/>
          <p:nvPr/>
        </p:nvSpPr>
        <p:spPr>
          <a:xfrm>
            <a:off x="10566423" y="4174673"/>
            <a:ext cx="58437" cy="157780"/>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4" name="CoDec KV token 5"/>
          <p:cNvSpPr/>
          <p:nvPr/>
        </p:nvSpPr>
        <p:spPr>
          <a:xfrm>
            <a:off x="10671610" y="4174673"/>
            <a:ext cx="58437" cy="157780"/>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5" name="CoDec KV token 6"/>
          <p:cNvSpPr/>
          <p:nvPr/>
        </p:nvSpPr>
        <p:spPr>
          <a:xfrm>
            <a:off x="10776796" y="4174673"/>
            <a:ext cx="58437" cy="157780"/>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6" name="CoDec KV token 7"/>
          <p:cNvSpPr/>
          <p:nvPr/>
        </p:nvSpPr>
        <p:spPr>
          <a:xfrm>
            <a:off x="10881983" y="4174673"/>
            <a:ext cx="58437" cy="157780"/>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7" name="CoDec KV token 8"/>
          <p:cNvSpPr/>
          <p:nvPr/>
        </p:nvSpPr>
        <p:spPr>
          <a:xfrm>
            <a:off x="10987169" y="4174673"/>
            <a:ext cx="58437" cy="157780"/>
          </a:xfrm>
          <a:prstGeom prst="roundRect">
            <a:avLst/>
          </a:prstGeom>
          <a:solidFill>
            <a:srgbClr val="B497D1"/>
          </a:solidFill>
          <a:ln w="0">
            <a:solidFill>
              <a:srgbClr val="B497D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8" name="KV label"/>
          <p:cNvSpPr/>
          <p:nvPr/>
        </p:nvSpPr>
        <p:spPr>
          <a:xfrm>
            <a:off x="10575190" y="4412691"/>
            <a:ext cx="350622" cy="180789"/>
          </a:xfrm>
          <a:prstGeom prst="rect">
            <a:avLst/>
          </a:prstGeom>
          <a:noFill/>
          <a:ln w="0">
            <a:no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5A5660"/>
                </a:solidFill>
                <a:effectLst/>
                <a:uLnTx/>
                <a:uFillTx/>
                <a:latin typeface="Aptos"/>
                <a:ea typeface="Aptos"/>
                <a:cs typeface="Aptos"/>
              </a:rPr>
              <a:t>KV</a:t>
            </a:r>
            <a:endParaRPr kumimoji="0" sz="850" b="0" i="0" u="none" strike="noStrike" kern="1200" cap="none" spc="0" normalizeH="0" baseline="0" noProof="0" dirty="0">
              <a:ln>
                <a:noFill/>
              </a:ln>
              <a:solidFill>
                <a:prstClr val="black"/>
              </a:solidFill>
              <a:effectLst/>
              <a:uLnTx/>
              <a:uFillTx/>
              <a:latin typeface="Calibri"/>
              <a:ea typeface="+mn-ea"/>
              <a:cs typeface="+mn-cs"/>
            </a:endParaRPr>
          </a:p>
        </p:txBody>
      </p:sp>
      <p:sp>
        <p:nvSpPr>
          <p:cNvPr id="99" name="CoDec KV output arrow"/>
          <p:cNvSpPr/>
          <p:nvPr/>
        </p:nvSpPr>
        <p:spPr>
          <a:xfrm>
            <a:off x="11115997" y="4254770"/>
            <a:ext cx="186998" cy="1"/>
          </a:xfrm>
          <a:prstGeom prst="line">
            <a:avLst/>
          </a:prstGeom>
          <a:noFill/>
          <a:ln w="15000">
            <a:solidFill>
              <a:srgbClr val="D69400"/>
            </a:solidFill>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0" name="x1 reduction pill"/>
          <p:cNvSpPr/>
          <p:nvPr/>
        </p:nvSpPr>
        <p:spPr>
          <a:xfrm>
            <a:off x="11294762" y="3961797"/>
            <a:ext cx="204529" cy="591674"/>
          </a:xfrm>
          <a:prstGeom prst="roundRect">
            <a:avLst/>
          </a:prstGeom>
          <a:solidFill>
            <a:srgbClr val="FFF5D2"/>
          </a:solidFill>
          <a:ln w="9000">
            <a:solidFill>
              <a:srgbClr val="D6940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1" name="x1 marker"/>
          <p:cNvSpPr/>
          <p:nvPr/>
        </p:nvSpPr>
        <p:spPr>
          <a:xfrm>
            <a:off x="11163810" y="4091553"/>
            <a:ext cx="467496" cy="256392"/>
          </a:xfrm>
          <a:prstGeom prst="rect">
            <a:avLst/>
          </a:prstGeom>
          <a:noFill/>
          <a:ln w="0">
            <a:noFill/>
          </a:ln>
        </p:spPr>
        <p:txBody>
          <a:bodyPr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D69400"/>
                </a:solidFill>
                <a:effectLst/>
                <a:uLnTx/>
                <a:uFillTx/>
                <a:latin typeface="Aptos"/>
                <a:ea typeface="Aptos"/>
                <a:cs typeface="Aptos"/>
              </a:rPr>
              <a:t>x1</a:t>
            </a:r>
            <a:endParaRPr kumimoji="0"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CoDec output vertical"/>
          <p:cNvSpPr/>
          <p:nvPr/>
        </p:nvSpPr>
        <p:spPr>
          <a:xfrm>
            <a:off x="11658532" y="3174890"/>
            <a:ext cx="1" cy="2005119"/>
          </a:xfrm>
          <a:prstGeom prst="line">
            <a:avLst/>
          </a:prstGeom>
          <a:noFill/>
          <a:ln w="1200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3" name="CoDec output Q1"/>
          <p:cNvSpPr/>
          <p:nvPr/>
        </p:nvSpPr>
        <p:spPr>
          <a:xfrm>
            <a:off x="11588408" y="3174890"/>
            <a:ext cx="186998" cy="256392"/>
          </a:xfrm>
          <a:prstGeom prst="roundRect">
            <a:avLst/>
          </a:prstGeom>
          <a:solidFill>
            <a:srgbClr val="FFFFFF"/>
          </a:solidFill>
          <a:ln w="900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4" name="CoDec output Q1 color"/>
          <p:cNvSpPr/>
          <p:nvPr/>
        </p:nvSpPr>
        <p:spPr>
          <a:xfrm>
            <a:off x="11641001" y="3240631"/>
            <a:ext cx="81812" cy="118335"/>
          </a:xfrm>
          <a:prstGeom prst="roundRect">
            <a:avLst/>
          </a:prstGeom>
          <a:solidFill>
            <a:srgbClr val="6D1B7B"/>
          </a:solidFill>
          <a:ln w="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5" name="CoDec output Q2"/>
          <p:cNvSpPr/>
          <p:nvPr/>
        </p:nvSpPr>
        <p:spPr>
          <a:xfrm>
            <a:off x="11588408" y="3832306"/>
            <a:ext cx="186998" cy="256392"/>
          </a:xfrm>
          <a:prstGeom prst="roundRect">
            <a:avLst/>
          </a:prstGeom>
          <a:solidFill>
            <a:srgbClr val="FFFFFF"/>
          </a:solidFill>
          <a:ln w="9000">
            <a:solidFill>
              <a:srgbClr val="3A77A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6" name="CoDec output Q2 color"/>
          <p:cNvSpPr/>
          <p:nvPr/>
        </p:nvSpPr>
        <p:spPr>
          <a:xfrm>
            <a:off x="11641001" y="3898047"/>
            <a:ext cx="81812" cy="118335"/>
          </a:xfrm>
          <a:prstGeom prst="roundRect">
            <a:avLst/>
          </a:prstGeom>
          <a:solidFill>
            <a:srgbClr val="3A77AC"/>
          </a:solidFill>
          <a:ln w="0">
            <a:solidFill>
              <a:srgbClr val="3A77A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7" name="CoDec output Q3"/>
          <p:cNvSpPr/>
          <p:nvPr/>
        </p:nvSpPr>
        <p:spPr>
          <a:xfrm>
            <a:off x="11588408" y="4489722"/>
            <a:ext cx="186998" cy="256392"/>
          </a:xfrm>
          <a:prstGeom prst="roundRect">
            <a:avLst/>
          </a:prstGeom>
          <a:solidFill>
            <a:srgbClr val="FFFFFF"/>
          </a:solidFill>
          <a:ln w="9000">
            <a:solidFill>
              <a:srgbClr val="248A5A"/>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8" name="CoDec output Q3 color"/>
          <p:cNvSpPr/>
          <p:nvPr/>
        </p:nvSpPr>
        <p:spPr>
          <a:xfrm>
            <a:off x="11641001" y="4555463"/>
            <a:ext cx="81812" cy="118335"/>
          </a:xfrm>
          <a:prstGeom prst="roundRect">
            <a:avLst/>
          </a:prstGeom>
          <a:solidFill>
            <a:srgbClr val="248A5A"/>
          </a:solidFill>
          <a:ln w="0">
            <a:solidFill>
              <a:srgbClr val="248A5A"/>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9" name="CoDec output Q4"/>
          <p:cNvSpPr/>
          <p:nvPr/>
        </p:nvSpPr>
        <p:spPr>
          <a:xfrm>
            <a:off x="11588408" y="5147138"/>
            <a:ext cx="186998" cy="256392"/>
          </a:xfrm>
          <a:prstGeom prst="roundRect">
            <a:avLst/>
          </a:prstGeom>
          <a:solidFill>
            <a:srgbClr val="FFFFFF"/>
          </a:solidFill>
          <a:ln w="9000">
            <a:solidFill>
              <a:srgbClr val="D744A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10" name="CoDec output Q4 color"/>
          <p:cNvSpPr/>
          <p:nvPr/>
        </p:nvSpPr>
        <p:spPr>
          <a:xfrm>
            <a:off x="11641001" y="5212879"/>
            <a:ext cx="81812" cy="118335"/>
          </a:xfrm>
          <a:prstGeom prst="roundRect">
            <a:avLst/>
          </a:prstGeom>
          <a:solidFill>
            <a:srgbClr val="D744A1"/>
          </a:solidFill>
          <a:ln w="0">
            <a:solidFill>
              <a:srgbClr val="D744A1"/>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11" name="CoDec reduction to output"/>
          <p:cNvSpPr/>
          <p:nvPr/>
        </p:nvSpPr>
        <p:spPr>
          <a:xfrm flipV="1">
            <a:off x="11497733" y="4244622"/>
            <a:ext cx="186267" cy="0"/>
          </a:xfrm>
          <a:prstGeom prst="line">
            <a:avLst/>
          </a:prstGeom>
          <a:noFill/>
          <a:ln w="11000">
            <a:solidFill>
              <a:srgbClr val="6D1B7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 name="文本框 2"/>
          <p:cNvSpPr txBox="1"/>
          <p:nvPr/>
        </p:nvSpPr>
        <p:spPr>
          <a:xfrm>
            <a:off x="679932" y="3874811"/>
            <a:ext cx="4460619" cy="69151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50" b="0">
                <a:solidFill>
                  <a:srgbClr val="4E4B57"/>
                </a:solidFill>
                <a:latin typeface="Aptos"/>
                <a:ea typeface="Aptos"/>
                <a:cs typeface="Aptos"/>
              </a:defRPr>
            </a:pPr>
            <a:r>
              <a:rPr kumimoji="0" lang="en-GB" altLang="zh-CN" sz="2000" b="0" i="0" u="none" strike="noStrike" kern="1200" cap="none" spc="0" normalizeH="0" baseline="30000" noProof="0" dirty="0">
                <a:ln>
                  <a:noFill/>
                </a:ln>
                <a:solidFill>
                  <a:srgbClr val="4E4B57"/>
                </a:solidFill>
                <a:effectLst/>
                <a:uLnTx/>
                <a:uFillTx/>
                <a:latin typeface="Aptos"/>
                <a:ea typeface="Aptos"/>
                <a:cs typeface="Aptos"/>
              </a:rPr>
              <a:t>1 State Key Laboratory for Novel Software Technology, Nanjing University, China</a:t>
            </a:r>
          </a:p>
          <a:p>
            <a:pPr marL="0" marR="0" lvl="0" indent="0" algn="l" defTabSz="457200" rtl="0" eaLnBrk="1" fontAlgn="auto" latinLnBrk="0" hangingPunct="1">
              <a:lnSpc>
                <a:spcPct val="100000"/>
              </a:lnSpc>
              <a:spcBef>
                <a:spcPts val="0"/>
              </a:spcBef>
              <a:spcAft>
                <a:spcPts val="0"/>
              </a:spcAft>
              <a:buClrTx/>
              <a:buSzTx/>
              <a:buFontTx/>
              <a:buNone/>
              <a:tabLst/>
              <a:defRPr sz="1350" b="0">
                <a:solidFill>
                  <a:srgbClr val="4E4B57"/>
                </a:solidFill>
                <a:latin typeface="Aptos"/>
                <a:ea typeface="Aptos"/>
                <a:cs typeface="Aptos"/>
              </a:defRPr>
            </a:pPr>
            <a:r>
              <a:rPr kumimoji="0" lang="en-GB" altLang="zh-CN" sz="2000" b="0" i="0" u="none" strike="noStrike" kern="1200" cap="none" spc="0" normalizeH="0" baseline="30000" noProof="0" dirty="0">
                <a:ln>
                  <a:noFill/>
                </a:ln>
                <a:solidFill>
                  <a:srgbClr val="4E4B57"/>
                </a:solidFill>
                <a:effectLst/>
                <a:uLnTx/>
                <a:uFillTx/>
                <a:latin typeface="Aptos"/>
                <a:ea typeface="Aptos"/>
                <a:cs typeface="Aptos"/>
              </a:rPr>
              <a:t>2 Alibaba Group, China</a:t>
            </a:r>
          </a:p>
        </p:txBody>
      </p:sp>
      <p:sp>
        <p:nvSpPr>
          <p:cNvPr id="112" name="page-number">
            <a:extLst>
              <a:ext uri="{FF2B5EF4-FFF2-40B4-BE49-F238E27FC236}">
                <a16:creationId xmlns:a16="http://schemas.microsoft.com/office/drawing/2014/main" id="{FD65418C-B285-4B38-A9D3-4746E327FFF2}"/>
              </a:ext>
            </a:extLst>
          </p:cNvPr>
          <p:cNvSpPr/>
          <p:nvPr/>
        </p:nvSpPr>
        <p:spPr>
          <a:xfrm>
            <a:off x="11689172" y="6619875"/>
            <a:ext cx="121828" cy="135422"/>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algn="r">
              <a:defRPr sz="900" b="0">
                <a:solidFill>
                  <a:srgbClr val="7A8393"/>
                </a:solidFill>
                <a:latin typeface="Aptos"/>
                <a:ea typeface="Aptos"/>
                <a:cs typeface="Aptos"/>
              </a:defRPr>
            </a:pPr>
            <a:r>
              <a:rPr sz="880" b="0">
                <a:solidFill>
                  <a:srgbClr val="2B6F9E"/>
                </a:solidFill>
                <a:latin typeface="Aptos"/>
                <a:ea typeface="Aptos"/>
                <a:cs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utline-title"/>
          <p:cNvSpPr txBox="1"/>
          <p:nvPr/>
        </p:nvSpPr>
        <p:spPr>
          <a:xfrm>
            <a:off x="552450" y="361950"/>
            <a:ext cx="8763000" cy="609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450" b="1" i="0" u="none" strike="noStrike" kern="1200" cap="none" spc="0" normalizeH="0" baseline="0" noProof="0">
                <a:ln>
                  <a:noFill/>
                </a:ln>
                <a:solidFill>
                  <a:srgbClr val="17131F"/>
                </a:solidFill>
                <a:effectLst/>
                <a:uLnTx/>
                <a:uFillTx/>
                <a:latin typeface="PingFang SC" panose="020B0400000000000000" charset="-122"/>
                <a:ea typeface="+mn-ea"/>
                <a:cs typeface="+mn-cs"/>
              </a:rPr>
              <a:t>Outline</a:t>
            </a:r>
          </a:p>
        </p:txBody>
      </p:sp>
      <p:pic>
        <p:nvPicPr>
          <p:cNvPr id="3" name="outline-nju-logo" descr="image.png"/>
          <p:cNvPicPr>
            <a:picLocks noChangeAspect="1"/>
          </p:cNvPicPr>
          <p:nvPr/>
        </p:nvPicPr>
        <p:blipFill>
          <a:blip r:embed="rId2"/>
          <a:stretch>
            <a:fillRect/>
          </a:stretch>
        </p:blipFill>
        <p:spPr>
          <a:xfrm>
            <a:off x="9639300" y="381000"/>
            <a:ext cx="1571625" cy="481012"/>
          </a:xfrm>
          <a:prstGeom prst="rect">
            <a:avLst/>
          </a:prstGeom>
        </p:spPr>
      </p:pic>
      <p:sp>
        <p:nvSpPr>
          <p:cNvPr id="4" name="outline-top-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outline-section-1-card"/>
          <p:cNvSpPr/>
          <p:nvPr/>
        </p:nvSpPr>
        <p:spPr>
          <a:xfrm>
            <a:off x="781050" y="1619250"/>
            <a:ext cx="10536307" cy="666750"/>
          </a:xfrm>
          <a:prstGeom prst="rect">
            <a:avLst/>
          </a:prstGeom>
          <a:solidFill>
            <a:srgbClr val="4B1D78"/>
          </a:solidFill>
          <a:ln w="11430">
            <a:solidFill>
              <a:srgbClr val="4B1D7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outline-section-1-accent"/>
          <p:cNvSpPr/>
          <p:nvPr/>
        </p:nvSpPr>
        <p:spPr>
          <a:xfrm>
            <a:off x="781050" y="1619250"/>
            <a:ext cx="76200" cy="66675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outline-section-1-index"/>
          <p:cNvSpPr txBox="1"/>
          <p:nvPr/>
        </p:nvSpPr>
        <p:spPr>
          <a:xfrm>
            <a:off x="1085850" y="17811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4D7"/>
                </a:solidFill>
                <a:effectLst/>
                <a:uLnTx/>
                <a:uFillTx/>
                <a:latin typeface="PingFang SC" panose="020B0400000000000000" charset="-122"/>
                <a:ea typeface="+mn-ea"/>
                <a:cs typeface="+mn-cs"/>
              </a:rPr>
              <a:t>01</a:t>
            </a:r>
          </a:p>
        </p:txBody>
      </p:sp>
      <p:sp>
        <p:nvSpPr>
          <p:cNvPr id="8" name="outline-section-1-title"/>
          <p:cNvSpPr txBox="1"/>
          <p:nvPr/>
        </p:nvSpPr>
        <p:spPr>
          <a:xfrm>
            <a:off x="1771650" y="17335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PingFang SC" panose="020B0400000000000000" charset="-122"/>
                <a:ea typeface="+mn-ea"/>
                <a:cs typeface="+mn-cs"/>
              </a:rPr>
              <a:t>Motivation</a:t>
            </a:r>
          </a:p>
        </p:txBody>
      </p:sp>
      <p:sp>
        <p:nvSpPr>
          <p:cNvPr id="9" name="outline-section-1-description"/>
          <p:cNvSpPr txBox="1"/>
          <p:nvPr/>
        </p:nvSpPr>
        <p:spPr>
          <a:xfrm>
            <a:off x="5143500" y="17621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FFFFFF"/>
                </a:solidFill>
                <a:effectLst/>
                <a:uLnTx/>
                <a:uFillTx/>
                <a:latin typeface="PingFang SC" panose="020B0400000000000000" charset="-122"/>
                <a:ea typeface="+mn-ea"/>
                <a:cs typeface="+mn-cs"/>
              </a:rPr>
              <a:t>Long-context serving, prefix sharing, and decode memory bottlenecks</a:t>
            </a:r>
          </a:p>
        </p:txBody>
      </p:sp>
      <p:sp>
        <p:nvSpPr>
          <p:cNvPr id="10" name="outline-section-2-card"/>
          <p:cNvSpPr/>
          <p:nvPr/>
        </p:nvSpPr>
        <p:spPr>
          <a:xfrm>
            <a:off x="781049" y="2495550"/>
            <a:ext cx="10536307"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outline-section-2-accent"/>
          <p:cNvSpPr/>
          <p:nvPr/>
        </p:nvSpPr>
        <p:spPr>
          <a:xfrm>
            <a:off x="781050" y="24955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utline-section-2-index"/>
          <p:cNvSpPr txBox="1"/>
          <p:nvPr/>
        </p:nvSpPr>
        <p:spPr>
          <a:xfrm>
            <a:off x="1085850" y="26574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02</a:t>
            </a:r>
          </a:p>
        </p:txBody>
      </p:sp>
      <p:sp>
        <p:nvSpPr>
          <p:cNvPr id="13" name="outline-section-2-title"/>
          <p:cNvSpPr txBox="1"/>
          <p:nvPr/>
        </p:nvSpPr>
        <p:spPr>
          <a:xfrm>
            <a:off x="1771650" y="26098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Insight &amp; Challenges</a:t>
            </a:r>
          </a:p>
        </p:txBody>
      </p:sp>
      <p:sp>
        <p:nvSpPr>
          <p:cNvPr id="14" name="outline-section-2-description"/>
          <p:cNvSpPr txBox="1"/>
          <p:nvPr/>
        </p:nvSpPr>
        <p:spPr>
          <a:xfrm>
            <a:off x="5143500" y="26384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Shared-prefix reuse, dependency organization, and load balancing</a:t>
            </a:r>
          </a:p>
        </p:txBody>
      </p:sp>
      <p:sp>
        <p:nvSpPr>
          <p:cNvPr id="15" name="outline-section-3-card"/>
          <p:cNvSpPr/>
          <p:nvPr/>
        </p:nvSpPr>
        <p:spPr>
          <a:xfrm>
            <a:off x="781050" y="3371850"/>
            <a:ext cx="10536306"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utline-section-3-accent"/>
          <p:cNvSpPr/>
          <p:nvPr/>
        </p:nvSpPr>
        <p:spPr>
          <a:xfrm>
            <a:off x="781050" y="33718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utline-section-3-index"/>
          <p:cNvSpPr txBox="1"/>
          <p:nvPr/>
        </p:nvSpPr>
        <p:spPr>
          <a:xfrm>
            <a:off x="1085850" y="35337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03</a:t>
            </a:r>
          </a:p>
        </p:txBody>
      </p:sp>
      <p:sp>
        <p:nvSpPr>
          <p:cNvPr id="18" name="outline-section-3-title"/>
          <p:cNvSpPr txBox="1"/>
          <p:nvPr/>
        </p:nvSpPr>
        <p:spPr>
          <a:xfrm>
            <a:off x="1771650" y="34861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CoDec Design</a:t>
            </a:r>
          </a:p>
        </p:txBody>
      </p:sp>
      <p:sp>
        <p:nvSpPr>
          <p:cNvPr id="19" name="outline-section-3-description"/>
          <p:cNvSpPr txBox="1"/>
          <p:nvPr/>
        </p:nvSpPr>
        <p:spPr>
          <a:xfrm>
            <a:off x="5143500" y="35147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Prefix-tree planning, task division, and attention kernel</a:t>
            </a:r>
          </a:p>
        </p:txBody>
      </p:sp>
      <p:sp>
        <p:nvSpPr>
          <p:cNvPr id="20" name="outline-section-4-card"/>
          <p:cNvSpPr/>
          <p:nvPr/>
        </p:nvSpPr>
        <p:spPr>
          <a:xfrm>
            <a:off x="781050" y="4248150"/>
            <a:ext cx="10536306"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outline-section-4-accent"/>
          <p:cNvSpPr/>
          <p:nvPr/>
        </p:nvSpPr>
        <p:spPr>
          <a:xfrm>
            <a:off x="781050" y="42481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outline-section-4-index"/>
          <p:cNvSpPr txBox="1"/>
          <p:nvPr/>
        </p:nvSpPr>
        <p:spPr>
          <a:xfrm>
            <a:off x="1085850" y="44100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04</a:t>
            </a:r>
          </a:p>
        </p:txBody>
      </p:sp>
      <p:sp>
        <p:nvSpPr>
          <p:cNvPr id="23" name="outline-section-4-title"/>
          <p:cNvSpPr txBox="1"/>
          <p:nvPr/>
        </p:nvSpPr>
        <p:spPr>
          <a:xfrm>
            <a:off x="1771650" y="43624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Evaluation &amp; Takeaways</a:t>
            </a:r>
          </a:p>
        </p:txBody>
      </p:sp>
      <p:sp>
        <p:nvSpPr>
          <p:cNvPr id="24" name="outline-section-4-description"/>
          <p:cNvSpPr txBox="1"/>
          <p:nvPr/>
        </p:nvSpPr>
        <p:spPr>
          <a:xfrm>
            <a:off x="5143500" y="43910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Throughput gains, ablations, and applicability</a:t>
            </a:r>
          </a:p>
        </p:txBody>
      </p:sp>
      <p:sp>
        <p:nvSpPr>
          <p:cNvPr id="25" name="outline-current-card"/>
          <p:cNvSpPr/>
          <p:nvPr/>
        </p:nvSpPr>
        <p:spPr>
          <a:xfrm>
            <a:off x="781050" y="5353050"/>
            <a:ext cx="10536306" cy="533400"/>
          </a:xfrm>
          <a:prstGeom prst="rect">
            <a:avLst/>
          </a:prstGeom>
          <a:solidFill>
            <a:srgbClr val="FAF8FC"/>
          </a:solidFill>
          <a:ln w="1016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outline-current-label"/>
          <p:cNvSpPr txBox="1"/>
          <p:nvPr/>
        </p:nvSpPr>
        <p:spPr>
          <a:xfrm>
            <a:off x="1066800" y="5514975"/>
            <a:ext cx="1047750" cy="20955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Guiding Question</a:t>
            </a:r>
          </a:p>
        </p:txBody>
      </p:sp>
      <p:sp>
        <p:nvSpPr>
          <p:cNvPr id="27" name="outline-current-description"/>
          <p:cNvSpPr txBox="1"/>
          <p:nvPr/>
        </p:nvSpPr>
        <p:spPr>
          <a:xfrm>
            <a:off x="2381250" y="5476875"/>
            <a:ext cx="7762875" cy="28575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17131F"/>
                </a:solidFill>
                <a:effectLst/>
                <a:uLnTx/>
                <a:uFillTx/>
                <a:latin typeface="PingFang SC" panose="020B0400000000000000" charset="-122"/>
                <a:ea typeface="+mn-ea"/>
                <a:cs typeface="+mn-cs"/>
              </a:rPr>
              <a:t>Why does prefix sharing matter, and why does decode attention become the bottleneck?</a:t>
            </a:r>
          </a:p>
        </p:txBody>
      </p:sp>
      <p:sp>
        <p:nvSpPr>
          <p:cNvPr id="28" name="outline-footer-divider"/>
          <p:cNvSpPr/>
          <p:nvPr/>
        </p:nvSpPr>
        <p:spPr>
          <a:xfrm flipV="1">
            <a:off x="552450" y="6383656"/>
            <a:ext cx="10764906" cy="45719"/>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outline-footer-deck-name"/>
          <p:cNvSpPr txBox="1"/>
          <p:nvPr/>
        </p:nvSpPr>
        <p:spPr>
          <a:xfrm>
            <a:off x="552450" y="6534150"/>
            <a:ext cx="5905500" cy="228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30" name="outline-footer-page-number"/>
          <p:cNvSpPr txBox="1"/>
          <p:nvPr/>
        </p:nvSpPr>
        <p:spPr>
          <a:xfrm>
            <a:off x="10363200" y="6534150"/>
            <a:ext cx="666750" cy="22860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LLM Serving Trends</a:t>
            </a:r>
          </a:p>
        </p:txBody>
      </p:sp>
      <p:sp>
        <p:nvSpPr>
          <p:cNvPr id="5" name="TextBox 4"/>
          <p:cNvSpPr txBox="1"/>
          <p:nvPr/>
        </p:nvSpPr>
        <p:spPr>
          <a:xfrm>
            <a:off x="3531128" y="1362996"/>
            <a:ext cx="5116401"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Trend 1: Context length increases.</a:t>
            </a:r>
          </a:p>
        </p:txBody>
      </p:sp>
      <p:grpSp>
        <p:nvGrpSpPr>
          <p:cNvPr id="29" name="Group 28"/>
          <p:cNvGrpSpPr/>
          <p:nvPr/>
        </p:nvGrpSpPr>
        <p:grpSpPr>
          <a:xfrm>
            <a:off x="1690708" y="2148642"/>
            <a:ext cx="8810579" cy="981892"/>
            <a:chOff x="834164" y="2447108"/>
            <a:chExt cx="8810579" cy="981892"/>
          </a:xfrm>
        </p:grpSpPr>
        <p:sp>
          <p:nvSpPr>
            <p:cNvPr id="3" name="Can 2"/>
            <p:cNvSpPr/>
            <p:nvPr/>
          </p:nvSpPr>
          <p:spPr>
            <a:xfrm rot="5400000">
              <a:off x="1298425" y="2157739"/>
              <a:ext cx="632103" cy="1560626"/>
            </a:xfrm>
            <a:prstGeom prst="can">
              <a:avLst>
                <a:gd name="adj" fmla="val 50600"/>
              </a:avLst>
            </a:prstGeom>
            <a:solidFill>
              <a:srgbClr val="E4CCFF"/>
            </a:solidFill>
            <a:ln>
              <a:solidFill>
                <a:srgbClr val="D577FF"/>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Retriever</a:t>
              </a:r>
            </a:p>
          </p:txBody>
        </p:sp>
        <p:sp>
          <p:nvSpPr>
            <p:cNvPr id="4" name="Rounded Rectangle 3"/>
            <p:cNvSpPr/>
            <p:nvPr/>
          </p:nvSpPr>
          <p:spPr>
            <a:xfrm>
              <a:off x="2988526" y="2447108"/>
              <a:ext cx="4802459" cy="981892"/>
            </a:xfrm>
            <a:prstGeom prst="roundRect">
              <a:avLst>
                <a:gd name="adj" fmla="val 6320"/>
              </a:avLst>
            </a:prstGeom>
            <a:solidFill>
              <a:srgbClr val="EEEEEE"/>
            </a:solidFill>
            <a:ln>
              <a:solidFill>
                <a:srgbClr val="CC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ounded Rectangle 5"/>
            <p:cNvSpPr/>
            <p:nvPr/>
          </p:nvSpPr>
          <p:spPr>
            <a:xfrm>
              <a:off x="3089299" y="2520874"/>
              <a:ext cx="2631688" cy="834359"/>
            </a:xfrm>
            <a:prstGeom prst="roundRect">
              <a:avLst>
                <a:gd name="adj" fmla="val 5531"/>
              </a:avLst>
            </a:prstGeom>
            <a:solidFill>
              <a:srgbClr val="BDE3FF"/>
            </a:solidFill>
            <a:ln>
              <a:solidFill>
                <a:srgbClr val="22B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KV Cache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1M+ tokens</a:t>
              </a:r>
            </a:p>
          </p:txBody>
        </p:sp>
        <p:sp>
          <p:nvSpPr>
            <p:cNvPr id="7" name="Rounded Rectangle 6"/>
            <p:cNvSpPr/>
            <p:nvPr/>
          </p:nvSpPr>
          <p:spPr>
            <a:xfrm>
              <a:off x="5737714" y="2520873"/>
              <a:ext cx="1958897" cy="834359"/>
            </a:xfrm>
            <a:prstGeom prst="roundRect">
              <a:avLst>
                <a:gd name="adj" fmla="val 5531"/>
              </a:avLst>
            </a:prstGeom>
            <a:solidFill>
              <a:srgbClr val="FFE8A3"/>
            </a:solidFill>
            <a:ln>
              <a:solidFill>
                <a:srgbClr val="DDB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Prompt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User Conversation</a:t>
              </a:r>
            </a:p>
          </p:txBody>
        </p:sp>
        <p:sp>
          <p:nvSpPr>
            <p:cNvPr id="8" name="Rounded Rectangle 7"/>
            <p:cNvSpPr/>
            <p:nvPr/>
          </p:nvSpPr>
          <p:spPr>
            <a:xfrm>
              <a:off x="8539976" y="2682118"/>
              <a:ext cx="1104767" cy="511868"/>
            </a:xfrm>
            <a:prstGeom prst="roundRect">
              <a:avLst>
                <a:gd name="adj" fmla="val 5325"/>
              </a:avLst>
            </a:prstGeom>
            <a:solidFill>
              <a:srgbClr val="EEEEEE"/>
            </a:solidFill>
            <a:ln>
              <a:solidFill>
                <a:srgbClr val="CC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Output</a:t>
              </a:r>
            </a:p>
          </p:txBody>
        </p:sp>
        <p:cxnSp>
          <p:nvCxnSpPr>
            <p:cNvPr id="15" name="Straight Arrow Connector 14"/>
            <p:cNvCxnSpPr>
              <a:stCxn id="3" idx="1"/>
              <a:endCxn id="4" idx="1"/>
            </p:cNvCxnSpPr>
            <p:nvPr/>
          </p:nvCxnSpPr>
          <p:spPr>
            <a:xfrm>
              <a:off x="2394790" y="2938053"/>
              <a:ext cx="593736" cy="1"/>
            </a:xfrm>
            <a:prstGeom prst="straightConnector1">
              <a:avLst/>
            </a:prstGeom>
            <a:ln>
              <a:solidFill>
                <a:srgbClr val="B3B3B3"/>
              </a:solidFill>
              <a:tailEnd type="arrow"/>
            </a:ln>
          </p:spPr>
          <p:style>
            <a:lnRef idx="2">
              <a:schemeClr val="dk1"/>
            </a:lnRef>
            <a:fillRef idx="0">
              <a:schemeClr val="dk1"/>
            </a:fillRef>
            <a:effectRef idx="1">
              <a:schemeClr val="dk1"/>
            </a:effectRef>
            <a:fontRef idx="minor">
              <a:schemeClr val="tx1"/>
            </a:fontRef>
          </p:style>
        </p:cxnSp>
        <p:cxnSp>
          <p:nvCxnSpPr>
            <p:cNvPr id="16" name="Straight Arrow Connector 15"/>
            <p:cNvCxnSpPr>
              <a:stCxn id="4" idx="3"/>
              <a:endCxn id="8" idx="1"/>
            </p:cNvCxnSpPr>
            <p:nvPr/>
          </p:nvCxnSpPr>
          <p:spPr>
            <a:xfrm flipV="1">
              <a:off x="7790985" y="2938052"/>
              <a:ext cx="748991" cy="2"/>
            </a:xfrm>
            <a:prstGeom prst="straightConnector1">
              <a:avLst/>
            </a:prstGeom>
            <a:ln>
              <a:solidFill>
                <a:srgbClr val="B3B3B3"/>
              </a:solidFill>
              <a:tailEnd type="arrow"/>
            </a:ln>
          </p:spPr>
          <p:style>
            <a:lnRef idx="2">
              <a:schemeClr val="dk1"/>
            </a:lnRef>
            <a:fillRef idx="0">
              <a:schemeClr val="dk1"/>
            </a:fillRef>
            <a:effectRef idx="1">
              <a:schemeClr val="dk1"/>
            </a:effectRef>
            <a:fontRef idx="minor">
              <a:schemeClr val="tx1"/>
            </a:fontRef>
          </p:style>
        </p:cxnSp>
      </p:grpSp>
      <p:sp>
        <p:nvSpPr>
          <p:cNvPr id="30" name="TextBox 29"/>
          <p:cNvSpPr txBox="1"/>
          <p:nvPr/>
        </p:nvSpPr>
        <p:spPr>
          <a:xfrm>
            <a:off x="2849181" y="3437195"/>
            <a:ext cx="6493637"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Trend 2: Attention dominates computation.</a:t>
            </a:r>
          </a:p>
        </p:txBody>
      </p:sp>
      <p:graphicFrame>
        <p:nvGraphicFramePr>
          <p:cNvPr id="9" name="Chart 8"/>
          <p:cNvGraphicFramePr/>
          <p:nvPr/>
        </p:nvGraphicFramePr>
        <p:xfrm>
          <a:off x="2530258" y="3960415"/>
          <a:ext cx="8128000" cy="2384764"/>
        </p:xfrm>
        <a:graphic>
          <a:graphicData uri="http://schemas.openxmlformats.org/drawingml/2006/chart">
            <c:chart xmlns:c="http://schemas.openxmlformats.org/drawingml/2006/chart" xmlns:r="http://schemas.openxmlformats.org/officeDocument/2006/relationships" r:id="rId3"/>
          </a:graphicData>
        </a:graphic>
      </p:graphicFrame>
      <p:sp>
        <p:nvSpPr>
          <p:cNvPr id="31"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BACKGROUND</a:t>
            </a:r>
          </a:p>
        </p:txBody>
      </p:sp>
      <p:sp>
        <p:nvSpPr>
          <p:cNvPr id="33"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36" name="skill-template-footer-page-number"/>
          <p:cNvSpPr txBox="1"/>
          <p:nvPr/>
        </p:nvSpPr>
        <p:spPr>
          <a:xfrm>
            <a:off x="10829925" y="6515100"/>
            <a:ext cx="381000" cy="20955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15</a:t>
            </a:r>
          </a:p>
        </p:txBody>
      </p:sp>
      <p:pic>
        <p:nvPicPr>
          <p:cNvPr id="37" name="skill-template-nju-logo" descr="template-title-footer-logo-from-template.png"/>
          <p:cNvPicPr>
            <a:picLocks noChangeAspect="1"/>
          </p:cNvPicPr>
          <p:nvPr/>
        </p:nvPicPr>
        <p:blipFill>
          <a:blip r:embed="rId4"/>
          <a:stretch>
            <a:fillRect/>
          </a:stretch>
        </p:blipFill>
        <p:spPr>
          <a:xfrm>
            <a:off x="9639300" y="354718"/>
            <a:ext cx="1571625" cy="4811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0" grpId="0"/>
      <p:bldGraphic spid="9"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Prefix Sharing Workloads</a:t>
            </a:r>
          </a:p>
        </p:txBody>
      </p:sp>
      <p:sp>
        <p:nvSpPr>
          <p:cNvPr id="6" name="TextBox 5"/>
          <p:cNvSpPr txBox="1"/>
          <p:nvPr/>
        </p:nvSpPr>
        <p:spPr>
          <a:xfrm>
            <a:off x="604189" y="5573456"/>
            <a:ext cx="8661730" cy="73866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[1] Jiaqi, Li, et al. “Can Long-Context Language Models Understand Long Contexts?” ACL 2024.</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[2]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Yujia</a:t>
            </a:r>
            <a:r>
              <a:rPr kumimoji="0" lang="en-US" sz="1400" b="0" i="0" u="none" strike="noStrike" kern="1200" cap="none" spc="0" normalizeH="0" baseline="0" noProof="0" dirty="0">
                <a:ln>
                  <a:noFill/>
                </a:ln>
                <a:solidFill>
                  <a:prstClr val="black"/>
                </a:solidFill>
                <a:effectLst/>
                <a:uLnTx/>
                <a:uFillTx/>
                <a:latin typeface="Calibri"/>
                <a:ea typeface="+mn-ea"/>
                <a:cs typeface="+mn-cs"/>
              </a:rPr>
              <a:t>, Qin, et al. “Towards Stage Large-Scale Benchmarking on Tool Learning of Large Language Models” ACL 2024.</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[3]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Junbin</a:t>
            </a:r>
            <a:r>
              <a:rPr kumimoji="0" lang="en-US" sz="1400" b="0" i="0" u="none" strike="noStrike" kern="1200" cap="none" spc="0" normalizeH="0" baseline="0" noProof="0" dirty="0">
                <a:ln>
                  <a:noFill/>
                </a:ln>
                <a:solidFill>
                  <a:prstClr val="black"/>
                </a:solidFill>
                <a:effectLst/>
                <a:uLnTx/>
                <a:uFillTx/>
                <a:latin typeface="Calibri"/>
                <a:ea typeface="+mn-ea"/>
                <a:cs typeface="+mn-cs"/>
              </a:rPr>
              <a:t>, Xiao, et al. “Next Phase of Question-Answering to Explaining Temporal Actions” CVPR 2021.</a:t>
            </a:r>
          </a:p>
        </p:txBody>
      </p:sp>
      <p:sp>
        <p:nvSpPr>
          <p:cNvPr id="7" name="Content Placeholder 3"/>
          <p:cNvSpPr>
            <a:spLocks noGrp="1"/>
          </p:cNvSpPr>
          <p:nvPr>
            <p:ph idx="1"/>
          </p:nvPr>
        </p:nvSpPr>
        <p:spPr>
          <a:xfrm>
            <a:off x="838200" y="1402465"/>
            <a:ext cx="10515600" cy="541794"/>
          </a:xfrm>
        </p:spPr>
        <p:txBody>
          <a:bodyPr/>
          <a:lstStyle/>
          <a:p>
            <a:pPr marL="0" indent="0">
              <a:buNone/>
            </a:pPr>
            <a:r>
              <a:rPr lang="en-US" dirty="0"/>
              <a:t>Many long-context workloads share large common prefixes.</a:t>
            </a:r>
          </a:p>
        </p:txBody>
      </p:sp>
      <p:pic>
        <p:nvPicPr>
          <p:cNvPr id="1026" name="Picture 2" descr="Cascade Inference: Memory Bandwidth Efficient Shared Prefix Batch Decoding  | FlashInf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6642" y="1796044"/>
            <a:ext cx="5356461" cy="382225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nvGraphicFramePr>
        <p:xfrm>
          <a:off x="945193" y="2270334"/>
          <a:ext cx="5427753" cy="1584960"/>
        </p:xfrm>
        <a:graphic>
          <a:graphicData uri="http://schemas.openxmlformats.org/drawingml/2006/table">
            <a:tbl>
              <a:tblPr firstRow="1" bandRow="1">
                <a:tableStyleId>{2D5ABB26-0587-4C30-8999-92F81FD0307C}</a:tableStyleId>
              </a:tblPr>
              <a:tblGrid>
                <a:gridCol w="1703540">
                  <a:extLst>
                    <a:ext uri="{9D8B030D-6E8A-4147-A177-3AD203B41FA5}">
                      <a16:colId xmlns:a16="http://schemas.microsoft.com/office/drawing/2014/main" val="20000"/>
                    </a:ext>
                  </a:extLst>
                </a:gridCol>
                <a:gridCol w="1540493">
                  <a:extLst>
                    <a:ext uri="{9D8B030D-6E8A-4147-A177-3AD203B41FA5}">
                      <a16:colId xmlns:a16="http://schemas.microsoft.com/office/drawing/2014/main" val="20001"/>
                    </a:ext>
                  </a:extLst>
                </a:gridCol>
                <a:gridCol w="2183720">
                  <a:extLst>
                    <a:ext uri="{9D8B030D-6E8A-4147-A177-3AD203B41FA5}">
                      <a16:colId xmlns:a16="http://schemas.microsoft.com/office/drawing/2014/main" val="20002"/>
                    </a:ext>
                  </a:extLst>
                </a:gridCol>
              </a:tblGrid>
              <a:tr h="370840">
                <a:tc>
                  <a:txBody>
                    <a:bodyPr/>
                    <a:lstStyle/>
                    <a:p>
                      <a:pPr algn="ctr"/>
                      <a:r>
                        <a:rPr lang="en-US" sz="2000" dirty="0">
                          <a:solidFill>
                            <a:schemeClr val="bg1"/>
                          </a:solidFill>
                        </a:rPr>
                        <a:t>Workload</a:t>
                      </a:r>
                    </a:p>
                  </a:txBody>
                  <a:tcPr>
                    <a:solidFill>
                      <a:srgbClr val="EA7F5F"/>
                    </a:solidFill>
                  </a:tcPr>
                </a:tc>
                <a:tc>
                  <a:txBody>
                    <a:bodyPr/>
                    <a:lstStyle/>
                    <a:p>
                      <a:pPr algn="ctr"/>
                      <a:r>
                        <a:rPr lang="en-US" sz="2000" dirty="0">
                          <a:solidFill>
                            <a:schemeClr val="bg1"/>
                          </a:solidFill>
                        </a:rPr>
                        <a:t>Avg. Prompt</a:t>
                      </a:r>
                    </a:p>
                  </a:txBody>
                  <a:tcPr>
                    <a:solidFill>
                      <a:srgbClr val="EA7F5F"/>
                    </a:solidFill>
                  </a:tcPr>
                </a:tc>
                <a:tc>
                  <a:txBody>
                    <a:bodyPr/>
                    <a:lstStyle/>
                    <a:p>
                      <a:pPr algn="ctr"/>
                      <a:r>
                        <a:rPr lang="en-US" sz="2000" dirty="0">
                          <a:solidFill>
                            <a:schemeClr val="bg1"/>
                          </a:solidFill>
                        </a:rPr>
                        <a:t>Prefix Sharing Rate</a:t>
                      </a:r>
                    </a:p>
                  </a:txBody>
                  <a:tcPr>
                    <a:solidFill>
                      <a:srgbClr val="EA7F5F"/>
                    </a:solidFill>
                  </a:tcPr>
                </a:tc>
                <a:extLst>
                  <a:ext uri="{0D108BD9-81ED-4DB2-BD59-A6C34878D82A}">
                    <a16:rowId xmlns:a16="http://schemas.microsoft.com/office/drawing/2014/main" val="10000"/>
                  </a:ext>
                </a:extLst>
              </a:tr>
              <a:tr h="370840">
                <a:tc>
                  <a:txBody>
                    <a:bodyPr/>
                    <a:lstStyle/>
                    <a:p>
                      <a:pPr algn="ctr"/>
                      <a:r>
                        <a:rPr lang="en-US" sz="2000" dirty="0" err="1"/>
                        <a:t>LooGLE</a:t>
                      </a:r>
                      <a:r>
                        <a:rPr lang="en-US" sz="2000" dirty="0"/>
                        <a:t> [1]</a:t>
                      </a:r>
                    </a:p>
                  </a:txBody>
                  <a:tcPr>
                    <a:solidFill>
                      <a:srgbClr val="FDF2E3"/>
                    </a:solidFill>
                  </a:tcPr>
                </a:tc>
                <a:tc>
                  <a:txBody>
                    <a:bodyPr/>
                    <a:lstStyle/>
                    <a:p>
                      <a:pPr algn="ctr"/>
                      <a:r>
                        <a:rPr lang="en-US" altLang="zh-CN" sz="2000" dirty="0"/>
                        <a:t>23,474</a:t>
                      </a:r>
                      <a:endParaRPr lang="en-US" sz="2000" dirty="0"/>
                    </a:p>
                  </a:txBody>
                  <a:tcPr>
                    <a:solidFill>
                      <a:srgbClr val="FDF2E3"/>
                    </a:solidFill>
                  </a:tcPr>
                </a:tc>
                <a:tc>
                  <a:txBody>
                    <a:bodyPr/>
                    <a:lstStyle/>
                    <a:p>
                      <a:pPr algn="ctr"/>
                      <a:r>
                        <a:rPr lang="en-US" sz="2000" dirty="0"/>
                        <a:t>91%</a:t>
                      </a:r>
                    </a:p>
                  </a:txBody>
                  <a:tcPr>
                    <a:solidFill>
                      <a:srgbClr val="FDF2E3"/>
                    </a:solidFill>
                  </a:tcPr>
                </a:tc>
                <a:extLst>
                  <a:ext uri="{0D108BD9-81ED-4DB2-BD59-A6C34878D82A}">
                    <a16:rowId xmlns:a16="http://schemas.microsoft.com/office/drawing/2014/main" val="10001"/>
                  </a:ext>
                </a:extLst>
              </a:tr>
              <a:tr h="370840">
                <a:tc>
                  <a:txBody>
                    <a:bodyPr/>
                    <a:lstStyle/>
                    <a:p>
                      <a:pPr algn="ctr"/>
                      <a:r>
                        <a:rPr lang="en-US" sz="2000" dirty="0" err="1"/>
                        <a:t>ToolBench</a:t>
                      </a:r>
                      <a:r>
                        <a:rPr lang="en-US" sz="2000" dirty="0"/>
                        <a:t> [2]</a:t>
                      </a:r>
                    </a:p>
                  </a:txBody>
                  <a:tcPr>
                    <a:solidFill>
                      <a:srgbClr val="FDF6EF"/>
                    </a:solidFill>
                  </a:tcPr>
                </a:tc>
                <a:tc>
                  <a:txBody>
                    <a:bodyPr/>
                    <a:lstStyle/>
                    <a:p>
                      <a:pPr algn="ctr"/>
                      <a:r>
                        <a:rPr lang="en-US" sz="2000" dirty="0"/>
                        <a:t>1,835</a:t>
                      </a:r>
                    </a:p>
                  </a:txBody>
                  <a:tcPr>
                    <a:solidFill>
                      <a:srgbClr val="FDF6EF"/>
                    </a:solidFill>
                  </a:tcPr>
                </a:tc>
                <a:tc>
                  <a:txBody>
                    <a:bodyPr/>
                    <a:lstStyle/>
                    <a:p>
                      <a:pPr algn="ctr"/>
                      <a:r>
                        <a:rPr lang="en-US" sz="2000" dirty="0"/>
                        <a:t>85%</a:t>
                      </a:r>
                    </a:p>
                  </a:txBody>
                  <a:tcPr>
                    <a:solidFill>
                      <a:srgbClr val="FDF6EF"/>
                    </a:solidFill>
                  </a:tcPr>
                </a:tc>
                <a:extLst>
                  <a:ext uri="{0D108BD9-81ED-4DB2-BD59-A6C34878D82A}">
                    <a16:rowId xmlns:a16="http://schemas.microsoft.com/office/drawing/2014/main" val="10002"/>
                  </a:ext>
                </a:extLst>
              </a:tr>
              <a:tr h="370840">
                <a:tc>
                  <a:txBody>
                    <a:bodyPr/>
                    <a:lstStyle/>
                    <a:p>
                      <a:pPr algn="ctr"/>
                      <a:r>
                        <a:rPr lang="en-US" sz="2000" dirty="0" err="1"/>
                        <a:t>NExT</a:t>
                      </a:r>
                      <a:r>
                        <a:rPr lang="en-US" sz="2000" dirty="0"/>
                        <a:t>-QA [3]</a:t>
                      </a:r>
                    </a:p>
                  </a:txBody>
                  <a:tcPr>
                    <a:solidFill>
                      <a:srgbClr val="FDF2E3"/>
                    </a:solidFill>
                  </a:tcPr>
                </a:tc>
                <a:tc>
                  <a:txBody>
                    <a:bodyPr/>
                    <a:lstStyle/>
                    <a:p>
                      <a:pPr algn="ctr"/>
                      <a:r>
                        <a:rPr lang="en-US" sz="2000" dirty="0"/>
                        <a:t>9,865</a:t>
                      </a:r>
                    </a:p>
                  </a:txBody>
                  <a:tcPr>
                    <a:solidFill>
                      <a:srgbClr val="FDF2E3"/>
                    </a:solidFill>
                  </a:tcPr>
                </a:tc>
                <a:tc>
                  <a:txBody>
                    <a:bodyPr/>
                    <a:lstStyle/>
                    <a:p>
                      <a:pPr algn="ctr"/>
                      <a:r>
                        <a:rPr lang="en-US" sz="2000" dirty="0"/>
                        <a:t>88%</a:t>
                      </a:r>
                    </a:p>
                  </a:txBody>
                  <a:tcPr>
                    <a:solidFill>
                      <a:srgbClr val="FDF2E3"/>
                    </a:solidFill>
                  </a:tcPr>
                </a:tc>
                <a:extLst>
                  <a:ext uri="{0D108BD9-81ED-4DB2-BD59-A6C34878D82A}">
                    <a16:rowId xmlns:a16="http://schemas.microsoft.com/office/drawing/2014/main" val="10003"/>
                  </a:ext>
                </a:extLst>
              </a:tr>
            </a:tbl>
          </a:graphicData>
        </a:graphic>
      </p:graphicFrame>
      <p:sp>
        <p:nvSpPr>
          <p:cNvPr id="1027"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28"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MOTIVATION</a:t>
            </a:r>
          </a:p>
        </p:txBody>
      </p:sp>
      <p:sp>
        <p:nvSpPr>
          <p:cNvPr id="1029"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30"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31"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1032" name="skill-template-footer-page-number"/>
          <p:cNvSpPr txBox="1"/>
          <p:nvPr/>
        </p:nvSpPr>
        <p:spPr>
          <a:xfrm>
            <a:off x="10829925" y="6515100"/>
            <a:ext cx="381000" cy="20955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16</a:t>
            </a:r>
          </a:p>
        </p:txBody>
      </p:sp>
      <p:pic>
        <p:nvPicPr>
          <p:cNvPr id="1033" name="skill-template-nju-logo" descr="template-title-footer-logo-from-template.png"/>
          <p:cNvPicPr>
            <a:picLocks noChangeAspect="1"/>
          </p:cNvPicPr>
          <p:nvPr/>
        </p:nvPicPr>
        <p:blipFill>
          <a:blip r:embed="rId4"/>
          <a:stretch>
            <a:fillRect/>
          </a:stretch>
        </p:blipFill>
        <p:spPr>
          <a:xfrm>
            <a:off x="9639300" y="354718"/>
            <a:ext cx="1571625" cy="4811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skill-template-nju-logo" descr="template-title-footer-logo-from-template.png"/>
          <p:cNvPicPr/>
          <p:nvPr/>
        </p:nvPicPr>
        <p:blipFill>
          <a:blip r:embed="rId3"/>
          <a:stretch>
            <a:fillRect/>
          </a:stretch>
        </p:blipFill>
        <p:spPr>
          <a:xfrm>
            <a:off x="9639300" y="354718"/>
            <a:ext cx="1571625" cy="481189"/>
          </a:xfrm>
          <a:prstGeom prst="rect">
            <a:avLst/>
          </a:prstGeom>
        </p:spPr>
      </p:pic>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Aptos" panose="020B0400000000000000" charset="-122"/>
              </a:defRPr>
            </a:pPr>
            <a:r>
              <a:rPr lang="en-US" sz="2550" b="1" dirty="0">
                <a:solidFill>
                  <a:srgbClr val="17131F"/>
                </a:solidFill>
                <a:latin typeface="Aptos" panose="020B0400000000000000" charset="-122"/>
              </a:rPr>
              <a:t>Prefix Sharing Workloads: Prefill Stage</a:t>
            </a:r>
          </a:p>
        </p:txBody>
      </p:sp>
      <p:sp>
        <p:nvSpPr>
          <p:cNvPr id="4" name="Content Placeholder 3"/>
          <p:cNvSpPr>
            <a:spLocks noGrp="1"/>
          </p:cNvSpPr>
          <p:nvPr>
            <p:ph idx="1"/>
          </p:nvPr>
        </p:nvSpPr>
        <p:spPr>
          <a:xfrm>
            <a:off x="838200" y="1402465"/>
            <a:ext cx="10515600" cy="541794"/>
          </a:xfrm>
        </p:spPr>
        <p:txBody>
          <a:bodyPr/>
          <a:lstStyle/>
          <a:p>
            <a:pPr marL="0" indent="0">
              <a:buNone/>
            </a:pPr>
            <a:r>
              <a:rPr lang="en-US" dirty="0"/>
              <a:t>In prefill stage, KV cache can be shared to reduce computation.</a:t>
            </a:r>
          </a:p>
        </p:txBody>
      </p:sp>
      <p:grpSp>
        <p:nvGrpSpPr>
          <p:cNvPr id="71" name="Group 70"/>
          <p:cNvGrpSpPr/>
          <p:nvPr/>
        </p:nvGrpSpPr>
        <p:grpSpPr>
          <a:xfrm>
            <a:off x="6189486" y="2103054"/>
            <a:ext cx="4115173" cy="3960487"/>
            <a:chOff x="444301" y="2315052"/>
            <a:chExt cx="4115173" cy="3960487"/>
          </a:xfrm>
        </p:grpSpPr>
        <p:sp>
          <p:nvSpPr>
            <p:cNvPr id="28" name="Can 27"/>
            <p:cNvSpPr/>
            <p:nvPr/>
          </p:nvSpPr>
          <p:spPr>
            <a:xfrm>
              <a:off x="2899262" y="5079387"/>
              <a:ext cx="1302707" cy="557784"/>
            </a:xfrm>
            <a:prstGeom prst="can">
              <a:avLst/>
            </a:prstGeom>
            <a:solidFill>
              <a:srgbClr val="DEEBF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tomorrow</a:t>
              </a:r>
            </a:p>
          </p:txBody>
        </p:sp>
        <p:sp>
          <p:nvSpPr>
            <p:cNvPr id="27" name="Can 26"/>
            <p:cNvSpPr/>
            <p:nvPr/>
          </p:nvSpPr>
          <p:spPr>
            <a:xfrm>
              <a:off x="2899262" y="4657972"/>
              <a:ext cx="1302707" cy="557784"/>
            </a:xfrm>
            <a:prstGeom prst="can">
              <a:avLst/>
            </a:prstGeom>
            <a:solidFill>
              <a:srgbClr val="9DC3E6"/>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it</a:t>
              </a:r>
            </a:p>
          </p:txBody>
        </p:sp>
        <p:sp>
          <p:nvSpPr>
            <p:cNvPr id="26" name="Can 25"/>
            <p:cNvSpPr/>
            <p:nvPr/>
          </p:nvSpPr>
          <p:spPr>
            <a:xfrm>
              <a:off x="2899262" y="4246389"/>
              <a:ext cx="1302707" cy="557784"/>
            </a:xfrm>
            <a:prstGeom prst="can">
              <a:avLst/>
            </a:prstGeom>
            <a:solidFill>
              <a:srgbClr val="9DC3E6"/>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is</a:t>
              </a:r>
            </a:p>
          </p:txBody>
        </p:sp>
        <p:sp>
          <p:nvSpPr>
            <p:cNvPr id="25" name="Can 24"/>
            <p:cNvSpPr/>
            <p:nvPr/>
          </p:nvSpPr>
          <p:spPr>
            <a:xfrm>
              <a:off x="2899262" y="3834806"/>
              <a:ext cx="1302707" cy="557784"/>
            </a:xfrm>
            <a:prstGeom prst="can">
              <a:avLst/>
            </a:prstGeom>
            <a:solidFill>
              <a:srgbClr val="9DC3E6"/>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day</a:t>
              </a:r>
            </a:p>
          </p:txBody>
        </p:sp>
        <p:sp>
          <p:nvSpPr>
            <p:cNvPr id="5" name="Rectangle 4"/>
            <p:cNvSpPr/>
            <p:nvPr/>
          </p:nvSpPr>
          <p:spPr>
            <a:xfrm>
              <a:off x="1240077" y="2805830"/>
              <a:ext cx="3319397" cy="34697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240077" y="2815558"/>
              <a:ext cx="2280496" cy="400110"/>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Prefill for Request 2</a:t>
              </a:r>
            </a:p>
          </p:txBody>
        </p:sp>
        <p:sp>
          <p:nvSpPr>
            <p:cNvPr id="8" name="Rectangle 7"/>
            <p:cNvSpPr/>
            <p:nvPr/>
          </p:nvSpPr>
          <p:spPr>
            <a:xfrm>
              <a:off x="1665962" y="3436130"/>
              <a:ext cx="776613" cy="438411"/>
            </a:xfrm>
            <a:prstGeom prst="rect">
              <a:avLst/>
            </a:prstGeom>
            <a:no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What</a:t>
              </a:r>
            </a:p>
          </p:txBody>
        </p:sp>
        <p:sp>
          <p:nvSpPr>
            <p:cNvPr id="9" name="Rectangle 8"/>
            <p:cNvSpPr/>
            <p:nvPr/>
          </p:nvSpPr>
          <p:spPr>
            <a:xfrm>
              <a:off x="1665962" y="3874541"/>
              <a:ext cx="776613" cy="438411"/>
            </a:xfrm>
            <a:prstGeom prst="rect">
              <a:avLst/>
            </a:prstGeom>
            <a:no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day</a:t>
              </a:r>
            </a:p>
          </p:txBody>
        </p:sp>
        <p:sp>
          <p:nvSpPr>
            <p:cNvPr id="10" name="Rectangle 9"/>
            <p:cNvSpPr/>
            <p:nvPr/>
          </p:nvSpPr>
          <p:spPr>
            <a:xfrm>
              <a:off x="1665962" y="4312952"/>
              <a:ext cx="776613" cy="438411"/>
            </a:xfrm>
            <a:prstGeom prst="rect">
              <a:avLst/>
            </a:prstGeom>
            <a:no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is</a:t>
              </a:r>
            </a:p>
          </p:txBody>
        </p:sp>
        <p:sp>
          <p:nvSpPr>
            <p:cNvPr id="12" name="Rectangle 11"/>
            <p:cNvSpPr/>
            <p:nvPr/>
          </p:nvSpPr>
          <p:spPr>
            <a:xfrm>
              <a:off x="1665962" y="4751363"/>
              <a:ext cx="776613" cy="438411"/>
            </a:xfrm>
            <a:prstGeom prst="rect">
              <a:avLst/>
            </a:prstGeom>
            <a:no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it</a:t>
              </a:r>
            </a:p>
          </p:txBody>
        </p:sp>
        <p:sp>
          <p:nvSpPr>
            <p:cNvPr id="13" name="Rectangle 12"/>
            <p:cNvSpPr/>
            <p:nvPr/>
          </p:nvSpPr>
          <p:spPr>
            <a:xfrm>
              <a:off x="1665962" y="5189774"/>
              <a:ext cx="776613" cy="438411"/>
            </a:xfrm>
            <a:prstGeom prst="rect">
              <a:avLst/>
            </a:prstGeom>
            <a:solidFill>
              <a:srgbClr val="E0EEE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tomorrow</a:t>
              </a:r>
            </a:p>
          </p:txBody>
        </p:sp>
        <p:sp>
          <p:nvSpPr>
            <p:cNvPr id="14" name="Can 13"/>
            <p:cNvSpPr/>
            <p:nvPr/>
          </p:nvSpPr>
          <p:spPr>
            <a:xfrm>
              <a:off x="2899262" y="3423223"/>
              <a:ext cx="1302707" cy="557784"/>
            </a:xfrm>
            <a:prstGeom prst="can">
              <a:avLst/>
            </a:prstGeom>
            <a:solidFill>
              <a:srgbClr val="9DC3E6"/>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What</a:t>
              </a:r>
            </a:p>
          </p:txBody>
        </p:sp>
        <p:sp>
          <p:nvSpPr>
            <p:cNvPr id="29" name="TextBox 28"/>
            <p:cNvSpPr txBox="1"/>
            <p:nvPr/>
          </p:nvSpPr>
          <p:spPr>
            <a:xfrm>
              <a:off x="1933841" y="5775988"/>
              <a:ext cx="2003562"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2F5597"/>
                  </a:solidFill>
                  <a:effectLst/>
                  <a:uLnTx/>
                  <a:uFillTx/>
                  <a:latin typeface="Calibri"/>
                  <a:ea typeface="+mn-ea"/>
                  <a:cs typeface="+mn-cs"/>
                </a:rPr>
                <a:t>(1 token computed)</a:t>
              </a:r>
            </a:p>
          </p:txBody>
        </p:sp>
        <p:cxnSp>
          <p:nvCxnSpPr>
            <p:cNvPr id="33" name="Straight Arrow Connector 32"/>
            <p:cNvCxnSpPr/>
            <p:nvPr/>
          </p:nvCxnSpPr>
          <p:spPr>
            <a:xfrm>
              <a:off x="2471759" y="3684312"/>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5" name="Straight Arrow Connector 34"/>
            <p:cNvCxnSpPr/>
            <p:nvPr/>
          </p:nvCxnSpPr>
          <p:spPr>
            <a:xfrm>
              <a:off x="2471759" y="4118814"/>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6" name="Straight Arrow Connector 35"/>
            <p:cNvCxnSpPr/>
            <p:nvPr/>
          </p:nvCxnSpPr>
          <p:spPr>
            <a:xfrm>
              <a:off x="2471759" y="4553316"/>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7" name="Straight Arrow Connector 36"/>
            <p:cNvCxnSpPr/>
            <p:nvPr/>
          </p:nvCxnSpPr>
          <p:spPr>
            <a:xfrm>
              <a:off x="2471759" y="4987818"/>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8" name="Straight Arrow Connector 37"/>
            <p:cNvCxnSpPr/>
            <p:nvPr/>
          </p:nvCxnSpPr>
          <p:spPr>
            <a:xfrm>
              <a:off x="2471759" y="5422320"/>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0" name="TextBox 39"/>
            <p:cNvSpPr txBox="1"/>
            <p:nvPr/>
          </p:nvSpPr>
          <p:spPr>
            <a:xfrm>
              <a:off x="444301" y="2315052"/>
              <a:ext cx="2662139"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55A11"/>
                  </a:solidFill>
                  <a:effectLst/>
                  <a:uLnTx/>
                  <a:uFillTx/>
                  <a:latin typeface="Calibri"/>
                  <a:ea typeface="+mn-ea"/>
                  <a:cs typeface="+mn-cs"/>
                </a:rPr>
                <a:t>“What day is it tomorrow”</a:t>
              </a:r>
            </a:p>
          </p:txBody>
        </p:sp>
        <p:sp>
          <p:nvSpPr>
            <p:cNvPr id="48" name="Freeform 47"/>
            <p:cNvSpPr/>
            <p:nvPr/>
          </p:nvSpPr>
          <p:spPr>
            <a:xfrm>
              <a:off x="3054484" y="2518485"/>
              <a:ext cx="758758" cy="263627"/>
            </a:xfrm>
            <a:custGeom>
              <a:avLst/>
              <a:gdLst>
                <a:gd name="csX0" fmla="*/ 0 w 758758"/>
                <a:gd name="csY0" fmla="*/ 30163 h 263627"/>
                <a:gd name="csX1" fmla="*/ 418290 w 758758"/>
                <a:gd name="csY1" fmla="*/ 20436 h 263627"/>
                <a:gd name="csX2" fmla="*/ 758758 w 758758"/>
                <a:gd name="csY2" fmla="*/ 263627 h 263627"/>
              </a:gdLst>
              <a:ahLst/>
              <a:cxnLst>
                <a:cxn ang="0">
                  <a:pos x="csX0" y="csY0"/>
                </a:cxn>
                <a:cxn ang="0">
                  <a:pos x="csX1" y="csY1"/>
                </a:cxn>
                <a:cxn ang="0">
                  <a:pos x="csX2" y="csY2"/>
                </a:cxn>
              </a:cxnLst>
              <a:rect l="l" t="t" r="r" b="b"/>
              <a:pathLst>
                <a:path w="758758" h="263627">
                  <a:moveTo>
                    <a:pt x="0" y="30163"/>
                  </a:moveTo>
                  <a:cubicBezTo>
                    <a:pt x="145915" y="5844"/>
                    <a:pt x="291830" y="-18475"/>
                    <a:pt x="418290" y="20436"/>
                  </a:cubicBezTo>
                  <a:cubicBezTo>
                    <a:pt x="544750" y="59347"/>
                    <a:pt x="692286" y="234444"/>
                    <a:pt x="758758" y="263627"/>
                  </a:cubicBez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72" name="Group 71"/>
          <p:cNvGrpSpPr/>
          <p:nvPr/>
        </p:nvGrpSpPr>
        <p:grpSpPr>
          <a:xfrm>
            <a:off x="660072" y="2103054"/>
            <a:ext cx="4115173" cy="3960487"/>
            <a:chOff x="444301" y="2315052"/>
            <a:chExt cx="4115173" cy="3960487"/>
          </a:xfrm>
        </p:grpSpPr>
        <p:sp>
          <p:nvSpPr>
            <p:cNvPr id="73" name="Can 72"/>
            <p:cNvSpPr/>
            <p:nvPr/>
          </p:nvSpPr>
          <p:spPr>
            <a:xfrm>
              <a:off x="2899262" y="5069555"/>
              <a:ext cx="1302707" cy="557784"/>
            </a:xfrm>
            <a:prstGeom prst="can">
              <a:avLst/>
            </a:prstGeom>
            <a:solidFill>
              <a:srgbClr val="DEEBF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today</a:t>
              </a:r>
            </a:p>
          </p:txBody>
        </p:sp>
        <p:sp>
          <p:nvSpPr>
            <p:cNvPr id="74" name="Can 73"/>
            <p:cNvSpPr/>
            <p:nvPr/>
          </p:nvSpPr>
          <p:spPr>
            <a:xfrm>
              <a:off x="2899262" y="4657972"/>
              <a:ext cx="1302707" cy="557784"/>
            </a:xfrm>
            <a:prstGeom prst="can">
              <a:avLst/>
            </a:prstGeom>
            <a:solidFill>
              <a:srgbClr val="DEEBF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it</a:t>
              </a:r>
            </a:p>
          </p:txBody>
        </p:sp>
        <p:sp>
          <p:nvSpPr>
            <p:cNvPr id="75" name="Can 74"/>
            <p:cNvSpPr/>
            <p:nvPr/>
          </p:nvSpPr>
          <p:spPr>
            <a:xfrm>
              <a:off x="2899262" y="4246389"/>
              <a:ext cx="1302707" cy="557784"/>
            </a:xfrm>
            <a:prstGeom prst="can">
              <a:avLst/>
            </a:prstGeom>
            <a:solidFill>
              <a:srgbClr val="DEEBF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is</a:t>
              </a:r>
            </a:p>
          </p:txBody>
        </p:sp>
        <p:sp>
          <p:nvSpPr>
            <p:cNvPr id="76" name="Can 75"/>
            <p:cNvSpPr/>
            <p:nvPr/>
          </p:nvSpPr>
          <p:spPr>
            <a:xfrm>
              <a:off x="2899262" y="3834806"/>
              <a:ext cx="1302707" cy="557784"/>
            </a:xfrm>
            <a:prstGeom prst="can">
              <a:avLst/>
            </a:prstGeom>
            <a:solidFill>
              <a:srgbClr val="DEEBF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day</a:t>
              </a:r>
            </a:p>
          </p:txBody>
        </p:sp>
        <p:sp>
          <p:nvSpPr>
            <p:cNvPr id="77" name="Rectangle 76"/>
            <p:cNvSpPr/>
            <p:nvPr/>
          </p:nvSpPr>
          <p:spPr>
            <a:xfrm>
              <a:off x="1240077" y="2805830"/>
              <a:ext cx="3319397" cy="34697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TextBox 77"/>
            <p:cNvSpPr txBox="1"/>
            <p:nvPr/>
          </p:nvSpPr>
          <p:spPr>
            <a:xfrm>
              <a:off x="1240077" y="2815558"/>
              <a:ext cx="2280496" cy="400110"/>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Prefill for Request 1</a:t>
              </a:r>
            </a:p>
          </p:txBody>
        </p:sp>
        <p:sp>
          <p:nvSpPr>
            <p:cNvPr id="79" name="Rectangle 78"/>
            <p:cNvSpPr/>
            <p:nvPr/>
          </p:nvSpPr>
          <p:spPr>
            <a:xfrm>
              <a:off x="1665962" y="3436130"/>
              <a:ext cx="776613" cy="438411"/>
            </a:xfrm>
            <a:prstGeom prst="rect">
              <a:avLst/>
            </a:prstGeom>
            <a:solidFill>
              <a:srgbClr val="E0EEE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What</a:t>
              </a:r>
            </a:p>
          </p:txBody>
        </p:sp>
        <p:sp>
          <p:nvSpPr>
            <p:cNvPr id="80" name="Rectangle 79"/>
            <p:cNvSpPr/>
            <p:nvPr/>
          </p:nvSpPr>
          <p:spPr>
            <a:xfrm>
              <a:off x="1665962" y="3874541"/>
              <a:ext cx="776613" cy="438411"/>
            </a:xfrm>
            <a:prstGeom prst="rect">
              <a:avLst/>
            </a:prstGeom>
            <a:solidFill>
              <a:srgbClr val="E0EEE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day</a:t>
              </a:r>
            </a:p>
          </p:txBody>
        </p:sp>
        <p:sp>
          <p:nvSpPr>
            <p:cNvPr id="81" name="Rectangle 80"/>
            <p:cNvSpPr/>
            <p:nvPr/>
          </p:nvSpPr>
          <p:spPr>
            <a:xfrm>
              <a:off x="1665962" y="4312952"/>
              <a:ext cx="776613" cy="438411"/>
            </a:xfrm>
            <a:prstGeom prst="rect">
              <a:avLst/>
            </a:prstGeom>
            <a:solidFill>
              <a:srgbClr val="E0EEE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is</a:t>
              </a:r>
            </a:p>
          </p:txBody>
        </p:sp>
        <p:sp>
          <p:nvSpPr>
            <p:cNvPr id="82" name="Rectangle 81"/>
            <p:cNvSpPr/>
            <p:nvPr/>
          </p:nvSpPr>
          <p:spPr>
            <a:xfrm>
              <a:off x="1665962" y="4751363"/>
              <a:ext cx="776613" cy="438411"/>
            </a:xfrm>
            <a:prstGeom prst="rect">
              <a:avLst/>
            </a:prstGeom>
            <a:solidFill>
              <a:srgbClr val="E0EEE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it</a:t>
              </a:r>
            </a:p>
          </p:txBody>
        </p:sp>
        <p:sp>
          <p:nvSpPr>
            <p:cNvPr id="83" name="Rectangle 82"/>
            <p:cNvSpPr/>
            <p:nvPr/>
          </p:nvSpPr>
          <p:spPr>
            <a:xfrm>
              <a:off x="1665962" y="5189774"/>
              <a:ext cx="776613" cy="438411"/>
            </a:xfrm>
            <a:prstGeom prst="rect">
              <a:avLst/>
            </a:prstGeom>
            <a:solidFill>
              <a:srgbClr val="E0EEE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today</a:t>
              </a:r>
            </a:p>
          </p:txBody>
        </p:sp>
        <p:sp>
          <p:nvSpPr>
            <p:cNvPr id="84" name="Can 83"/>
            <p:cNvSpPr/>
            <p:nvPr/>
          </p:nvSpPr>
          <p:spPr>
            <a:xfrm>
              <a:off x="2899262" y="3423223"/>
              <a:ext cx="1302707" cy="557784"/>
            </a:xfrm>
            <a:prstGeom prst="can">
              <a:avLst/>
            </a:prstGeom>
            <a:solidFill>
              <a:srgbClr val="DEEBF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What</a:t>
              </a:r>
            </a:p>
          </p:txBody>
        </p:sp>
        <p:sp>
          <p:nvSpPr>
            <p:cNvPr id="85" name="TextBox 84"/>
            <p:cNvSpPr txBox="1"/>
            <p:nvPr/>
          </p:nvSpPr>
          <p:spPr>
            <a:xfrm>
              <a:off x="1888576" y="5775988"/>
              <a:ext cx="2126223"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2F5597"/>
                  </a:solidFill>
                  <a:effectLst/>
                  <a:uLnTx/>
                  <a:uFillTx/>
                  <a:latin typeface="Calibri"/>
                  <a:ea typeface="+mn-ea"/>
                  <a:cs typeface="+mn-cs"/>
                </a:rPr>
                <a:t>(5 tokens computed)</a:t>
              </a:r>
            </a:p>
          </p:txBody>
        </p:sp>
        <p:cxnSp>
          <p:nvCxnSpPr>
            <p:cNvPr id="86" name="Straight Arrow Connector 85"/>
            <p:cNvCxnSpPr/>
            <p:nvPr/>
          </p:nvCxnSpPr>
          <p:spPr>
            <a:xfrm>
              <a:off x="2471759" y="3684312"/>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7" name="Straight Arrow Connector 86"/>
            <p:cNvCxnSpPr/>
            <p:nvPr/>
          </p:nvCxnSpPr>
          <p:spPr>
            <a:xfrm>
              <a:off x="2471759" y="4118814"/>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8" name="Straight Arrow Connector 87"/>
            <p:cNvCxnSpPr/>
            <p:nvPr/>
          </p:nvCxnSpPr>
          <p:spPr>
            <a:xfrm>
              <a:off x="2471759" y="4553316"/>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9" name="Straight Arrow Connector 88"/>
            <p:cNvCxnSpPr/>
            <p:nvPr/>
          </p:nvCxnSpPr>
          <p:spPr>
            <a:xfrm>
              <a:off x="2471759" y="4987818"/>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0" name="Straight Arrow Connector 89"/>
            <p:cNvCxnSpPr/>
            <p:nvPr/>
          </p:nvCxnSpPr>
          <p:spPr>
            <a:xfrm>
              <a:off x="2471759" y="5422320"/>
              <a:ext cx="408981"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1" name="TextBox 90"/>
            <p:cNvSpPr txBox="1"/>
            <p:nvPr/>
          </p:nvSpPr>
          <p:spPr>
            <a:xfrm>
              <a:off x="444301" y="2315052"/>
              <a:ext cx="2261132"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55A11"/>
                  </a:solidFill>
                  <a:effectLst/>
                  <a:uLnTx/>
                  <a:uFillTx/>
                  <a:latin typeface="Calibri"/>
                  <a:ea typeface="+mn-ea"/>
                  <a:cs typeface="+mn-cs"/>
                </a:rPr>
                <a:t>“What day is it today”</a:t>
              </a:r>
            </a:p>
          </p:txBody>
        </p:sp>
        <p:sp>
          <p:nvSpPr>
            <p:cNvPr id="92" name="Freeform 91"/>
            <p:cNvSpPr/>
            <p:nvPr/>
          </p:nvSpPr>
          <p:spPr>
            <a:xfrm>
              <a:off x="2684833" y="2518485"/>
              <a:ext cx="758758" cy="263627"/>
            </a:xfrm>
            <a:custGeom>
              <a:avLst/>
              <a:gdLst>
                <a:gd name="csX0" fmla="*/ 0 w 758758"/>
                <a:gd name="csY0" fmla="*/ 30163 h 263627"/>
                <a:gd name="csX1" fmla="*/ 418290 w 758758"/>
                <a:gd name="csY1" fmla="*/ 20436 h 263627"/>
                <a:gd name="csX2" fmla="*/ 758758 w 758758"/>
                <a:gd name="csY2" fmla="*/ 263627 h 263627"/>
              </a:gdLst>
              <a:ahLst/>
              <a:cxnLst>
                <a:cxn ang="0">
                  <a:pos x="csX0" y="csY0"/>
                </a:cxn>
                <a:cxn ang="0">
                  <a:pos x="csX1" y="csY1"/>
                </a:cxn>
                <a:cxn ang="0">
                  <a:pos x="csX2" y="csY2"/>
                </a:cxn>
              </a:cxnLst>
              <a:rect l="l" t="t" r="r" b="b"/>
              <a:pathLst>
                <a:path w="758758" h="263627">
                  <a:moveTo>
                    <a:pt x="0" y="30163"/>
                  </a:moveTo>
                  <a:cubicBezTo>
                    <a:pt x="145915" y="5844"/>
                    <a:pt x="291830" y="-18475"/>
                    <a:pt x="418290" y="20436"/>
                  </a:cubicBezTo>
                  <a:cubicBezTo>
                    <a:pt x="544750" y="59347"/>
                    <a:pt x="692286" y="234444"/>
                    <a:pt x="758758" y="263627"/>
                  </a:cubicBez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94" name="Right Arrow 93"/>
          <p:cNvSpPr/>
          <p:nvPr/>
        </p:nvSpPr>
        <p:spPr>
          <a:xfrm>
            <a:off x="5257940" y="4159319"/>
            <a:ext cx="1342417" cy="345020"/>
          </a:xfrm>
          <a:prstGeom prst="rightArrow">
            <a:avLst/>
          </a:prstGeom>
          <a:gradFill flip="none" rotWithShape="1">
            <a:gsLst>
              <a:gs pos="0">
                <a:srgbClr val="FFE9A7"/>
              </a:gs>
              <a:gs pos="50000">
                <a:srgbClr val="FFEBAE"/>
              </a:gs>
              <a:gs pos="100000">
                <a:srgbClr val="FFF3CF"/>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5" name="TextBox 94"/>
          <p:cNvSpPr txBox="1"/>
          <p:nvPr/>
        </p:nvSpPr>
        <p:spPr>
          <a:xfrm>
            <a:off x="4962377" y="3780482"/>
            <a:ext cx="1837683" cy="400110"/>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KV Cache Reuse</a:t>
            </a:r>
          </a:p>
        </p:txBody>
      </p:sp>
      <p:sp>
        <p:nvSpPr>
          <p:cNvPr id="3" name="矩形 1"/>
          <p:cNvSpPr/>
          <p:nvPr/>
        </p:nvSpPr>
        <p:spPr>
          <a:xfrm>
            <a:off x="0" y="30"/>
            <a:ext cx="12192000" cy="6858000"/>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97" name="矩形 3"/>
          <p:cNvSpPr/>
          <p:nvPr/>
        </p:nvSpPr>
        <p:spPr>
          <a:xfrm>
            <a:off x="-5608" y="1482230"/>
            <a:ext cx="12192000" cy="3813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4000" b="0" i="0" u="none" strike="noStrike" kern="1200" cap="none" spc="0" normalizeH="0" baseline="0" noProof="0" dirty="0">
              <a:ln w="0">
                <a:noFill/>
              </a:ln>
              <a:solidFill>
                <a:prstClr val="black"/>
              </a:solidFill>
              <a:effectLst/>
              <a:uLnTx/>
              <a:uFillTx/>
              <a:latin typeface="Calibri"/>
              <a:ea typeface="宋体" panose="02010600030101010101" pitchFamily="2" charset="-122"/>
              <a:cs typeface="+mn-cs"/>
            </a:endParaRPr>
          </a:p>
        </p:txBody>
      </p:sp>
      <p:sp>
        <p:nvSpPr>
          <p:cNvPr id="99" name="TextBox 98"/>
          <p:cNvSpPr txBox="1"/>
          <p:nvPr/>
        </p:nvSpPr>
        <p:spPr>
          <a:xfrm>
            <a:off x="12738226" y="4080850"/>
            <a:ext cx="184731"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0"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skill-template-section-label"/>
          <p:cNvSpPr txBox="1"/>
          <p:nvPr/>
        </p:nvSpPr>
        <p:spPr>
          <a:xfrm>
            <a:off x="704850" y="238125"/>
            <a:ext cx="238125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Aptos" panose="020B0400000000000000" charset="-122"/>
                <a:ea typeface="+mn-ea"/>
                <a:cs typeface="+mn-cs"/>
              </a:rPr>
              <a:t>MOTIVATION</a:t>
            </a:r>
          </a:p>
        </p:txBody>
      </p:sp>
      <p:sp>
        <p:nvSpPr>
          <p:cNvPr id="102" name="skill-template-content-divider"/>
          <p:cNvSpPr/>
          <p:nvPr/>
        </p:nvSpPr>
        <p:spPr>
          <a:xfrm>
            <a:off x="7048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3"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4" name="skill-template-footer-deck-name"/>
          <p:cNvSpPr txBox="1"/>
          <p:nvPr/>
        </p:nvSpPr>
        <p:spPr>
          <a:xfrm>
            <a:off x="552450" y="6515100"/>
            <a:ext cx="590550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Aptos" panose="020B0400000000000000" charset="-122"/>
                <a:ea typeface="+mn-ea"/>
                <a:cs typeface="+mn-cs"/>
              </a:rPr>
              <a:t>CoDec | SIGMOD Research Talk</a:t>
            </a:r>
          </a:p>
        </p:txBody>
      </p:sp>
      <p:sp>
        <p:nvSpPr>
          <p:cNvPr id="105" name="skill-template-footer-page-number"/>
          <p:cNvSpPr txBox="1"/>
          <p:nvPr/>
        </p:nvSpPr>
        <p:spPr>
          <a:xfrm>
            <a:off x="10829925" y="6515100"/>
            <a:ext cx="381000" cy="209550"/>
          </a:xfrm>
          <a:prstGeom prst="rect">
            <a:avLst/>
          </a:prstGeom>
          <a:noFill/>
        </p:spPr>
        <p:txBody>
          <a:bodyPr wrap="none" lIns="0" tIns="0" rIns="0" bIns="0" anchor="t">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Aptos" panose="020B0400000000000000" charset="-122"/>
                <a:ea typeface="+mn-ea"/>
                <a:cs typeface="+mn-cs"/>
              </a:rPr>
              <a:t>17</a:t>
            </a:r>
          </a:p>
        </p:txBody>
      </p:sp>
      <p:pic>
        <p:nvPicPr>
          <p:cNvPr id="17" name="图片 16"/>
          <p:cNvPicPr>
            <a:picLocks noChangeAspect="1"/>
          </p:cNvPicPr>
          <p:nvPr/>
        </p:nvPicPr>
        <p:blipFill>
          <a:blip r:embed="rId4"/>
          <a:stretch>
            <a:fillRect/>
          </a:stretch>
        </p:blipFill>
        <p:spPr>
          <a:xfrm>
            <a:off x="3659362" y="1862973"/>
            <a:ext cx="5727700" cy="2120900"/>
          </a:xfrm>
          <a:prstGeom prst="rect">
            <a:avLst/>
          </a:prstGeom>
        </p:spPr>
      </p:pic>
      <p:sp>
        <p:nvSpPr>
          <p:cNvPr id="18" name="文本框 17"/>
          <p:cNvSpPr txBox="1"/>
          <p:nvPr/>
        </p:nvSpPr>
        <p:spPr>
          <a:xfrm>
            <a:off x="169291" y="2878039"/>
            <a:ext cx="6470542" cy="92333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w="0">
                  <a:noFill/>
                </a:ln>
                <a:solidFill>
                  <a:prstClr val="black"/>
                </a:solidFill>
                <a:effectLst/>
                <a:uLnTx/>
                <a:uFillTx/>
                <a:latin typeface="Calibri"/>
                <a:ea typeface="宋体" panose="02010600030101010101" pitchFamily="2" charset="-122"/>
                <a:cs typeface="+mn-cs"/>
              </a:rPr>
              <a:t>Model: Llama-3.1-8B</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w="0">
                  <a:noFill/>
                </a:ln>
                <a:solidFill>
                  <a:prstClr val="black"/>
                </a:solidFill>
                <a:effectLst/>
                <a:uLnTx/>
                <a:uFillTx/>
                <a:latin typeface="Calibri"/>
                <a:ea typeface="宋体" panose="02010600030101010101" pitchFamily="2" charset="-122"/>
                <a:cs typeface="+mn-cs"/>
              </a:rPr>
              <a:t>Input length: 100K prompt tokens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w="0">
                  <a:noFill/>
                </a:ln>
                <a:solidFill>
                  <a:prstClr val="black"/>
                </a:solidFill>
                <a:effectLst/>
                <a:uLnTx/>
                <a:uFillTx/>
                <a:latin typeface="Calibri"/>
                <a:ea typeface="宋体" panose="02010600030101010101" pitchFamily="2" charset="-122"/>
                <a:cs typeface="+mn-cs"/>
              </a:rPr>
              <a:t>Output length: 128 tokens</a:t>
            </a:r>
          </a:p>
        </p:txBody>
      </p:sp>
      <p:sp>
        <p:nvSpPr>
          <p:cNvPr id="20" name="文本框 19"/>
          <p:cNvSpPr txBox="1"/>
          <p:nvPr/>
        </p:nvSpPr>
        <p:spPr>
          <a:xfrm>
            <a:off x="132733" y="1388086"/>
            <a:ext cx="7828735"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w="0">
                  <a:noFill/>
                </a:ln>
                <a:solidFill>
                  <a:prstClr val="black"/>
                </a:solidFill>
                <a:effectLst/>
                <a:uLnTx/>
                <a:uFillTx/>
                <a:latin typeface="Calibri"/>
                <a:ea typeface="宋体" panose="02010600030101010101" pitchFamily="2" charset="-122"/>
                <a:cs typeface="+mn-cs"/>
              </a:rPr>
              <a:t>Decode attention dominates runtime.</a:t>
            </a:r>
          </a:p>
        </p:txBody>
      </p:sp>
      <p:sp>
        <p:nvSpPr>
          <p:cNvPr id="15" name="文本框 14"/>
          <p:cNvSpPr txBox="1"/>
          <p:nvPr/>
        </p:nvSpPr>
        <p:spPr>
          <a:xfrm>
            <a:off x="585787" y="4134555"/>
            <a:ext cx="10889371" cy="1077218"/>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w="0">
                  <a:noFill/>
                </a:ln>
                <a:solidFill>
                  <a:prstClr val="black"/>
                </a:solidFill>
                <a:effectLst/>
                <a:uLnTx/>
                <a:uFillTx/>
                <a:latin typeface="Calibri"/>
                <a:ea typeface="宋体" panose="02010600030101010101" pitchFamily="2" charset="-122"/>
                <a:cs typeface="+mn-cs"/>
              </a:rPr>
              <a:t>We always decode </a:t>
            </a:r>
            <a:r>
              <a:rPr kumimoji="0" lang="en-US" altLang="zh-CN" sz="3200" b="1" i="0" u="none" strike="noStrike" kern="1200" cap="none" spc="0" normalizeH="0" baseline="0" noProof="0" dirty="0">
                <a:ln w="0">
                  <a:noFill/>
                </a:ln>
                <a:solidFill>
                  <a:srgbClr val="A02B93">
                    <a:lumMod val="75000"/>
                  </a:srgbClr>
                </a:solidFill>
                <a:effectLst/>
                <a:uLnTx/>
                <a:uFillTx/>
                <a:latin typeface="Calibri"/>
                <a:ea typeface="宋体" panose="02010600030101010101" pitchFamily="2" charset="-122"/>
                <a:cs typeface="+mn-cs"/>
              </a:rPr>
              <a:t>1 token/request</a:t>
            </a:r>
            <a:r>
              <a:rPr kumimoji="0" lang="en-US" altLang="zh-CN" sz="3200" b="0" i="0" u="none" strike="noStrike" kern="1200" cap="none" spc="0" normalizeH="0" baseline="0" noProof="0" dirty="0">
                <a:ln w="0">
                  <a:noFill/>
                </a:ln>
                <a:solidFill>
                  <a:srgbClr val="A02B93">
                    <a:lumMod val="75000"/>
                  </a:srgbClr>
                </a:solidFill>
                <a:effectLst/>
                <a:uLnTx/>
                <a:uFillTx/>
                <a:latin typeface="Calibri"/>
                <a:ea typeface="宋体" panose="02010600030101010101" pitchFamily="2" charset="-122"/>
                <a:cs typeface="+mn-cs"/>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w="0">
                  <a:noFill/>
                </a:ln>
                <a:solidFill>
                  <a:prstClr val="black"/>
                </a:solidFill>
                <a:effectLst/>
                <a:uLnTx/>
                <a:uFillTx/>
                <a:latin typeface="Calibri"/>
                <a:ea typeface="宋体" panose="02010600030101010101" pitchFamily="2" charset="-122"/>
                <a:cs typeface="+mn-cs"/>
              </a:rPr>
              <a:t>Can we still reuse KV cache in </a:t>
            </a:r>
            <a:r>
              <a:rPr kumimoji="0" lang="en-US" altLang="zh-CN" sz="3200" b="1" i="0" u="none" strike="noStrike" kern="1200" cap="none" spc="0" normalizeH="0" baseline="0" noProof="0" dirty="0">
                <a:ln w="0">
                  <a:noFill/>
                </a:ln>
                <a:solidFill>
                  <a:srgbClr val="A02B93">
                    <a:lumMod val="75000"/>
                  </a:srgbClr>
                </a:solidFill>
                <a:effectLst/>
                <a:uLnTx/>
                <a:uFillTx/>
                <a:latin typeface="Calibri"/>
                <a:ea typeface="宋体" panose="02010600030101010101" pitchFamily="2" charset="-122"/>
                <a:cs typeface="+mn-cs"/>
              </a:rPr>
              <a:t>decode</a:t>
            </a:r>
            <a:r>
              <a:rPr kumimoji="0" lang="en-US" altLang="zh-CN" sz="3200" b="0" i="0" u="none" strike="noStrike" kern="1200" cap="none" spc="0" normalizeH="0" baseline="0" noProof="0" dirty="0">
                <a:ln w="0">
                  <a:noFill/>
                </a:ln>
                <a:solidFill>
                  <a:prstClr val="black"/>
                </a:solidFill>
                <a:effectLst/>
                <a:uLnTx/>
                <a:uFillTx/>
                <a:latin typeface="Calibri"/>
                <a:ea typeface="宋体" panose="02010600030101010101" pitchFamily="2" charset="-122"/>
                <a:cs typeface="+mn-cs"/>
              </a:rPr>
              <a:t> stage?</a:t>
            </a:r>
            <a:endParaRPr kumimoji="0" lang="zh-CN" altLang="en-US" sz="3200" b="0" i="0" u="none" strike="noStrike" kern="1200" cap="none" spc="0" normalizeH="0" baseline="0" noProof="0" dirty="0">
              <a:ln w="0">
                <a:noFill/>
              </a:ln>
              <a:solidFill>
                <a:prstClr val="black"/>
              </a:solidFill>
              <a:effectLst/>
              <a:uLnTx/>
              <a:uFillTx/>
              <a:latin typeface="Calibri"/>
              <a:ea typeface="宋体" panose="02010600030101010101" pitchFamily="2" charset="-122"/>
              <a:cs typeface="+mn-cs"/>
            </a:endParaRPr>
          </a:p>
        </p:txBody>
      </p:sp>
      <p:pic>
        <p:nvPicPr>
          <p:cNvPr id="98" name="图形 6"/>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098" y="3999720"/>
            <a:ext cx="1053525" cy="11177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2" presetClass="entr" presetSubtype="4"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additive="base">
                                        <p:cTn id="33" dur="500" fill="hold"/>
                                        <p:tgtEl>
                                          <p:spTgt spid="20"/>
                                        </p:tgtEl>
                                        <p:attrNameLst>
                                          <p:attrName>ppt_x</p:attrName>
                                        </p:attrNameLst>
                                      </p:cBhvr>
                                      <p:tavLst>
                                        <p:tav tm="0">
                                          <p:val>
                                            <p:strVal val="#ppt_x"/>
                                          </p:val>
                                        </p:tav>
                                        <p:tav tm="100000">
                                          <p:val>
                                            <p:strVal val="#ppt_x"/>
                                          </p:val>
                                        </p:tav>
                                      </p:tavLst>
                                    </p:anim>
                                    <p:anim calcmode="lin" valueType="num">
                                      <p:cBhvr additive="base">
                                        <p:cTn id="34" dur="500" fill="hold"/>
                                        <p:tgtEl>
                                          <p:spTgt spid="2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5" grpId="0"/>
      <p:bldP spid="3" grpId="0" bldLvl="0" animBg="1"/>
      <p:bldP spid="97" grpId="0" bldLvl="0" animBg="1"/>
      <p:bldP spid="18" grpId="0"/>
      <p:bldP spid="20"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Prefix Sharing Workloads: Decode Stage</a:t>
            </a:r>
          </a:p>
        </p:txBody>
      </p:sp>
      <p:sp>
        <p:nvSpPr>
          <p:cNvPr id="7" name="Rounded Rectangle 6"/>
          <p:cNvSpPr/>
          <p:nvPr/>
        </p:nvSpPr>
        <p:spPr>
          <a:xfrm>
            <a:off x="1577515" y="1804845"/>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8" name="Rounded Rectangle 7"/>
          <p:cNvSpPr/>
          <p:nvPr/>
        </p:nvSpPr>
        <p:spPr>
          <a:xfrm>
            <a:off x="3761139" y="1804845"/>
            <a:ext cx="1584494" cy="481631"/>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9" name="Rounded Rectangle 8"/>
          <p:cNvSpPr/>
          <p:nvPr/>
        </p:nvSpPr>
        <p:spPr>
          <a:xfrm>
            <a:off x="5944763" y="1804845"/>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1</a:t>
            </a:r>
          </a:p>
        </p:txBody>
      </p:sp>
      <p:cxnSp>
        <p:nvCxnSpPr>
          <p:cNvPr id="12" name="Straight Connector 11"/>
          <p:cNvCxnSpPr>
            <a:stCxn id="7" idx="3"/>
            <a:endCxn id="8" idx="1"/>
          </p:cNvCxnSpPr>
          <p:nvPr/>
        </p:nvCxnSpPr>
        <p:spPr>
          <a:xfrm>
            <a:off x="3162009" y="2045661"/>
            <a:ext cx="599130"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a:stCxn id="8" idx="3"/>
            <a:endCxn id="9" idx="1"/>
          </p:cNvCxnSpPr>
          <p:nvPr/>
        </p:nvCxnSpPr>
        <p:spPr>
          <a:xfrm>
            <a:off x="5345633" y="2045661"/>
            <a:ext cx="599130" cy="0"/>
          </a:xfrm>
          <a:prstGeom prst="line">
            <a:avLst/>
          </a:prstGeom>
        </p:spPr>
        <p:style>
          <a:lnRef idx="2">
            <a:schemeClr val="dk1"/>
          </a:lnRef>
          <a:fillRef idx="0">
            <a:schemeClr val="dk1"/>
          </a:fillRef>
          <a:effectRef idx="1">
            <a:schemeClr val="dk1"/>
          </a:effectRef>
          <a:fontRef idx="minor">
            <a:schemeClr val="tx1"/>
          </a:fontRef>
        </p:style>
      </p:cxnSp>
      <p:sp>
        <p:nvSpPr>
          <p:cNvPr id="15" name="Rounded Rectangle 14"/>
          <p:cNvSpPr/>
          <p:nvPr/>
        </p:nvSpPr>
        <p:spPr>
          <a:xfrm>
            <a:off x="1577515" y="2824784"/>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16" name="Rounded Rectangle 15"/>
          <p:cNvSpPr/>
          <p:nvPr/>
        </p:nvSpPr>
        <p:spPr>
          <a:xfrm>
            <a:off x="3761139" y="2824784"/>
            <a:ext cx="1584494" cy="481631"/>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17" name="Rounded Rectangle 16"/>
          <p:cNvSpPr/>
          <p:nvPr/>
        </p:nvSpPr>
        <p:spPr>
          <a:xfrm>
            <a:off x="5944763" y="2824784"/>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2</a:t>
            </a:r>
          </a:p>
        </p:txBody>
      </p:sp>
      <p:cxnSp>
        <p:nvCxnSpPr>
          <p:cNvPr id="18" name="Straight Connector 17"/>
          <p:cNvCxnSpPr>
            <a:stCxn id="15" idx="3"/>
            <a:endCxn id="16" idx="1"/>
          </p:cNvCxnSpPr>
          <p:nvPr/>
        </p:nvCxnSpPr>
        <p:spPr>
          <a:xfrm>
            <a:off x="3162009" y="3065600"/>
            <a:ext cx="599130"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p:cNvCxnSpPr>
            <a:stCxn id="16" idx="3"/>
            <a:endCxn id="17" idx="1"/>
          </p:cNvCxnSpPr>
          <p:nvPr/>
        </p:nvCxnSpPr>
        <p:spPr>
          <a:xfrm>
            <a:off x="5345633" y="3065600"/>
            <a:ext cx="599130" cy="0"/>
          </a:xfrm>
          <a:prstGeom prst="line">
            <a:avLst/>
          </a:prstGeom>
        </p:spPr>
        <p:style>
          <a:lnRef idx="2">
            <a:schemeClr val="dk1"/>
          </a:lnRef>
          <a:fillRef idx="0">
            <a:schemeClr val="dk1"/>
          </a:fillRef>
          <a:effectRef idx="1">
            <a:schemeClr val="dk1"/>
          </a:effectRef>
          <a:fontRef idx="minor">
            <a:schemeClr val="tx1"/>
          </a:fontRef>
        </p:style>
      </p:cxnSp>
      <p:sp>
        <p:nvSpPr>
          <p:cNvPr id="36" name="Rounded Rectangle 35"/>
          <p:cNvSpPr/>
          <p:nvPr/>
        </p:nvSpPr>
        <p:spPr>
          <a:xfrm>
            <a:off x="1577515" y="3844722"/>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37" name="Rounded Rectangle 36"/>
          <p:cNvSpPr/>
          <p:nvPr/>
        </p:nvSpPr>
        <p:spPr>
          <a:xfrm>
            <a:off x="3761139" y="3844722"/>
            <a:ext cx="1584494" cy="481631"/>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38" name="Rounded Rectangle 37"/>
          <p:cNvSpPr/>
          <p:nvPr/>
        </p:nvSpPr>
        <p:spPr>
          <a:xfrm>
            <a:off x="5944763" y="3844722"/>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3</a:t>
            </a:r>
          </a:p>
        </p:txBody>
      </p:sp>
      <p:cxnSp>
        <p:nvCxnSpPr>
          <p:cNvPr id="39" name="Straight Connector 38"/>
          <p:cNvCxnSpPr>
            <a:stCxn id="36" idx="3"/>
            <a:endCxn id="37" idx="1"/>
          </p:cNvCxnSpPr>
          <p:nvPr/>
        </p:nvCxnSpPr>
        <p:spPr>
          <a:xfrm>
            <a:off x="3162009" y="4085538"/>
            <a:ext cx="599130" cy="0"/>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p:cNvCxnSpPr>
            <a:stCxn id="37" idx="3"/>
            <a:endCxn id="38" idx="1"/>
          </p:cNvCxnSpPr>
          <p:nvPr/>
        </p:nvCxnSpPr>
        <p:spPr>
          <a:xfrm>
            <a:off x="5345633" y="4085538"/>
            <a:ext cx="599130" cy="0"/>
          </a:xfrm>
          <a:prstGeom prst="line">
            <a:avLst/>
          </a:prstGeom>
        </p:spPr>
        <p:style>
          <a:lnRef idx="2">
            <a:schemeClr val="dk1"/>
          </a:lnRef>
          <a:fillRef idx="0">
            <a:schemeClr val="dk1"/>
          </a:fillRef>
          <a:effectRef idx="1">
            <a:schemeClr val="dk1"/>
          </a:effectRef>
          <a:fontRef idx="minor">
            <a:schemeClr val="tx1"/>
          </a:fontRef>
        </p:style>
      </p:cxnSp>
      <p:sp>
        <p:nvSpPr>
          <p:cNvPr id="46" name="Rounded Rectangle 45"/>
          <p:cNvSpPr/>
          <p:nvPr/>
        </p:nvSpPr>
        <p:spPr>
          <a:xfrm>
            <a:off x="1577515" y="4864660"/>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47" name="Rounded Rectangle 46"/>
          <p:cNvSpPr/>
          <p:nvPr/>
        </p:nvSpPr>
        <p:spPr>
          <a:xfrm>
            <a:off x="3761139" y="4864660"/>
            <a:ext cx="1584494" cy="481631"/>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48" name="Rounded Rectangle 47"/>
          <p:cNvSpPr/>
          <p:nvPr/>
        </p:nvSpPr>
        <p:spPr>
          <a:xfrm>
            <a:off x="5944763" y="4864660"/>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4</a:t>
            </a:r>
          </a:p>
        </p:txBody>
      </p:sp>
      <p:cxnSp>
        <p:nvCxnSpPr>
          <p:cNvPr id="49" name="Straight Connector 48"/>
          <p:cNvCxnSpPr>
            <a:stCxn id="46" idx="3"/>
            <a:endCxn id="47" idx="1"/>
          </p:cNvCxnSpPr>
          <p:nvPr/>
        </p:nvCxnSpPr>
        <p:spPr>
          <a:xfrm>
            <a:off x="3162009" y="5105476"/>
            <a:ext cx="599130" cy="0"/>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p:cNvCxnSpPr>
            <a:stCxn id="47" idx="3"/>
            <a:endCxn id="48" idx="1"/>
          </p:cNvCxnSpPr>
          <p:nvPr/>
        </p:nvCxnSpPr>
        <p:spPr>
          <a:xfrm>
            <a:off x="5345633" y="5105476"/>
            <a:ext cx="599130" cy="0"/>
          </a:xfrm>
          <a:prstGeom prst="line">
            <a:avLst/>
          </a:prstGeom>
        </p:spPr>
        <p:style>
          <a:lnRef idx="2">
            <a:schemeClr val="dk1"/>
          </a:lnRef>
          <a:fillRef idx="0">
            <a:schemeClr val="dk1"/>
          </a:fillRef>
          <a:effectRef idx="1">
            <a:schemeClr val="dk1"/>
          </a:effectRef>
          <a:fontRef idx="minor">
            <a:schemeClr val="tx1"/>
          </a:fontRef>
        </p:style>
      </p:cxnSp>
      <p:sp>
        <p:nvSpPr>
          <p:cNvPr id="3" name="Rounded Rectangle 2"/>
          <p:cNvSpPr/>
          <p:nvPr/>
        </p:nvSpPr>
        <p:spPr>
          <a:xfrm>
            <a:off x="1577515" y="1686182"/>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7708105" y="1860993"/>
            <a:ext cx="127605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Next Token </a:t>
            </a:r>
          </a:p>
        </p:txBody>
      </p:sp>
      <p:sp>
        <p:nvSpPr>
          <p:cNvPr id="23" name="TextBox 22"/>
          <p:cNvSpPr txBox="1"/>
          <p:nvPr/>
        </p:nvSpPr>
        <p:spPr>
          <a:xfrm>
            <a:off x="7708104" y="2876333"/>
            <a:ext cx="127605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Next Token </a:t>
            </a:r>
          </a:p>
        </p:txBody>
      </p:sp>
      <p:sp>
        <p:nvSpPr>
          <p:cNvPr id="24" name="TextBox 23"/>
          <p:cNvSpPr txBox="1"/>
          <p:nvPr/>
        </p:nvSpPr>
        <p:spPr>
          <a:xfrm>
            <a:off x="7708103" y="3891673"/>
            <a:ext cx="127605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Next Token </a:t>
            </a:r>
          </a:p>
        </p:txBody>
      </p:sp>
      <p:sp>
        <p:nvSpPr>
          <p:cNvPr id="25" name="TextBox 24"/>
          <p:cNvSpPr txBox="1"/>
          <p:nvPr/>
        </p:nvSpPr>
        <p:spPr>
          <a:xfrm>
            <a:off x="7708102" y="4907013"/>
            <a:ext cx="127605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Next Token </a:t>
            </a:r>
          </a:p>
        </p:txBody>
      </p:sp>
      <p:sp>
        <p:nvSpPr>
          <p:cNvPr id="28" name="Rounded Rectangle 27"/>
          <p:cNvSpPr/>
          <p:nvPr/>
        </p:nvSpPr>
        <p:spPr>
          <a:xfrm>
            <a:off x="1573481" y="2702629"/>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Rounded Rectangle 28"/>
          <p:cNvSpPr/>
          <p:nvPr/>
        </p:nvSpPr>
        <p:spPr>
          <a:xfrm>
            <a:off x="1569447" y="3719076"/>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Rounded Rectangle 29"/>
          <p:cNvSpPr/>
          <p:nvPr/>
        </p:nvSpPr>
        <p:spPr>
          <a:xfrm>
            <a:off x="1565413" y="4735523"/>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p:cNvSpPr/>
          <p:nvPr/>
        </p:nvSpPr>
        <p:spPr>
          <a:xfrm>
            <a:off x="1521673" y="2769276"/>
            <a:ext cx="1696177" cy="2631510"/>
          </a:xfrm>
          <a:prstGeom prst="rect">
            <a:avLst/>
          </a:prstGeom>
          <a:solidFill>
            <a:srgbClr val="A6A6A6">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3705298" y="2769276"/>
            <a:ext cx="1696177" cy="600241"/>
          </a:xfrm>
          <a:prstGeom prst="rect">
            <a:avLst/>
          </a:prstGeom>
          <a:solidFill>
            <a:srgbClr val="A6A6A6">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Rectangle 32"/>
          <p:cNvSpPr/>
          <p:nvPr/>
        </p:nvSpPr>
        <p:spPr>
          <a:xfrm>
            <a:off x="3705297" y="4805354"/>
            <a:ext cx="1696177" cy="600241"/>
          </a:xfrm>
          <a:prstGeom prst="rect">
            <a:avLst/>
          </a:prstGeom>
          <a:solidFill>
            <a:srgbClr val="A6A6A6">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TextBox 33"/>
          <p:cNvSpPr txBox="1"/>
          <p:nvPr/>
        </p:nvSpPr>
        <p:spPr>
          <a:xfrm>
            <a:off x="2985564" y="5690735"/>
            <a:ext cx="6792372"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3x</a:t>
            </a:r>
            <a:r>
              <a:rPr kumimoji="0" lang="en-US" sz="2400" b="0" i="0" u="none" strike="noStrike" kern="1200" cap="none" spc="0" normalizeH="0" baseline="0" noProof="0" dirty="0">
                <a:ln>
                  <a:noFill/>
                </a:ln>
                <a:solidFill>
                  <a:prstClr val="black"/>
                </a:solidFill>
                <a:effectLst/>
                <a:uLnTx/>
                <a:uFillTx/>
                <a:latin typeface="Calibri"/>
                <a:ea typeface="+mn-ea"/>
                <a:cs typeface="+mn-cs"/>
              </a:rPr>
              <a:t> more memory accesses to Document A’s KV cache</a:t>
            </a:r>
          </a:p>
        </p:txBody>
      </p:sp>
      <p:sp>
        <p:nvSpPr>
          <p:cNvPr id="4" name="Rounded Rectangle 3"/>
          <p:cNvSpPr/>
          <p:nvPr/>
        </p:nvSpPr>
        <p:spPr>
          <a:xfrm>
            <a:off x="1574269" y="1176118"/>
            <a:ext cx="146583" cy="365760"/>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1720852" y="1160567"/>
            <a:ext cx="419403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Red bars denote thread blocks on GPU</a:t>
            </a:r>
          </a:p>
        </p:txBody>
      </p:sp>
      <p:grpSp>
        <p:nvGrpSpPr>
          <p:cNvPr id="11" name="Group 10"/>
          <p:cNvGrpSpPr/>
          <p:nvPr/>
        </p:nvGrpSpPr>
        <p:grpSpPr>
          <a:xfrm>
            <a:off x="6498251" y="1155662"/>
            <a:ext cx="3388079" cy="400110"/>
            <a:chOff x="6182586" y="1362385"/>
            <a:chExt cx="3388079" cy="400110"/>
          </a:xfrm>
        </p:grpSpPr>
        <p:sp>
          <p:nvSpPr>
            <p:cNvPr id="13" name="Rounded Rectangle 12"/>
            <p:cNvSpPr/>
            <p:nvPr/>
          </p:nvSpPr>
          <p:spPr>
            <a:xfrm>
              <a:off x="6182586" y="1473658"/>
              <a:ext cx="293370" cy="191667"/>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6465007" y="1362385"/>
              <a:ext cx="310565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Rectangles denote KV cache</a:t>
              </a:r>
            </a:p>
          </p:txBody>
        </p:sp>
      </p:grpSp>
      <p:sp>
        <p:nvSpPr>
          <p:cNvPr id="51"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MOTIVATION</a:t>
            </a:r>
          </a:p>
        </p:txBody>
      </p:sp>
      <p:sp>
        <p:nvSpPr>
          <p:cNvPr id="53"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56" name="skill-template-footer-page-number"/>
          <p:cNvSpPr txBox="1"/>
          <p:nvPr/>
        </p:nvSpPr>
        <p:spPr>
          <a:xfrm>
            <a:off x="10829925" y="6515100"/>
            <a:ext cx="381000" cy="20955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18</a:t>
            </a:r>
          </a:p>
        </p:txBody>
      </p:sp>
      <p:pic>
        <p:nvPicPr>
          <p:cNvPr id="57" name="skill-template-nju-logo" descr="template-title-footer-logo-from-template.png"/>
          <p:cNvPicPr>
            <a:picLocks noChangeAspect="1"/>
          </p:cNvPicPr>
          <p:nvPr/>
        </p:nvPicPr>
        <p:blipFill>
          <a:blip r:embed="rId3"/>
          <a:stretch>
            <a:fillRect/>
          </a:stretch>
        </p:blipFill>
        <p:spPr>
          <a:xfrm>
            <a:off x="9639300" y="354718"/>
            <a:ext cx="1571625" cy="4811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
                                            <p:txEl>
                                              <p:charRg st="4294967295" end="4294967295"/>
                                            </p:txEl>
                                          </p:spTgt>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30">
                                            <p:txEl>
                                              <p:charRg st="4294967295" end="4294967295"/>
                                            </p:txEl>
                                          </p:spTgt>
                                        </p:tgtEl>
                                        <p:attrNameLst>
                                          <p:attrName>style.visibility</p:attrName>
                                        </p:attrNameLst>
                                      </p:cBhvr>
                                      <p:to>
                                        <p:strVal val="visible"/>
                                      </p:to>
                                    </p:set>
                                  </p:childTnLst>
                                </p:cTn>
                              </p:par>
                              <p:par>
                                <p:cTn id="9" presetID="1" presetClass="entr" presetSubtype="0" fill="hold" grpId="0" nodeType="withEffect" nodePh="1">
                                  <p:stCondLst>
                                    <p:cond delay="0"/>
                                  </p:stCondLst>
                                  <p:endCondLst>
                                    <p:cond evt="begin" delay="0">
                                      <p:tn val="9"/>
                                    </p:cond>
                                  </p:endCondLst>
                                  <p:childTnLst>
                                    <p:set>
                                      <p:cBhvr>
                                        <p:cTn id="10" dur="1" fill="hold">
                                          <p:stCondLst>
                                            <p:cond delay="0"/>
                                          </p:stCondLst>
                                        </p:cTn>
                                        <p:tgtEl>
                                          <p:spTgt spid="28">
                                            <p:txEl>
                                              <p:charRg st="4294967295" end="4294967295"/>
                                            </p:txEl>
                                          </p:spTgt>
                                        </p:tgtEl>
                                        <p:attrNameLst>
                                          <p:attrName>style.visibility</p:attrName>
                                        </p:attrNameLst>
                                      </p:cBhvr>
                                      <p:to>
                                        <p:strVal val="visible"/>
                                      </p:to>
                                    </p:set>
                                  </p:childTnLst>
                                </p:cTn>
                              </p:par>
                              <p:par>
                                <p:cTn id="11" presetID="1" presetClass="entr" presetSubtype="0" fill="hold" grpId="0" nodeType="withEffect" nodePh="1">
                                  <p:stCondLst>
                                    <p:cond delay="0"/>
                                  </p:stCondLst>
                                  <p:endCondLst>
                                    <p:cond evt="begin" delay="0">
                                      <p:tn val="11"/>
                                    </p:cond>
                                  </p:endCondLst>
                                  <p:childTnLst>
                                    <p:set>
                                      <p:cBhvr>
                                        <p:cTn id="12" dur="1" fill="hold">
                                          <p:stCondLst>
                                            <p:cond delay="0"/>
                                          </p:stCondLst>
                                        </p:cTn>
                                        <p:tgtEl>
                                          <p:spTgt spid="29">
                                            <p:txEl>
                                              <p:charRg st="4294967295" end="429496729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grpId="1" nodeType="clickEffect">
                                  <p:stCondLst>
                                    <p:cond delay="0"/>
                                  </p:stCondLst>
                                  <p:childTnLst>
                                    <p:animMotion origin="layout" path="M 3.33333E-6 -1.48148E-6 L 0.4763 -1.48148E-6 " pathEditMode="relative" rAng="0" ptsTypes="AA">
                                      <p:cBhvr>
                                        <p:cTn id="16" dur="1000" fill="hold"/>
                                        <p:tgtEl>
                                          <p:spTgt spid="3"/>
                                        </p:tgtEl>
                                        <p:attrNameLst>
                                          <p:attrName>ppt_x</p:attrName>
                                          <p:attrName>ppt_y</p:attrName>
                                        </p:attrNameLst>
                                      </p:cBhvr>
                                      <p:rCtr x="23815" y="0"/>
                                    </p:animMotion>
                                  </p:childTnLst>
                                </p:cTn>
                              </p:par>
                              <p:par>
                                <p:cTn id="17" presetID="0" presetClass="path" presetSubtype="0" accel="50000" decel="50000" fill="hold" grpId="1" nodeType="withEffect">
                                  <p:stCondLst>
                                    <p:cond delay="0"/>
                                  </p:stCondLst>
                                  <p:childTnLst>
                                    <p:animMotion origin="layout" path="M 3.95833E-6 3.7037E-7 L 0.4763 3.7037E-7 " pathEditMode="relative" rAng="0" ptsTypes="AA">
                                      <p:cBhvr>
                                        <p:cTn id="18" dur="1000" fill="hold"/>
                                        <p:tgtEl>
                                          <p:spTgt spid="28"/>
                                        </p:tgtEl>
                                        <p:attrNameLst>
                                          <p:attrName>ppt_x</p:attrName>
                                          <p:attrName>ppt_y</p:attrName>
                                        </p:attrNameLst>
                                      </p:cBhvr>
                                      <p:rCtr x="23815" y="0"/>
                                    </p:animMotion>
                                  </p:childTnLst>
                                </p:cTn>
                              </p:par>
                              <p:par>
                                <p:cTn id="19" presetID="0" presetClass="path" presetSubtype="0" accel="50000" decel="50000" fill="hold" grpId="1" nodeType="withEffect">
                                  <p:stCondLst>
                                    <p:cond delay="0"/>
                                  </p:stCondLst>
                                  <p:childTnLst>
                                    <p:animMotion origin="layout" path="M 4.375E-6 7.40741E-7 L 0.4763 7.40741E-7 " pathEditMode="relative" rAng="0" ptsTypes="AA">
                                      <p:cBhvr>
                                        <p:cTn id="20" dur="1000" fill="hold"/>
                                        <p:tgtEl>
                                          <p:spTgt spid="29"/>
                                        </p:tgtEl>
                                        <p:attrNameLst>
                                          <p:attrName>ppt_x</p:attrName>
                                          <p:attrName>ppt_y</p:attrName>
                                        </p:attrNameLst>
                                      </p:cBhvr>
                                      <p:rCtr x="23815" y="0"/>
                                    </p:animMotion>
                                  </p:childTnLst>
                                </p:cTn>
                              </p:par>
                              <p:par>
                                <p:cTn id="21" presetID="0" presetClass="path" presetSubtype="0" accel="50000" decel="50000" fill="hold" grpId="1" nodeType="withEffect">
                                  <p:stCondLst>
                                    <p:cond delay="0"/>
                                  </p:stCondLst>
                                  <p:childTnLst>
                                    <p:animMotion origin="layout" path="M 5E-6 2.59259E-6 L 0.47631 2.59259E-6 " pathEditMode="relative" rAng="0" ptsTypes="AA">
                                      <p:cBhvr>
                                        <p:cTn id="22" dur="1000" fill="hold"/>
                                        <p:tgtEl>
                                          <p:spTgt spid="30"/>
                                        </p:tgtEl>
                                        <p:attrNameLst>
                                          <p:attrName>ppt_x</p:attrName>
                                          <p:attrName>ppt_y</p:attrName>
                                        </p:attrNameLst>
                                      </p:cBhvr>
                                      <p:rCtr x="23815" y="0"/>
                                    </p:animMotion>
                                  </p:childTnLst>
                                </p:cTn>
                              </p:par>
                            </p:childTnLst>
                          </p:cTn>
                        </p:par>
                        <p:par>
                          <p:cTn id="23" fill="hold">
                            <p:stCondLst>
                              <p:cond delay="1000"/>
                            </p:stCondLst>
                            <p:childTnLst>
                              <p:par>
                                <p:cTn id="24" presetID="1" presetClass="entr" presetSubtype="0" fill="hold" grpId="0" nodeType="after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childTnLst>
                          </p:cTn>
                        </p:par>
                        <p:par>
                          <p:cTn id="26" fill="hold">
                            <p:stCondLst>
                              <p:cond delay="1000"/>
                            </p:stCondLst>
                            <p:childTnLst>
                              <p:par>
                                <p:cTn id="27" presetID="1" presetClass="entr" presetSubtype="0"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par>
                          <p:cTn id="29" fill="hold">
                            <p:stCondLst>
                              <p:cond delay="1000"/>
                            </p:stCondLst>
                            <p:childTnLst>
                              <p:par>
                                <p:cTn id="30" presetID="1" presetClass="entr" presetSubtype="0" fill="hold" grpId="0" nodeType="afterEffect">
                                  <p:stCondLst>
                                    <p:cond delay="0"/>
                                  </p:stCondLst>
                                  <p:childTnLst>
                                    <p:set>
                                      <p:cBhvr>
                                        <p:cTn id="31" dur="1" fill="hold">
                                          <p:stCondLst>
                                            <p:cond delay="0"/>
                                          </p:stCondLst>
                                        </p:cTn>
                                        <p:tgtEl>
                                          <p:spTgt spid="23"/>
                                        </p:tgtEl>
                                        <p:attrNameLst>
                                          <p:attrName>style.visibility</p:attrName>
                                        </p:attrNameLst>
                                      </p:cBhvr>
                                      <p:to>
                                        <p:strVal val="visible"/>
                                      </p:to>
                                    </p:set>
                                  </p:childTnLst>
                                </p:cTn>
                              </p:par>
                            </p:childTnLst>
                          </p:cTn>
                        </p:par>
                        <p:par>
                          <p:cTn id="32" fill="hold">
                            <p:stCondLst>
                              <p:cond delay="1000"/>
                            </p:stCondLst>
                            <p:childTnLst>
                              <p:par>
                                <p:cTn id="33" presetID="1"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dissolve">
                                      <p:cBhvr>
                                        <p:cTn id="39" dur="500"/>
                                        <p:tgtEl>
                                          <p:spTgt spid="3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dissolve">
                                      <p:cBhvr>
                                        <p:cTn id="42" dur="500"/>
                                        <p:tgtEl>
                                          <p:spTgt spid="32"/>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dissolve">
                                      <p:cBhvr>
                                        <p:cTn id="45" dur="500"/>
                                        <p:tgtEl>
                                          <p:spTgt spid="33"/>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3" grpId="1" animBg="1"/>
      <p:bldP spid="22" grpId="0"/>
      <p:bldP spid="23" grpId="0"/>
      <p:bldP spid="24" grpId="0"/>
      <p:bldP spid="25" grpId="0"/>
      <p:bldP spid="28" grpId="0" autoUpdateAnimBg="0"/>
      <p:bldP spid="28" grpId="1" animBg="1"/>
      <p:bldP spid="29" grpId="0" autoUpdateAnimBg="0"/>
      <p:bldP spid="29" grpId="1" animBg="1"/>
      <p:bldP spid="30" grpId="0" autoUpdateAnimBg="0"/>
      <p:bldP spid="30" grpId="1" animBg="1"/>
      <p:bldP spid="31" grpId="0" animBg="1"/>
      <p:bldP spid="32" grpId="0" animBg="1"/>
      <p:bldP spid="33" grpId="0" animBg="1"/>
      <p:bldP spid="3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utline-title"/>
          <p:cNvSpPr txBox="1"/>
          <p:nvPr/>
        </p:nvSpPr>
        <p:spPr>
          <a:xfrm>
            <a:off x="552450" y="361950"/>
            <a:ext cx="8763000" cy="609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450" b="1" i="0" u="none" strike="noStrike" kern="1200" cap="none" spc="0" normalizeH="0" baseline="0" noProof="0">
                <a:ln>
                  <a:noFill/>
                </a:ln>
                <a:solidFill>
                  <a:srgbClr val="17131F"/>
                </a:solidFill>
                <a:effectLst/>
                <a:uLnTx/>
                <a:uFillTx/>
                <a:latin typeface="PingFang SC" panose="020B0400000000000000" charset="-122"/>
                <a:ea typeface="+mn-ea"/>
                <a:cs typeface="+mn-cs"/>
              </a:rPr>
              <a:t>Outline</a:t>
            </a:r>
          </a:p>
        </p:txBody>
      </p:sp>
      <p:pic>
        <p:nvPicPr>
          <p:cNvPr id="3" name="outline-nju-logo" descr="image.png"/>
          <p:cNvPicPr>
            <a:picLocks noChangeAspect="1"/>
          </p:cNvPicPr>
          <p:nvPr/>
        </p:nvPicPr>
        <p:blipFill>
          <a:blip r:embed="rId2"/>
          <a:stretch>
            <a:fillRect/>
          </a:stretch>
        </p:blipFill>
        <p:spPr>
          <a:xfrm>
            <a:off x="9639300" y="381000"/>
            <a:ext cx="1571625" cy="481012"/>
          </a:xfrm>
          <a:prstGeom prst="rect">
            <a:avLst/>
          </a:prstGeom>
        </p:spPr>
      </p:pic>
      <p:sp>
        <p:nvSpPr>
          <p:cNvPr id="4" name="outline-top-divider"/>
          <p:cNvSpPr/>
          <p:nvPr/>
        </p:nvSpPr>
        <p:spPr>
          <a:xfrm>
            <a:off x="552450" y="1057274"/>
            <a:ext cx="10751650" cy="45719"/>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outline-section-1-card"/>
          <p:cNvSpPr/>
          <p:nvPr/>
        </p:nvSpPr>
        <p:spPr>
          <a:xfrm>
            <a:off x="781050" y="1619250"/>
            <a:ext cx="10429875"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outline-section-1-accent"/>
          <p:cNvSpPr/>
          <p:nvPr/>
        </p:nvSpPr>
        <p:spPr>
          <a:xfrm>
            <a:off x="781050" y="16192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outline-section-1-index"/>
          <p:cNvSpPr txBox="1"/>
          <p:nvPr/>
        </p:nvSpPr>
        <p:spPr>
          <a:xfrm>
            <a:off x="1085850" y="17811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01</a:t>
            </a:r>
          </a:p>
        </p:txBody>
      </p:sp>
      <p:sp>
        <p:nvSpPr>
          <p:cNvPr id="8" name="outline-section-1-title"/>
          <p:cNvSpPr txBox="1"/>
          <p:nvPr/>
        </p:nvSpPr>
        <p:spPr>
          <a:xfrm>
            <a:off x="1771650" y="17335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Motivation</a:t>
            </a:r>
          </a:p>
        </p:txBody>
      </p:sp>
      <p:sp>
        <p:nvSpPr>
          <p:cNvPr id="9" name="outline-section-1-description"/>
          <p:cNvSpPr txBox="1"/>
          <p:nvPr/>
        </p:nvSpPr>
        <p:spPr>
          <a:xfrm>
            <a:off x="5143500" y="17621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Long-context serving, prefix sharing, and decode memory bottlenecks</a:t>
            </a:r>
          </a:p>
        </p:txBody>
      </p:sp>
      <p:sp>
        <p:nvSpPr>
          <p:cNvPr id="10" name="outline-section-2-card"/>
          <p:cNvSpPr/>
          <p:nvPr/>
        </p:nvSpPr>
        <p:spPr>
          <a:xfrm>
            <a:off x="781050" y="2495550"/>
            <a:ext cx="10429875" cy="666750"/>
          </a:xfrm>
          <a:prstGeom prst="rect">
            <a:avLst/>
          </a:prstGeom>
          <a:solidFill>
            <a:srgbClr val="4B1D78"/>
          </a:solidFill>
          <a:ln w="11430">
            <a:solidFill>
              <a:srgbClr val="4B1D7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outline-section-2-accent"/>
          <p:cNvSpPr/>
          <p:nvPr/>
        </p:nvSpPr>
        <p:spPr>
          <a:xfrm>
            <a:off x="781050" y="2495550"/>
            <a:ext cx="76200" cy="66675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utline-section-2-index"/>
          <p:cNvSpPr txBox="1"/>
          <p:nvPr/>
        </p:nvSpPr>
        <p:spPr>
          <a:xfrm>
            <a:off x="1085850" y="26574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4D7"/>
                </a:solidFill>
                <a:effectLst/>
                <a:uLnTx/>
                <a:uFillTx/>
                <a:latin typeface="PingFang SC" panose="020B0400000000000000" charset="-122"/>
                <a:ea typeface="+mn-ea"/>
                <a:cs typeface="+mn-cs"/>
              </a:rPr>
              <a:t>02</a:t>
            </a:r>
          </a:p>
        </p:txBody>
      </p:sp>
      <p:sp>
        <p:nvSpPr>
          <p:cNvPr id="13" name="outline-section-2-title"/>
          <p:cNvSpPr txBox="1"/>
          <p:nvPr/>
        </p:nvSpPr>
        <p:spPr>
          <a:xfrm>
            <a:off x="1771650" y="26098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PingFang SC" panose="020B0400000000000000" charset="-122"/>
                <a:ea typeface="+mn-ea"/>
                <a:cs typeface="+mn-cs"/>
              </a:rPr>
              <a:t>Insight &amp; Challenges</a:t>
            </a:r>
          </a:p>
        </p:txBody>
      </p:sp>
      <p:sp>
        <p:nvSpPr>
          <p:cNvPr id="14" name="outline-section-2-description"/>
          <p:cNvSpPr txBox="1"/>
          <p:nvPr/>
        </p:nvSpPr>
        <p:spPr>
          <a:xfrm>
            <a:off x="5143500" y="26384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FFFFFF"/>
                </a:solidFill>
                <a:effectLst/>
                <a:uLnTx/>
                <a:uFillTx/>
                <a:latin typeface="PingFang SC" panose="020B0400000000000000" charset="-122"/>
                <a:ea typeface="+mn-ea"/>
                <a:cs typeface="+mn-cs"/>
              </a:rPr>
              <a:t>Shared-prefix reuse, dependency organization, and load balancing</a:t>
            </a:r>
          </a:p>
        </p:txBody>
      </p:sp>
      <p:sp>
        <p:nvSpPr>
          <p:cNvPr id="15" name="outline-section-3-card"/>
          <p:cNvSpPr/>
          <p:nvPr/>
        </p:nvSpPr>
        <p:spPr>
          <a:xfrm>
            <a:off x="781049" y="3371850"/>
            <a:ext cx="10429875"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utline-section-3-accent"/>
          <p:cNvSpPr/>
          <p:nvPr/>
        </p:nvSpPr>
        <p:spPr>
          <a:xfrm>
            <a:off x="781050" y="33718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utline-section-3-index"/>
          <p:cNvSpPr txBox="1"/>
          <p:nvPr/>
        </p:nvSpPr>
        <p:spPr>
          <a:xfrm>
            <a:off x="1085850" y="35337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03</a:t>
            </a:r>
          </a:p>
        </p:txBody>
      </p:sp>
      <p:sp>
        <p:nvSpPr>
          <p:cNvPr id="18" name="outline-section-3-title"/>
          <p:cNvSpPr txBox="1"/>
          <p:nvPr/>
        </p:nvSpPr>
        <p:spPr>
          <a:xfrm>
            <a:off x="1771650" y="34861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CoDec Design</a:t>
            </a:r>
          </a:p>
        </p:txBody>
      </p:sp>
      <p:sp>
        <p:nvSpPr>
          <p:cNvPr id="19" name="outline-section-3-description"/>
          <p:cNvSpPr txBox="1"/>
          <p:nvPr/>
        </p:nvSpPr>
        <p:spPr>
          <a:xfrm>
            <a:off x="5143500" y="35147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Prefix-tree planning, task division, and attention kernel</a:t>
            </a:r>
          </a:p>
        </p:txBody>
      </p:sp>
      <p:sp>
        <p:nvSpPr>
          <p:cNvPr id="20" name="outline-section-4-card"/>
          <p:cNvSpPr/>
          <p:nvPr/>
        </p:nvSpPr>
        <p:spPr>
          <a:xfrm>
            <a:off x="781050" y="4248150"/>
            <a:ext cx="10429874"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outline-section-4-accent"/>
          <p:cNvSpPr/>
          <p:nvPr/>
        </p:nvSpPr>
        <p:spPr>
          <a:xfrm>
            <a:off x="781050" y="42481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outline-section-4-index"/>
          <p:cNvSpPr txBox="1"/>
          <p:nvPr/>
        </p:nvSpPr>
        <p:spPr>
          <a:xfrm>
            <a:off x="1085850" y="44100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04</a:t>
            </a:r>
          </a:p>
        </p:txBody>
      </p:sp>
      <p:sp>
        <p:nvSpPr>
          <p:cNvPr id="23" name="outline-section-4-title"/>
          <p:cNvSpPr txBox="1"/>
          <p:nvPr/>
        </p:nvSpPr>
        <p:spPr>
          <a:xfrm>
            <a:off x="1771650" y="43624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Evaluation &amp; Takeaways</a:t>
            </a:r>
          </a:p>
        </p:txBody>
      </p:sp>
      <p:sp>
        <p:nvSpPr>
          <p:cNvPr id="24" name="outline-section-4-description"/>
          <p:cNvSpPr txBox="1"/>
          <p:nvPr/>
        </p:nvSpPr>
        <p:spPr>
          <a:xfrm>
            <a:off x="5143500" y="43910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Throughput gains, ablations, and applicability</a:t>
            </a:r>
          </a:p>
        </p:txBody>
      </p:sp>
      <p:sp>
        <p:nvSpPr>
          <p:cNvPr id="25" name="outline-current-card"/>
          <p:cNvSpPr/>
          <p:nvPr/>
        </p:nvSpPr>
        <p:spPr>
          <a:xfrm>
            <a:off x="781049" y="5353050"/>
            <a:ext cx="10429875" cy="533400"/>
          </a:xfrm>
          <a:prstGeom prst="rect">
            <a:avLst/>
          </a:prstGeom>
          <a:solidFill>
            <a:srgbClr val="FAF8FC"/>
          </a:solidFill>
          <a:ln w="1016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outline-current-label"/>
          <p:cNvSpPr txBox="1"/>
          <p:nvPr/>
        </p:nvSpPr>
        <p:spPr>
          <a:xfrm>
            <a:off x="1066800" y="5514975"/>
            <a:ext cx="1047750" cy="20955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Guiding Question</a:t>
            </a:r>
          </a:p>
        </p:txBody>
      </p:sp>
      <p:sp>
        <p:nvSpPr>
          <p:cNvPr id="27" name="outline-current-description"/>
          <p:cNvSpPr txBox="1"/>
          <p:nvPr/>
        </p:nvSpPr>
        <p:spPr>
          <a:xfrm>
            <a:off x="2381250" y="5476875"/>
            <a:ext cx="7762875" cy="28575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17131F"/>
                </a:solidFill>
                <a:effectLst/>
                <a:uLnTx/>
                <a:uFillTx/>
                <a:latin typeface="PingFang SC" panose="020B0400000000000000" charset="-122"/>
                <a:ea typeface="+mn-ea"/>
                <a:cs typeface="+mn-cs"/>
              </a:rPr>
              <a:t>If prefixes are shared, how can we read KV cache once without breaking dependencies?</a:t>
            </a:r>
          </a:p>
        </p:txBody>
      </p:sp>
      <p:sp>
        <p:nvSpPr>
          <p:cNvPr id="28" name="outline-footer-divider"/>
          <p:cNvSpPr/>
          <p:nvPr/>
        </p:nvSpPr>
        <p:spPr>
          <a:xfrm>
            <a:off x="552450" y="6429375"/>
            <a:ext cx="10658474" cy="45719"/>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outline-footer-deck-name"/>
          <p:cNvSpPr txBox="1"/>
          <p:nvPr/>
        </p:nvSpPr>
        <p:spPr>
          <a:xfrm>
            <a:off x="552450" y="6534150"/>
            <a:ext cx="5905500" cy="228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30" name="outline-footer-page-number"/>
          <p:cNvSpPr txBox="1"/>
          <p:nvPr/>
        </p:nvSpPr>
        <p:spPr>
          <a:xfrm>
            <a:off x="10363200" y="6534150"/>
            <a:ext cx="666750" cy="22860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8"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61" name="skill-template-footer-page-number"/>
          <p:cNvSpPr txBox="1"/>
          <p:nvPr/>
        </p:nvSpPr>
        <p:spPr>
          <a:xfrm>
            <a:off x="11050905" y="6515100"/>
            <a:ext cx="16002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A7387"/>
                </a:solidFill>
                <a:effectLst/>
                <a:uLnTx/>
                <a:uFillTx/>
                <a:latin typeface="PingFang SC" panose="020B0400000000000000" charset="-122"/>
                <a:ea typeface="+mn-ea"/>
                <a:cs typeface="+mn-cs"/>
              </a:rPr>
              <a:t>20</a:t>
            </a:r>
          </a:p>
        </p:txBody>
      </p:sp>
      <p:pic>
        <p:nvPicPr>
          <p:cNvPr id="62" name="skill-template-nju-logo" descr="template-title-footer-logo-from-template.png"/>
          <p:cNvPicPr>
            <a:picLocks noChangeAspect="1"/>
          </p:cNvPicPr>
          <p:nvPr/>
        </p:nvPicPr>
        <p:blipFill>
          <a:blip r:embed="rId3"/>
          <a:stretch>
            <a:fillRect/>
          </a:stretch>
        </p:blipFill>
        <p:spPr>
          <a:xfrm>
            <a:off x="9639300" y="354718"/>
            <a:ext cx="1571625" cy="481189"/>
          </a:xfrm>
          <a:prstGeom prst="rect">
            <a:avLst/>
          </a:prstGeom>
        </p:spPr>
      </p:pic>
      <p:sp>
        <p:nvSpPr>
          <p:cNvPr id="30" name="Content Placeholder 3"/>
          <p:cNvSpPr>
            <a:spLocks noGrp="1"/>
          </p:cNvSpPr>
          <p:nvPr>
            <p:ph idx="1"/>
          </p:nvPr>
        </p:nvSpPr>
        <p:spPr>
          <a:xfrm>
            <a:off x="838199" y="1248562"/>
            <a:ext cx="10937489" cy="541794"/>
          </a:xfrm>
        </p:spPr>
        <p:txBody>
          <a:bodyPr>
            <a:noAutofit/>
          </a:bodyPr>
          <a:lstStyle/>
          <a:p>
            <a:pPr marL="0" indent="0">
              <a:buNone/>
            </a:pPr>
            <a:r>
              <a:rPr lang="en-US" dirty="0"/>
              <a:t>Organize KV cache into </a:t>
            </a:r>
            <a:r>
              <a:rPr lang="en-US" b="1" dirty="0"/>
              <a:t>prefix tree </a:t>
            </a:r>
            <a:r>
              <a:rPr lang="en-US" dirty="0"/>
              <a:t>and combine memory access.</a:t>
            </a:r>
          </a:p>
        </p:txBody>
      </p:sp>
      <p:sp>
        <p:nvSpPr>
          <p:cNvPr id="33" name="Rounded Rectangle 4197"/>
          <p:cNvSpPr/>
          <p:nvPr/>
        </p:nvSpPr>
        <p:spPr>
          <a:xfrm>
            <a:off x="7628255" y="2973705"/>
            <a:ext cx="1379220" cy="400050"/>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34" name="TextBox 4258"/>
          <p:cNvSpPr txBox="1"/>
          <p:nvPr/>
        </p:nvSpPr>
        <p:spPr>
          <a:xfrm>
            <a:off x="9433306" y="2997258"/>
            <a:ext cx="393056"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5" name="TextBox 4260"/>
          <p:cNvSpPr txBox="1"/>
          <p:nvPr/>
        </p:nvSpPr>
        <p:spPr>
          <a:xfrm>
            <a:off x="9000710" y="2998252"/>
            <a:ext cx="470000"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4</a:t>
            </a:r>
          </a:p>
        </p:txBody>
      </p:sp>
      <p:sp>
        <p:nvSpPr>
          <p:cNvPr id="36" name="Rounded Rectangle 4262"/>
          <p:cNvSpPr/>
          <p:nvPr/>
        </p:nvSpPr>
        <p:spPr>
          <a:xfrm>
            <a:off x="9804400" y="2973705"/>
            <a:ext cx="1379220" cy="400050"/>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37" name="TextBox 4263"/>
          <p:cNvSpPr txBox="1"/>
          <p:nvPr/>
        </p:nvSpPr>
        <p:spPr>
          <a:xfrm>
            <a:off x="11176165" y="2998252"/>
            <a:ext cx="470000"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1</a:t>
            </a:r>
          </a:p>
        </p:txBody>
      </p:sp>
      <p:sp>
        <p:nvSpPr>
          <p:cNvPr id="39" name="Rounded Rectangle 4264"/>
          <p:cNvSpPr/>
          <p:nvPr/>
        </p:nvSpPr>
        <p:spPr>
          <a:xfrm>
            <a:off x="7628255" y="3500755"/>
            <a:ext cx="1379220" cy="400050"/>
          </a:xfrm>
          <a:prstGeom prst="roundRect">
            <a:avLst/>
          </a:prstGeom>
          <a:solidFill>
            <a:srgbClr val="8FBD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41" name="TextBox 4265"/>
          <p:cNvSpPr txBox="1"/>
          <p:nvPr/>
        </p:nvSpPr>
        <p:spPr>
          <a:xfrm>
            <a:off x="9433306" y="3524717"/>
            <a:ext cx="393056"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2" name="TextBox 4266"/>
          <p:cNvSpPr txBox="1"/>
          <p:nvPr/>
        </p:nvSpPr>
        <p:spPr>
          <a:xfrm>
            <a:off x="9000710" y="3525711"/>
            <a:ext cx="470000"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2</a:t>
            </a:r>
          </a:p>
        </p:txBody>
      </p:sp>
      <p:sp>
        <p:nvSpPr>
          <p:cNvPr id="43" name="Rounded Rectangle 4267"/>
          <p:cNvSpPr/>
          <p:nvPr/>
        </p:nvSpPr>
        <p:spPr>
          <a:xfrm>
            <a:off x="9804400" y="3500755"/>
            <a:ext cx="1379220" cy="400050"/>
          </a:xfrm>
          <a:prstGeom prst="roundRect">
            <a:avLst/>
          </a:prstGeom>
          <a:solidFill>
            <a:srgbClr val="8FBD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44" name="TextBox 4268"/>
          <p:cNvSpPr txBox="1"/>
          <p:nvPr/>
        </p:nvSpPr>
        <p:spPr>
          <a:xfrm>
            <a:off x="11176165" y="3525711"/>
            <a:ext cx="470000"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1</a:t>
            </a:r>
          </a:p>
        </p:txBody>
      </p:sp>
      <p:sp>
        <p:nvSpPr>
          <p:cNvPr id="45" name="Rounded Rectangle 4269"/>
          <p:cNvSpPr/>
          <p:nvPr/>
        </p:nvSpPr>
        <p:spPr>
          <a:xfrm>
            <a:off x="7621270" y="4017645"/>
            <a:ext cx="1379220" cy="400050"/>
          </a:xfrm>
          <a:prstGeom prst="roundRect">
            <a:avLst/>
          </a:prstGeom>
          <a:solidFill>
            <a:srgbClr val="FAFB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46" name="TextBox 4270"/>
          <p:cNvSpPr txBox="1"/>
          <p:nvPr/>
        </p:nvSpPr>
        <p:spPr>
          <a:xfrm>
            <a:off x="9426313" y="4041596"/>
            <a:ext cx="393056"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7" name="TextBox 4271"/>
          <p:cNvSpPr txBox="1"/>
          <p:nvPr/>
        </p:nvSpPr>
        <p:spPr>
          <a:xfrm>
            <a:off x="8993717" y="4042590"/>
            <a:ext cx="470000"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2</a:t>
            </a:r>
          </a:p>
        </p:txBody>
      </p:sp>
      <p:sp>
        <p:nvSpPr>
          <p:cNvPr id="51" name="Rounded Rectangle 4272"/>
          <p:cNvSpPr/>
          <p:nvPr/>
        </p:nvSpPr>
        <p:spPr>
          <a:xfrm>
            <a:off x="9797415" y="4017645"/>
            <a:ext cx="1379220" cy="400050"/>
          </a:xfrm>
          <a:prstGeom prst="roundRect">
            <a:avLst/>
          </a:prstGeom>
          <a:solidFill>
            <a:srgbClr val="FAFB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52" name="TextBox 4273"/>
          <p:cNvSpPr txBox="1"/>
          <p:nvPr/>
        </p:nvSpPr>
        <p:spPr>
          <a:xfrm>
            <a:off x="11169172" y="4042590"/>
            <a:ext cx="470000" cy="369332"/>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1</a:t>
            </a:r>
          </a:p>
        </p:txBody>
      </p:sp>
      <p:sp>
        <p:nvSpPr>
          <p:cNvPr id="55"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Aptos" panose="020B0400000000000000" charset="-122"/>
              </a:defRPr>
            </a:pPr>
            <a:r>
              <a:rPr lang="en-US" sz="2550" b="1" dirty="0">
                <a:solidFill>
                  <a:srgbClr val="17131F"/>
                </a:solidFill>
                <a:latin typeface="Aptos" panose="020B0400000000000000" charset="-122"/>
              </a:rPr>
              <a:t>Our Insight</a:t>
            </a:r>
          </a:p>
        </p:txBody>
      </p:sp>
      <p:sp>
        <p:nvSpPr>
          <p:cNvPr id="63" name="skill-template-section-label"/>
          <p:cNvSpPr txBox="1"/>
          <p:nvPr/>
        </p:nvSpPr>
        <p:spPr>
          <a:xfrm>
            <a:off x="704850" y="238125"/>
            <a:ext cx="238125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Aptos" panose="020B0400000000000000" charset="-122"/>
                <a:ea typeface="+mn-ea"/>
                <a:cs typeface="+mn-cs"/>
              </a:rPr>
              <a:t>INSIGHT</a:t>
            </a:r>
          </a:p>
        </p:txBody>
      </p:sp>
      <p:grpSp>
        <p:nvGrpSpPr>
          <p:cNvPr id="71" name="组合 70"/>
          <p:cNvGrpSpPr/>
          <p:nvPr/>
        </p:nvGrpSpPr>
        <p:grpSpPr>
          <a:xfrm>
            <a:off x="776605" y="2104390"/>
            <a:ext cx="5969000" cy="3509645"/>
            <a:chOff x="1223" y="3314"/>
            <a:chExt cx="9400" cy="5527"/>
          </a:xfrm>
        </p:grpSpPr>
        <p:grpSp>
          <p:nvGrpSpPr>
            <p:cNvPr id="53" name="组合 52"/>
            <p:cNvGrpSpPr/>
            <p:nvPr/>
          </p:nvGrpSpPr>
          <p:grpSpPr>
            <a:xfrm>
              <a:off x="3732" y="3693"/>
              <a:ext cx="4382" cy="4819"/>
              <a:chOff x="3732" y="3693"/>
              <a:chExt cx="4382" cy="4819"/>
            </a:xfrm>
          </p:grpSpPr>
          <p:cxnSp>
            <p:nvCxnSpPr>
              <p:cNvPr id="12" name="!!Straight Connector 17"/>
              <p:cNvCxnSpPr>
                <a:stCxn id="4" idx="3"/>
                <a:endCxn id="13" idx="1"/>
              </p:cNvCxnSpPr>
              <p:nvPr/>
            </p:nvCxnSpPr>
            <p:spPr>
              <a:xfrm flipV="1">
                <a:off x="3732" y="4496"/>
                <a:ext cx="944" cy="1606"/>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a:stCxn id="13" idx="3"/>
                <a:endCxn id="9" idx="1"/>
              </p:cNvCxnSpPr>
              <p:nvPr/>
            </p:nvCxnSpPr>
            <p:spPr>
              <a:xfrm flipV="1">
                <a:off x="7170" y="3693"/>
                <a:ext cx="944" cy="803"/>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p:cNvCxnSpPr>
                <a:stCxn id="13" idx="3"/>
                <a:endCxn id="17" idx="1"/>
              </p:cNvCxnSpPr>
              <p:nvPr/>
            </p:nvCxnSpPr>
            <p:spPr>
              <a:xfrm>
                <a:off x="7170" y="4496"/>
                <a:ext cx="944" cy="803"/>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p:cNvCxnSpPr>
                <a:stCxn id="20" idx="3"/>
                <a:endCxn id="38" idx="1"/>
              </p:cNvCxnSpPr>
              <p:nvPr/>
            </p:nvCxnSpPr>
            <p:spPr>
              <a:xfrm flipV="1">
                <a:off x="7170" y="6905"/>
                <a:ext cx="944" cy="803"/>
              </a:xfrm>
              <a:prstGeom prst="line">
                <a:avLst/>
              </a:prstGeom>
            </p:spPr>
            <p:style>
              <a:lnRef idx="2">
                <a:schemeClr val="dk1"/>
              </a:lnRef>
              <a:fillRef idx="0">
                <a:schemeClr val="dk1"/>
              </a:fillRef>
              <a:effectRef idx="1">
                <a:schemeClr val="dk1"/>
              </a:effectRef>
              <a:fontRef idx="minor">
                <a:schemeClr val="tx1"/>
              </a:fontRef>
            </p:style>
          </p:cxnSp>
          <p:cxnSp>
            <p:nvCxnSpPr>
              <p:cNvPr id="49" name="Straight Connector 48"/>
              <p:cNvCxnSpPr>
                <a:stCxn id="4" idx="3"/>
                <a:endCxn id="20" idx="1"/>
              </p:cNvCxnSpPr>
              <p:nvPr/>
            </p:nvCxnSpPr>
            <p:spPr>
              <a:xfrm>
                <a:off x="3732" y="6102"/>
                <a:ext cx="944" cy="1606"/>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p:cNvCxnSpPr>
                <a:stCxn id="20" idx="3"/>
                <a:endCxn id="48" idx="1"/>
              </p:cNvCxnSpPr>
              <p:nvPr/>
            </p:nvCxnSpPr>
            <p:spPr>
              <a:xfrm>
                <a:off x="7170" y="7708"/>
                <a:ext cx="944" cy="803"/>
              </a:xfrm>
              <a:prstGeom prst="line">
                <a:avLst/>
              </a:prstGeom>
            </p:spPr>
            <p:style>
              <a:lnRef idx="2">
                <a:schemeClr val="dk1"/>
              </a:lnRef>
              <a:fillRef idx="0">
                <a:schemeClr val="dk1"/>
              </a:fillRef>
              <a:effectRef idx="1">
                <a:schemeClr val="dk1"/>
              </a:effectRef>
              <a:fontRef idx="minor">
                <a:schemeClr val="tx1"/>
              </a:fontRef>
            </p:style>
          </p:cxnSp>
        </p:grpSp>
        <p:sp>
          <p:nvSpPr>
            <p:cNvPr id="64" name="Rounded Rectangle 8"/>
            <p:cNvSpPr/>
            <p:nvPr/>
          </p:nvSpPr>
          <p:spPr>
            <a:xfrm>
              <a:off x="8129" y="3314"/>
              <a:ext cx="2495" cy="75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1</a:t>
              </a:r>
            </a:p>
          </p:txBody>
        </p:sp>
        <p:sp>
          <p:nvSpPr>
            <p:cNvPr id="65" name="Rounded Rectangle 16"/>
            <p:cNvSpPr/>
            <p:nvPr/>
          </p:nvSpPr>
          <p:spPr>
            <a:xfrm>
              <a:off x="8096" y="4837"/>
              <a:ext cx="2495" cy="75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2</a:t>
              </a:r>
            </a:p>
          </p:txBody>
        </p:sp>
        <p:sp>
          <p:nvSpPr>
            <p:cNvPr id="66" name="Rounded Rectangle 37"/>
            <p:cNvSpPr/>
            <p:nvPr/>
          </p:nvSpPr>
          <p:spPr>
            <a:xfrm>
              <a:off x="8096" y="6542"/>
              <a:ext cx="2495" cy="75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3</a:t>
              </a:r>
            </a:p>
          </p:txBody>
        </p:sp>
        <p:sp>
          <p:nvSpPr>
            <p:cNvPr id="67" name="Rounded Rectangle 47"/>
            <p:cNvSpPr/>
            <p:nvPr/>
          </p:nvSpPr>
          <p:spPr>
            <a:xfrm>
              <a:off x="8128" y="8083"/>
              <a:ext cx="2495" cy="75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4</a:t>
              </a:r>
            </a:p>
          </p:txBody>
        </p:sp>
        <p:sp>
          <p:nvSpPr>
            <p:cNvPr id="68" name="Rounded Rectangle 7"/>
            <p:cNvSpPr/>
            <p:nvPr/>
          </p:nvSpPr>
          <p:spPr>
            <a:xfrm>
              <a:off x="4689" y="4076"/>
              <a:ext cx="2495" cy="758"/>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69" name="Rounded Rectangle 36"/>
            <p:cNvSpPr/>
            <p:nvPr/>
          </p:nvSpPr>
          <p:spPr>
            <a:xfrm>
              <a:off x="4690" y="7272"/>
              <a:ext cx="2495" cy="758"/>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70" name="Rounded Rectangle 6"/>
            <p:cNvSpPr/>
            <p:nvPr/>
          </p:nvSpPr>
          <p:spPr>
            <a:xfrm>
              <a:off x="1223" y="5666"/>
              <a:ext cx="2495" cy="758"/>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8"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skill-template-footer-divider"/>
          <p:cNvSpPr/>
          <p:nvPr/>
        </p:nvSpPr>
        <p:spPr>
          <a:xfrm>
            <a:off x="121920" y="647954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skill-template-footer-deck-name"/>
          <p:cNvSpPr txBox="1"/>
          <p:nvPr/>
        </p:nvSpPr>
        <p:spPr>
          <a:xfrm>
            <a:off x="121920" y="657479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61" name="skill-template-footer-page-number"/>
          <p:cNvSpPr txBox="1"/>
          <p:nvPr/>
        </p:nvSpPr>
        <p:spPr>
          <a:xfrm>
            <a:off x="11050905" y="6515100"/>
            <a:ext cx="16002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A7387"/>
                </a:solidFill>
                <a:effectLst/>
                <a:uLnTx/>
                <a:uFillTx/>
                <a:latin typeface="PingFang SC" panose="020B0400000000000000" charset="-122"/>
                <a:ea typeface="+mn-ea"/>
                <a:cs typeface="+mn-cs"/>
              </a:rPr>
              <a:t>21</a:t>
            </a:r>
          </a:p>
        </p:txBody>
      </p:sp>
      <p:pic>
        <p:nvPicPr>
          <p:cNvPr id="62" name="skill-template-nju-logo" descr="template-title-footer-logo-from-template.png"/>
          <p:cNvPicPr>
            <a:picLocks noChangeAspect="1"/>
          </p:cNvPicPr>
          <p:nvPr/>
        </p:nvPicPr>
        <p:blipFill>
          <a:blip r:embed="rId3"/>
          <a:stretch>
            <a:fillRect/>
          </a:stretch>
        </p:blipFill>
        <p:spPr>
          <a:xfrm>
            <a:off x="9639300" y="354718"/>
            <a:ext cx="1571625" cy="481189"/>
          </a:xfrm>
          <a:prstGeom prst="rect">
            <a:avLst/>
          </a:prstGeom>
        </p:spPr>
      </p:pic>
      <p:sp>
        <p:nvSpPr>
          <p:cNvPr id="30" name="Content Placeholder 3"/>
          <p:cNvSpPr>
            <a:spLocks noGrp="1"/>
          </p:cNvSpPr>
          <p:nvPr>
            <p:ph idx="1"/>
          </p:nvPr>
        </p:nvSpPr>
        <p:spPr>
          <a:xfrm>
            <a:off x="838199" y="1248562"/>
            <a:ext cx="10937489" cy="541794"/>
          </a:xfrm>
        </p:spPr>
        <p:txBody>
          <a:bodyPr>
            <a:noAutofit/>
          </a:bodyPr>
          <a:lstStyle/>
          <a:p>
            <a:pPr marL="0" indent="0">
              <a:buNone/>
            </a:pPr>
            <a:r>
              <a:rPr lang="en-US" dirty="0"/>
              <a:t>Organize KV cache into </a:t>
            </a:r>
            <a:r>
              <a:rPr lang="en-US" b="1" dirty="0"/>
              <a:t>prefix tree </a:t>
            </a:r>
            <a:r>
              <a:rPr lang="en-US" dirty="0"/>
              <a:t>and combine memory access.</a:t>
            </a:r>
          </a:p>
        </p:txBody>
      </p:sp>
      <p:pic>
        <p:nvPicPr>
          <p:cNvPr id="4098" name="Picture 2" descr="Cornell Virtual Workshop &gt; Understanding GPU Architecture &gt; GPU Memory &gt;  Memory Levels"/>
          <p:cNvPicPr/>
          <p:nvPr/>
        </p:nvPicPr>
        <p:blipFill>
          <a:blip r:embed="rId4">
            <a:extLst>
              <a:ext uri="{28A0092B-C50C-407E-A947-70E740481C1C}">
                <a14:useLocalDpi xmlns:a14="http://schemas.microsoft.com/office/drawing/2010/main" val="0"/>
              </a:ext>
            </a:extLst>
          </a:blip>
          <a:srcRect/>
          <a:stretch>
            <a:fillRect/>
          </a:stretch>
        </p:blipFill>
        <p:spPr bwMode="auto">
          <a:xfrm>
            <a:off x="6853752" y="2301757"/>
            <a:ext cx="4697406" cy="396266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p:nvPr/>
        </p:nvSpPr>
        <p:spPr>
          <a:xfrm>
            <a:off x="7169396" y="3677871"/>
            <a:ext cx="1294645" cy="54951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134" name="Group 4133"/>
          <p:cNvGrpSpPr/>
          <p:nvPr/>
        </p:nvGrpSpPr>
        <p:grpSpPr>
          <a:xfrm>
            <a:off x="1292210" y="3766595"/>
            <a:ext cx="3333440" cy="2711435"/>
            <a:chOff x="867368" y="3037514"/>
            <a:chExt cx="3333440" cy="2711435"/>
          </a:xfrm>
        </p:grpSpPr>
        <p:grpSp>
          <p:nvGrpSpPr>
            <p:cNvPr id="4133" name="Group 4132"/>
            <p:cNvGrpSpPr/>
            <p:nvPr/>
          </p:nvGrpSpPr>
          <p:grpSpPr>
            <a:xfrm>
              <a:off x="1048306" y="3499165"/>
              <a:ext cx="2964815" cy="2090636"/>
              <a:chOff x="1057359" y="3500987"/>
              <a:chExt cx="2964815" cy="2090636"/>
            </a:xfrm>
          </p:grpSpPr>
          <p:sp>
            <p:nvSpPr>
              <p:cNvPr id="6" name="Rounded Rectangle 55"/>
              <p:cNvSpPr/>
              <p:nvPr/>
            </p:nvSpPr>
            <p:spPr>
              <a:xfrm>
                <a:off x="1057359" y="3500987"/>
                <a:ext cx="1426845" cy="414655"/>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7" name="Rounded Rectangle 56"/>
              <p:cNvSpPr/>
              <p:nvPr/>
            </p:nvSpPr>
            <p:spPr>
              <a:xfrm>
                <a:off x="2595159" y="3500987"/>
                <a:ext cx="1426860" cy="414635"/>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8" name="Rounded Rectangle 57"/>
              <p:cNvSpPr/>
              <p:nvPr/>
            </p:nvSpPr>
            <p:spPr>
              <a:xfrm>
                <a:off x="2595159" y="4061429"/>
                <a:ext cx="1426860" cy="41463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1</a:t>
                </a:r>
              </a:p>
            </p:txBody>
          </p:sp>
          <p:sp>
            <p:nvSpPr>
              <p:cNvPr id="4112" name="Rounded Rectangle 4111"/>
              <p:cNvSpPr/>
              <p:nvPr/>
            </p:nvSpPr>
            <p:spPr>
              <a:xfrm>
                <a:off x="1057359" y="4621762"/>
                <a:ext cx="1378585" cy="4146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2</a:t>
                </a:r>
              </a:p>
            </p:txBody>
          </p:sp>
          <p:sp>
            <p:nvSpPr>
              <p:cNvPr id="4116" name="Rounded Rectangle 4115"/>
              <p:cNvSpPr/>
              <p:nvPr/>
            </p:nvSpPr>
            <p:spPr>
              <a:xfrm>
                <a:off x="1057359" y="4061430"/>
                <a:ext cx="1426860" cy="414635"/>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4117" name="Rounded Rectangle 4116"/>
              <p:cNvSpPr/>
              <p:nvPr/>
            </p:nvSpPr>
            <p:spPr>
              <a:xfrm>
                <a:off x="2484204" y="4621762"/>
                <a:ext cx="1537970" cy="40005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3</a:t>
                </a:r>
              </a:p>
            </p:txBody>
          </p:sp>
          <p:sp>
            <p:nvSpPr>
              <p:cNvPr id="4122" name="Rounded Rectangle 4121"/>
              <p:cNvSpPr/>
              <p:nvPr/>
            </p:nvSpPr>
            <p:spPr>
              <a:xfrm>
                <a:off x="1057359" y="5176988"/>
                <a:ext cx="2964661" cy="41463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4</a:t>
                </a:r>
              </a:p>
            </p:txBody>
          </p:sp>
        </p:grpSp>
        <p:sp>
          <p:nvSpPr>
            <p:cNvPr id="4126" name="Rectangle 4125"/>
            <p:cNvSpPr/>
            <p:nvPr/>
          </p:nvSpPr>
          <p:spPr>
            <a:xfrm>
              <a:off x="867368" y="3037514"/>
              <a:ext cx="3333440" cy="271143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27" name="TextBox 4126"/>
            <p:cNvSpPr txBox="1"/>
            <p:nvPr/>
          </p:nvSpPr>
          <p:spPr>
            <a:xfrm>
              <a:off x="867369" y="3037515"/>
              <a:ext cx="1152880" cy="400110"/>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KV Cache</a:t>
              </a:r>
            </a:p>
          </p:txBody>
        </p:sp>
      </p:grpSp>
      <p:sp>
        <p:nvSpPr>
          <p:cNvPr id="4148" name="Freeform 4147"/>
          <p:cNvSpPr/>
          <p:nvPr/>
        </p:nvSpPr>
        <p:spPr>
          <a:xfrm rot="20700000">
            <a:off x="4643480" y="3907933"/>
            <a:ext cx="2507810" cy="364242"/>
          </a:xfrm>
          <a:custGeom>
            <a:avLst/>
            <a:gdLst>
              <a:gd name="csX0" fmla="*/ 0 w 3087232"/>
              <a:gd name="csY0" fmla="*/ 522591 h 522591"/>
              <a:gd name="csX1" fmla="*/ 1484768 w 3087232"/>
              <a:gd name="csY1" fmla="*/ 124239 h 522591"/>
              <a:gd name="csX2" fmla="*/ 1874067 w 3087232"/>
              <a:gd name="csY2" fmla="*/ 341522 h 522591"/>
              <a:gd name="csX3" fmla="*/ 1557196 w 3087232"/>
              <a:gd name="csY3" fmla="*/ 413950 h 522591"/>
              <a:gd name="csX4" fmla="*/ 1584356 w 3087232"/>
              <a:gd name="csY4" fmla="*/ 205720 h 522591"/>
              <a:gd name="csX5" fmla="*/ 2100404 w 3087232"/>
              <a:gd name="csY5" fmla="*/ 6544 h 522591"/>
              <a:gd name="csX6" fmla="*/ 3087232 w 3087232"/>
              <a:gd name="csY6" fmla="*/ 459217 h 522591"/>
              <a:gd name="csX0-1" fmla="*/ 0 w 3087232"/>
              <a:gd name="csY0-2" fmla="*/ 522591 h 522591"/>
              <a:gd name="csX1-3" fmla="*/ 1484768 w 3087232"/>
              <a:gd name="csY1-4" fmla="*/ 124239 h 522591"/>
              <a:gd name="csX2-5" fmla="*/ 1801639 w 3087232"/>
              <a:gd name="csY2-6" fmla="*/ 404896 h 522591"/>
              <a:gd name="csX3-7" fmla="*/ 1557196 w 3087232"/>
              <a:gd name="csY3-8" fmla="*/ 413950 h 522591"/>
              <a:gd name="csX4-9" fmla="*/ 1584356 w 3087232"/>
              <a:gd name="csY4-10" fmla="*/ 205720 h 522591"/>
              <a:gd name="csX5-11" fmla="*/ 2100404 w 3087232"/>
              <a:gd name="csY5-12" fmla="*/ 6544 h 522591"/>
              <a:gd name="csX6-13" fmla="*/ 3087232 w 3087232"/>
              <a:gd name="csY6-14" fmla="*/ 459217 h 522591"/>
              <a:gd name="csX0-15" fmla="*/ 0 w 3087232"/>
              <a:gd name="csY0-16" fmla="*/ 427371 h 427371"/>
              <a:gd name="csX1-17" fmla="*/ 1484768 w 3087232"/>
              <a:gd name="csY1-18" fmla="*/ 29019 h 427371"/>
              <a:gd name="csX2-19" fmla="*/ 1801639 w 3087232"/>
              <a:gd name="csY2-20" fmla="*/ 309676 h 427371"/>
              <a:gd name="csX3-21" fmla="*/ 1557196 w 3087232"/>
              <a:gd name="csY3-22" fmla="*/ 318730 h 427371"/>
              <a:gd name="csX4-23" fmla="*/ 1584356 w 3087232"/>
              <a:gd name="csY4-24" fmla="*/ 110500 h 427371"/>
              <a:gd name="csX5-25" fmla="*/ 2109458 w 3087232"/>
              <a:gd name="csY5-26" fmla="*/ 10912 h 427371"/>
              <a:gd name="csX6-27" fmla="*/ 3087232 w 3087232"/>
              <a:gd name="csY6-28" fmla="*/ 363997 h 427371"/>
              <a:gd name="csX0-29" fmla="*/ 0 w 3087232"/>
              <a:gd name="csY0-30" fmla="*/ 427371 h 427371"/>
              <a:gd name="csX1-31" fmla="*/ 1484768 w 3087232"/>
              <a:gd name="csY1-32" fmla="*/ 29019 h 427371"/>
              <a:gd name="csX2-33" fmla="*/ 1819746 w 3087232"/>
              <a:gd name="csY2-34" fmla="*/ 246301 h 427371"/>
              <a:gd name="csX3-35" fmla="*/ 1557196 w 3087232"/>
              <a:gd name="csY3-36" fmla="*/ 318730 h 427371"/>
              <a:gd name="csX4-37" fmla="*/ 1584356 w 3087232"/>
              <a:gd name="csY4-38" fmla="*/ 110500 h 427371"/>
              <a:gd name="csX5-39" fmla="*/ 2109458 w 3087232"/>
              <a:gd name="csY5-40" fmla="*/ 10912 h 427371"/>
              <a:gd name="csX6-41" fmla="*/ 3087232 w 3087232"/>
              <a:gd name="csY6-42" fmla="*/ 363997 h 427371"/>
              <a:gd name="csX0-43" fmla="*/ 0 w 3087232"/>
              <a:gd name="csY0-44" fmla="*/ 428002 h 428002"/>
              <a:gd name="csX1-45" fmla="*/ 1484768 w 3087232"/>
              <a:gd name="csY1-46" fmla="*/ 29650 h 428002"/>
              <a:gd name="csX2-47" fmla="*/ 1819746 w 3087232"/>
              <a:gd name="csY2-48" fmla="*/ 246932 h 428002"/>
              <a:gd name="csX3-49" fmla="*/ 1593409 w 3087232"/>
              <a:gd name="csY3-50" fmla="*/ 364628 h 428002"/>
              <a:gd name="csX4-51" fmla="*/ 1584356 w 3087232"/>
              <a:gd name="csY4-52" fmla="*/ 111131 h 428002"/>
              <a:gd name="csX5-53" fmla="*/ 2109458 w 3087232"/>
              <a:gd name="csY5-54" fmla="*/ 11543 h 428002"/>
              <a:gd name="csX6-55" fmla="*/ 3087232 w 3087232"/>
              <a:gd name="csY6-56" fmla="*/ 364628 h 428002"/>
              <a:gd name="csX0-57" fmla="*/ 0 w 3087232"/>
              <a:gd name="csY0-58" fmla="*/ 427871 h 427871"/>
              <a:gd name="csX1-59" fmla="*/ 1484768 w 3087232"/>
              <a:gd name="csY1-60" fmla="*/ 29519 h 427871"/>
              <a:gd name="csX2-61" fmla="*/ 1819746 w 3087232"/>
              <a:gd name="csY2-62" fmla="*/ 246801 h 427871"/>
              <a:gd name="csX3-63" fmla="*/ 1611516 w 3087232"/>
              <a:gd name="csY3-64" fmla="*/ 355444 h 427871"/>
              <a:gd name="csX4-65" fmla="*/ 1584356 w 3087232"/>
              <a:gd name="csY4-66" fmla="*/ 111000 h 427871"/>
              <a:gd name="csX5-67" fmla="*/ 2109458 w 3087232"/>
              <a:gd name="csY5-68" fmla="*/ 11412 h 427871"/>
              <a:gd name="csX6-69" fmla="*/ 3087232 w 3087232"/>
              <a:gd name="csY6-70" fmla="*/ 364497 h 427871"/>
              <a:gd name="csX0-71" fmla="*/ 0 w 3087232"/>
              <a:gd name="csY0-72" fmla="*/ 427616 h 427616"/>
              <a:gd name="csX1-73" fmla="*/ 1484768 w 3087232"/>
              <a:gd name="csY1-74" fmla="*/ 29264 h 427616"/>
              <a:gd name="csX2-75" fmla="*/ 1819746 w 3087232"/>
              <a:gd name="csY2-76" fmla="*/ 246546 h 427616"/>
              <a:gd name="csX3-77" fmla="*/ 1620569 w 3087232"/>
              <a:gd name="csY3-78" fmla="*/ 337082 h 427616"/>
              <a:gd name="csX4-79" fmla="*/ 1584356 w 3087232"/>
              <a:gd name="csY4-80" fmla="*/ 110745 h 427616"/>
              <a:gd name="csX5-81" fmla="*/ 2109458 w 3087232"/>
              <a:gd name="csY5-82" fmla="*/ 11157 h 427616"/>
              <a:gd name="csX6-83" fmla="*/ 3087232 w 3087232"/>
              <a:gd name="csY6-84" fmla="*/ 364242 h 427616"/>
              <a:gd name="csX0-85" fmla="*/ 0 w 2471596"/>
              <a:gd name="csY0-86" fmla="*/ 309921 h 364242"/>
              <a:gd name="csX1-87" fmla="*/ 869132 w 2471596"/>
              <a:gd name="csY1-88" fmla="*/ 29264 h 364242"/>
              <a:gd name="csX2-89" fmla="*/ 1204110 w 2471596"/>
              <a:gd name="csY2-90" fmla="*/ 246546 h 364242"/>
              <a:gd name="csX3-91" fmla="*/ 1004933 w 2471596"/>
              <a:gd name="csY3-92" fmla="*/ 337082 h 364242"/>
              <a:gd name="csX4-93" fmla="*/ 968720 w 2471596"/>
              <a:gd name="csY4-94" fmla="*/ 110745 h 364242"/>
              <a:gd name="csX5-95" fmla="*/ 1493822 w 2471596"/>
              <a:gd name="csY5-96" fmla="*/ 11157 h 364242"/>
              <a:gd name="csX6-97" fmla="*/ 2471596 w 2471596"/>
              <a:gd name="csY6-98" fmla="*/ 364242 h 364242"/>
              <a:gd name="csX0-99" fmla="*/ 0 w 2507810"/>
              <a:gd name="csY0-100" fmla="*/ 282761 h 364242"/>
              <a:gd name="csX1-101" fmla="*/ 905346 w 2507810"/>
              <a:gd name="csY1-102" fmla="*/ 29264 h 364242"/>
              <a:gd name="csX2-103" fmla="*/ 1240324 w 2507810"/>
              <a:gd name="csY2-104" fmla="*/ 246546 h 364242"/>
              <a:gd name="csX3-105" fmla="*/ 1041147 w 2507810"/>
              <a:gd name="csY3-106" fmla="*/ 337082 h 364242"/>
              <a:gd name="csX4-107" fmla="*/ 1004934 w 2507810"/>
              <a:gd name="csY4-108" fmla="*/ 110745 h 364242"/>
              <a:gd name="csX5-109" fmla="*/ 1530036 w 2507810"/>
              <a:gd name="csY5-110" fmla="*/ 11157 h 364242"/>
              <a:gd name="csX6-111" fmla="*/ 2507810 w 2507810"/>
              <a:gd name="csY6-112" fmla="*/ 364242 h 364242"/>
            </a:gdLst>
            <a:ahLst/>
            <a:cxnLst>
              <a:cxn ang="0">
                <a:pos x="csX0-1" y="csY0-2"/>
              </a:cxn>
              <a:cxn ang="0">
                <a:pos x="csX1-3" y="csY1-4"/>
              </a:cxn>
              <a:cxn ang="0">
                <a:pos x="csX2-5" y="csY2-6"/>
              </a:cxn>
              <a:cxn ang="0">
                <a:pos x="csX3-7" y="csY3-8"/>
              </a:cxn>
              <a:cxn ang="0">
                <a:pos x="csX4-9" y="csY4-10"/>
              </a:cxn>
              <a:cxn ang="0">
                <a:pos x="csX5-11" y="csY5-12"/>
              </a:cxn>
              <a:cxn ang="0">
                <a:pos x="csX6-13" y="csY6-14"/>
              </a:cxn>
            </a:cxnLst>
            <a:rect l="l" t="t" r="r" b="b"/>
            <a:pathLst>
              <a:path w="2507810" h="364242">
                <a:moveTo>
                  <a:pt x="0" y="282761"/>
                </a:moveTo>
                <a:cubicBezTo>
                  <a:pt x="586212" y="98674"/>
                  <a:pt x="698625" y="35300"/>
                  <a:pt x="905346" y="29264"/>
                </a:cubicBezTo>
                <a:cubicBezTo>
                  <a:pt x="1112067" y="23228"/>
                  <a:pt x="1217691" y="195243"/>
                  <a:pt x="1240324" y="246546"/>
                </a:cubicBezTo>
                <a:cubicBezTo>
                  <a:pt x="1262958" y="297849"/>
                  <a:pt x="1080379" y="359715"/>
                  <a:pt x="1041147" y="337082"/>
                </a:cubicBezTo>
                <a:cubicBezTo>
                  <a:pt x="1001915" y="314449"/>
                  <a:pt x="923453" y="165066"/>
                  <a:pt x="1004934" y="110745"/>
                </a:cubicBezTo>
                <a:cubicBezTo>
                  <a:pt x="1086415" y="56424"/>
                  <a:pt x="1279557" y="-31092"/>
                  <a:pt x="1530036" y="11157"/>
                </a:cubicBezTo>
                <a:cubicBezTo>
                  <a:pt x="1780515" y="53406"/>
                  <a:pt x="2139635" y="159030"/>
                  <a:pt x="2507810" y="364242"/>
                </a:cubicBezTo>
              </a:path>
            </a:pathLst>
          </a:custGeom>
          <a:noFill/>
          <a:ln w="22225">
            <a:prstDash val="dash"/>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149" name="Rounded Rectangle 4148"/>
          <p:cNvSpPr/>
          <p:nvPr/>
        </p:nvSpPr>
        <p:spPr>
          <a:xfrm>
            <a:off x="7527007" y="5657839"/>
            <a:ext cx="411933" cy="244442"/>
          </a:xfrm>
          <a:prstGeom prst="roundRect">
            <a:avLst/>
          </a:prstGeom>
          <a:solidFill>
            <a:schemeClr val="bg1"/>
          </a:solidFill>
          <a:ln>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Doc</a:t>
            </a:r>
          </a:p>
        </p:txBody>
      </p:sp>
      <p:sp>
        <p:nvSpPr>
          <p:cNvPr id="31"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Aptos" panose="020B0400000000000000" charset="-122"/>
              </a:defRPr>
            </a:pPr>
            <a:r>
              <a:rPr lang="en-US" sz="2550" b="1" dirty="0">
                <a:solidFill>
                  <a:srgbClr val="17131F"/>
                </a:solidFill>
                <a:latin typeface="Aptos" panose="020B0400000000000000" charset="-122"/>
              </a:rPr>
              <a:t>Our Insight</a:t>
            </a:r>
          </a:p>
        </p:txBody>
      </p:sp>
      <p:sp>
        <p:nvSpPr>
          <p:cNvPr id="4276" name="skill-template-section-label"/>
          <p:cNvSpPr txBox="1"/>
          <p:nvPr/>
        </p:nvSpPr>
        <p:spPr>
          <a:xfrm>
            <a:off x="704850" y="238125"/>
            <a:ext cx="238125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Aptos" panose="020B0400000000000000" charset="-122"/>
                <a:ea typeface="+mn-ea"/>
                <a:cs typeface="+mn-cs"/>
              </a:rPr>
              <a:t>INSIGHT</a:t>
            </a:r>
          </a:p>
        </p:txBody>
      </p:sp>
      <p:grpSp>
        <p:nvGrpSpPr>
          <p:cNvPr id="71" name="组合 70"/>
          <p:cNvGrpSpPr/>
          <p:nvPr/>
        </p:nvGrpSpPr>
        <p:grpSpPr>
          <a:xfrm>
            <a:off x="838200" y="1682686"/>
            <a:ext cx="4423246" cy="1893697"/>
            <a:chOff x="1223" y="3113"/>
            <a:chExt cx="9401" cy="5929"/>
          </a:xfrm>
        </p:grpSpPr>
        <p:grpSp>
          <p:nvGrpSpPr>
            <p:cNvPr id="32" name="组合 31"/>
            <p:cNvGrpSpPr/>
            <p:nvPr/>
          </p:nvGrpSpPr>
          <p:grpSpPr>
            <a:xfrm>
              <a:off x="3732" y="3693"/>
              <a:ext cx="4382" cy="4819"/>
              <a:chOff x="3732" y="3693"/>
              <a:chExt cx="4382" cy="4819"/>
            </a:xfrm>
          </p:grpSpPr>
          <p:cxnSp>
            <p:nvCxnSpPr>
              <p:cNvPr id="33" name="!!Straight Connector 17"/>
              <p:cNvCxnSpPr/>
              <p:nvPr/>
            </p:nvCxnSpPr>
            <p:spPr>
              <a:xfrm flipV="1">
                <a:off x="3732" y="4496"/>
                <a:ext cx="944" cy="1606"/>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13"/>
              <p:cNvCxnSpPr/>
              <p:nvPr/>
            </p:nvCxnSpPr>
            <p:spPr>
              <a:xfrm flipV="1">
                <a:off x="7170" y="3693"/>
                <a:ext cx="944" cy="803"/>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18"/>
              <p:cNvCxnSpPr/>
              <p:nvPr/>
            </p:nvCxnSpPr>
            <p:spPr>
              <a:xfrm>
                <a:off x="7170" y="4496"/>
                <a:ext cx="944" cy="803"/>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9"/>
              <p:cNvCxnSpPr/>
              <p:nvPr/>
            </p:nvCxnSpPr>
            <p:spPr>
              <a:xfrm flipV="1">
                <a:off x="7170" y="6905"/>
                <a:ext cx="944" cy="803"/>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48"/>
              <p:cNvCxnSpPr/>
              <p:nvPr/>
            </p:nvCxnSpPr>
            <p:spPr>
              <a:xfrm>
                <a:off x="3732" y="6102"/>
                <a:ext cx="944" cy="1606"/>
              </a:xfrm>
              <a:prstGeom prst="line">
                <a:avLst/>
              </a:prstGeom>
            </p:spPr>
            <p:style>
              <a:lnRef idx="2">
                <a:schemeClr val="dk1"/>
              </a:lnRef>
              <a:fillRef idx="0">
                <a:schemeClr val="dk1"/>
              </a:fillRef>
              <a:effectRef idx="1">
                <a:schemeClr val="dk1"/>
              </a:effectRef>
              <a:fontRef idx="minor">
                <a:schemeClr val="tx1"/>
              </a:fontRef>
            </p:style>
          </p:cxnSp>
          <p:cxnSp>
            <p:nvCxnSpPr>
              <p:cNvPr id="39" name="!!Straight Connector 49"/>
              <p:cNvCxnSpPr/>
              <p:nvPr/>
            </p:nvCxnSpPr>
            <p:spPr>
              <a:xfrm>
                <a:off x="7170" y="7708"/>
                <a:ext cx="944" cy="803"/>
              </a:xfrm>
              <a:prstGeom prst="line">
                <a:avLst/>
              </a:prstGeom>
            </p:spPr>
            <p:style>
              <a:lnRef idx="2">
                <a:schemeClr val="dk1"/>
              </a:lnRef>
              <a:fillRef idx="0">
                <a:schemeClr val="dk1"/>
              </a:fillRef>
              <a:effectRef idx="1">
                <a:schemeClr val="dk1"/>
              </a:effectRef>
              <a:fontRef idx="minor">
                <a:schemeClr val="tx1"/>
              </a:fontRef>
            </p:style>
          </p:cxnSp>
        </p:grpSp>
        <p:sp>
          <p:nvSpPr>
            <p:cNvPr id="64" name="Rounded Rectangle 8"/>
            <p:cNvSpPr/>
            <p:nvPr/>
          </p:nvSpPr>
          <p:spPr>
            <a:xfrm>
              <a:off x="7874" y="3113"/>
              <a:ext cx="2750" cy="11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Question 1</a:t>
              </a:r>
            </a:p>
          </p:txBody>
        </p:sp>
        <p:sp>
          <p:nvSpPr>
            <p:cNvPr id="65" name="Rounded Rectangle 16"/>
            <p:cNvSpPr/>
            <p:nvPr/>
          </p:nvSpPr>
          <p:spPr>
            <a:xfrm>
              <a:off x="7841" y="4636"/>
              <a:ext cx="2750" cy="11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Question 2</a:t>
              </a:r>
            </a:p>
          </p:txBody>
        </p:sp>
        <p:sp>
          <p:nvSpPr>
            <p:cNvPr id="66" name="Rounded Rectangle 37"/>
            <p:cNvSpPr/>
            <p:nvPr/>
          </p:nvSpPr>
          <p:spPr>
            <a:xfrm>
              <a:off x="7841" y="6342"/>
              <a:ext cx="2750" cy="11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Question 3</a:t>
              </a:r>
            </a:p>
          </p:txBody>
        </p:sp>
        <p:sp>
          <p:nvSpPr>
            <p:cNvPr id="67" name="Rounded Rectangle 47"/>
            <p:cNvSpPr/>
            <p:nvPr/>
          </p:nvSpPr>
          <p:spPr>
            <a:xfrm>
              <a:off x="7873" y="7883"/>
              <a:ext cx="2750" cy="11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Question 4</a:t>
              </a:r>
            </a:p>
          </p:txBody>
        </p:sp>
        <p:sp>
          <p:nvSpPr>
            <p:cNvPr id="68" name="Rounded Rectangle 7"/>
            <p:cNvSpPr/>
            <p:nvPr/>
          </p:nvSpPr>
          <p:spPr>
            <a:xfrm>
              <a:off x="4388" y="4010"/>
              <a:ext cx="2930" cy="1082"/>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69" name="Rounded Rectangle 36"/>
            <p:cNvSpPr/>
            <p:nvPr/>
          </p:nvSpPr>
          <p:spPr>
            <a:xfrm>
              <a:off x="4389" y="7195"/>
              <a:ext cx="2931" cy="1082"/>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70" name="Rounded Rectangle 6"/>
            <p:cNvSpPr/>
            <p:nvPr/>
          </p:nvSpPr>
          <p:spPr>
            <a:xfrm>
              <a:off x="1223" y="5537"/>
              <a:ext cx="3033" cy="1082"/>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Document A</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4.375E-6 3.7037E-6 L 0.10846 0.00139 L 0.1069 -0.28241 L -0.03256 -0.29422 " pathEditMode="relative" rAng="0" ptsTypes="AAAA">
                                      <p:cBhvr>
                                        <p:cTn id="6" dur="2000" fill="hold"/>
                                        <p:tgtEl>
                                          <p:spTgt spid="4149"/>
                                        </p:tgtEl>
                                        <p:attrNameLst>
                                          <p:attrName>ppt_x</p:attrName>
                                          <p:attrName>ppt_y</p:attrName>
                                        </p:attrNameLst>
                                      </p:cBhvr>
                                      <p:rCtr x="3789" y="-1465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9"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Challenge: Organize Dependency</a:t>
            </a:r>
          </a:p>
        </p:txBody>
      </p:sp>
      <p:sp>
        <p:nvSpPr>
          <p:cNvPr id="7" name="Rounded Rectangle 6"/>
          <p:cNvSpPr/>
          <p:nvPr/>
        </p:nvSpPr>
        <p:spPr>
          <a:xfrm>
            <a:off x="1577515" y="2540990"/>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8" name="Rounded Rectangle 7"/>
          <p:cNvSpPr/>
          <p:nvPr/>
        </p:nvSpPr>
        <p:spPr>
          <a:xfrm>
            <a:off x="3761139" y="2540990"/>
            <a:ext cx="1584494" cy="481631"/>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9" name="Rounded Rectangle 8"/>
          <p:cNvSpPr/>
          <p:nvPr/>
        </p:nvSpPr>
        <p:spPr>
          <a:xfrm>
            <a:off x="5944763" y="2540990"/>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1</a:t>
            </a:r>
          </a:p>
        </p:txBody>
      </p:sp>
      <p:cxnSp>
        <p:nvCxnSpPr>
          <p:cNvPr id="12" name="Straight Connector 11"/>
          <p:cNvCxnSpPr>
            <a:stCxn id="7" idx="3"/>
            <a:endCxn id="8" idx="1"/>
          </p:cNvCxnSpPr>
          <p:nvPr/>
        </p:nvCxnSpPr>
        <p:spPr>
          <a:xfrm>
            <a:off x="3162009" y="2781806"/>
            <a:ext cx="599130"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a:stCxn id="8" idx="3"/>
            <a:endCxn id="9" idx="1"/>
          </p:cNvCxnSpPr>
          <p:nvPr/>
        </p:nvCxnSpPr>
        <p:spPr>
          <a:xfrm>
            <a:off x="5345633" y="2781806"/>
            <a:ext cx="599130" cy="0"/>
          </a:xfrm>
          <a:prstGeom prst="line">
            <a:avLst/>
          </a:prstGeom>
        </p:spPr>
        <p:style>
          <a:lnRef idx="2">
            <a:schemeClr val="dk1"/>
          </a:lnRef>
          <a:fillRef idx="0">
            <a:schemeClr val="dk1"/>
          </a:fillRef>
          <a:effectRef idx="1">
            <a:schemeClr val="dk1"/>
          </a:effectRef>
          <a:fontRef idx="minor">
            <a:schemeClr val="tx1"/>
          </a:fontRef>
        </p:style>
      </p:cxnSp>
      <p:sp>
        <p:nvSpPr>
          <p:cNvPr id="15" name="Rounded Rectangle 14"/>
          <p:cNvSpPr/>
          <p:nvPr/>
        </p:nvSpPr>
        <p:spPr>
          <a:xfrm>
            <a:off x="1577515" y="3560929"/>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16" name="Rounded Rectangle 15"/>
          <p:cNvSpPr/>
          <p:nvPr/>
        </p:nvSpPr>
        <p:spPr>
          <a:xfrm>
            <a:off x="3761139" y="3560929"/>
            <a:ext cx="1584494" cy="481631"/>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17" name="Rounded Rectangle 16"/>
          <p:cNvSpPr/>
          <p:nvPr/>
        </p:nvSpPr>
        <p:spPr>
          <a:xfrm>
            <a:off x="5944763" y="3560929"/>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2</a:t>
            </a:r>
          </a:p>
        </p:txBody>
      </p:sp>
      <p:cxnSp>
        <p:nvCxnSpPr>
          <p:cNvPr id="18" name="!!Straight Connector 17"/>
          <p:cNvCxnSpPr>
            <a:stCxn id="15" idx="3"/>
            <a:endCxn id="16" idx="1"/>
          </p:cNvCxnSpPr>
          <p:nvPr/>
        </p:nvCxnSpPr>
        <p:spPr>
          <a:xfrm>
            <a:off x="3162009" y="3801745"/>
            <a:ext cx="599130"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p:cNvCxnSpPr>
            <a:stCxn id="16" idx="3"/>
            <a:endCxn id="17" idx="1"/>
          </p:cNvCxnSpPr>
          <p:nvPr/>
        </p:nvCxnSpPr>
        <p:spPr>
          <a:xfrm>
            <a:off x="5345633" y="3801745"/>
            <a:ext cx="599130" cy="0"/>
          </a:xfrm>
          <a:prstGeom prst="line">
            <a:avLst/>
          </a:prstGeom>
        </p:spPr>
        <p:style>
          <a:lnRef idx="2">
            <a:schemeClr val="dk1"/>
          </a:lnRef>
          <a:fillRef idx="0">
            <a:schemeClr val="dk1"/>
          </a:fillRef>
          <a:effectRef idx="1">
            <a:schemeClr val="dk1"/>
          </a:effectRef>
          <a:fontRef idx="minor">
            <a:schemeClr val="tx1"/>
          </a:fontRef>
        </p:style>
      </p:cxnSp>
      <p:sp>
        <p:nvSpPr>
          <p:cNvPr id="36" name="Rounded Rectangle 35"/>
          <p:cNvSpPr/>
          <p:nvPr/>
        </p:nvSpPr>
        <p:spPr>
          <a:xfrm>
            <a:off x="1577515" y="4580867"/>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37" name="Rounded Rectangle 36"/>
          <p:cNvSpPr/>
          <p:nvPr/>
        </p:nvSpPr>
        <p:spPr>
          <a:xfrm>
            <a:off x="3761139" y="4580867"/>
            <a:ext cx="1584494" cy="481631"/>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38" name="Rounded Rectangle 37"/>
          <p:cNvSpPr/>
          <p:nvPr/>
        </p:nvSpPr>
        <p:spPr>
          <a:xfrm>
            <a:off x="5944763" y="4580867"/>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3</a:t>
            </a:r>
          </a:p>
        </p:txBody>
      </p:sp>
      <p:cxnSp>
        <p:nvCxnSpPr>
          <p:cNvPr id="39" name="Straight Connector 38"/>
          <p:cNvCxnSpPr>
            <a:stCxn id="36" idx="3"/>
            <a:endCxn id="37" idx="1"/>
          </p:cNvCxnSpPr>
          <p:nvPr/>
        </p:nvCxnSpPr>
        <p:spPr>
          <a:xfrm>
            <a:off x="3162009" y="4821683"/>
            <a:ext cx="599130" cy="0"/>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p:cNvCxnSpPr>
            <a:stCxn id="37" idx="3"/>
            <a:endCxn id="38" idx="1"/>
          </p:cNvCxnSpPr>
          <p:nvPr/>
        </p:nvCxnSpPr>
        <p:spPr>
          <a:xfrm>
            <a:off x="5345633" y="4821683"/>
            <a:ext cx="599130" cy="0"/>
          </a:xfrm>
          <a:prstGeom prst="line">
            <a:avLst/>
          </a:prstGeom>
        </p:spPr>
        <p:style>
          <a:lnRef idx="2">
            <a:schemeClr val="dk1"/>
          </a:lnRef>
          <a:fillRef idx="0">
            <a:schemeClr val="dk1"/>
          </a:fillRef>
          <a:effectRef idx="1">
            <a:schemeClr val="dk1"/>
          </a:effectRef>
          <a:fontRef idx="minor">
            <a:schemeClr val="tx1"/>
          </a:fontRef>
        </p:style>
      </p:cxnSp>
      <p:sp>
        <p:nvSpPr>
          <p:cNvPr id="46" name="Rounded Rectangle 45"/>
          <p:cNvSpPr/>
          <p:nvPr/>
        </p:nvSpPr>
        <p:spPr>
          <a:xfrm>
            <a:off x="1577515" y="5600805"/>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47" name="Rounded Rectangle 46"/>
          <p:cNvSpPr/>
          <p:nvPr/>
        </p:nvSpPr>
        <p:spPr>
          <a:xfrm>
            <a:off x="3761139" y="5600805"/>
            <a:ext cx="1584494" cy="481631"/>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48" name="Rounded Rectangle 47"/>
          <p:cNvSpPr/>
          <p:nvPr/>
        </p:nvSpPr>
        <p:spPr>
          <a:xfrm>
            <a:off x="5944763" y="5600805"/>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4</a:t>
            </a:r>
          </a:p>
        </p:txBody>
      </p:sp>
      <p:cxnSp>
        <p:nvCxnSpPr>
          <p:cNvPr id="49" name="Straight Connector 48"/>
          <p:cNvCxnSpPr>
            <a:stCxn id="46" idx="3"/>
            <a:endCxn id="47" idx="1"/>
          </p:cNvCxnSpPr>
          <p:nvPr/>
        </p:nvCxnSpPr>
        <p:spPr>
          <a:xfrm>
            <a:off x="3162009" y="5841621"/>
            <a:ext cx="599130" cy="0"/>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p:cNvCxnSpPr>
            <a:stCxn id="47" idx="3"/>
            <a:endCxn id="48" idx="1"/>
          </p:cNvCxnSpPr>
          <p:nvPr/>
        </p:nvCxnSpPr>
        <p:spPr>
          <a:xfrm>
            <a:off x="5345633" y="5841621"/>
            <a:ext cx="599130" cy="0"/>
          </a:xfrm>
          <a:prstGeom prst="line">
            <a:avLst/>
          </a:prstGeom>
        </p:spPr>
        <p:style>
          <a:lnRef idx="2">
            <a:schemeClr val="dk1"/>
          </a:lnRef>
          <a:fillRef idx="0">
            <a:schemeClr val="dk1"/>
          </a:fillRef>
          <a:effectRef idx="1">
            <a:schemeClr val="dk1"/>
          </a:effectRef>
          <a:fontRef idx="minor">
            <a:schemeClr val="tx1"/>
          </a:fontRef>
        </p:style>
      </p:cxnSp>
      <p:grpSp>
        <p:nvGrpSpPr>
          <p:cNvPr id="3" name="Group 2"/>
          <p:cNvGrpSpPr/>
          <p:nvPr/>
        </p:nvGrpSpPr>
        <p:grpSpPr>
          <a:xfrm>
            <a:off x="1574269" y="1833341"/>
            <a:ext cx="4340616" cy="400110"/>
            <a:chOff x="1574269" y="1371061"/>
            <a:chExt cx="4340616" cy="400110"/>
          </a:xfrm>
        </p:grpSpPr>
        <p:sp>
          <p:nvSpPr>
            <p:cNvPr id="5" name="Rounded Rectangle 4"/>
            <p:cNvSpPr/>
            <p:nvPr/>
          </p:nvSpPr>
          <p:spPr>
            <a:xfrm>
              <a:off x="1574269" y="1386612"/>
              <a:ext cx="146583" cy="365760"/>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1720852" y="1371061"/>
              <a:ext cx="419403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Red bars denote thread blocks on GPU</a:t>
              </a:r>
            </a:p>
          </p:txBody>
        </p:sp>
      </p:grpSp>
      <p:sp>
        <p:nvSpPr>
          <p:cNvPr id="10" name="!!1"/>
          <p:cNvSpPr/>
          <p:nvPr/>
        </p:nvSpPr>
        <p:spPr>
          <a:xfrm>
            <a:off x="1574269" y="2422327"/>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2"/>
          <p:cNvSpPr/>
          <p:nvPr/>
        </p:nvSpPr>
        <p:spPr>
          <a:xfrm>
            <a:off x="1574268" y="3442266"/>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3"/>
          <p:cNvSpPr/>
          <p:nvPr/>
        </p:nvSpPr>
        <p:spPr>
          <a:xfrm>
            <a:off x="1574267" y="4462205"/>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4"/>
          <p:cNvSpPr/>
          <p:nvPr/>
        </p:nvSpPr>
        <p:spPr>
          <a:xfrm>
            <a:off x="1574266" y="5482144"/>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2" name="Group 21"/>
          <p:cNvGrpSpPr/>
          <p:nvPr/>
        </p:nvGrpSpPr>
        <p:grpSpPr>
          <a:xfrm>
            <a:off x="6458246" y="1820417"/>
            <a:ext cx="3411554" cy="400110"/>
            <a:chOff x="6182586" y="1372107"/>
            <a:chExt cx="3411554" cy="400110"/>
          </a:xfrm>
        </p:grpSpPr>
        <p:sp>
          <p:nvSpPr>
            <p:cNvPr id="23" name="Rounded Rectangle 22"/>
            <p:cNvSpPr/>
            <p:nvPr/>
          </p:nvSpPr>
          <p:spPr>
            <a:xfrm>
              <a:off x="6182586" y="1473658"/>
              <a:ext cx="293370" cy="191667"/>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6488482" y="1372107"/>
              <a:ext cx="310565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Rectangles denote KV cache</a:t>
              </a:r>
            </a:p>
          </p:txBody>
        </p:sp>
      </p:grpSp>
      <p:sp>
        <p:nvSpPr>
          <p:cNvPr id="51"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CHALLENGE</a:t>
            </a:r>
          </a:p>
        </p:txBody>
      </p:sp>
      <p:sp>
        <p:nvSpPr>
          <p:cNvPr id="53"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56" name="skill-template-footer-page-number"/>
          <p:cNvSpPr txBox="1"/>
          <p:nvPr/>
        </p:nvSpPr>
        <p:spPr>
          <a:xfrm>
            <a:off x="10997565" y="6515100"/>
            <a:ext cx="21336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22</a:t>
            </a:r>
          </a:p>
        </p:txBody>
      </p:sp>
      <p:pic>
        <p:nvPicPr>
          <p:cNvPr id="57" name="skill-template-nju-logo" descr="template-title-footer-logo-from-template.png"/>
          <p:cNvPicPr>
            <a:picLocks noChangeAspect="1"/>
          </p:cNvPicPr>
          <p:nvPr/>
        </p:nvPicPr>
        <p:blipFill>
          <a:blip r:embed="rId3"/>
          <a:stretch>
            <a:fillRect/>
          </a:stretch>
        </p:blipFill>
        <p:spPr>
          <a:xfrm>
            <a:off x="9639300" y="354718"/>
            <a:ext cx="1571625" cy="481189"/>
          </a:xfrm>
          <a:prstGeom prst="rect">
            <a:avLst/>
          </a:prstGeom>
        </p:spPr>
      </p:pic>
      <p:sp>
        <p:nvSpPr>
          <p:cNvPr id="4" name="TextBox 23"/>
          <p:cNvSpPr txBox="1"/>
          <p:nvPr/>
        </p:nvSpPr>
        <p:spPr>
          <a:xfrm>
            <a:off x="7560717" y="2603199"/>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25" name="TextBox 24"/>
          <p:cNvSpPr txBox="1"/>
          <p:nvPr/>
        </p:nvSpPr>
        <p:spPr>
          <a:xfrm>
            <a:off x="7553201" y="3616427"/>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26" name="TextBox 25"/>
          <p:cNvSpPr txBox="1"/>
          <p:nvPr/>
        </p:nvSpPr>
        <p:spPr>
          <a:xfrm>
            <a:off x="7545685" y="4629655"/>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27" name="TextBox 26"/>
          <p:cNvSpPr txBox="1"/>
          <p:nvPr/>
        </p:nvSpPr>
        <p:spPr>
          <a:xfrm>
            <a:off x="7538169" y="5642883"/>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p:txBody>
      </p:sp>
      <p:sp>
        <p:nvSpPr>
          <p:cNvPr id="21" name="TextBox 10"/>
          <p:cNvSpPr txBox="1"/>
          <p:nvPr/>
        </p:nvSpPr>
        <p:spPr>
          <a:xfrm>
            <a:off x="8906141" y="2597140"/>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8" name="TextBox 14"/>
          <p:cNvSpPr txBox="1"/>
          <p:nvPr/>
        </p:nvSpPr>
        <p:spPr>
          <a:xfrm>
            <a:off x="8209763" y="2597140"/>
            <a:ext cx="6190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B</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9" name="TextBox 15"/>
          <p:cNvSpPr txBox="1"/>
          <p:nvPr/>
        </p:nvSpPr>
        <p:spPr>
          <a:xfrm>
            <a:off x="8644809" y="2588243"/>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0" name="TextBox 27"/>
          <p:cNvSpPr txBox="1"/>
          <p:nvPr/>
        </p:nvSpPr>
        <p:spPr>
          <a:xfrm>
            <a:off x="7972790" y="2600769"/>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1" name="TextBox 28"/>
          <p:cNvSpPr txBox="1"/>
          <p:nvPr/>
        </p:nvSpPr>
        <p:spPr>
          <a:xfrm>
            <a:off x="8906141" y="3601471"/>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32" name="TextBox 29"/>
          <p:cNvSpPr txBox="1"/>
          <p:nvPr/>
        </p:nvSpPr>
        <p:spPr>
          <a:xfrm>
            <a:off x="8209763" y="3601471"/>
            <a:ext cx="6190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B</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TextBox 30"/>
          <p:cNvSpPr txBox="1"/>
          <p:nvPr/>
        </p:nvSpPr>
        <p:spPr>
          <a:xfrm>
            <a:off x="8644809" y="3592574"/>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4" name="TextBox 31"/>
          <p:cNvSpPr txBox="1"/>
          <p:nvPr/>
        </p:nvSpPr>
        <p:spPr>
          <a:xfrm>
            <a:off x="7972790" y="3605100"/>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5" name="TextBox 32"/>
          <p:cNvSpPr txBox="1"/>
          <p:nvPr/>
        </p:nvSpPr>
        <p:spPr>
          <a:xfrm>
            <a:off x="8906141" y="4618328"/>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41" name="TextBox 33"/>
          <p:cNvSpPr txBox="1"/>
          <p:nvPr/>
        </p:nvSpPr>
        <p:spPr>
          <a:xfrm>
            <a:off x="8209763" y="4618328"/>
            <a:ext cx="61747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C</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2" name="TextBox 34"/>
          <p:cNvSpPr txBox="1"/>
          <p:nvPr/>
        </p:nvSpPr>
        <p:spPr>
          <a:xfrm>
            <a:off x="8644809" y="4609431"/>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3" name="TextBox 35"/>
          <p:cNvSpPr txBox="1"/>
          <p:nvPr/>
        </p:nvSpPr>
        <p:spPr>
          <a:xfrm>
            <a:off x="7972790" y="4621957"/>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4" name="TextBox 36"/>
          <p:cNvSpPr txBox="1"/>
          <p:nvPr/>
        </p:nvSpPr>
        <p:spPr>
          <a:xfrm>
            <a:off x="8906141" y="5622659"/>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45" name="TextBox 38"/>
          <p:cNvSpPr txBox="1"/>
          <p:nvPr/>
        </p:nvSpPr>
        <p:spPr>
          <a:xfrm>
            <a:off x="8209763" y="5622659"/>
            <a:ext cx="61747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C</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8" name="TextBox 40"/>
          <p:cNvSpPr txBox="1"/>
          <p:nvPr/>
        </p:nvSpPr>
        <p:spPr>
          <a:xfrm>
            <a:off x="8644809" y="5613762"/>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59" name="TextBox 41"/>
          <p:cNvSpPr txBox="1"/>
          <p:nvPr/>
        </p:nvSpPr>
        <p:spPr>
          <a:xfrm>
            <a:off x="7972790" y="5626288"/>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60" name="文本框 59"/>
          <p:cNvSpPr txBox="1"/>
          <p:nvPr/>
        </p:nvSpPr>
        <p:spPr>
          <a:xfrm>
            <a:off x="1029335" y="1153160"/>
            <a:ext cx="10125710" cy="478155"/>
          </a:xfrm>
          <a:prstGeom prst="rect">
            <a:avLst/>
          </a:prstGeom>
          <a:noFill/>
        </p:spPr>
        <p:txBody>
          <a:bodyPr wrap="square" rtlCol="0" anchor="t">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Decode attention requires careful dependency management.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33333E-6 -1.48148E-6 L 0.4763 -1.48148E-6 " pathEditMode="relative" rAng="0" ptsTypes="AA">
                                      <p:cBhvr>
                                        <p:cTn id="6" dur="1000" fill="hold"/>
                                        <p:tgtEl>
                                          <p:spTgt spid="10"/>
                                        </p:tgtEl>
                                        <p:attrNameLst>
                                          <p:attrName>ppt_x</p:attrName>
                                          <p:attrName>ppt_y</p:attrName>
                                        </p:attrNameLst>
                                      </p:cBhvr>
                                      <p:rCtr x="23815" y="0"/>
                                    </p:animMotion>
                                  </p:childTnLst>
                                </p:cTn>
                              </p:par>
                              <p:par>
                                <p:cTn id="7" presetID="0" presetClass="path" presetSubtype="0" accel="50000" decel="50000" fill="hold" grpId="0" nodeType="withEffect">
                                  <p:stCondLst>
                                    <p:cond delay="0"/>
                                  </p:stCondLst>
                                  <p:childTnLst>
                                    <p:animMotion origin="layout" path="M 3.33333E-6 -1.48148E-6 L 0.4763 -1.48148E-6 " pathEditMode="relative" rAng="0" ptsTypes="AA">
                                      <p:cBhvr>
                                        <p:cTn id="8" dur="1000" fill="hold"/>
                                        <p:tgtEl>
                                          <p:spTgt spid="11"/>
                                        </p:tgtEl>
                                        <p:attrNameLst>
                                          <p:attrName>ppt_x</p:attrName>
                                          <p:attrName>ppt_y</p:attrName>
                                        </p:attrNameLst>
                                      </p:cBhvr>
                                      <p:rCtr x="23815" y="0"/>
                                    </p:animMotion>
                                  </p:childTnLst>
                                </p:cTn>
                              </p:par>
                              <p:par>
                                <p:cTn id="9" presetID="0" presetClass="path" presetSubtype="0" accel="50000" decel="50000" fill="hold" grpId="0" nodeType="withEffect">
                                  <p:stCondLst>
                                    <p:cond delay="0"/>
                                  </p:stCondLst>
                                  <p:childTnLst>
                                    <p:animMotion origin="layout" path="M 3.33333E-6 -1.48148E-6 L 0.4763 -1.48148E-6 " pathEditMode="relative" rAng="0" ptsTypes="AA">
                                      <p:cBhvr>
                                        <p:cTn id="10" dur="1000" fill="hold"/>
                                        <p:tgtEl>
                                          <p:spTgt spid="13"/>
                                        </p:tgtEl>
                                        <p:attrNameLst>
                                          <p:attrName>ppt_x</p:attrName>
                                          <p:attrName>ppt_y</p:attrName>
                                        </p:attrNameLst>
                                      </p:cBhvr>
                                      <p:rCtr x="23815" y="0"/>
                                    </p:animMotion>
                                  </p:childTnLst>
                                </p:cTn>
                              </p:par>
                              <p:par>
                                <p:cTn id="11" presetID="0" presetClass="path" presetSubtype="0" accel="50000" decel="50000" fill="hold" grpId="0" nodeType="withEffect">
                                  <p:stCondLst>
                                    <p:cond delay="0"/>
                                  </p:stCondLst>
                                  <p:childTnLst>
                                    <p:animMotion origin="layout" path="M 3.33333E-6 -1.48148E-6 L 0.4763 -1.48148E-6 " pathEditMode="relative" rAng="0" ptsTypes="AA">
                                      <p:cBhvr>
                                        <p:cTn id="12" dur="1000" fill="hold"/>
                                        <p:tgtEl>
                                          <p:spTgt spid="20"/>
                                        </p:tgtEl>
                                        <p:attrNameLst>
                                          <p:attrName>ppt_x</p:attrName>
                                          <p:attrName>ppt_y</p:attrName>
                                        </p:attrNameLst>
                                      </p:cBhvr>
                                      <p:rCtr x="23815" y="0"/>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3" grpId="0" bldLvl="0" animBg="1"/>
      <p:bldP spid="20" grpId="0" bldLvl="0" animBg="1"/>
      <p:bldP spid="4" grpId="0"/>
      <p:bldP spid="4" grpId="1"/>
      <p:bldP spid="25" grpId="0"/>
      <p:bldP spid="25" grpId="1"/>
      <p:bldP spid="26" grpId="0"/>
      <p:bldP spid="26" grpId="1"/>
      <p:bldP spid="27" grpId="0"/>
      <p:bldP spid="27" grpId="1"/>
      <p:bldP spid="21" grpId="0"/>
      <p:bldP spid="21" grpId="1"/>
      <p:bldP spid="28" grpId="0"/>
      <p:bldP spid="28" grpId="1"/>
      <p:bldP spid="29" grpId="0"/>
      <p:bldP spid="29" grpId="1"/>
      <p:bldP spid="30" grpId="0"/>
      <p:bldP spid="30" grpId="1"/>
      <p:bldP spid="31" grpId="0"/>
      <p:bldP spid="31" grpId="1"/>
      <p:bldP spid="32" grpId="0"/>
      <p:bldP spid="32" grpId="1"/>
      <p:bldP spid="33" grpId="0"/>
      <p:bldP spid="33" grpId="1"/>
      <p:bldP spid="34" grpId="0"/>
      <p:bldP spid="34" grpId="1"/>
      <p:bldP spid="35" grpId="0"/>
      <p:bldP spid="35" grpId="1"/>
      <p:bldP spid="41" grpId="0"/>
      <p:bldP spid="41" grpId="1"/>
      <p:bldP spid="42" grpId="0"/>
      <p:bldP spid="42" grpId="1"/>
      <p:bldP spid="43" grpId="0"/>
      <p:bldP spid="43" grpId="1"/>
      <p:bldP spid="44" grpId="0"/>
      <p:bldP spid="44" grpId="1"/>
      <p:bldP spid="45" grpId="0"/>
      <p:bldP spid="45" grpId="1"/>
      <p:bldP spid="58" grpId="0"/>
      <p:bldP spid="58" grpId="1"/>
      <p:bldP spid="59" grpId="0"/>
      <p:bldP spid="59"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Challenge: Organize Dependency</a:t>
            </a:r>
          </a:p>
        </p:txBody>
      </p:sp>
      <p:sp>
        <p:nvSpPr>
          <p:cNvPr id="9" name="Rounded Rectangle 8"/>
          <p:cNvSpPr/>
          <p:nvPr/>
        </p:nvSpPr>
        <p:spPr>
          <a:xfrm>
            <a:off x="5944763" y="1850110"/>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1</a:t>
            </a:r>
          </a:p>
        </p:txBody>
      </p:sp>
      <p:cxnSp>
        <p:nvCxnSpPr>
          <p:cNvPr id="12" name="!!Straight Connector 17"/>
          <p:cNvCxnSpPr>
            <a:stCxn id="4" idx="3"/>
            <a:endCxn id="13" idx="1"/>
          </p:cNvCxnSpPr>
          <p:nvPr/>
        </p:nvCxnSpPr>
        <p:spPr>
          <a:xfrm flipV="1">
            <a:off x="3162009" y="2600899"/>
            <a:ext cx="599130" cy="1019934"/>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a:stCxn id="13" idx="3"/>
            <a:endCxn id="9" idx="1"/>
          </p:cNvCxnSpPr>
          <p:nvPr/>
        </p:nvCxnSpPr>
        <p:spPr>
          <a:xfrm flipV="1">
            <a:off x="5345633" y="2090926"/>
            <a:ext cx="599130" cy="509973"/>
          </a:xfrm>
          <a:prstGeom prst="line">
            <a:avLst/>
          </a:prstGeom>
        </p:spPr>
        <p:style>
          <a:lnRef idx="2">
            <a:schemeClr val="dk1"/>
          </a:lnRef>
          <a:fillRef idx="0">
            <a:schemeClr val="dk1"/>
          </a:fillRef>
          <a:effectRef idx="1">
            <a:schemeClr val="dk1"/>
          </a:effectRef>
          <a:fontRef idx="minor">
            <a:schemeClr val="tx1"/>
          </a:fontRef>
        </p:style>
      </p:cxnSp>
      <p:sp>
        <p:nvSpPr>
          <p:cNvPr id="17" name="Rounded Rectangle 16"/>
          <p:cNvSpPr/>
          <p:nvPr/>
        </p:nvSpPr>
        <p:spPr>
          <a:xfrm>
            <a:off x="5944763" y="2870049"/>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2</a:t>
            </a:r>
          </a:p>
        </p:txBody>
      </p:sp>
      <p:cxnSp>
        <p:nvCxnSpPr>
          <p:cNvPr id="19" name="Straight Connector 18"/>
          <p:cNvCxnSpPr>
            <a:stCxn id="13" idx="3"/>
            <a:endCxn id="17" idx="1"/>
          </p:cNvCxnSpPr>
          <p:nvPr/>
        </p:nvCxnSpPr>
        <p:spPr>
          <a:xfrm>
            <a:off x="5345633" y="2600899"/>
            <a:ext cx="599130" cy="509966"/>
          </a:xfrm>
          <a:prstGeom prst="line">
            <a:avLst/>
          </a:prstGeom>
        </p:spPr>
        <p:style>
          <a:lnRef idx="2">
            <a:schemeClr val="dk1"/>
          </a:lnRef>
          <a:fillRef idx="0">
            <a:schemeClr val="dk1"/>
          </a:fillRef>
          <a:effectRef idx="1">
            <a:schemeClr val="dk1"/>
          </a:effectRef>
          <a:fontRef idx="minor">
            <a:schemeClr val="tx1"/>
          </a:fontRef>
        </p:style>
      </p:cxnSp>
      <p:sp>
        <p:nvSpPr>
          <p:cNvPr id="38" name="Rounded Rectangle 37"/>
          <p:cNvSpPr/>
          <p:nvPr/>
        </p:nvSpPr>
        <p:spPr>
          <a:xfrm>
            <a:off x="5944763" y="3889987"/>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3</a:t>
            </a:r>
          </a:p>
        </p:txBody>
      </p:sp>
      <p:cxnSp>
        <p:nvCxnSpPr>
          <p:cNvPr id="40" name="Straight Connector 39"/>
          <p:cNvCxnSpPr>
            <a:stCxn id="20" idx="3"/>
            <a:endCxn id="38" idx="1"/>
          </p:cNvCxnSpPr>
          <p:nvPr/>
        </p:nvCxnSpPr>
        <p:spPr>
          <a:xfrm flipV="1">
            <a:off x="5345633" y="4130803"/>
            <a:ext cx="599130" cy="509968"/>
          </a:xfrm>
          <a:prstGeom prst="line">
            <a:avLst/>
          </a:prstGeom>
        </p:spPr>
        <p:style>
          <a:lnRef idx="2">
            <a:schemeClr val="dk1"/>
          </a:lnRef>
          <a:fillRef idx="0">
            <a:schemeClr val="dk1"/>
          </a:fillRef>
          <a:effectRef idx="1">
            <a:schemeClr val="dk1"/>
          </a:effectRef>
          <a:fontRef idx="minor">
            <a:schemeClr val="tx1"/>
          </a:fontRef>
        </p:style>
      </p:cxnSp>
      <p:sp>
        <p:nvSpPr>
          <p:cNvPr id="48" name="Rounded Rectangle 47"/>
          <p:cNvSpPr/>
          <p:nvPr/>
        </p:nvSpPr>
        <p:spPr>
          <a:xfrm>
            <a:off x="5944763" y="4909925"/>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4</a:t>
            </a:r>
          </a:p>
        </p:txBody>
      </p:sp>
      <p:cxnSp>
        <p:nvCxnSpPr>
          <p:cNvPr id="49" name="Straight Connector 48"/>
          <p:cNvCxnSpPr>
            <a:stCxn id="4" idx="3"/>
            <a:endCxn id="20" idx="1"/>
          </p:cNvCxnSpPr>
          <p:nvPr/>
        </p:nvCxnSpPr>
        <p:spPr>
          <a:xfrm>
            <a:off x="3162009" y="3620833"/>
            <a:ext cx="599130" cy="1019938"/>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p:cNvCxnSpPr>
            <a:stCxn id="20" idx="3"/>
            <a:endCxn id="48" idx="1"/>
          </p:cNvCxnSpPr>
          <p:nvPr/>
        </p:nvCxnSpPr>
        <p:spPr>
          <a:xfrm>
            <a:off x="5345633" y="4640771"/>
            <a:ext cx="599130" cy="509970"/>
          </a:xfrm>
          <a:prstGeom prst="line">
            <a:avLst/>
          </a:prstGeom>
        </p:spPr>
        <p:style>
          <a:lnRef idx="2">
            <a:schemeClr val="dk1"/>
          </a:lnRef>
          <a:fillRef idx="0">
            <a:schemeClr val="dk1"/>
          </a:fillRef>
          <a:effectRef idx="1">
            <a:schemeClr val="dk1"/>
          </a:effectRef>
          <a:fontRef idx="minor">
            <a:schemeClr val="tx1"/>
          </a:fontRef>
        </p:style>
      </p:cxnSp>
      <p:sp>
        <p:nvSpPr>
          <p:cNvPr id="4" name="Rounded Rectangle 3"/>
          <p:cNvSpPr/>
          <p:nvPr/>
        </p:nvSpPr>
        <p:spPr>
          <a:xfrm>
            <a:off x="1577515" y="3380017"/>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13" name="Rounded Rectangle 12"/>
          <p:cNvSpPr/>
          <p:nvPr/>
        </p:nvSpPr>
        <p:spPr>
          <a:xfrm>
            <a:off x="3761139" y="2360083"/>
            <a:ext cx="1584494" cy="481631"/>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20" name="Rounded Rectangle 19"/>
          <p:cNvSpPr/>
          <p:nvPr/>
        </p:nvSpPr>
        <p:spPr>
          <a:xfrm>
            <a:off x="3761139" y="4399955"/>
            <a:ext cx="1584494" cy="481631"/>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6" name="!!2"/>
          <p:cNvSpPr/>
          <p:nvPr/>
        </p:nvSpPr>
        <p:spPr>
          <a:xfrm>
            <a:off x="5944763" y="2750736"/>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4"/>
          <p:cNvSpPr/>
          <p:nvPr/>
        </p:nvSpPr>
        <p:spPr>
          <a:xfrm>
            <a:off x="5944763" y="4791261"/>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1"/>
          <p:cNvSpPr/>
          <p:nvPr/>
        </p:nvSpPr>
        <p:spPr>
          <a:xfrm>
            <a:off x="5944763" y="1747362"/>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3"/>
          <p:cNvSpPr/>
          <p:nvPr/>
        </p:nvSpPr>
        <p:spPr>
          <a:xfrm>
            <a:off x="5944763" y="3771324"/>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ounded Rectangle 14"/>
          <p:cNvSpPr/>
          <p:nvPr/>
        </p:nvSpPr>
        <p:spPr>
          <a:xfrm>
            <a:off x="1577515" y="3261354"/>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ounded Rectangle 15"/>
          <p:cNvSpPr/>
          <p:nvPr/>
        </p:nvSpPr>
        <p:spPr>
          <a:xfrm>
            <a:off x="3761138" y="4281289"/>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ounded Rectangle 17"/>
          <p:cNvSpPr/>
          <p:nvPr/>
        </p:nvSpPr>
        <p:spPr>
          <a:xfrm>
            <a:off x="3761139" y="2241420"/>
            <a:ext cx="146583" cy="718955"/>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3255472" y="3431238"/>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2" name="TextBox 21"/>
          <p:cNvSpPr txBox="1"/>
          <p:nvPr/>
        </p:nvSpPr>
        <p:spPr>
          <a:xfrm>
            <a:off x="5465464" y="2415695"/>
            <a:ext cx="6190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B</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3" name="TextBox 22"/>
          <p:cNvSpPr txBox="1"/>
          <p:nvPr/>
        </p:nvSpPr>
        <p:spPr>
          <a:xfrm>
            <a:off x="5465464" y="4456104"/>
            <a:ext cx="61747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C</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4" name="TextBox 23"/>
          <p:cNvSpPr txBox="1"/>
          <p:nvPr/>
        </p:nvSpPr>
        <p:spPr>
          <a:xfrm>
            <a:off x="7560717" y="1912319"/>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25" name="TextBox 24"/>
          <p:cNvSpPr txBox="1"/>
          <p:nvPr/>
        </p:nvSpPr>
        <p:spPr>
          <a:xfrm>
            <a:off x="7553201" y="2925547"/>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26" name="TextBox 25"/>
          <p:cNvSpPr txBox="1"/>
          <p:nvPr/>
        </p:nvSpPr>
        <p:spPr>
          <a:xfrm>
            <a:off x="7545685" y="3938775"/>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27" name="TextBox 26"/>
          <p:cNvSpPr txBox="1"/>
          <p:nvPr/>
        </p:nvSpPr>
        <p:spPr>
          <a:xfrm>
            <a:off x="7538169" y="4952003"/>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p:txBody>
      </p:sp>
      <p:grpSp>
        <p:nvGrpSpPr>
          <p:cNvPr id="29" name="Group 28"/>
          <p:cNvGrpSpPr/>
          <p:nvPr/>
        </p:nvGrpSpPr>
        <p:grpSpPr>
          <a:xfrm>
            <a:off x="1574269" y="1142461"/>
            <a:ext cx="4340616" cy="400110"/>
            <a:chOff x="1574269" y="1371061"/>
            <a:chExt cx="4340616" cy="400110"/>
          </a:xfrm>
        </p:grpSpPr>
        <p:sp>
          <p:nvSpPr>
            <p:cNvPr id="31" name="Rounded Rectangle 30"/>
            <p:cNvSpPr/>
            <p:nvPr/>
          </p:nvSpPr>
          <p:spPr>
            <a:xfrm>
              <a:off x="1574269" y="1386612"/>
              <a:ext cx="146583" cy="365760"/>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1720852" y="1371061"/>
              <a:ext cx="419403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Red bars denote thread blocks on GPU</a:t>
              </a:r>
            </a:p>
          </p:txBody>
        </p:sp>
      </p:grpSp>
      <p:sp>
        <p:nvSpPr>
          <p:cNvPr id="3" name="TextBox 2"/>
          <p:cNvSpPr txBox="1"/>
          <p:nvPr/>
        </p:nvSpPr>
        <p:spPr>
          <a:xfrm>
            <a:off x="4072200" y="5794637"/>
            <a:ext cx="4220771"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Gill Sans Nova Book" panose="020B0502020204020203" pitchFamily="34" charset="-128"/>
                <a:cs typeface="Calibri" panose="020F0502020204030204" pitchFamily="34" charset="0"/>
              </a:rPr>
              <a:t>Stage 1: Compute Partial Output</a:t>
            </a:r>
          </a:p>
        </p:txBody>
      </p:sp>
      <p:grpSp>
        <p:nvGrpSpPr>
          <p:cNvPr id="5" name="Group 4"/>
          <p:cNvGrpSpPr/>
          <p:nvPr/>
        </p:nvGrpSpPr>
        <p:grpSpPr>
          <a:xfrm>
            <a:off x="6367441" y="1143507"/>
            <a:ext cx="3411554" cy="400110"/>
            <a:chOff x="6182586" y="1372107"/>
            <a:chExt cx="3411554" cy="400110"/>
          </a:xfrm>
        </p:grpSpPr>
        <p:sp>
          <p:nvSpPr>
            <p:cNvPr id="11" name="Rounded Rectangle 10"/>
            <p:cNvSpPr/>
            <p:nvPr/>
          </p:nvSpPr>
          <p:spPr>
            <a:xfrm>
              <a:off x="6182586" y="1473658"/>
              <a:ext cx="293370" cy="191667"/>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488482" y="1372107"/>
              <a:ext cx="310565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Rectangles denote KV cache</a:t>
              </a:r>
            </a:p>
          </p:txBody>
        </p:sp>
      </p:grpSp>
      <p:sp>
        <p:nvSpPr>
          <p:cNvPr id="56"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CHALLENGE</a:t>
            </a:r>
          </a:p>
        </p:txBody>
      </p:sp>
      <p:sp>
        <p:nvSpPr>
          <p:cNvPr id="58"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61" name="skill-template-footer-page-number"/>
          <p:cNvSpPr txBox="1"/>
          <p:nvPr/>
        </p:nvSpPr>
        <p:spPr>
          <a:xfrm>
            <a:off x="11104245" y="6515100"/>
            <a:ext cx="10668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A7387"/>
                </a:solidFill>
                <a:effectLst/>
                <a:uLnTx/>
                <a:uFillTx/>
                <a:latin typeface="PingFang SC" panose="020B0400000000000000" charset="-122"/>
                <a:ea typeface="+mn-ea"/>
                <a:cs typeface="+mn-cs"/>
              </a:rPr>
              <a:t>23</a:t>
            </a:r>
          </a:p>
        </p:txBody>
      </p:sp>
      <p:pic>
        <p:nvPicPr>
          <p:cNvPr id="62" name="skill-template-nju-logo" descr="template-title-footer-logo-from-template.png"/>
          <p:cNvPicPr>
            <a:picLocks noChangeAspect="1"/>
          </p:cNvPicPr>
          <p:nvPr/>
        </p:nvPicPr>
        <p:blipFill>
          <a:blip r:embed="rId3"/>
          <a:stretch>
            <a:fillRect/>
          </a:stretch>
        </p:blipFill>
        <p:spPr>
          <a:xfrm>
            <a:off x="9639300" y="354718"/>
            <a:ext cx="1571625" cy="48118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15">
                                            <p:txEl>
                                              <p:charRg st="4294967295" end="4294967295"/>
                                            </p:txEl>
                                          </p:spTgt>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18">
                                            <p:txEl>
                                              <p:charRg st="4294967295" end="4294967295"/>
                                            </p:txEl>
                                          </p:spTgt>
                                        </p:tgtEl>
                                        <p:attrNameLst>
                                          <p:attrName>style.visibility</p:attrName>
                                        </p:attrNameLst>
                                      </p:cBhvr>
                                      <p:to>
                                        <p:strVal val="visible"/>
                                      </p:to>
                                    </p:set>
                                  </p:childTnLst>
                                </p:cTn>
                              </p:par>
                              <p:par>
                                <p:cTn id="9" presetID="1" presetClass="entr" presetSubtype="0" fill="hold" grpId="0" nodeType="withEffect" nodePh="1">
                                  <p:stCondLst>
                                    <p:cond delay="0"/>
                                  </p:stCondLst>
                                  <p:endCondLst>
                                    <p:cond evt="begin" delay="0">
                                      <p:tn val="9"/>
                                    </p:cond>
                                  </p:endCondLst>
                                  <p:childTnLst>
                                    <p:set>
                                      <p:cBhvr>
                                        <p:cTn id="10" dur="1" fill="hold">
                                          <p:stCondLst>
                                            <p:cond delay="0"/>
                                          </p:stCondLst>
                                        </p:cTn>
                                        <p:tgtEl>
                                          <p:spTgt spid="16">
                                            <p:txEl>
                                              <p:charRg st="4294967295" end="4294967295"/>
                                            </p:txEl>
                                          </p:spTgt>
                                        </p:tgtEl>
                                        <p:attrNameLst>
                                          <p:attrName>style.visibility</p:attrName>
                                        </p:attrNameLst>
                                      </p:cBhvr>
                                      <p:to>
                                        <p:strVal val="visible"/>
                                      </p:to>
                                    </p:set>
                                  </p:childTnLst>
                                </p:cTn>
                              </p:par>
                              <p:par>
                                <p:cTn id="11" presetID="1" presetClass="entr" presetSubtype="0" fill="hold" grpId="0" nodeType="withEffect" nodePh="1">
                                  <p:stCondLst>
                                    <p:cond delay="0"/>
                                  </p:stCondLst>
                                  <p:endCondLst>
                                    <p:cond evt="begin" delay="0">
                                      <p:tn val="11"/>
                                    </p:cond>
                                  </p:endCondLst>
                                  <p:childTnLst>
                                    <p:set>
                                      <p:cBhvr>
                                        <p:cTn id="12" dur="1" fill="hold">
                                          <p:stCondLst>
                                            <p:cond delay="0"/>
                                          </p:stCondLst>
                                        </p:cTn>
                                        <p:tgtEl>
                                          <p:spTgt spid="7">
                                            <p:txEl>
                                              <p:charRg st="4294967295" end="4294967295"/>
                                            </p:txEl>
                                          </p:spTgt>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0">
                                            <p:txEl>
                                              <p:charRg st="4294967295" end="4294967295"/>
                                            </p:txEl>
                                          </p:spTgt>
                                        </p:tgtEl>
                                        <p:attrNameLst>
                                          <p:attrName>style.visibility</p:attrName>
                                        </p:attrNameLst>
                                      </p:cBhvr>
                                      <p:to>
                                        <p:strVal val="visible"/>
                                      </p:to>
                                    </p:set>
                                  </p:childTnLst>
                                </p:cTn>
                              </p:par>
                              <p:par>
                                <p:cTn id="15" presetID="1" presetClass="entr" presetSubtype="0" fill="hold" grpId="0" nodeType="withEffect" nodePh="1">
                                  <p:stCondLst>
                                    <p:cond delay="0"/>
                                  </p:stCondLst>
                                  <p:endCondLst>
                                    <p:cond evt="begin" delay="0">
                                      <p:tn val="15"/>
                                    </p:cond>
                                  </p:endCondLst>
                                  <p:childTnLst>
                                    <p:set>
                                      <p:cBhvr>
                                        <p:cTn id="16" dur="1" fill="hold">
                                          <p:stCondLst>
                                            <p:cond delay="0"/>
                                          </p:stCondLst>
                                        </p:cTn>
                                        <p:tgtEl>
                                          <p:spTgt spid="6">
                                            <p:txEl>
                                              <p:charRg st="4294967295" end="4294967295"/>
                                            </p:txEl>
                                          </p:spTgt>
                                        </p:tgtEl>
                                        <p:attrNameLst>
                                          <p:attrName>style.visibility</p:attrName>
                                        </p:attrNameLst>
                                      </p:cBhvr>
                                      <p:to>
                                        <p:strVal val="visible"/>
                                      </p:to>
                                    </p:set>
                                  </p:childTnLst>
                                </p:cTn>
                              </p:par>
                              <p:par>
                                <p:cTn id="17" presetID="1" presetClass="entr" presetSubtype="0" fill="hold" grpId="0" nodeType="withEffect" nodePh="1">
                                  <p:stCondLst>
                                    <p:cond delay="0"/>
                                  </p:stCondLst>
                                  <p:endCondLst>
                                    <p:cond evt="begin" delay="0">
                                      <p:tn val="17"/>
                                    </p:cond>
                                  </p:endCondLst>
                                  <p:childTnLst>
                                    <p:set>
                                      <p:cBhvr>
                                        <p:cTn id="18" dur="1" fill="hold">
                                          <p:stCondLst>
                                            <p:cond delay="0"/>
                                          </p:stCondLst>
                                        </p:cTn>
                                        <p:tgtEl>
                                          <p:spTgt spid="8">
                                            <p:txEl>
                                              <p:charRg st="4294967295" end="429496729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grpId="1" nodeType="clickEffect">
                                  <p:stCondLst>
                                    <p:cond delay="0"/>
                                  </p:stCondLst>
                                  <p:childTnLst>
                                    <p:animMotion origin="layout" path="M 2.08333E-7 7.40741E-7 L 0.11849 7.40741E-7 " pathEditMode="relative" rAng="0" ptsTypes="AA">
                                      <p:cBhvr>
                                        <p:cTn id="22" dur="1000" fill="hold"/>
                                        <p:tgtEl>
                                          <p:spTgt spid="8"/>
                                        </p:tgtEl>
                                        <p:attrNameLst>
                                          <p:attrName>ppt_x</p:attrName>
                                          <p:attrName>ppt_y</p:attrName>
                                        </p:attrNameLst>
                                      </p:cBhvr>
                                      <p:rCtr x="5924" y="0"/>
                                    </p:animMotion>
                                  </p:childTnLst>
                                </p:cTn>
                              </p:par>
                              <p:par>
                                <p:cTn id="23" presetID="0" presetClass="path" presetSubtype="0" accel="50000" decel="50000" fill="hold" grpId="1" nodeType="withEffect">
                                  <p:stCondLst>
                                    <p:cond delay="0"/>
                                  </p:stCondLst>
                                  <p:childTnLst>
                                    <p:animMotion origin="layout" path="M 2.08333E-7 4.44444E-6 L 0.11849 4.44444E-6 " pathEditMode="relative" rAng="0" ptsTypes="AA">
                                      <p:cBhvr>
                                        <p:cTn id="24" dur="1000" fill="hold"/>
                                        <p:tgtEl>
                                          <p:spTgt spid="6"/>
                                        </p:tgtEl>
                                        <p:attrNameLst>
                                          <p:attrName>ppt_x</p:attrName>
                                          <p:attrName>ppt_y</p:attrName>
                                        </p:attrNameLst>
                                      </p:cBhvr>
                                      <p:rCtr x="5924" y="0"/>
                                    </p:animMotion>
                                  </p:childTnLst>
                                </p:cTn>
                              </p:par>
                              <p:par>
                                <p:cTn id="25" presetID="0" presetClass="path" presetSubtype="0" accel="50000" decel="50000" fill="hold" grpId="1" nodeType="withEffect">
                                  <p:stCondLst>
                                    <p:cond delay="0"/>
                                  </p:stCondLst>
                                  <p:childTnLst>
                                    <p:animMotion origin="layout" path="M 2.08333E-7 1.85185E-6 L 0.11849 1.85185E-6 " pathEditMode="relative" rAng="0" ptsTypes="AA">
                                      <p:cBhvr>
                                        <p:cTn id="26" dur="1000" fill="hold"/>
                                        <p:tgtEl>
                                          <p:spTgt spid="10"/>
                                        </p:tgtEl>
                                        <p:attrNameLst>
                                          <p:attrName>ppt_x</p:attrName>
                                          <p:attrName>ppt_y</p:attrName>
                                        </p:attrNameLst>
                                      </p:cBhvr>
                                      <p:rCtr x="5924" y="0"/>
                                    </p:animMotion>
                                  </p:childTnLst>
                                </p:cTn>
                              </p:par>
                              <p:par>
                                <p:cTn id="27" presetID="0" presetClass="path" presetSubtype="0" accel="50000" decel="50000" fill="hold" grpId="1" nodeType="withEffect">
                                  <p:stCondLst>
                                    <p:cond delay="0"/>
                                  </p:stCondLst>
                                  <p:childTnLst>
                                    <p:animMotion origin="layout" path="M 2.08333E-7 7.40741E-7 L 0.11849 7.40741E-7 " pathEditMode="relative" rAng="0" ptsTypes="AA">
                                      <p:cBhvr>
                                        <p:cTn id="28" dur="1000" fill="hold"/>
                                        <p:tgtEl>
                                          <p:spTgt spid="7"/>
                                        </p:tgtEl>
                                        <p:attrNameLst>
                                          <p:attrName>ppt_x</p:attrName>
                                          <p:attrName>ppt_y</p:attrName>
                                        </p:attrNameLst>
                                      </p:cBhvr>
                                      <p:rCtr x="5924" y="0"/>
                                    </p:animMotion>
                                  </p:childTnLst>
                                </p:cTn>
                              </p:par>
                              <p:par>
                                <p:cTn id="29" presetID="0" presetClass="path" presetSubtype="0" accel="50000" decel="50000" fill="hold" grpId="1" nodeType="withEffect">
                                  <p:stCondLst>
                                    <p:cond delay="0"/>
                                  </p:stCondLst>
                                  <p:childTnLst>
                                    <p:animMotion origin="layout" path="M -3.125E-6 -3.7037E-6 L 0.11849 -3.7037E-6 " pathEditMode="relative" rAng="0" ptsTypes="AA">
                                      <p:cBhvr>
                                        <p:cTn id="30" dur="1000" fill="hold"/>
                                        <p:tgtEl>
                                          <p:spTgt spid="16"/>
                                        </p:tgtEl>
                                        <p:attrNameLst>
                                          <p:attrName>ppt_x</p:attrName>
                                          <p:attrName>ppt_y</p:attrName>
                                        </p:attrNameLst>
                                      </p:cBhvr>
                                      <p:rCtr x="5924" y="0"/>
                                    </p:animMotion>
                                  </p:childTnLst>
                                </p:cTn>
                              </p:par>
                              <p:par>
                                <p:cTn id="31" presetID="0" presetClass="path" presetSubtype="0" accel="50000" decel="50000" fill="hold" grpId="1" nodeType="withEffect">
                                  <p:stCondLst>
                                    <p:cond delay="0"/>
                                  </p:stCondLst>
                                  <p:childTnLst>
                                    <p:animMotion origin="layout" path="M -3.125E-6 -5.55112E-17 L 0.11849 -5.55112E-17 " pathEditMode="relative" rAng="0" ptsTypes="AA">
                                      <p:cBhvr>
                                        <p:cTn id="32" dur="1000" fill="hold"/>
                                        <p:tgtEl>
                                          <p:spTgt spid="18"/>
                                        </p:tgtEl>
                                        <p:attrNameLst>
                                          <p:attrName>ppt_x</p:attrName>
                                          <p:attrName>ppt_y</p:attrName>
                                        </p:attrNameLst>
                                      </p:cBhvr>
                                      <p:rCtr x="5924" y="0"/>
                                    </p:animMotion>
                                  </p:childTnLst>
                                </p:cTn>
                              </p:par>
                              <p:par>
                                <p:cTn id="33" presetID="0" presetClass="path" presetSubtype="0" accel="50000" decel="50000" fill="hold" grpId="1" nodeType="withEffect">
                                  <p:stCondLst>
                                    <p:cond delay="0"/>
                                  </p:stCondLst>
                                  <p:childTnLst>
                                    <p:animMotion origin="layout" path="M 3.33333E-6 -1.11111E-6 L 0.11849 -1.11111E-6 " pathEditMode="relative" rAng="0" ptsTypes="AA">
                                      <p:cBhvr>
                                        <p:cTn id="34" dur="1000" fill="hold"/>
                                        <p:tgtEl>
                                          <p:spTgt spid="15"/>
                                        </p:tgtEl>
                                        <p:attrNameLst>
                                          <p:attrName>ppt_x</p:attrName>
                                          <p:attrName>ppt_y</p:attrName>
                                        </p:attrNameLst>
                                      </p:cBhvr>
                                      <p:rCtr x="5924" y="0"/>
                                    </p:animMotion>
                                  </p:childTnLst>
                                </p:cTn>
                              </p:par>
                            </p:childTnLst>
                          </p:cTn>
                        </p:par>
                        <p:par>
                          <p:cTn id="35" fill="hold">
                            <p:stCondLst>
                              <p:cond delay="1000"/>
                            </p:stCondLst>
                            <p:childTnLst>
                              <p:par>
                                <p:cTn id="36" presetID="1" presetClass="entr" presetSubtype="0"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par>
                          <p:cTn id="38" fill="hold">
                            <p:stCondLst>
                              <p:cond delay="1000"/>
                            </p:stCondLst>
                            <p:childTnLst>
                              <p:par>
                                <p:cTn id="39" presetID="1" presetClass="entr" presetSubtype="0" fill="hold" grpId="0" nodeType="after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23"/>
                                        </p:tgtEl>
                                        <p:attrNameLst>
                                          <p:attrName>style.visibility</p:attrName>
                                        </p:attrNameLst>
                                      </p:cBhvr>
                                      <p:to>
                                        <p:strVal val="visible"/>
                                      </p:to>
                                    </p:set>
                                  </p:childTnLst>
                                </p:cTn>
                              </p:par>
                            </p:childTnLst>
                          </p:cTn>
                        </p:par>
                        <p:par>
                          <p:cTn id="44" fill="hold">
                            <p:stCondLst>
                              <p:cond delay="1000"/>
                            </p:stCondLst>
                            <p:childTnLst>
                              <p:par>
                                <p:cTn id="45" presetID="1" presetClass="entr" presetSubtype="0" fill="hold" grpId="0" nodeType="after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par>
                          <p:cTn id="47" fill="hold">
                            <p:stCondLst>
                              <p:cond delay="1000"/>
                            </p:stCondLst>
                            <p:childTnLst>
                              <p:par>
                                <p:cTn id="48" presetID="1" presetClass="entr" presetSubtype="0" fill="hold" grpId="0" nodeType="afterEffect">
                                  <p:stCondLst>
                                    <p:cond delay="0"/>
                                  </p:stCondLst>
                                  <p:childTnLst>
                                    <p:set>
                                      <p:cBhvr>
                                        <p:cTn id="49" dur="1" fill="hold">
                                          <p:stCondLst>
                                            <p:cond delay="0"/>
                                          </p:stCondLst>
                                        </p:cTn>
                                        <p:tgtEl>
                                          <p:spTgt spid="27"/>
                                        </p:tgtEl>
                                        <p:attrNameLst>
                                          <p:attrName>style.visibility</p:attrName>
                                        </p:attrNameLst>
                                      </p:cBhvr>
                                      <p:to>
                                        <p:strVal val="visible"/>
                                      </p:to>
                                    </p:set>
                                  </p:childTnLst>
                                </p:cTn>
                              </p:par>
                            </p:childTnLst>
                          </p:cTn>
                        </p:par>
                        <p:par>
                          <p:cTn id="50" fill="hold">
                            <p:stCondLst>
                              <p:cond delay="1000"/>
                            </p:stCondLst>
                            <p:childTnLst>
                              <p:par>
                                <p:cTn id="51" presetID="1" presetClass="entr" presetSubtype="0"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par>
                          <p:cTn id="53" fill="hold">
                            <p:stCondLst>
                              <p:cond delay="1000"/>
                            </p:stCondLst>
                            <p:childTnLst>
                              <p:par>
                                <p:cTn id="54" presetID="1" presetClass="entr" presetSubtype="0" fill="hold" grpId="0" nodeType="afterEffect">
                                  <p:stCondLst>
                                    <p:cond delay="0"/>
                                  </p:stCondLst>
                                  <p:childTnLst>
                                    <p:set>
                                      <p:cBhvr>
                                        <p:cTn id="55"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6" grpId="1" animBg="1"/>
      <p:bldP spid="7" grpId="0" autoUpdateAnimBg="0"/>
      <p:bldP spid="7" grpId="1" animBg="1"/>
      <p:bldP spid="8" grpId="0" autoUpdateAnimBg="0"/>
      <p:bldP spid="8" grpId="1" animBg="1"/>
      <p:bldP spid="10" grpId="0" autoUpdateAnimBg="0"/>
      <p:bldP spid="10" grpId="1" animBg="1"/>
      <p:bldP spid="15" grpId="0" autoUpdateAnimBg="0"/>
      <p:bldP spid="15" grpId="1" animBg="1"/>
      <p:bldP spid="16" grpId="0" autoUpdateAnimBg="0"/>
      <p:bldP spid="16" grpId="1" animBg="1"/>
      <p:bldP spid="18" grpId="0" autoUpdateAnimBg="0"/>
      <p:bldP spid="18" grpId="1" animBg="1"/>
      <p:bldP spid="21" grpId="0"/>
      <p:bldP spid="22" grpId="0"/>
      <p:bldP spid="23" grpId="0"/>
      <p:bldP spid="24" grpId="0"/>
      <p:bldP spid="25" grpId="0"/>
      <p:bldP spid="26" grpId="0"/>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Challenge: Organize Dependency</a:t>
            </a:r>
          </a:p>
        </p:txBody>
      </p:sp>
      <p:sp>
        <p:nvSpPr>
          <p:cNvPr id="9" name="Rounded Rectangle 8"/>
          <p:cNvSpPr/>
          <p:nvPr/>
        </p:nvSpPr>
        <p:spPr>
          <a:xfrm>
            <a:off x="5944763" y="1850110"/>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1</a:t>
            </a:r>
          </a:p>
        </p:txBody>
      </p:sp>
      <p:cxnSp>
        <p:nvCxnSpPr>
          <p:cNvPr id="12" name="Straight Connector 11"/>
          <p:cNvCxnSpPr>
            <a:stCxn id="4" idx="3"/>
            <a:endCxn id="13" idx="1"/>
          </p:cNvCxnSpPr>
          <p:nvPr/>
        </p:nvCxnSpPr>
        <p:spPr>
          <a:xfrm flipV="1">
            <a:off x="3162009" y="2600899"/>
            <a:ext cx="599130" cy="1019934"/>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a:stCxn id="13" idx="3"/>
            <a:endCxn id="9" idx="1"/>
          </p:cNvCxnSpPr>
          <p:nvPr/>
        </p:nvCxnSpPr>
        <p:spPr>
          <a:xfrm flipV="1">
            <a:off x="5345633" y="2090926"/>
            <a:ext cx="599130" cy="509973"/>
          </a:xfrm>
          <a:prstGeom prst="line">
            <a:avLst/>
          </a:prstGeom>
        </p:spPr>
        <p:style>
          <a:lnRef idx="2">
            <a:schemeClr val="dk1"/>
          </a:lnRef>
          <a:fillRef idx="0">
            <a:schemeClr val="dk1"/>
          </a:fillRef>
          <a:effectRef idx="1">
            <a:schemeClr val="dk1"/>
          </a:effectRef>
          <a:fontRef idx="minor">
            <a:schemeClr val="tx1"/>
          </a:fontRef>
        </p:style>
      </p:cxnSp>
      <p:sp>
        <p:nvSpPr>
          <p:cNvPr id="17" name="Rounded Rectangle 16"/>
          <p:cNvSpPr/>
          <p:nvPr/>
        </p:nvSpPr>
        <p:spPr>
          <a:xfrm>
            <a:off x="5944763" y="2870049"/>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2</a:t>
            </a:r>
          </a:p>
        </p:txBody>
      </p:sp>
      <p:cxnSp>
        <p:nvCxnSpPr>
          <p:cNvPr id="19" name="Straight Connector 18"/>
          <p:cNvCxnSpPr>
            <a:stCxn id="13" idx="3"/>
            <a:endCxn id="17" idx="1"/>
          </p:cNvCxnSpPr>
          <p:nvPr/>
        </p:nvCxnSpPr>
        <p:spPr>
          <a:xfrm>
            <a:off x="5345633" y="2600899"/>
            <a:ext cx="599130" cy="509966"/>
          </a:xfrm>
          <a:prstGeom prst="line">
            <a:avLst/>
          </a:prstGeom>
        </p:spPr>
        <p:style>
          <a:lnRef idx="2">
            <a:schemeClr val="dk1"/>
          </a:lnRef>
          <a:fillRef idx="0">
            <a:schemeClr val="dk1"/>
          </a:fillRef>
          <a:effectRef idx="1">
            <a:schemeClr val="dk1"/>
          </a:effectRef>
          <a:fontRef idx="minor">
            <a:schemeClr val="tx1"/>
          </a:fontRef>
        </p:style>
      </p:cxnSp>
      <p:sp>
        <p:nvSpPr>
          <p:cNvPr id="38" name="Rounded Rectangle 37"/>
          <p:cNvSpPr/>
          <p:nvPr/>
        </p:nvSpPr>
        <p:spPr>
          <a:xfrm>
            <a:off x="5944763" y="3889987"/>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3</a:t>
            </a:r>
          </a:p>
        </p:txBody>
      </p:sp>
      <p:cxnSp>
        <p:nvCxnSpPr>
          <p:cNvPr id="40" name="Straight Connector 39"/>
          <p:cNvCxnSpPr>
            <a:stCxn id="20" idx="3"/>
            <a:endCxn id="38" idx="1"/>
          </p:cNvCxnSpPr>
          <p:nvPr/>
        </p:nvCxnSpPr>
        <p:spPr>
          <a:xfrm flipV="1">
            <a:off x="5345633" y="4130803"/>
            <a:ext cx="599130" cy="509968"/>
          </a:xfrm>
          <a:prstGeom prst="line">
            <a:avLst/>
          </a:prstGeom>
        </p:spPr>
        <p:style>
          <a:lnRef idx="2">
            <a:schemeClr val="dk1"/>
          </a:lnRef>
          <a:fillRef idx="0">
            <a:schemeClr val="dk1"/>
          </a:fillRef>
          <a:effectRef idx="1">
            <a:schemeClr val="dk1"/>
          </a:effectRef>
          <a:fontRef idx="minor">
            <a:schemeClr val="tx1"/>
          </a:fontRef>
        </p:style>
      </p:cxnSp>
      <p:sp>
        <p:nvSpPr>
          <p:cNvPr id="48" name="Rounded Rectangle 47"/>
          <p:cNvSpPr/>
          <p:nvPr/>
        </p:nvSpPr>
        <p:spPr>
          <a:xfrm>
            <a:off x="5944763" y="4909925"/>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4</a:t>
            </a:r>
          </a:p>
        </p:txBody>
      </p:sp>
      <p:cxnSp>
        <p:nvCxnSpPr>
          <p:cNvPr id="49" name="Straight Connector 48"/>
          <p:cNvCxnSpPr>
            <a:stCxn id="4" idx="3"/>
            <a:endCxn id="20" idx="1"/>
          </p:cNvCxnSpPr>
          <p:nvPr/>
        </p:nvCxnSpPr>
        <p:spPr>
          <a:xfrm>
            <a:off x="3162009" y="3620833"/>
            <a:ext cx="599130" cy="1019938"/>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p:cNvCxnSpPr>
            <a:stCxn id="20" idx="3"/>
            <a:endCxn id="48" idx="1"/>
          </p:cNvCxnSpPr>
          <p:nvPr/>
        </p:nvCxnSpPr>
        <p:spPr>
          <a:xfrm>
            <a:off x="5345633" y="4640771"/>
            <a:ext cx="599130" cy="509970"/>
          </a:xfrm>
          <a:prstGeom prst="line">
            <a:avLst/>
          </a:prstGeom>
        </p:spPr>
        <p:style>
          <a:lnRef idx="2">
            <a:schemeClr val="dk1"/>
          </a:lnRef>
          <a:fillRef idx="0">
            <a:schemeClr val="dk1"/>
          </a:fillRef>
          <a:effectRef idx="1">
            <a:schemeClr val="dk1"/>
          </a:effectRef>
          <a:fontRef idx="minor">
            <a:schemeClr val="tx1"/>
          </a:fontRef>
        </p:style>
      </p:cxnSp>
      <p:sp>
        <p:nvSpPr>
          <p:cNvPr id="4" name="Rounded Rectangle 3"/>
          <p:cNvSpPr/>
          <p:nvPr/>
        </p:nvSpPr>
        <p:spPr>
          <a:xfrm>
            <a:off x="1577515" y="3380017"/>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13" name="Rounded Rectangle 12"/>
          <p:cNvSpPr/>
          <p:nvPr/>
        </p:nvSpPr>
        <p:spPr>
          <a:xfrm>
            <a:off x="3761139" y="2360083"/>
            <a:ext cx="1584494" cy="481631"/>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20" name="Rounded Rectangle 19"/>
          <p:cNvSpPr/>
          <p:nvPr/>
        </p:nvSpPr>
        <p:spPr>
          <a:xfrm>
            <a:off x="3761139" y="4399955"/>
            <a:ext cx="1584494" cy="481631"/>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21" name="TextBox 20"/>
          <p:cNvSpPr txBox="1"/>
          <p:nvPr/>
        </p:nvSpPr>
        <p:spPr>
          <a:xfrm>
            <a:off x="3255264" y="3428090"/>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2" name="TextBox 21"/>
          <p:cNvSpPr txBox="1"/>
          <p:nvPr/>
        </p:nvSpPr>
        <p:spPr>
          <a:xfrm>
            <a:off x="5465464" y="2415695"/>
            <a:ext cx="6190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B</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3" name="TextBox 22"/>
          <p:cNvSpPr txBox="1"/>
          <p:nvPr/>
        </p:nvSpPr>
        <p:spPr>
          <a:xfrm>
            <a:off x="5465464" y="4456104"/>
            <a:ext cx="61747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C</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4" name="TextBox 23"/>
          <p:cNvSpPr txBox="1"/>
          <p:nvPr/>
        </p:nvSpPr>
        <p:spPr>
          <a:xfrm>
            <a:off x="7560717" y="1912319"/>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25" name="TextBox 24"/>
          <p:cNvSpPr txBox="1"/>
          <p:nvPr/>
        </p:nvSpPr>
        <p:spPr>
          <a:xfrm>
            <a:off x="7553201" y="2925547"/>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26" name="TextBox 25"/>
          <p:cNvSpPr txBox="1"/>
          <p:nvPr/>
        </p:nvSpPr>
        <p:spPr>
          <a:xfrm>
            <a:off x="7545685" y="3938775"/>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27" name="TextBox 26"/>
          <p:cNvSpPr txBox="1"/>
          <p:nvPr/>
        </p:nvSpPr>
        <p:spPr>
          <a:xfrm>
            <a:off x="7538169" y="4952003"/>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p:txBody>
      </p:sp>
      <p:sp>
        <p:nvSpPr>
          <p:cNvPr id="5" name="TextBox 4"/>
          <p:cNvSpPr txBox="1"/>
          <p:nvPr/>
        </p:nvSpPr>
        <p:spPr>
          <a:xfrm>
            <a:off x="4072200" y="5794637"/>
            <a:ext cx="4116127"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Gill Sans Nova Book" panose="020B0502020204020203" pitchFamily="34" charset="-128"/>
                <a:cs typeface="Calibri" panose="020F0502020204030204" pitchFamily="34" charset="0"/>
              </a:rPr>
              <a:t>Stage 2: Reduce Partial Outputs</a:t>
            </a:r>
          </a:p>
        </p:txBody>
      </p:sp>
      <p:grpSp>
        <p:nvGrpSpPr>
          <p:cNvPr id="6" name="Group 5"/>
          <p:cNvGrpSpPr/>
          <p:nvPr/>
        </p:nvGrpSpPr>
        <p:grpSpPr>
          <a:xfrm>
            <a:off x="6390301" y="1144142"/>
            <a:ext cx="3477895" cy="400050"/>
            <a:chOff x="6182586" y="1372107"/>
            <a:chExt cx="3477895" cy="400050"/>
          </a:xfrm>
        </p:grpSpPr>
        <p:sp>
          <p:nvSpPr>
            <p:cNvPr id="7" name="Rounded Rectangle 6"/>
            <p:cNvSpPr/>
            <p:nvPr/>
          </p:nvSpPr>
          <p:spPr>
            <a:xfrm>
              <a:off x="6182586" y="1473658"/>
              <a:ext cx="293370" cy="191667"/>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6488656" y="1372107"/>
              <a:ext cx="3171825" cy="400050"/>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Rectangles denote KV cache</a:t>
              </a:r>
            </a:p>
          </p:txBody>
        </p:sp>
      </p:grpSp>
      <p:grpSp>
        <p:nvGrpSpPr>
          <p:cNvPr id="10" name="Group 9"/>
          <p:cNvGrpSpPr/>
          <p:nvPr/>
        </p:nvGrpSpPr>
        <p:grpSpPr>
          <a:xfrm>
            <a:off x="1574269" y="1142461"/>
            <a:ext cx="4340616" cy="400110"/>
            <a:chOff x="1574269" y="1371061"/>
            <a:chExt cx="4340616" cy="400110"/>
          </a:xfrm>
        </p:grpSpPr>
        <p:sp>
          <p:nvSpPr>
            <p:cNvPr id="11" name="Rounded Rectangle 10"/>
            <p:cNvSpPr/>
            <p:nvPr/>
          </p:nvSpPr>
          <p:spPr>
            <a:xfrm>
              <a:off x="1574269" y="1386612"/>
              <a:ext cx="146583" cy="365760"/>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1720852" y="1371061"/>
              <a:ext cx="419403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Red bars denote thread blocks on GPU</a:t>
              </a:r>
            </a:p>
          </p:txBody>
        </p:sp>
      </p:grpSp>
      <p:sp>
        <p:nvSpPr>
          <p:cNvPr id="51"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CHALLENGE</a:t>
            </a:r>
          </a:p>
        </p:txBody>
      </p:sp>
      <p:sp>
        <p:nvSpPr>
          <p:cNvPr id="53"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56" name="skill-template-footer-page-number"/>
          <p:cNvSpPr txBox="1"/>
          <p:nvPr/>
        </p:nvSpPr>
        <p:spPr>
          <a:xfrm>
            <a:off x="11077575" y="6515100"/>
            <a:ext cx="13335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24</a:t>
            </a:r>
          </a:p>
        </p:txBody>
      </p:sp>
      <p:pic>
        <p:nvPicPr>
          <p:cNvPr id="57" name="skill-template-nju-logo" descr="template-title-footer-logo-from-template.png"/>
          <p:cNvPicPr>
            <a:picLocks noChangeAspect="1"/>
          </p:cNvPicPr>
          <p:nvPr/>
        </p:nvPicPr>
        <p:blipFill>
          <a:blip r:embed="rId3"/>
          <a:stretch>
            <a:fillRect/>
          </a:stretch>
        </p:blipFill>
        <p:spPr>
          <a:xfrm>
            <a:off x="9639300" y="354718"/>
            <a:ext cx="1571625" cy="48118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Challenge: Organize Dependency</a:t>
            </a:r>
          </a:p>
        </p:txBody>
      </p:sp>
      <p:sp>
        <p:nvSpPr>
          <p:cNvPr id="9" name="Rounded Rectangle 8"/>
          <p:cNvSpPr/>
          <p:nvPr/>
        </p:nvSpPr>
        <p:spPr>
          <a:xfrm>
            <a:off x="5944763" y="1850110"/>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1</a:t>
            </a:r>
          </a:p>
        </p:txBody>
      </p:sp>
      <p:cxnSp>
        <p:nvCxnSpPr>
          <p:cNvPr id="12" name="Straight Connector 11"/>
          <p:cNvCxnSpPr>
            <a:stCxn id="4" idx="3"/>
            <a:endCxn id="13" idx="1"/>
          </p:cNvCxnSpPr>
          <p:nvPr/>
        </p:nvCxnSpPr>
        <p:spPr>
          <a:xfrm flipV="1">
            <a:off x="3162009" y="2600899"/>
            <a:ext cx="599130" cy="1019934"/>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a:stCxn id="13" idx="3"/>
            <a:endCxn id="9" idx="1"/>
          </p:cNvCxnSpPr>
          <p:nvPr/>
        </p:nvCxnSpPr>
        <p:spPr>
          <a:xfrm flipV="1">
            <a:off x="5345633" y="2090926"/>
            <a:ext cx="599130" cy="509973"/>
          </a:xfrm>
          <a:prstGeom prst="line">
            <a:avLst/>
          </a:prstGeom>
        </p:spPr>
        <p:style>
          <a:lnRef idx="2">
            <a:schemeClr val="dk1"/>
          </a:lnRef>
          <a:fillRef idx="0">
            <a:schemeClr val="dk1"/>
          </a:fillRef>
          <a:effectRef idx="1">
            <a:schemeClr val="dk1"/>
          </a:effectRef>
          <a:fontRef idx="minor">
            <a:schemeClr val="tx1"/>
          </a:fontRef>
        </p:style>
      </p:cxnSp>
      <p:sp>
        <p:nvSpPr>
          <p:cNvPr id="17" name="Rounded Rectangle 16"/>
          <p:cNvSpPr/>
          <p:nvPr/>
        </p:nvSpPr>
        <p:spPr>
          <a:xfrm>
            <a:off x="5944763" y="2870049"/>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2</a:t>
            </a:r>
          </a:p>
        </p:txBody>
      </p:sp>
      <p:cxnSp>
        <p:nvCxnSpPr>
          <p:cNvPr id="19" name="Straight Connector 18"/>
          <p:cNvCxnSpPr>
            <a:stCxn id="13" idx="3"/>
            <a:endCxn id="17" idx="1"/>
          </p:cNvCxnSpPr>
          <p:nvPr/>
        </p:nvCxnSpPr>
        <p:spPr>
          <a:xfrm>
            <a:off x="5345633" y="2600899"/>
            <a:ext cx="599130" cy="509966"/>
          </a:xfrm>
          <a:prstGeom prst="line">
            <a:avLst/>
          </a:prstGeom>
        </p:spPr>
        <p:style>
          <a:lnRef idx="2">
            <a:schemeClr val="dk1"/>
          </a:lnRef>
          <a:fillRef idx="0">
            <a:schemeClr val="dk1"/>
          </a:fillRef>
          <a:effectRef idx="1">
            <a:schemeClr val="dk1"/>
          </a:effectRef>
          <a:fontRef idx="minor">
            <a:schemeClr val="tx1"/>
          </a:fontRef>
        </p:style>
      </p:cxnSp>
      <p:sp>
        <p:nvSpPr>
          <p:cNvPr id="38" name="Rounded Rectangle 37"/>
          <p:cNvSpPr/>
          <p:nvPr/>
        </p:nvSpPr>
        <p:spPr>
          <a:xfrm>
            <a:off x="5944763" y="3889987"/>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3</a:t>
            </a:r>
          </a:p>
        </p:txBody>
      </p:sp>
      <p:cxnSp>
        <p:nvCxnSpPr>
          <p:cNvPr id="40" name="Straight Connector 39"/>
          <p:cNvCxnSpPr>
            <a:stCxn id="20" idx="3"/>
            <a:endCxn id="38" idx="1"/>
          </p:cNvCxnSpPr>
          <p:nvPr/>
        </p:nvCxnSpPr>
        <p:spPr>
          <a:xfrm flipV="1">
            <a:off x="5345633" y="4130803"/>
            <a:ext cx="599130" cy="509968"/>
          </a:xfrm>
          <a:prstGeom prst="line">
            <a:avLst/>
          </a:prstGeom>
        </p:spPr>
        <p:style>
          <a:lnRef idx="2">
            <a:schemeClr val="dk1"/>
          </a:lnRef>
          <a:fillRef idx="0">
            <a:schemeClr val="dk1"/>
          </a:fillRef>
          <a:effectRef idx="1">
            <a:schemeClr val="dk1"/>
          </a:effectRef>
          <a:fontRef idx="minor">
            <a:schemeClr val="tx1"/>
          </a:fontRef>
        </p:style>
      </p:cxnSp>
      <p:sp>
        <p:nvSpPr>
          <p:cNvPr id="48" name="Rounded Rectangle 47"/>
          <p:cNvSpPr/>
          <p:nvPr/>
        </p:nvSpPr>
        <p:spPr>
          <a:xfrm>
            <a:off x="5944763" y="4909925"/>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4</a:t>
            </a:r>
          </a:p>
        </p:txBody>
      </p:sp>
      <p:cxnSp>
        <p:nvCxnSpPr>
          <p:cNvPr id="49" name="Straight Connector 48"/>
          <p:cNvCxnSpPr>
            <a:stCxn id="4" idx="3"/>
            <a:endCxn id="20" idx="1"/>
          </p:cNvCxnSpPr>
          <p:nvPr/>
        </p:nvCxnSpPr>
        <p:spPr>
          <a:xfrm>
            <a:off x="3162009" y="3620833"/>
            <a:ext cx="599130" cy="1019938"/>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p:cNvCxnSpPr>
            <a:stCxn id="20" idx="3"/>
            <a:endCxn id="48" idx="1"/>
          </p:cNvCxnSpPr>
          <p:nvPr/>
        </p:nvCxnSpPr>
        <p:spPr>
          <a:xfrm>
            <a:off x="5345633" y="4640771"/>
            <a:ext cx="599130" cy="509970"/>
          </a:xfrm>
          <a:prstGeom prst="line">
            <a:avLst/>
          </a:prstGeom>
        </p:spPr>
        <p:style>
          <a:lnRef idx="2">
            <a:schemeClr val="dk1"/>
          </a:lnRef>
          <a:fillRef idx="0">
            <a:schemeClr val="dk1"/>
          </a:fillRef>
          <a:effectRef idx="1">
            <a:schemeClr val="dk1"/>
          </a:effectRef>
          <a:fontRef idx="minor">
            <a:schemeClr val="tx1"/>
          </a:fontRef>
        </p:style>
      </p:cxnSp>
      <p:sp>
        <p:nvSpPr>
          <p:cNvPr id="4" name="Rounded Rectangle 3"/>
          <p:cNvSpPr/>
          <p:nvPr/>
        </p:nvSpPr>
        <p:spPr>
          <a:xfrm>
            <a:off x="1577515" y="3380017"/>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13" name="Rounded Rectangle 12"/>
          <p:cNvSpPr/>
          <p:nvPr/>
        </p:nvSpPr>
        <p:spPr>
          <a:xfrm>
            <a:off x="3761139" y="2360083"/>
            <a:ext cx="1584494" cy="481631"/>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20" name="Rounded Rectangle 19"/>
          <p:cNvSpPr/>
          <p:nvPr/>
        </p:nvSpPr>
        <p:spPr>
          <a:xfrm>
            <a:off x="3761139" y="4399955"/>
            <a:ext cx="1584494" cy="481631"/>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23" name="TextBox 22"/>
          <p:cNvSpPr txBox="1"/>
          <p:nvPr/>
        </p:nvSpPr>
        <p:spPr>
          <a:xfrm>
            <a:off x="5465464" y="4456104"/>
            <a:ext cx="61747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C</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4" name="TextBox 23"/>
          <p:cNvSpPr txBox="1"/>
          <p:nvPr/>
        </p:nvSpPr>
        <p:spPr>
          <a:xfrm>
            <a:off x="7560717" y="1912319"/>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25" name="TextBox 24"/>
          <p:cNvSpPr txBox="1"/>
          <p:nvPr/>
        </p:nvSpPr>
        <p:spPr>
          <a:xfrm>
            <a:off x="7553201" y="2925547"/>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26" name="TextBox 25"/>
          <p:cNvSpPr txBox="1"/>
          <p:nvPr/>
        </p:nvSpPr>
        <p:spPr>
          <a:xfrm>
            <a:off x="7545685" y="3938775"/>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27" name="TextBox 26"/>
          <p:cNvSpPr txBox="1"/>
          <p:nvPr/>
        </p:nvSpPr>
        <p:spPr>
          <a:xfrm>
            <a:off x="7538169" y="4952003"/>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p:txBody>
      </p:sp>
      <p:sp>
        <p:nvSpPr>
          <p:cNvPr id="21" name="TextBox 20"/>
          <p:cNvSpPr txBox="1"/>
          <p:nvPr/>
        </p:nvSpPr>
        <p:spPr>
          <a:xfrm>
            <a:off x="6161842" y="2415695"/>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2" name="TextBox 21"/>
          <p:cNvSpPr txBox="1"/>
          <p:nvPr/>
        </p:nvSpPr>
        <p:spPr>
          <a:xfrm>
            <a:off x="5465464" y="2415695"/>
            <a:ext cx="6190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B</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TextBox 6"/>
          <p:cNvSpPr txBox="1"/>
          <p:nvPr/>
        </p:nvSpPr>
        <p:spPr>
          <a:xfrm>
            <a:off x="5900510" y="2406798"/>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8" name="TextBox 7"/>
          <p:cNvSpPr txBox="1"/>
          <p:nvPr/>
        </p:nvSpPr>
        <p:spPr>
          <a:xfrm>
            <a:off x="6163445" y="4460554"/>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10" name="TextBox 9"/>
          <p:cNvSpPr txBox="1"/>
          <p:nvPr/>
        </p:nvSpPr>
        <p:spPr>
          <a:xfrm>
            <a:off x="5902113" y="4451657"/>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6" name="TextBox 5"/>
          <p:cNvSpPr txBox="1"/>
          <p:nvPr/>
        </p:nvSpPr>
        <p:spPr>
          <a:xfrm>
            <a:off x="4072200" y="5794637"/>
            <a:ext cx="4116127"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Gill Sans Nova Book" panose="020B0502020204020203" pitchFamily="34" charset="-128"/>
                <a:cs typeface="Calibri" panose="020F0502020204030204" pitchFamily="34" charset="0"/>
              </a:rPr>
              <a:t>Stage 2: Reduce Partial Outputs</a:t>
            </a:r>
          </a:p>
        </p:txBody>
      </p:sp>
      <p:grpSp>
        <p:nvGrpSpPr>
          <p:cNvPr id="11" name="Group 10"/>
          <p:cNvGrpSpPr/>
          <p:nvPr/>
        </p:nvGrpSpPr>
        <p:grpSpPr>
          <a:xfrm>
            <a:off x="6367441" y="1143507"/>
            <a:ext cx="3411554" cy="400110"/>
            <a:chOff x="6182586" y="1372107"/>
            <a:chExt cx="3411554" cy="400110"/>
          </a:xfrm>
        </p:grpSpPr>
        <p:sp>
          <p:nvSpPr>
            <p:cNvPr id="15" name="Rounded Rectangle 14"/>
            <p:cNvSpPr/>
            <p:nvPr/>
          </p:nvSpPr>
          <p:spPr>
            <a:xfrm>
              <a:off x="6182586" y="1473658"/>
              <a:ext cx="293370" cy="191667"/>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6488482" y="1372107"/>
              <a:ext cx="310565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Rectangles denote KV cache</a:t>
              </a:r>
            </a:p>
          </p:txBody>
        </p:sp>
      </p:grpSp>
      <p:grpSp>
        <p:nvGrpSpPr>
          <p:cNvPr id="18" name="Group 17"/>
          <p:cNvGrpSpPr/>
          <p:nvPr/>
        </p:nvGrpSpPr>
        <p:grpSpPr>
          <a:xfrm>
            <a:off x="1574269" y="1142461"/>
            <a:ext cx="4340616" cy="400110"/>
            <a:chOff x="1574269" y="1371061"/>
            <a:chExt cx="4340616" cy="400110"/>
          </a:xfrm>
        </p:grpSpPr>
        <p:sp>
          <p:nvSpPr>
            <p:cNvPr id="28" name="Rounded Rectangle 27"/>
            <p:cNvSpPr/>
            <p:nvPr/>
          </p:nvSpPr>
          <p:spPr>
            <a:xfrm>
              <a:off x="1574269" y="1386612"/>
              <a:ext cx="146583" cy="365760"/>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1720852" y="1371061"/>
              <a:ext cx="419403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Red bars denote thread blocks on GPU</a:t>
              </a:r>
            </a:p>
          </p:txBody>
        </p:sp>
      </p:grpSp>
      <p:sp>
        <p:nvSpPr>
          <p:cNvPr id="51"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CHALLENGE</a:t>
            </a:r>
          </a:p>
        </p:txBody>
      </p:sp>
      <p:sp>
        <p:nvSpPr>
          <p:cNvPr id="53"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56" name="skill-template-footer-page-number"/>
          <p:cNvSpPr txBox="1"/>
          <p:nvPr/>
        </p:nvSpPr>
        <p:spPr>
          <a:xfrm>
            <a:off x="11077575" y="6515100"/>
            <a:ext cx="13335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25</a:t>
            </a:r>
          </a:p>
        </p:txBody>
      </p:sp>
      <p:pic>
        <p:nvPicPr>
          <p:cNvPr id="57" name="skill-template-nju-logo" descr="template-title-footer-logo-from-template.png"/>
          <p:cNvPicPr>
            <a:picLocks noChangeAspect="1"/>
          </p:cNvPicPr>
          <p:nvPr/>
        </p:nvPicPr>
        <p:blipFill>
          <a:blip r:embed="rId2"/>
          <a:stretch>
            <a:fillRect/>
          </a:stretch>
        </p:blipFill>
        <p:spPr>
          <a:xfrm>
            <a:off x="9639300" y="354718"/>
            <a:ext cx="1571625" cy="48118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Challenge: Organize Dependency</a:t>
            </a:r>
          </a:p>
        </p:txBody>
      </p:sp>
      <p:sp>
        <p:nvSpPr>
          <p:cNvPr id="9" name="Rounded Rectangle 8"/>
          <p:cNvSpPr/>
          <p:nvPr/>
        </p:nvSpPr>
        <p:spPr>
          <a:xfrm>
            <a:off x="5944763" y="1850110"/>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1</a:t>
            </a:r>
          </a:p>
        </p:txBody>
      </p:sp>
      <p:cxnSp>
        <p:nvCxnSpPr>
          <p:cNvPr id="12" name="Straight Connector 11"/>
          <p:cNvCxnSpPr>
            <a:stCxn id="4" idx="3"/>
            <a:endCxn id="13" idx="1"/>
          </p:cNvCxnSpPr>
          <p:nvPr/>
        </p:nvCxnSpPr>
        <p:spPr>
          <a:xfrm flipV="1">
            <a:off x="3162009" y="2600899"/>
            <a:ext cx="599130" cy="1019934"/>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a:stCxn id="13" idx="3"/>
            <a:endCxn id="9" idx="1"/>
          </p:cNvCxnSpPr>
          <p:nvPr/>
        </p:nvCxnSpPr>
        <p:spPr>
          <a:xfrm flipV="1">
            <a:off x="5345633" y="2090926"/>
            <a:ext cx="599130" cy="509973"/>
          </a:xfrm>
          <a:prstGeom prst="line">
            <a:avLst/>
          </a:prstGeom>
        </p:spPr>
        <p:style>
          <a:lnRef idx="2">
            <a:schemeClr val="dk1"/>
          </a:lnRef>
          <a:fillRef idx="0">
            <a:schemeClr val="dk1"/>
          </a:fillRef>
          <a:effectRef idx="1">
            <a:schemeClr val="dk1"/>
          </a:effectRef>
          <a:fontRef idx="minor">
            <a:schemeClr val="tx1"/>
          </a:fontRef>
        </p:style>
      </p:cxnSp>
      <p:sp>
        <p:nvSpPr>
          <p:cNvPr id="17" name="Rounded Rectangle 16"/>
          <p:cNvSpPr/>
          <p:nvPr/>
        </p:nvSpPr>
        <p:spPr>
          <a:xfrm>
            <a:off x="5944763" y="2870049"/>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2</a:t>
            </a:r>
          </a:p>
        </p:txBody>
      </p:sp>
      <p:cxnSp>
        <p:nvCxnSpPr>
          <p:cNvPr id="19" name="Straight Connector 18"/>
          <p:cNvCxnSpPr>
            <a:stCxn id="13" idx="3"/>
            <a:endCxn id="17" idx="1"/>
          </p:cNvCxnSpPr>
          <p:nvPr/>
        </p:nvCxnSpPr>
        <p:spPr>
          <a:xfrm>
            <a:off x="5345633" y="2600899"/>
            <a:ext cx="599130" cy="509966"/>
          </a:xfrm>
          <a:prstGeom prst="line">
            <a:avLst/>
          </a:prstGeom>
        </p:spPr>
        <p:style>
          <a:lnRef idx="2">
            <a:schemeClr val="dk1"/>
          </a:lnRef>
          <a:fillRef idx="0">
            <a:schemeClr val="dk1"/>
          </a:fillRef>
          <a:effectRef idx="1">
            <a:schemeClr val="dk1"/>
          </a:effectRef>
          <a:fontRef idx="minor">
            <a:schemeClr val="tx1"/>
          </a:fontRef>
        </p:style>
      </p:cxnSp>
      <p:sp>
        <p:nvSpPr>
          <p:cNvPr id="38" name="Rounded Rectangle 37"/>
          <p:cNvSpPr/>
          <p:nvPr/>
        </p:nvSpPr>
        <p:spPr>
          <a:xfrm>
            <a:off x="5944763" y="3889987"/>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3</a:t>
            </a:r>
          </a:p>
        </p:txBody>
      </p:sp>
      <p:cxnSp>
        <p:nvCxnSpPr>
          <p:cNvPr id="40" name="Straight Connector 39"/>
          <p:cNvCxnSpPr>
            <a:stCxn id="20" idx="3"/>
            <a:endCxn id="38" idx="1"/>
          </p:cNvCxnSpPr>
          <p:nvPr/>
        </p:nvCxnSpPr>
        <p:spPr>
          <a:xfrm flipV="1">
            <a:off x="5345633" y="4130803"/>
            <a:ext cx="599130" cy="509968"/>
          </a:xfrm>
          <a:prstGeom prst="line">
            <a:avLst/>
          </a:prstGeom>
        </p:spPr>
        <p:style>
          <a:lnRef idx="2">
            <a:schemeClr val="dk1"/>
          </a:lnRef>
          <a:fillRef idx="0">
            <a:schemeClr val="dk1"/>
          </a:fillRef>
          <a:effectRef idx="1">
            <a:schemeClr val="dk1"/>
          </a:effectRef>
          <a:fontRef idx="minor">
            <a:schemeClr val="tx1"/>
          </a:fontRef>
        </p:style>
      </p:cxnSp>
      <p:sp>
        <p:nvSpPr>
          <p:cNvPr id="48" name="Rounded Rectangle 47"/>
          <p:cNvSpPr/>
          <p:nvPr/>
        </p:nvSpPr>
        <p:spPr>
          <a:xfrm>
            <a:off x="5944763" y="4909925"/>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4</a:t>
            </a:r>
          </a:p>
        </p:txBody>
      </p:sp>
      <p:cxnSp>
        <p:nvCxnSpPr>
          <p:cNvPr id="49" name="Straight Connector 48"/>
          <p:cNvCxnSpPr>
            <a:stCxn id="4" idx="3"/>
            <a:endCxn id="20" idx="1"/>
          </p:cNvCxnSpPr>
          <p:nvPr/>
        </p:nvCxnSpPr>
        <p:spPr>
          <a:xfrm>
            <a:off x="3162009" y="3620833"/>
            <a:ext cx="599130" cy="1019938"/>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p:cNvCxnSpPr>
            <a:stCxn id="20" idx="3"/>
            <a:endCxn id="48" idx="1"/>
          </p:cNvCxnSpPr>
          <p:nvPr/>
        </p:nvCxnSpPr>
        <p:spPr>
          <a:xfrm>
            <a:off x="5345633" y="4640771"/>
            <a:ext cx="599130" cy="509970"/>
          </a:xfrm>
          <a:prstGeom prst="line">
            <a:avLst/>
          </a:prstGeom>
        </p:spPr>
        <p:style>
          <a:lnRef idx="2">
            <a:schemeClr val="dk1"/>
          </a:lnRef>
          <a:fillRef idx="0">
            <a:schemeClr val="dk1"/>
          </a:fillRef>
          <a:effectRef idx="1">
            <a:schemeClr val="dk1"/>
          </a:effectRef>
          <a:fontRef idx="minor">
            <a:schemeClr val="tx1"/>
          </a:fontRef>
        </p:style>
      </p:cxnSp>
      <p:sp>
        <p:nvSpPr>
          <p:cNvPr id="4" name="Rounded Rectangle 3"/>
          <p:cNvSpPr/>
          <p:nvPr/>
        </p:nvSpPr>
        <p:spPr>
          <a:xfrm>
            <a:off x="1577515" y="3380017"/>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13" name="Rounded Rectangle 12"/>
          <p:cNvSpPr/>
          <p:nvPr/>
        </p:nvSpPr>
        <p:spPr>
          <a:xfrm>
            <a:off x="3761139" y="2360083"/>
            <a:ext cx="1584494" cy="481631"/>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20" name="Rounded Rectangle 19"/>
          <p:cNvSpPr/>
          <p:nvPr/>
        </p:nvSpPr>
        <p:spPr>
          <a:xfrm>
            <a:off x="3761139" y="4399955"/>
            <a:ext cx="1584494" cy="481631"/>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24" name="TextBox 23"/>
          <p:cNvSpPr txBox="1"/>
          <p:nvPr/>
        </p:nvSpPr>
        <p:spPr>
          <a:xfrm>
            <a:off x="7560717" y="1912319"/>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25" name="TextBox 24"/>
          <p:cNvSpPr txBox="1"/>
          <p:nvPr/>
        </p:nvSpPr>
        <p:spPr>
          <a:xfrm>
            <a:off x="7553201" y="2925547"/>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26" name="TextBox 25"/>
          <p:cNvSpPr txBox="1"/>
          <p:nvPr/>
        </p:nvSpPr>
        <p:spPr>
          <a:xfrm>
            <a:off x="7545685" y="3938775"/>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27" name="TextBox 26"/>
          <p:cNvSpPr txBox="1"/>
          <p:nvPr/>
        </p:nvSpPr>
        <p:spPr>
          <a:xfrm>
            <a:off x="7538169" y="4952003"/>
            <a:ext cx="614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p:txBody>
      </p:sp>
      <p:sp>
        <p:nvSpPr>
          <p:cNvPr id="11" name="TextBox 10"/>
          <p:cNvSpPr txBox="1"/>
          <p:nvPr/>
        </p:nvSpPr>
        <p:spPr>
          <a:xfrm>
            <a:off x="8906141" y="1906260"/>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15" name="TextBox 14"/>
          <p:cNvSpPr txBox="1"/>
          <p:nvPr/>
        </p:nvSpPr>
        <p:spPr>
          <a:xfrm>
            <a:off x="8209763" y="1906260"/>
            <a:ext cx="6190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B</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5"/>
          <p:cNvSpPr txBox="1"/>
          <p:nvPr/>
        </p:nvSpPr>
        <p:spPr>
          <a:xfrm>
            <a:off x="8644809" y="1897363"/>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28" name="TextBox 27"/>
          <p:cNvSpPr txBox="1"/>
          <p:nvPr/>
        </p:nvSpPr>
        <p:spPr>
          <a:xfrm>
            <a:off x="7972790" y="1909889"/>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29" name="TextBox 28"/>
          <p:cNvSpPr txBox="1"/>
          <p:nvPr/>
        </p:nvSpPr>
        <p:spPr>
          <a:xfrm>
            <a:off x="8906141" y="2910591"/>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30" name="TextBox 29"/>
          <p:cNvSpPr txBox="1"/>
          <p:nvPr/>
        </p:nvSpPr>
        <p:spPr>
          <a:xfrm>
            <a:off x="8209763" y="2910591"/>
            <a:ext cx="6190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B</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1" name="TextBox 30"/>
          <p:cNvSpPr txBox="1"/>
          <p:nvPr/>
        </p:nvSpPr>
        <p:spPr>
          <a:xfrm>
            <a:off x="8644809" y="2901694"/>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2" name="TextBox 31"/>
          <p:cNvSpPr txBox="1"/>
          <p:nvPr/>
        </p:nvSpPr>
        <p:spPr>
          <a:xfrm>
            <a:off x="7972790" y="2914220"/>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3" name="TextBox 32"/>
          <p:cNvSpPr txBox="1"/>
          <p:nvPr/>
        </p:nvSpPr>
        <p:spPr>
          <a:xfrm>
            <a:off x="8906141" y="3927448"/>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34" name="TextBox 33"/>
          <p:cNvSpPr txBox="1"/>
          <p:nvPr/>
        </p:nvSpPr>
        <p:spPr>
          <a:xfrm>
            <a:off x="8209763" y="3927448"/>
            <a:ext cx="61747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C</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5" name="TextBox 34"/>
          <p:cNvSpPr txBox="1"/>
          <p:nvPr/>
        </p:nvSpPr>
        <p:spPr>
          <a:xfrm>
            <a:off x="8644809" y="3918551"/>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6" name="TextBox 35"/>
          <p:cNvSpPr txBox="1"/>
          <p:nvPr/>
        </p:nvSpPr>
        <p:spPr>
          <a:xfrm>
            <a:off x="7972790" y="3931077"/>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7" name="TextBox 36"/>
          <p:cNvSpPr txBox="1"/>
          <p:nvPr/>
        </p:nvSpPr>
        <p:spPr>
          <a:xfrm>
            <a:off x="8906141" y="4931779"/>
            <a:ext cx="6254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A</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39" name="TextBox 38"/>
          <p:cNvSpPr txBox="1"/>
          <p:nvPr/>
        </p:nvSpPr>
        <p:spPr>
          <a:xfrm>
            <a:off x="8209763" y="4931779"/>
            <a:ext cx="61747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Out</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C</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1" name="TextBox 40"/>
          <p:cNvSpPr txBox="1"/>
          <p:nvPr/>
        </p:nvSpPr>
        <p:spPr>
          <a:xfrm>
            <a:off x="8644809" y="4922882"/>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2" name="TextBox 41"/>
          <p:cNvSpPr txBox="1"/>
          <p:nvPr/>
        </p:nvSpPr>
        <p:spPr>
          <a:xfrm>
            <a:off x="7972790" y="4935408"/>
            <a:ext cx="4138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5" name="TextBox 4"/>
          <p:cNvSpPr txBox="1"/>
          <p:nvPr/>
        </p:nvSpPr>
        <p:spPr>
          <a:xfrm>
            <a:off x="4072200" y="5794637"/>
            <a:ext cx="4116127"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Gill Sans Nova Book" panose="020B0502020204020203" pitchFamily="34" charset="-128"/>
                <a:cs typeface="Calibri" panose="020F0502020204030204" pitchFamily="34" charset="0"/>
              </a:rPr>
              <a:t>Stage 2: Reduce Partial Outputs</a:t>
            </a:r>
          </a:p>
        </p:txBody>
      </p:sp>
      <p:grpSp>
        <p:nvGrpSpPr>
          <p:cNvPr id="6" name="Group 5"/>
          <p:cNvGrpSpPr/>
          <p:nvPr/>
        </p:nvGrpSpPr>
        <p:grpSpPr>
          <a:xfrm>
            <a:off x="6321086" y="1137792"/>
            <a:ext cx="3411554" cy="400110"/>
            <a:chOff x="6182586" y="1372107"/>
            <a:chExt cx="3411554" cy="400110"/>
          </a:xfrm>
        </p:grpSpPr>
        <p:sp>
          <p:nvSpPr>
            <p:cNvPr id="7" name="Rounded Rectangle 6"/>
            <p:cNvSpPr/>
            <p:nvPr/>
          </p:nvSpPr>
          <p:spPr>
            <a:xfrm>
              <a:off x="6182586" y="1473658"/>
              <a:ext cx="293370" cy="191667"/>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6488482" y="1372107"/>
              <a:ext cx="310565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Rectangles denote KV cache</a:t>
              </a:r>
            </a:p>
          </p:txBody>
        </p:sp>
      </p:grpSp>
      <p:grpSp>
        <p:nvGrpSpPr>
          <p:cNvPr id="10" name="Group 9"/>
          <p:cNvGrpSpPr/>
          <p:nvPr/>
        </p:nvGrpSpPr>
        <p:grpSpPr>
          <a:xfrm>
            <a:off x="1574269" y="1142461"/>
            <a:ext cx="4340616" cy="400110"/>
            <a:chOff x="1574269" y="1371061"/>
            <a:chExt cx="4340616" cy="400110"/>
          </a:xfrm>
        </p:grpSpPr>
        <p:sp>
          <p:nvSpPr>
            <p:cNvPr id="18" name="Rounded Rectangle 17"/>
            <p:cNvSpPr/>
            <p:nvPr/>
          </p:nvSpPr>
          <p:spPr>
            <a:xfrm>
              <a:off x="1574269" y="1386612"/>
              <a:ext cx="146583" cy="365760"/>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1720852" y="1371061"/>
              <a:ext cx="419403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Red bars denote thread blocks on GPU</a:t>
              </a:r>
            </a:p>
          </p:txBody>
        </p:sp>
      </p:grpSp>
      <p:sp>
        <p:nvSpPr>
          <p:cNvPr id="51"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CHALLENGE</a:t>
            </a:r>
          </a:p>
        </p:txBody>
      </p:sp>
      <p:sp>
        <p:nvSpPr>
          <p:cNvPr id="53"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56" name="skill-template-footer-page-number"/>
          <p:cNvSpPr txBox="1"/>
          <p:nvPr/>
        </p:nvSpPr>
        <p:spPr>
          <a:xfrm>
            <a:off x="11077575" y="6515100"/>
            <a:ext cx="13335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26</a:t>
            </a:r>
          </a:p>
        </p:txBody>
      </p:sp>
      <p:pic>
        <p:nvPicPr>
          <p:cNvPr id="57" name="skill-template-nju-logo" descr="template-title-footer-logo-from-template.png"/>
          <p:cNvPicPr>
            <a:picLocks noChangeAspect="1"/>
          </p:cNvPicPr>
          <p:nvPr/>
        </p:nvPicPr>
        <p:blipFill>
          <a:blip r:embed="rId2"/>
          <a:stretch>
            <a:fillRect/>
          </a:stretch>
        </p:blipFill>
        <p:spPr>
          <a:xfrm>
            <a:off x="9639300" y="354718"/>
            <a:ext cx="1571625" cy="48118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Challenge: Organize Dependency</a:t>
            </a:r>
          </a:p>
        </p:txBody>
      </p:sp>
      <p:sp>
        <p:nvSpPr>
          <p:cNvPr id="9" name="Rounded Rectangle 8"/>
          <p:cNvSpPr/>
          <p:nvPr/>
        </p:nvSpPr>
        <p:spPr>
          <a:xfrm>
            <a:off x="5944763" y="1850110"/>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1</a:t>
            </a:r>
          </a:p>
        </p:txBody>
      </p:sp>
      <p:cxnSp>
        <p:nvCxnSpPr>
          <p:cNvPr id="12" name="Straight Connector 11"/>
          <p:cNvCxnSpPr>
            <a:stCxn id="4" idx="3"/>
            <a:endCxn id="13" idx="1"/>
          </p:cNvCxnSpPr>
          <p:nvPr/>
        </p:nvCxnSpPr>
        <p:spPr>
          <a:xfrm flipV="1">
            <a:off x="3162009" y="2600899"/>
            <a:ext cx="599130" cy="1019934"/>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a:stCxn id="13" idx="3"/>
            <a:endCxn id="9" idx="1"/>
          </p:cNvCxnSpPr>
          <p:nvPr/>
        </p:nvCxnSpPr>
        <p:spPr>
          <a:xfrm flipV="1">
            <a:off x="5345633" y="2090926"/>
            <a:ext cx="599130" cy="509973"/>
          </a:xfrm>
          <a:prstGeom prst="line">
            <a:avLst/>
          </a:prstGeom>
        </p:spPr>
        <p:style>
          <a:lnRef idx="2">
            <a:schemeClr val="dk1"/>
          </a:lnRef>
          <a:fillRef idx="0">
            <a:schemeClr val="dk1"/>
          </a:fillRef>
          <a:effectRef idx="1">
            <a:schemeClr val="dk1"/>
          </a:effectRef>
          <a:fontRef idx="minor">
            <a:schemeClr val="tx1"/>
          </a:fontRef>
        </p:style>
      </p:cxnSp>
      <p:sp>
        <p:nvSpPr>
          <p:cNvPr id="17" name="Rounded Rectangle 16"/>
          <p:cNvSpPr/>
          <p:nvPr/>
        </p:nvSpPr>
        <p:spPr>
          <a:xfrm>
            <a:off x="5944763" y="2870049"/>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2</a:t>
            </a:r>
          </a:p>
        </p:txBody>
      </p:sp>
      <p:cxnSp>
        <p:nvCxnSpPr>
          <p:cNvPr id="19" name="Straight Connector 18"/>
          <p:cNvCxnSpPr>
            <a:stCxn id="13" idx="3"/>
            <a:endCxn id="17" idx="1"/>
          </p:cNvCxnSpPr>
          <p:nvPr/>
        </p:nvCxnSpPr>
        <p:spPr>
          <a:xfrm>
            <a:off x="5345633" y="2600899"/>
            <a:ext cx="599130" cy="509966"/>
          </a:xfrm>
          <a:prstGeom prst="line">
            <a:avLst/>
          </a:prstGeom>
        </p:spPr>
        <p:style>
          <a:lnRef idx="2">
            <a:schemeClr val="dk1"/>
          </a:lnRef>
          <a:fillRef idx="0">
            <a:schemeClr val="dk1"/>
          </a:fillRef>
          <a:effectRef idx="1">
            <a:schemeClr val="dk1"/>
          </a:effectRef>
          <a:fontRef idx="minor">
            <a:schemeClr val="tx1"/>
          </a:fontRef>
        </p:style>
      </p:cxnSp>
      <p:sp>
        <p:nvSpPr>
          <p:cNvPr id="38" name="Rounded Rectangle 37"/>
          <p:cNvSpPr/>
          <p:nvPr/>
        </p:nvSpPr>
        <p:spPr>
          <a:xfrm>
            <a:off x="5944763" y="3889987"/>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3</a:t>
            </a:r>
          </a:p>
        </p:txBody>
      </p:sp>
      <p:cxnSp>
        <p:nvCxnSpPr>
          <p:cNvPr id="40" name="Straight Connector 39"/>
          <p:cNvCxnSpPr>
            <a:stCxn id="20" idx="3"/>
            <a:endCxn id="38" idx="1"/>
          </p:cNvCxnSpPr>
          <p:nvPr/>
        </p:nvCxnSpPr>
        <p:spPr>
          <a:xfrm flipV="1">
            <a:off x="5345633" y="4130803"/>
            <a:ext cx="599130" cy="509968"/>
          </a:xfrm>
          <a:prstGeom prst="line">
            <a:avLst/>
          </a:prstGeom>
        </p:spPr>
        <p:style>
          <a:lnRef idx="2">
            <a:schemeClr val="dk1"/>
          </a:lnRef>
          <a:fillRef idx="0">
            <a:schemeClr val="dk1"/>
          </a:fillRef>
          <a:effectRef idx="1">
            <a:schemeClr val="dk1"/>
          </a:effectRef>
          <a:fontRef idx="minor">
            <a:schemeClr val="tx1"/>
          </a:fontRef>
        </p:style>
      </p:cxnSp>
      <p:sp>
        <p:nvSpPr>
          <p:cNvPr id="48" name="Rounded Rectangle 47"/>
          <p:cNvSpPr/>
          <p:nvPr/>
        </p:nvSpPr>
        <p:spPr>
          <a:xfrm>
            <a:off x="5944763" y="4909925"/>
            <a:ext cx="1584494" cy="4816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Question 4</a:t>
            </a:r>
          </a:p>
        </p:txBody>
      </p:sp>
      <p:cxnSp>
        <p:nvCxnSpPr>
          <p:cNvPr id="49" name="Straight Connector 48"/>
          <p:cNvCxnSpPr>
            <a:stCxn id="4" idx="3"/>
            <a:endCxn id="20" idx="1"/>
          </p:cNvCxnSpPr>
          <p:nvPr/>
        </p:nvCxnSpPr>
        <p:spPr>
          <a:xfrm>
            <a:off x="3162009" y="3620833"/>
            <a:ext cx="599130" cy="1019938"/>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p:cNvCxnSpPr>
            <a:stCxn id="20" idx="3"/>
            <a:endCxn id="48" idx="1"/>
          </p:cNvCxnSpPr>
          <p:nvPr/>
        </p:nvCxnSpPr>
        <p:spPr>
          <a:xfrm>
            <a:off x="5345633" y="4640771"/>
            <a:ext cx="599130" cy="509970"/>
          </a:xfrm>
          <a:prstGeom prst="line">
            <a:avLst/>
          </a:prstGeom>
        </p:spPr>
        <p:style>
          <a:lnRef idx="2">
            <a:schemeClr val="dk1"/>
          </a:lnRef>
          <a:fillRef idx="0">
            <a:schemeClr val="dk1"/>
          </a:fillRef>
          <a:effectRef idx="1">
            <a:schemeClr val="dk1"/>
          </a:effectRef>
          <a:fontRef idx="minor">
            <a:schemeClr val="tx1"/>
          </a:fontRef>
        </p:style>
      </p:cxnSp>
      <p:sp>
        <p:nvSpPr>
          <p:cNvPr id="4" name="Rounded Rectangle 3"/>
          <p:cNvSpPr/>
          <p:nvPr/>
        </p:nvSpPr>
        <p:spPr>
          <a:xfrm>
            <a:off x="1577515" y="3380017"/>
            <a:ext cx="1584494" cy="481631"/>
          </a:xfrm>
          <a:prstGeom prst="roundRect">
            <a:avLst/>
          </a:prstGeom>
          <a:solidFill>
            <a:srgbClr val="B0C4DE"/>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A</a:t>
            </a:r>
          </a:p>
        </p:txBody>
      </p:sp>
      <p:sp>
        <p:nvSpPr>
          <p:cNvPr id="13" name="Rounded Rectangle 12"/>
          <p:cNvSpPr/>
          <p:nvPr/>
        </p:nvSpPr>
        <p:spPr>
          <a:xfrm>
            <a:off x="3761139" y="2360083"/>
            <a:ext cx="1584494" cy="481631"/>
          </a:xfrm>
          <a:prstGeom prst="roundRect">
            <a:avLst/>
          </a:prstGeom>
          <a:solidFill>
            <a:srgbClr val="8FBC8F"/>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B</a:t>
            </a:r>
          </a:p>
        </p:txBody>
      </p:sp>
      <p:sp>
        <p:nvSpPr>
          <p:cNvPr id="20" name="Rounded Rectangle 19"/>
          <p:cNvSpPr/>
          <p:nvPr/>
        </p:nvSpPr>
        <p:spPr>
          <a:xfrm>
            <a:off x="3761139" y="4399955"/>
            <a:ext cx="1584494" cy="481631"/>
          </a:xfrm>
          <a:prstGeom prst="roundRect">
            <a:avLst/>
          </a:prstGeom>
          <a:solidFill>
            <a:srgbClr val="FAFAD2"/>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Document C</a:t>
            </a:r>
          </a:p>
        </p:txBody>
      </p:sp>
      <p:sp>
        <p:nvSpPr>
          <p:cNvPr id="11" name="TextBox 10"/>
          <p:cNvSpPr txBox="1"/>
          <p:nvPr/>
        </p:nvSpPr>
        <p:spPr>
          <a:xfrm>
            <a:off x="7708105" y="1906258"/>
            <a:ext cx="127605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Next Token </a:t>
            </a:r>
          </a:p>
        </p:txBody>
      </p:sp>
      <p:sp>
        <p:nvSpPr>
          <p:cNvPr id="15" name="TextBox 14"/>
          <p:cNvSpPr txBox="1"/>
          <p:nvPr/>
        </p:nvSpPr>
        <p:spPr>
          <a:xfrm>
            <a:off x="7708104" y="2921598"/>
            <a:ext cx="127605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Next Token </a:t>
            </a:r>
          </a:p>
        </p:txBody>
      </p:sp>
      <p:sp>
        <p:nvSpPr>
          <p:cNvPr id="16" name="TextBox 15"/>
          <p:cNvSpPr txBox="1"/>
          <p:nvPr/>
        </p:nvSpPr>
        <p:spPr>
          <a:xfrm>
            <a:off x="7708103" y="3936938"/>
            <a:ext cx="127605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Next Token </a:t>
            </a:r>
          </a:p>
        </p:txBody>
      </p:sp>
      <p:sp>
        <p:nvSpPr>
          <p:cNvPr id="18" name="TextBox 17"/>
          <p:cNvSpPr txBox="1"/>
          <p:nvPr/>
        </p:nvSpPr>
        <p:spPr>
          <a:xfrm>
            <a:off x="7708102" y="4952278"/>
            <a:ext cx="127605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Next Token </a:t>
            </a:r>
          </a:p>
        </p:txBody>
      </p:sp>
      <p:sp>
        <p:nvSpPr>
          <p:cNvPr id="5" name="TextBox 4"/>
          <p:cNvSpPr txBox="1"/>
          <p:nvPr/>
        </p:nvSpPr>
        <p:spPr>
          <a:xfrm>
            <a:off x="4072200" y="5794637"/>
            <a:ext cx="4116127"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Gill Sans Nova Book" panose="020B0502020204020203" pitchFamily="34" charset="-128"/>
                <a:cs typeface="Calibri" panose="020F0502020204030204" pitchFamily="34" charset="0"/>
              </a:rPr>
              <a:t>Stage 2: Reduce Partial Outputs</a:t>
            </a:r>
          </a:p>
        </p:txBody>
      </p:sp>
      <p:grpSp>
        <p:nvGrpSpPr>
          <p:cNvPr id="6" name="Group 5"/>
          <p:cNvGrpSpPr/>
          <p:nvPr/>
        </p:nvGrpSpPr>
        <p:grpSpPr>
          <a:xfrm>
            <a:off x="6349661" y="1143507"/>
            <a:ext cx="3411554" cy="400110"/>
            <a:chOff x="6182586" y="1372107"/>
            <a:chExt cx="3411554" cy="400110"/>
          </a:xfrm>
        </p:grpSpPr>
        <p:sp>
          <p:nvSpPr>
            <p:cNvPr id="7" name="Rounded Rectangle 6"/>
            <p:cNvSpPr/>
            <p:nvPr/>
          </p:nvSpPr>
          <p:spPr>
            <a:xfrm>
              <a:off x="6182586" y="1473658"/>
              <a:ext cx="293370" cy="191667"/>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6488482" y="1372107"/>
              <a:ext cx="310565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Rectangles denote KV cache</a:t>
              </a:r>
            </a:p>
          </p:txBody>
        </p:sp>
      </p:grpSp>
      <p:grpSp>
        <p:nvGrpSpPr>
          <p:cNvPr id="10" name="Group 9"/>
          <p:cNvGrpSpPr/>
          <p:nvPr/>
        </p:nvGrpSpPr>
        <p:grpSpPr>
          <a:xfrm>
            <a:off x="1574269" y="1142461"/>
            <a:ext cx="4340616" cy="400110"/>
            <a:chOff x="1574269" y="1371061"/>
            <a:chExt cx="4340616" cy="400110"/>
          </a:xfrm>
        </p:grpSpPr>
        <p:sp>
          <p:nvSpPr>
            <p:cNvPr id="21" name="Rounded Rectangle 20"/>
            <p:cNvSpPr/>
            <p:nvPr/>
          </p:nvSpPr>
          <p:spPr>
            <a:xfrm>
              <a:off x="1574269" y="1386612"/>
              <a:ext cx="146583" cy="365760"/>
            </a:xfrm>
            <a:prstGeom prst="roundRect">
              <a:avLst/>
            </a:prstGeom>
            <a:solidFill>
              <a:srgbClr val="FF4500">
                <a:alpha val="415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1720852" y="1371061"/>
              <a:ext cx="419403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Red bars denote thread blocks on GPU</a:t>
              </a:r>
            </a:p>
          </p:txBody>
        </p:sp>
      </p:grpSp>
      <p:sp>
        <p:nvSpPr>
          <p:cNvPr id="51"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CHALLENGE</a:t>
            </a:r>
          </a:p>
        </p:txBody>
      </p:sp>
      <p:sp>
        <p:nvSpPr>
          <p:cNvPr id="53"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56" name="skill-template-footer-page-number"/>
          <p:cNvSpPr txBox="1"/>
          <p:nvPr/>
        </p:nvSpPr>
        <p:spPr>
          <a:xfrm>
            <a:off x="11077575" y="6515100"/>
            <a:ext cx="13335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27</a:t>
            </a:r>
          </a:p>
        </p:txBody>
      </p:sp>
      <p:pic>
        <p:nvPicPr>
          <p:cNvPr id="57" name="skill-template-nju-logo" descr="template-title-footer-logo-from-template.png"/>
          <p:cNvPicPr>
            <a:picLocks noChangeAspect="1"/>
          </p:cNvPicPr>
          <p:nvPr/>
        </p:nvPicPr>
        <p:blipFill>
          <a:blip r:embed="rId3"/>
          <a:stretch>
            <a:fillRect/>
          </a:stretch>
        </p:blipFill>
        <p:spPr>
          <a:xfrm>
            <a:off x="9639300" y="354718"/>
            <a:ext cx="1571625" cy="48118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ounded Rectangle 35"/>
          <p:cNvSpPr/>
          <p:nvPr/>
        </p:nvSpPr>
        <p:spPr>
          <a:xfrm>
            <a:off x="5425359" y="3140900"/>
            <a:ext cx="653643" cy="107379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Challenge: Workload Imbalance</a:t>
            </a:r>
          </a:p>
        </p:txBody>
      </p:sp>
      <p:sp>
        <p:nvSpPr>
          <p:cNvPr id="31" name="Rounded Rectangle 30"/>
          <p:cNvSpPr/>
          <p:nvPr/>
        </p:nvSpPr>
        <p:spPr>
          <a:xfrm>
            <a:off x="5441256" y="1817535"/>
            <a:ext cx="3208789" cy="107379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34" name="Right Arrow 33"/>
          <p:cNvSpPr/>
          <p:nvPr/>
        </p:nvSpPr>
        <p:spPr>
          <a:xfrm>
            <a:off x="4810249" y="3022565"/>
            <a:ext cx="394282" cy="679508"/>
          </a:xfrm>
          <a:prstGeom prst="rightArrow">
            <a:avLst/>
          </a:prstGeom>
          <a:solidFill>
            <a:schemeClr val="tx2">
              <a:lumMod val="50000"/>
              <a:lumOff val="5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5585975" y="3304488"/>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Rounded Rectangle 36"/>
          <p:cNvSpPr/>
          <p:nvPr/>
        </p:nvSpPr>
        <p:spPr>
          <a:xfrm>
            <a:off x="6176872" y="3140900"/>
            <a:ext cx="1705763" cy="107379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39" name="Rounded Rectangle 38"/>
          <p:cNvSpPr/>
          <p:nvPr/>
        </p:nvSpPr>
        <p:spPr>
          <a:xfrm>
            <a:off x="7980505" y="3140899"/>
            <a:ext cx="653643" cy="1463040"/>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41" name="Rectangle 40"/>
          <p:cNvSpPr/>
          <p:nvPr/>
        </p:nvSpPr>
        <p:spPr>
          <a:xfrm>
            <a:off x="5585975" y="3726926"/>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Rectangle 41"/>
          <p:cNvSpPr/>
          <p:nvPr/>
        </p:nvSpPr>
        <p:spPr>
          <a:xfrm>
            <a:off x="6070960" y="2403286"/>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6891690" y="1991021"/>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6070960" y="1991022"/>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Rectangle 44"/>
          <p:cNvSpPr/>
          <p:nvPr/>
        </p:nvSpPr>
        <p:spPr>
          <a:xfrm>
            <a:off x="6481325" y="1991021"/>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Rectangle 45"/>
          <p:cNvSpPr/>
          <p:nvPr/>
        </p:nvSpPr>
        <p:spPr>
          <a:xfrm>
            <a:off x="7299789" y="1991021"/>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Rectangle 46"/>
          <p:cNvSpPr/>
          <p:nvPr/>
        </p:nvSpPr>
        <p:spPr>
          <a:xfrm>
            <a:off x="7707888" y="1991020"/>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Rectangle 50"/>
          <p:cNvSpPr/>
          <p:nvPr/>
        </p:nvSpPr>
        <p:spPr>
          <a:xfrm>
            <a:off x="6481325" y="2403286"/>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ectangle 51"/>
          <p:cNvSpPr/>
          <p:nvPr/>
        </p:nvSpPr>
        <p:spPr>
          <a:xfrm>
            <a:off x="6891690" y="2403286"/>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Rectangle 52"/>
          <p:cNvSpPr/>
          <p:nvPr/>
        </p:nvSpPr>
        <p:spPr>
          <a:xfrm>
            <a:off x="7302055" y="2403286"/>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Rectangle 53"/>
          <p:cNvSpPr/>
          <p:nvPr/>
        </p:nvSpPr>
        <p:spPr>
          <a:xfrm>
            <a:off x="7712420" y="2403286"/>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TextBox 54"/>
          <p:cNvSpPr txBox="1"/>
          <p:nvPr/>
        </p:nvSpPr>
        <p:spPr>
          <a:xfrm>
            <a:off x="6535548" y="1355615"/>
            <a:ext cx="105830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KV Cache</a:t>
            </a:r>
          </a:p>
        </p:txBody>
      </p:sp>
      <p:sp>
        <p:nvSpPr>
          <p:cNvPr id="56" name="TextBox 55"/>
          <p:cNvSpPr txBox="1"/>
          <p:nvPr/>
        </p:nvSpPr>
        <p:spPr>
          <a:xfrm>
            <a:off x="2189055" y="1270526"/>
            <a:ext cx="103406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Requests</a:t>
            </a:r>
          </a:p>
        </p:txBody>
      </p:sp>
      <p:sp>
        <p:nvSpPr>
          <p:cNvPr id="57" name="Rectangle 56"/>
          <p:cNvSpPr/>
          <p:nvPr/>
        </p:nvSpPr>
        <p:spPr>
          <a:xfrm>
            <a:off x="6463741" y="3312877"/>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8" name="Rectangle 57"/>
          <p:cNvSpPr/>
          <p:nvPr/>
        </p:nvSpPr>
        <p:spPr>
          <a:xfrm>
            <a:off x="6865385" y="3312877"/>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Rectangle 58"/>
          <p:cNvSpPr/>
          <p:nvPr/>
        </p:nvSpPr>
        <p:spPr>
          <a:xfrm>
            <a:off x="7267029" y="3312877"/>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Rectangle 59"/>
          <p:cNvSpPr/>
          <p:nvPr/>
        </p:nvSpPr>
        <p:spPr>
          <a:xfrm>
            <a:off x="6463741" y="3725141"/>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Rectangle 60"/>
          <p:cNvSpPr/>
          <p:nvPr/>
        </p:nvSpPr>
        <p:spPr>
          <a:xfrm>
            <a:off x="6865385" y="3725141"/>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Rectangle 61"/>
          <p:cNvSpPr/>
          <p:nvPr/>
        </p:nvSpPr>
        <p:spPr>
          <a:xfrm>
            <a:off x="7267029" y="3725141"/>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Rectangle 62"/>
          <p:cNvSpPr/>
          <p:nvPr/>
        </p:nvSpPr>
        <p:spPr>
          <a:xfrm>
            <a:off x="8143916" y="3288602"/>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4" name="Rectangle 63"/>
          <p:cNvSpPr/>
          <p:nvPr/>
        </p:nvSpPr>
        <p:spPr>
          <a:xfrm>
            <a:off x="8143916" y="3702073"/>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Rectangle 64"/>
          <p:cNvSpPr/>
          <p:nvPr/>
        </p:nvSpPr>
        <p:spPr>
          <a:xfrm>
            <a:off x="8143916" y="4115544"/>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Rounded Rectangle 65"/>
          <p:cNvSpPr/>
          <p:nvPr/>
        </p:nvSpPr>
        <p:spPr>
          <a:xfrm>
            <a:off x="6174261" y="4442713"/>
            <a:ext cx="653643" cy="107379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67" name="Rounded Rectangle 66"/>
          <p:cNvSpPr/>
          <p:nvPr/>
        </p:nvSpPr>
        <p:spPr>
          <a:xfrm>
            <a:off x="6932232" y="4444603"/>
            <a:ext cx="939921" cy="107190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68" name="Rectangle 67"/>
          <p:cNvSpPr/>
          <p:nvPr/>
        </p:nvSpPr>
        <p:spPr>
          <a:xfrm>
            <a:off x="6337672" y="4603939"/>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Rectangle 68"/>
          <p:cNvSpPr/>
          <p:nvPr/>
        </p:nvSpPr>
        <p:spPr>
          <a:xfrm>
            <a:off x="6337672" y="5011070"/>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0" name="Rectangle 69"/>
          <p:cNvSpPr/>
          <p:nvPr/>
        </p:nvSpPr>
        <p:spPr>
          <a:xfrm>
            <a:off x="7036552" y="4603939"/>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1" name="Rectangle 70"/>
          <p:cNvSpPr/>
          <p:nvPr/>
        </p:nvSpPr>
        <p:spPr>
          <a:xfrm>
            <a:off x="7036552" y="5011070"/>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Rectangle 71"/>
          <p:cNvSpPr/>
          <p:nvPr/>
        </p:nvSpPr>
        <p:spPr>
          <a:xfrm>
            <a:off x="7434996" y="4603939"/>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3" name="Rectangle 72"/>
          <p:cNvSpPr/>
          <p:nvPr/>
        </p:nvSpPr>
        <p:spPr>
          <a:xfrm>
            <a:off x="7434996" y="5011070"/>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4" name="Right Arrow 73"/>
          <p:cNvSpPr/>
          <p:nvPr/>
        </p:nvSpPr>
        <p:spPr>
          <a:xfrm>
            <a:off x="8896921" y="3022565"/>
            <a:ext cx="394282" cy="679508"/>
          </a:xfrm>
          <a:prstGeom prst="rightArrow">
            <a:avLst/>
          </a:prstGeom>
          <a:solidFill>
            <a:schemeClr val="tx2">
              <a:lumMod val="50000"/>
              <a:lumOff val="5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74"/>
          <p:cNvSpPr txBox="1"/>
          <p:nvPr/>
        </p:nvSpPr>
        <p:spPr>
          <a:xfrm>
            <a:off x="9970804" y="1384190"/>
            <a:ext cx="104227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GPU SMs</a:t>
            </a:r>
          </a:p>
        </p:txBody>
      </p:sp>
      <p:sp>
        <p:nvSpPr>
          <p:cNvPr id="76" name="Rectangle 75"/>
          <p:cNvSpPr/>
          <p:nvPr/>
        </p:nvSpPr>
        <p:spPr>
          <a:xfrm>
            <a:off x="9824350" y="2783258"/>
            <a:ext cx="169185" cy="1325563"/>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Rectangle 76"/>
          <p:cNvSpPr/>
          <p:nvPr/>
        </p:nvSpPr>
        <p:spPr>
          <a:xfrm>
            <a:off x="10502194" y="3839055"/>
            <a:ext cx="169185" cy="269766"/>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ectangle 77"/>
          <p:cNvSpPr/>
          <p:nvPr/>
        </p:nvSpPr>
        <p:spPr>
          <a:xfrm>
            <a:off x="10050298" y="3034140"/>
            <a:ext cx="169185" cy="1074681"/>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Rectangle 78"/>
          <p:cNvSpPr/>
          <p:nvPr/>
        </p:nvSpPr>
        <p:spPr>
          <a:xfrm>
            <a:off x="10276246" y="3560181"/>
            <a:ext cx="169185" cy="548640"/>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0" name="Rectangle 79"/>
          <p:cNvSpPr/>
          <p:nvPr/>
        </p:nvSpPr>
        <p:spPr>
          <a:xfrm>
            <a:off x="10728142" y="3838845"/>
            <a:ext cx="169185" cy="270186"/>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Rectangle 80"/>
          <p:cNvSpPr/>
          <p:nvPr/>
        </p:nvSpPr>
        <p:spPr>
          <a:xfrm>
            <a:off x="10954090" y="3034140"/>
            <a:ext cx="169185" cy="1074681"/>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3" name="Straight Connector 82"/>
          <p:cNvCxnSpPr/>
          <p:nvPr/>
        </p:nvCxnSpPr>
        <p:spPr>
          <a:xfrm>
            <a:off x="9557419" y="3560182"/>
            <a:ext cx="1836954"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4" name="TextBox 83"/>
          <p:cNvSpPr txBox="1"/>
          <p:nvPr/>
        </p:nvSpPr>
        <p:spPr>
          <a:xfrm>
            <a:off x="10435883" y="3538728"/>
            <a:ext cx="56380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Calibri"/>
                <a:ea typeface="+mn-ea"/>
                <a:cs typeface="+mn-cs"/>
              </a:rPr>
              <a:t>Free!</a:t>
            </a:r>
          </a:p>
        </p:txBody>
      </p:sp>
      <p:sp>
        <p:nvSpPr>
          <p:cNvPr id="85" name="TextBox 84"/>
          <p:cNvSpPr txBox="1"/>
          <p:nvPr/>
        </p:nvSpPr>
        <p:spPr>
          <a:xfrm>
            <a:off x="10233736" y="3235407"/>
            <a:ext cx="58375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Calibri"/>
                <a:ea typeface="+mn-ea"/>
                <a:cs typeface="+mn-cs"/>
              </a:rPr>
              <a:t>Busy!</a:t>
            </a:r>
          </a:p>
        </p:txBody>
      </p:sp>
      <p:cxnSp>
        <p:nvCxnSpPr>
          <p:cNvPr id="87" name="Straight Arrow Connector 86"/>
          <p:cNvCxnSpPr>
            <a:stCxn id="31" idx="2"/>
            <a:endCxn id="36" idx="0"/>
          </p:cNvCxnSpPr>
          <p:nvPr/>
        </p:nvCxnSpPr>
        <p:spPr>
          <a:xfrm flipH="1">
            <a:off x="5752181" y="2891326"/>
            <a:ext cx="1293470" cy="249574"/>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90" name="Straight Arrow Connector 89"/>
          <p:cNvCxnSpPr>
            <a:stCxn id="31" idx="2"/>
            <a:endCxn id="37" idx="0"/>
          </p:cNvCxnSpPr>
          <p:nvPr/>
        </p:nvCxnSpPr>
        <p:spPr>
          <a:xfrm flipH="1">
            <a:off x="7029754" y="2891326"/>
            <a:ext cx="15897" cy="249574"/>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a:stCxn id="31" idx="2"/>
            <a:endCxn id="39" idx="0"/>
          </p:cNvCxnSpPr>
          <p:nvPr/>
        </p:nvCxnSpPr>
        <p:spPr>
          <a:xfrm>
            <a:off x="7045651" y="2891326"/>
            <a:ext cx="1261676" cy="249573"/>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37" idx="2"/>
            <a:endCxn id="66" idx="0"/>
          </p:cNvCxnSpPr>
          <p:nvPr/>
        </p:nvCxnSpPr>
        <p:spPr>
          <a:xfrm flipH="1">
            <a:off x="6501083" y="4214691"/>
            <a:ext cx="528671" cy="228022"/>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a:stCxn id="37" idx="2"/>
            <a:endCxn id="67" idx="0"/>
          </p:cNvCxnSpPr>
          <p:nvPr/>
        </p:nvCxnSpPr>
        <p:spPr>
          <a:xfrm>
            <a:off x="7029754" y="4214691"/>
            <a:ext cx="372439" cy="229912"/>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 name="Group 2"/>
          <p:cNvGrpSpPr/>
          <p:nvPr/>
        </p:nvGrpSpPr>
        <p:grpSpPr>
          <a:xfrm>
            <a:off x="850900" y="1795145"/>
            <a:ext cx="3733800" cy="3327400"/>
            <a:chOff x="838200" y="1425140"/>
            <a:chExt cx="3733800" cy="3327224"/>
          </a:xfrm>
        </p:grpSpPr>
        <p:sp>
          <p:nvSpPr>
            <p:cNvPr id="4" name="Rounded Rectangle 3"/>
            <p:cNvSpPr/>
            <p:nvPr/>
          </p:nvSpPr>
          <p:spPr>
            <a:xfrm>
              <a:off x="838200" y="1425140"/>
              <a:ext cx="3733800" cy="1250884"/>
            </a:xfrm>
            <a:prstGeom prst="roundRect">
              <a:avLst/>
            </a:prstGeom>
            <a:solidFill>
              <a:srgbClr val="BCD2EE">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noFill/>
                  </a:ln>
                  <a:solidFill>
                    <a:prstClr val="black"/>
                  </a:solidFill>
                  <a:effectLst/>
                  <a:uLnTx/>
                  <a:uFillTx/>
                  <a:latin typeface="Calibri"/>
                  <a:ea typeface="+mn-ea"/>
                  <a:cs typeface="+mn-cs"/>
                </a:rPr>
                <a:t>Welcome to our computer support system. Here we handle a wide range of computer-related issues.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noFill/>
                  </a:ln>
                  <a:solidFill>
                    <a:prstClr val="black"/>
                  </a:solidFill>
                  <a:effectLst/>
                  <a:uLnTx/>
                  <a:uFillTx/>
                  <a:latin typeface="Calibri"/>
                  <a:ea typeface="+mn-ea"/>
                  <a:cs typeface="+mn-cs"/>
                </a:rPr>
                <a:t>Whether it's about software, hardware, networking or data management, we'll provide you with the necessary guidance...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noFill/>
                  </a:ln>
                  <a:solidFill>
                    <a:prstClr val="black"/>
                  </a:solidFill>
                  <a:effectLst/>
                  <a:uLnTx/>
                  <a:uFillTx/>
                  <a:latin typeface="Calibri"/>
                  <a:ea typeface="+mn-ea"/>
                  <a:cs typeface="+mn-cs"/>
                </a:rPr>
                <a:t>Document</a:t>
              </a:r>
            </a:p>
          </p:txBody>
        </p:sp>
        <p:sp>
          <p:nvSpPr>
            <p:cNvPr id="5" name="Rounded Rectangle 4"/>
            <p:cNvSpPr/>
            <p:nvPr/>
          </p:nvSpPr>
          <p:spPr>
            <a:xfrm>
              <a:off x="838200" y="2749492"/>
              <a:ext cx="1007377" cy="679508"/>
            </a:xfrm>
            <a:prstGeom prst="roundRect">
              <a:avLst/>
            </a:prstGeom>
            <a:solidFill>
              <a:srgbClr val="8FBC8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How can I remove this app?      Q1</a:t>
              </a:r>
            </a:p>
          </p:txBody>
        </p:sp>
        <p:sp>
          <p:nvSpPr>
            <p:cNvPr id="7" name="Rounded Rectangle 6"/>
            <p:cNvSpPr/>
            <p:nvPr/>
          </p:nvSpPr>
          <p:spPr>
            <a:xfrm>
              <a:off x="1921779" y="2749492"/>
              <a:ext cx="1584820" cy="679508"/>
            </a:xfrm>
            <a:prstGeom prst="roundRect">
              <a:avLst/>
            </a:prstGeom>
            <a:solidFill>
              <a:srgbClr val="8FBC8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Here are basic rules and ways for various software issues...  Q2</a:t>
              </a:r>
            </a:p>
          </p:txBody>
        </p:sp>
        <p:sp>
          <p:nvSpPr>
            <p:cNvPr id="8" name="Rounded Rectangle 7"/>
            <p:cNvSpPr/>
            <p:nvPr/>
          </p:nvSpPr>
          <p:spPr>
            <a:xfrm>
              <a:off x="3582801" y="2749492"/>
              <a:ext cx="989199" cy="1432421"/>
            </a:xfrm>
            <a:prstGeom prst="roundRect">
              <a:avLst/>
            </a:prstGeom>
            <a:solidFill>
              <a:srgbClr val="8FBC8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My laptop battery is draining very fast. What's wrong with it?      Q3</a:t>
              </a:r>
            </a:p>
          </p:txBody>
        </p:sp>
        <p:sp>
          <p:nvSpPr>
            <p:cNvPr id="9" name="Rounded Rectangle 8"/>
            <p:cNvSpPr/>
            <p:nvPr/>
          </p:nvSpPr>
          <p:spPr>
            <a:xfrm>
              <a:off x="1921779" y="3502404"/>
              <a:ext cx="771087" cy="801148"/>
            </a:xfrm>
            <a:prstGeom prst="roundRect">
              <a:avLst/>
            </a:prstGeom>
            <a:solidFill>
              <a:srgbClr val="EEE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How to install my app.</a:t>
              </a:r>
              <a:br>
                <a:rPr kumimoji="0" lang="en-US" sz="12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Q4</a:t>
              </a:r>
            </a:p>
          </p:txBody>
        </p:sp>
        <p:sp>
          <p:nvSpPr>
            <p:cNvPr id="10" name="Rounded Rectangle 9"/>
            <p:cNvSpPr/>
            <p:nvPr/>
          </p:nvSpPr>
          <p:spPr>
            <a:xfrm>
              <a:off x="2752640" y="3502404"/>
              <a:ext cx="771087" cy="1249960"/>
            </a:xfrm>
            <a:prstGeom prst="roundRect">
              <a:avLst/>
            </a:prstGeom>
            <a:solidFill>
              <a:srgbClr val="EEE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Regarding runtime failures, I can...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Q5</a:t>
              </a:r>
            </a:p>
          </p:txBody>
        </p:sp>
      </p:grpSp>
      <p:sp>
        <p:nvSpPr>
          <p:cNvPr id="97"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8"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CHALLENGE</a:t>
            </a:r>
          </a:p>
        </p:txBody>
      </p:sp>
      <p:sp>
        <p:nvSpPr>
          <p:cNvPr id="99"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0"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102" name="skill-template-footer-page-number"/>
          <p:cNvSpPr txBox="1"/>
          <p:nvPr/>
        </p:nvSpPr>
        <p:spPr>
          <a:xfrm>
            <a:off x="11077575" y="6515100"/>
            <a:ext cx="13335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28</a:t>
            </a:r>
          </a:p>
        </p:txBody>
      </p:sp>
      <p:pic>
        <p:nvPicPr>
          <p:cNvPr id="103" name="skill-template-nju-logo" descr="template-title-footer-logo-from-template.png"/>
          <p:cNvPicPr>
            <a:picLocks noChangeAspect="1"/>
          </p:cNvPicPr>
          <p:nvPr/>
        </p:nvPicPr>
        <p:blipFill>
          <a:blip r:embed="rId3"/>
          <a:stretch>
            <a:fillRect/>
          </a:stretch>
        </p:blipFill>
        <p:spPr>
          <a:xfrm>
            <a:off x="9639300" y="354718"/>
            <a:ext cx="1571625" cy="48118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ounded Rectangle 35"/>
          <p:cNvSpPr/>
          <p:nvPr/>
        </p:nvSpPr>
        <p:spPr>
          <a:xfrm>
            <a:off x="5425359" y="3140900"/>
            <a:ext cx="653643" cy="107379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2" name="Title 1"/>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dirty="0">
                <a:solidFill>
                  <a:srgbClr val="17131F"/>
                </a:solidFill>
                <a:latin typeface="PingFang SC" panose="020B0400000000000000" charset="-122"/>
              </a:rPr>
              <a:t>Challenge: Workload Imbalance</a:t>
            </a:r>
          </a:p>
        </p:txBody>
      </p:sp>
      <p:sp>
        <p:nvSpPr>
          <p:cNvPr id="31" name="Rounded Rectangle 30"/>
          <p:cNvSpPr/>
          <p:nvPr/>
        </p:nvSpPr>
        <p:spPr>
          <a:xfrm>
            <a:off x="5441256" y="1817535"/>
            <a:ext cx="3208789" cy="107379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34" name="Right Arrow 33"/>
          <p:cNvSpPr/>
          <p:nvPr/>
        </p:nvSpPr>
        <p:spPr>
          <a:xfrm>
            <a:off x="4810249" y="3022565"/>
            <a:ext cx="394282" cy="679508"/>
          </a:xfrm>
          <a:prstGeom prst="rightArrow">
            <a:avLst/>
          </a:prstGeom>
          <a:solidFill>
            <a:schemeClr val="tx2">
              <a:lumMod val="50000"/>
              <a:lumOff val="5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5585975" y="3304488"/>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Rounded Rectangle 36"/>
          <p:cNvSpPr/>
          <p:nvPr/>
        </p:nvSpPr>
        <p:spPr>
          <a:xfrm>
            <a:off x="6176872" y="3140900"/>
            <a:ext cx="1705763" cy="107379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39" name="Rounded Rectangle 38"/>
          <p:cNvSpPr/>
          <p:nvPr/>
        </p:nvSpPr>
        <p:spPr>
          <a:xfrm>
            <a:off x="7980505" y="3140899"/>
            <a:ext cx="653643" cy="1463040"/>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41" name="Rectangle 40"/>
          <p:cNvSpPr/>
          <p:nvPr/>
        </p:nvSpPr>
        <p:spPr>
          <a:xfrm>
            <a:off x="5585975" y="3726926"/>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Rectangle 41"/>
          <p:cNvSpPr/>
          <p:nvPr/>
        </p:nvSpPr>
        <p:spPr>
          <a:xfrm>
            <a:off x="6070960" y="2403286"/>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6891690" y="1991021"/>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6070960" y="1991022"/>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Rectangle 44"/>
          <p:cNvSpPr/>
          <p:nvPr/>
        </p:nvSpPr>
        <p:spPr>
          <a:xfrm>
            <a:off x="6481325" y="1991021"/>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Rectangle 45"/>
          <p:cNvSpPr/>
          <p:nvPr/>
        </p:nvSpPr>
        <p:spPr>
          <a:xfrm>
            <a:off x="7299789" y="1991021"/>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Rectangle 46"/>
          <p:cNvSpPr/>
          <p:nvPr/>
        </p:nvSpPr>
        <p:spPr>
          <a:xfrm>
            <a:off x="7707888" y="1991020"/>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Rectangle 50"/>
          <p:cNvSpPr/>
          <p:nvPr/>
        </p:nvSpPr>
        <p:spPr>
          <a:xfrm>
            <a:off x="6481325" y="2403286"/>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ectangle 51"/>
          <p:cNvSpPr/>
          <p:nvPr/>
        </p:nvSpPr>
        <p:spPr>
          <a:xfrm>
            <a:off x="6891690" y="2403286"/>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Rectangle 52"/>
          <p:cNvSpPr/>
          <p:nvPr/>
        </p:nvSpPr>
        <p:spPr>
          <a:xfrm>
            <a:off x="7302055" y="2403286"/>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Rectangle 53"/>
          <p:cNvSpPr/>
          <p:nvPr/>
        </p:nvSpPr>
        <p:spPr>
          <a:xfrm>
            <a:off x="7705600" y="2403285"/>
            <a:ext cx="326820" cy="327169"/>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TextBox 54"/>
          <p:cNvSpPr txBox="1"/>
          <p:nvPr/>
        </p:nvSpPr>
        <p:spPr>
          <a:xfrm>
            <a:off x="6516498" y="1384190"/>
            <a:ext cx="105830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KV Cache</a:t>
            </a:r>
          </a:p>
        </p:txBody>
      </p:sp>
      <p:sp>
        <p:nvSpPr>
          <p:cNvPr id="56" name="TextBox 55"/>
          <p:cNvSpPr txBox="1"/>
          <p:nvPr/>
        </p:nvSpPr>
        <p:spPr>
          <a:xfrm>
            <a:off x="2188420" y="1384191"/>
            <a:ext cx="103406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Requests</a:t>
            </a:r>
          </a:p>
        </p:txBody>
      </p:sp>
      <p:sp>
        <p:nvSpPr>
          <p:cNvPr id="57" name="Rectangle 56"/>
          <p:cNvSpPr/>
          <p:nvPr/>
        </p:nvSpPr>
        <p:spPr>
          <a:xfrm>
            <a:off x="6463741" y="3312877"/>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8" name="Rectangle 57"/>
          <p:cNvSpPr/>
          <p:nvPr/>
        </p:nvSpPr>
        <p:spPr>
          <a:xfrm>
            <a:off x="6865385" y="3312877"/>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Rectangle 58"/>
          <p:cNvSpPr/>
          <p:nvPr/>
        </p:nvSpPr>
        <p:spPr>
          <a:xfrm>
            <a:off x="7267029" y="3312877"/>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Rectangle 59"/>
          <p:cNvSpPr/>
          <p:nvPr/>
        </p:nvSpPr>
        <p:spPr>
          <a:xfrm>
            <a:off x="6463741" y="3725141"/>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Rectangle 60"/>
          <p:cNvSpPr/>
          <p:nvPr/>
        </p:nvSpPr>
        <p:spPr>
          <a:xfrm>
            <a:off x="6865385" y="3725141"/>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Rectangle 61"/>
          <p:cNvSpPr/>
          <p:nvPr/>
        </p:nvSpPr>
        <p:spPr>
          <a:xfrm>
            <a:off x="7267029" y="3725141"/>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Rectangle 62"/>
          <p:cNvSpPr/>
          <p:nvPr/>
        </p:nvSpPr>
        <p:spPr>
          <a:xfrm>
            <a:off x="8143916" y="3288602"/>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4" name="Rectangle 63"/>
          <p:cNvSpPr/>
          <p:nvPr/>
        </p:nvSpPr>
        <p:spPr>
          <a:xfrm>
            <a:off x="8143916" y="3702073"/>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Rectangle 64"/>
          <p:cNvSpPr/>
          <p:nvPr/>
        </p:nvSpPr>
        <p:spPr>
          <a:xfrm>
            <a:off x="8143916" y="4115544"/>
            <a:ext cx="326820" cy="327169"/>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Rounded Rectangle 65"/>
          <p:cNvSpPr/>
          <p:nvPr/>
        </p:nvSpPr>
        <p:spPr>
          <a:xfrm>
            <a:off x="6174261" y="4442713"/>
            <a:ext cx="653643" cy="107379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67" name="Rounded Rectangle 66"/>
          <p:cNvSpPr/>
          <p:nvPr/>
        </p:nvSpPr>
        <p:spPr>
          <a:xfrm>
            <a:off x="6932232" y="4444603"/>
            <a:ext cx="939921" cy="1071901"/>
          </a:xfrm>
          <a:prstGeom prst="roundRect">
            <a:avLst/>
          </a:prstGeom>
          <a:solidFill>
            <a:schemeClr val="bg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w="0">
                <a:noFill/>
              </a:ln>
              <a:solidFill>
                <a:prstClr val="black"/>
              </a:solidFill>
              <a:effectLst/>
              <a:uLnTx/>
              <a:uFillTx/>
              <a:latin typeface="Calibri"/>
              <a:ea typeface="+mn-ea"/>
              <a:cs typeface="+mn-cs"/>
            </a:endParaRPr>
          </a:p>
        </p:txBody>
      </p:sp>
      <p:sp>
        <p:nvSpPr>
          <p:cNvPr id="68" name="Rectangle 67"/>
          <p:cNvSpPr/>
          <p:nvPr/>
        </p:nvSpPr>
        <p:spPr>
          <a:xfrm>
            <a:off x="6337672" y="4603939"/>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Rectangle 68"/>
          <p:cNvSpPr/>
          <p:nvPr/>
        </p:nvSpPr>
        <p:spPr>
          <a:xfrm>
            <a:off x="6337672" y="5011070"/>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0" name="Rectangle 69"/>
          <p:cNvSpPr/>
          <p:nvPr/>
        </p:nvSpPr>
        <p:spPr>
          <a:xfrm>
            <a:off x="7036552" y="4603939"/>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1" name="Rectangle 70"/>
          <p:cNvSpPr/>
          <p:nvPr/>
        </p:nvSpPr>
        <p:spPr>
          <a:xfrm>
            <a:off x="7036552" y="5011070"/>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Rectangle 71"/>
          <p:cNvSpPr/>
          <p:nvPr/>
        </p:nvSpPr>
        <p:spPr>
          <a:xfrm>
            <a:off x="7434996" y="4603939"/>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3" name="Rectangle 72"/>
          <p:cNvSpPr/>
          <p:nvPr/>
        </p:nvSpPr>
        <p:spPr>
          <a:xfrm>
            <a:off x="7434996" y="5011070"/>
            <a:ext cx="326820" cy="32716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4" name="Right Arrow 73"/>
          <p:cNvSpPr/>
          <p:nvPr/>
        </p:nvSpPr>
        <p:spPr>
          <a:xfrm>
            <a:off x="8797197" y="3022565"/>
            <a:ext cx="394282" cy="679508"/>
          </a:xfrm>
          <a:prstGeom prst="rightArrow">
            <a:avLst/>
          </a:prstGeom>
          <a:solidFill>
            <a:schemeClr val="tx2">
              <a:lumMod val="50000"/>
              <a:lumOff val="5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74"/>
          <p:cNvSpPr txBox="1"/>
          <p:nvPr/>
        </p:nvSpPr>
        <p:spPr>
          <a:xfrm>
            <a:off x="9970804" y="1384190"/>
            <a:ext cx="104227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GPU SMs</a:t>
            </a:r>
          </a:p>
        </p:txBody>
      </p:sp>
      <p:sp>
        <p:nvSpPr>
          <p:cNvPr id="76" name="Rectangle 75"/>
          <p:cNvSpPr/>
          <p:nvPr/>
        </p:nvSpPr>
        <p:spPr>
          <a:xfrm>
            <a:off x="10012295" y="3420752"/>
            <a:ext cx="169185" cy="277000"/>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Rectangle 76"/>
          <p:cNvSpPr/>
          <p:nvPr/>
        </p:nvSpPr>
        <p:spPr>
          <a:xfrm>
            <a:off x="10659346" y="3434849"/>
            <a:ext cx="169185" cy="269766"/>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ectangle 77"/>
          <p:cNvSpPr/>
          <p:nvPr/>
        </p:nvSpPr>
        <p:spPr>
          <a:xfrm>
            <a:off x="10228514" y="3295325"/>
            <a:ext cx="169185" cy="406748"/>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Rectangle 78"/>
          <p:cNvSpPr/>
          <p:nvPr/>
        </p:nvSpPr>
        <p:spPr>
          <a:xfrm>
            <a:off x="10447197" y="3295325"/>
            <a:ext cx="169185" cy="406748"/>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0" name="Rectangle 79"/>
          <p:cNvSpPr/>
          <p:nvPr/>
        </p:nvSpPr>
        <p:spPr>
          <a:xfrm>
            <a:off x="11082947" y="3434849"/>
            <a:ext cx="169185" cy="270186"/>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Rectangle 80"/>
          <p:cNvSpPr/>
          <p:nvPr/>
        </p:nvSpPr>
        <p:spPr>
          <a:xfrm>
            <a:off x="11294399" y="3431232"/>
            <a:ext cx="169185" cy="27699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5" name="TextBox 84"/>
          <p:cNvSpPr txBox="1"/>
          <p:nvPr/>
        </p:nvSpPr>
        <p:spPr>
          <a:xfrm>
            <a:off x="10743938" y="3102926"/>
            <a:ext cx="909223"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Calibri"/>
                <a:ea typeface="+mn-ea"/>
                <a:cs typeface="+mn-cs"/>
              </a:rPr>
              <a:t>Balanced!</a:t>
            </a:r>
          </a:p>
        </p:txBody>
      </p:sp>
      <p:cxnSp>
        <p:nvCxnSpPr>
          <p:cNvPr id="87" name="Straight Arrow Connector 86"/>
          <p:cNvCxnSpPr>
            <a:stCxn id="31" idx="2"/>
            <a:endCxn id="36" idx="0"/>
          </p:cNvCxnSpPr>
          <p:nvPr/>
        </p:nvCxnSpPr>
        <p:spPr>
          <a:xfrm flipH="1">
            <a:off x="5752181" y="2891326"/>
            <a:ext cx="1293470" cy="249574"/>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90" name="Straight Arrow Connector 89"/>
          <p:cNvCxnSpPr>
            <a:stCxn id="31" idx="2"/>
            <a:endCxn id="37" idx="0"/>
          </p:cNvCxnSpPr>
          <p:nvPr/>
        </p:nvCxnSpPr>
        <p:spPr>
          <a:xfrm flipH="1">
            <a:off x="7029754" y="2891326"/>
            <a:ext cx="15897" cy="249574"/>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a:stCxn id="31" idx="2"/>
            <a:endCxn id="39" idx="0"/>
          </p:cNvCxnSpPr>
          <p:nvPr/>
        </p:nvCxnSpPr>
        <p:spPr>
          <a:xfrm>
            <a:off x="7045651" y="2891326"/>
            <a:ext cx="1261676" cy="249573"/>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37" idx="2"/>
            <a:endCxn id="66" idx="0"/>
          </p:cNvCxnSpPr>
          <p:nvPr/>
        </p:nvCxnSpPr>
        <p:spPr>
          <a:xfrm flipH="1">
            <a:off x="6501083" y="4214691"/>
            <a:ext cx="528671" cy="228022"/>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a:stCxn id="37" idx="2"/>
            <a:endCxn id="67" idx="0"/>
          </p:cNvCxnSpPr>
          <p:nvPr/>
        </p:nvCxnSpPr>
        <p:spPr>
          <a:xfrm>
            <a:off x="7029754" y="4214691"/>
            <a:ext cx="372439" cy="229912"/>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Connector 3"/>
          <p:cNvCxnSpPr/>
          <p:nvPr/>
        </p:nvCxnSpPr>
        <p:spPr>
          <a:xfrm>
            <a:off x="6439359" y="1916247"/>
            <a:ext cx="0" cy="907471"/>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p:cNvCxnSpPr/>
          <p:nvPr/>
        </p:nvCxnSpPr>
        <p:spPr>
          <a:xfrm>
            <a:off x="6848930" y="1920293"/>
            <a:ext cx="0" cy="907471"/>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Straight Connector 8"/>
          <p:cNvCxnSpPr/>
          <p:nvPr/>
        </p:nvCxnSpPr>
        <p:spPr>
          <a:xfrm>
            <a:off x="7258501" y="1924339"/>
            <a:ext cx="0" cy="907471"/>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p:cNvCxnSpPr/>
          <p:nvPr/>
        </p:nvCxnSpPr>
        <p:spPr>
          <a:xfrm>
            <a:off x="7668072" y="1928385"/>
            <a:ext cx="0" cy="907471"/>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Connector 11"/>
          <p:cNvCxnSpPr/>
          <p:nvPr/>
        </p:nvCxnSpPr>
        <p:spPr>
          <a:xfrm>
            <a:off x="7398147" y="4541150"/>
            <a:ext cx="0" cy="907471"/>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Rectangle 13"/>
          <p:cNvSpPr/>
          <p:nvPr/>
        </p:nvSpPr>
        <p:spPr>
          <a:xfrm>
            <a:off x="11505851" y="3431876"/>
            <a:ext cx="169185" cy="276999"/>
          </a:xfrm>
          <a:prstGeom prst="rect">
            <a:avLst/>
          </a:prstGeom>
          <a:solidFill>
            <a:srgbClr val="EEEED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9785375" y="3420752"/>
            <a:ext cx="169185" cy="277000"/>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9569002" y="3420752"/>
            <a:ext cx="169185" cy="277000"/>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10871495" y="3434849"/>
            <a:ext cx="169185" cy="269766"/>
          </a:xfrm>
          <a:prstGeom prst="rect">
            <a:avLst/>
          </a:prstGeom>
          <a:solidFill>
            <a:srgbClr val="8FBC8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8" name="Straight Connector 17"/>
          <p:cNvCxnSpPr/>
          <p:nvPr/>
        </p:nvCxnSpPr>
        <p:spPr>
          <a:xfrm>
            <a:off x="6322683" y="3681259"/>
            <a:ext cx="1437085"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3" name="Straight Connector 82"/>
          <p:cNvCxnSpPr/>
          <p:nvPr/>
        </p:nvCxnSpPr>
        <p:spPr>
          <a:xfrm>
            <a:off x="9278340" y="3420752"/>
            <a:ext cx="2521776" cy="1048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Rectangle 2"/>
          <p:cNvSpPr/>
          <p:nvPr/>
        </p:nvSpPr>
        <p:spPr>
          <a:xfrm>
            <a:off x="9357821" y="3420752"/>
            <a:ext cx="169185" cy="277000"/>
          </a:xfrm>
          <a:prstGeom prst="rect">
            <a:avLst/>
          </a:prstGeom>
          <a:solidFill>
            <a:srgbClr val="BCD2EE"/>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7"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8"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CHALLENGE</a:t>
            </a:r>
          </a:p>
        </p:txBody>
      </p:sp>
      <p:sp>
        <p:nvSpPr>
          <p:cNvPr id="99"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0"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102" name="skill-template-footer-page-number"/>
          <p:cNvSpPr txBox="1"/>
          <p:nvPr/>
        </p:nvSpPr>
        <p:spPr>
          <a:xfrm>
            <a:off x="11084560" y="6515100"/>
            <a:ext cx="126365"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29</a:t>
            </a:r>
          </a:p>
        </p:txBody>
      </p:sp>
      <p:pic>
        <p:nvPicPr>
          <p:cNvPr id="103" name="skill-template-nju-logo" descr="template-title-footer-logo-from-template.png"/>
          <p:cNvPicPr>
            <a:picLocks noChangeAspect="1"/>
          </p:cNvPicPr>
          <p:nvPr/>
        </p:nvPicPr>
        <p:blipFill>
          <a:blip r:embed="rId3"/>
          <a:stretch>
            <a:fillRect/>
          </a:stretch>
        </p:blipFill>
        <p:spPr>
          <a:xfrm>
            <a:off x="9639300" y="354718"/>
            <a:ext cx="1571625" cy="481189"/>
          </a:xfrm>
          <a:prstGeom prst="rect">
            <a:avLst/>
          </a:prstGeom>
        </p:spPr>
      </p:pic>
      <p:grpSp>
        <p:nvGrpSpPr>
          <p:cNvPr id="7" name="Group 2"/>
          <p:cNvGrpSpPr/>
          <p:nvPr/>
        </p:nvGrpSpPr>
        <p:grpSpPr>
          <a:xfrm>
            <a:off x="850900" y="1795145"/>
            <a:ext cx="3733800" cy="3327400"/>
            <a:chOff x="838200" y="1425140"/>
            <a:chExt cx="3733800" cy="3327224"/>
          </a:xfrm>
        </p:grpSpPr>
        <p:sp>
          <p:nvSpPr>
            <p:cNvPr id="11" name="Rounded Rectangle 3"/>
            <p:cNvSpPr/>
            <p:nvPr/>
          </p:nvSpPr>
          <p:spPr>
            <a:xfrm>
              <a:off x="838200" y="1425140"/>
              <a:ext cx="3733800" cy="1250884"/>
            </a:xfrm>
            <a:prstGeom prst="roundRect">
              <a:avLst/>
            </a:prstGeom>
            <a:solidFill>
              <a:srgbClr val="BCD2EE">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noFill/>
                  </a:ln>
                  <a:solidFill>
                    <a:prstClr val="black"/>
                  </a:solidFill>
                  <a:effectLst/>
                  <a:uLnTx/>
                  <a:uFillTx/>
                  <a:latin typeface="Calibri"/>
                  <a:ea typeface="+mn-ea"/>
                  <a:cs typeface="+mn-cs"/>
                </a:rPr>
                <a:t>Welcome to our computer support system. Here we handle a wide range of computer-related issues.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noFill/>
                  </a:ln>
                  <a:solidFill>
                    <a:prstClr val="black"/>
                  </a:solidFill>
                  <a:effectLst/>
                  <a:uLnTx/>
                  <a:uFillTx/>
                  <a:latin typeface="Calibri"/>
                  <a:ea typeface="+mn-ea"/>
                  <a:cs typeface="+mn-cs"/>
                </a:rPr>
                <a:t>Whether it's about software, hardware, networking or data management, we'll provide you with the necessary guidance...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noFill/>
                  </a:ln>
                  <a:solidFill>
                    <a:prstClr val="black"/>
                  </a:solidFill>
                  <a:effectLst/>
                  <a:uLnTx/>
                  <a:uFillTx/>
                  <a:latin typeface="Calibri"/>
                  <a:ea typeface="+mn-ea"/>
                  <a:cs typeface="+mn-cs"/>
                </a:rPr>
                <a:t>Document</a:t>
              </a:r>
            </a:p>
          </p:txBody>
        </p:sp>
        <p:sp>
          <p:nvSpPr>
            <p:cNvPr id="13" name="Rounded Rectangle 4"/>
            <p:cNvSpPr/>
            <p:nvPr/>
          </p:nvSpPr>
          <p:spPr>
            <a:xfrm>
              <a:off x="838200" y="2749492"/>
              <a:ext cx="1007377" cy="679508"/>
            </a:xfrm>
            <a:prstGeom prst="roundRect">
              <a:avLst/>
            </a:prstGeom>
            <a:solidFill>
              <a:srgbClr val="8FBC8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How can I remove this app?      Q1</a:t>
              </a:r>
            </a:p>
          </p:txBody>
        </p:sp>
        <p:sp>
          <p:nvSpPr>
            <p:cNvPr id="19" name="Rounded Rectangle 6"/>
            <p:cNvSpPr/>
            <p:nvPr/>
          </p:nvSpPr>
          <p:spPr>
            <a:xfrm>
              <a:off x="1921779" y="2749492"/>
              <a:ext cx="1584820" cy="679508"/>
            </a:xfrm>
            <a:prstGeom prst="roundRect">
              <a:avLst/>
            </a:prstGeom>
            <a:solidFill>
              <a:srgbClr val="8FBC8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Here are basic rules and ways for various software issues...  Q2</a:t>
              </a:r>
            </a:p>
          </p:txBody>
        </p:sp>
        <p:sp>
          <p:nvSpPr>
            <p:cNvPr id="20" name="Rounded Rectangle 7"/>
            <p:cNvSpPr/>
            <p:nvPr/>
          </p:nvSpPr>
          <p:spPr>
            <a:xfrm>
              <a:off x="3582801" y="2749492"/>
              <a:ext cx="989199" cy="1432421"/>
            </a:xfrm>
            <a:prstGeom prst="roundRect">
              <a:avLst/>
            </a:prstGeom>
            <a:solidFill>
              <a:srgbClr val="8FBC8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My laptop battery is draining very fast. What's wrong with it?      Q3</a:t>
              </a:r>
            </a:p>
          </p:txBody>
        </p:sp>
        <p:sp>
          <p:nvSpPr>
            <p:cNvPr id="23" name="Rounded Rectangle 8"/>
            <p:cNvSpPr/>
            <p:nvPr/>
          </p:nvSpPr>
          <p:spPr>
            <a:xfrm>
              <a:off x="1921779" y="3502404"/>
              <a:ext cx="771087" cy="801148"/>
            </a:xfrm>
            <a:prstGeom prst="roundRect">
              <a:avLst/>
            </a:prstGeom>
            <a:solidFill>
              <a:srgbClr val="EEE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How to install my app.</a:t>
              </a:r>
              <a:br>
                <a:rPr kumimoji="0" lang="en-US" sz="12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Q4</a:t>
              </a:r>
            </a:p>
          </p:txBody>
        </p:sp>
        <p:sp>
          <p:nvSpPr>
            <p:cNvPr id="24" name="Rounded Rectangle 9"/>
            <p:cNvSpPr/>
            <p:nvPr/>
          </p:nvSpPr>
          <p:spPr>
            <a:xfrm>
              <a:off x="2752640" y="3502404"/>
              <a:ext cx="771087" cy="1249960"/>
            </a:xfrm>
            <a:prstGeom prst="roundRect">
              <a:avLst/>
            </a:prstGeom>
            <a:solidFill>
              <a:srgbClr val="EEE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Regarding runtime failures, I can...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Q5</a:t>
              </a: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utline-title"/>
          <p:cNvSpPr txBox="1"/>
          <p:nvPr/>
        </p:nvSpPr>
        <p:spPr>
          <a:xfrm>
            <a:off x="552450" y="361950"/>
            <a:ext cx="8763000" cy="609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450" b="1" i="0" u="none" strike="noStrike" kern="1200" cap="none" spc="0" normalizeH="0" baseline="0" noProof="0">
                <a:ln>
                  <a:noFill/>
                </a:ln>
                <a:solidFill>
                  <a:srgbClr val="17131F"/>
                </a:solidFill>
                <a:effectLst/>
                <a:uLnTx/>
                <a:uFillTx/>
                <a:latin typeface="PingFang SC" panose="020B0400000000000000" charset="-122"/>
                <a:ea typeface="+mn-ea"/>
                <a:cs typeface="+mn-cs"/>
              </a:rPr>
              <a:t>Outline</a:t>
            </a:r>
          </a:p>
        </p:txBody>
      </p:sp>
      <p:pic>
        <p:nvPicPr>
          <p:cNvPr id="3" name="outline-nju-logo" descr="image.png"/>
          <p:cNvPicPr>
            <a:picLocks noChangeAspect="1"/>
          </p:cNvPicPr>
          <p:nvPr/>
        </p:nvPicPr>
        <p:blipFill>
          <a:blip r:embed="rId2"/>
          <a:stretch>
            <a:fillRect/>
          </a:stretch>
        </p:blipFill>
        <p:spPr>
          <a:xfrm>
            <a:off x="9639300" y="381000"/>
            <a:ext cx="1571625" cy="481012"/>
          </a:xfrm>
          <a:prstGeom prst="rect">
            <a:avLst/>
          </a:prstGeom>
        </p:spPr>
      </p:pic>
      <p:sp>
        <p:nvSpPr>
          <p:cNvPr id="4" name="outline-top-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outline-section-1-card"/>
          <p:cNvSpPr/>
          <p:nvPr/>
        </p:nvSpPr>
        <p:spPr>
          <a:xfrm>
            <a:off x="781049" y="1619250"/>
            <a:ext cx="10429875"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outline-section-1-accent"/>
          <p:cNvSpPr/>
          <p:nvPr/>
        </p:nvSpPr>
        <p:spPr>
          <a:xfrm>
            <a:off x="781050" y="16192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outline-section-1-index"/>
          <p:cNvSpPr txBox="1"/>
          <p:nvPr/>
        </p:nvSpPr>
        <p:spPr>
          <a:xfrm>
            <a:off x="1085850" y="17811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01</a:t>
            </a:r>
          </a:p>
        </p:txBody>
      </p:sp>
      <p:sp>
        <p:nvSpPr>
          <p:cNvPr id="8" name="outline-section-1-title"/>
          <p:cNvSpPr txBox="1"/>
          <p:nvPr/>
        </p:nvSpPr>
        <p:spPr>
          <a:xfrm>
            <a:off x="1771650" y="17335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Motivation</a:t>
            </a:r>
          </a:p>
        </p:txBody>
      </p:sp>
      <p:sp>
        <p:nvSpPr>
          <p:cNvPr id="9" name="outline-section-1-description"/>
          <p:cNvSpPr txBox="1"/>
          <p:nvPr/>
        </p:nvSpPr>
        <p:spPr>
          <a:xfrm>
            <a:off x="5143500" y="17621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Long-context serving, prefix sharing, and decode memory bottlenecks</a:t>
            </a:r>
          </a:p>
        </p:txBody>
      </p:sp>
      <p:sp>
        <p:nvSpPr>
          <p:cNvPr id="10" name="outline-section-2-card"/>
          <p:cNvSpPr/>
          <p:nvPr/>
        </p:nvSpPr>
        <p:spPr>
          <a:xfrm>
            <a:off x="781050" y="2495550"/>
            <a:ext cx="10429874"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outline-section-2-accent"/>
          <p:cNvSpPr/>
          <p:nvPr/>
        </p:nvSpPr>
        <p:spPr>
          <a:xfrm>
            <a:off x="781050" y="24955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utline-section-2-index"/>
          <p:cNvSpPr txBox="1"/>
          <p:nvPr/>
        </p:nvSpPr>
        <p:spPr>
          <a:xfrm>
            <a:off x="1085850" y="26574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02</a:t>
            </a:r>
          </a:p>
        </p:txBody>
      </p:sp>
      <p:sp>
        <p:nvSpPr>
          <p:cNvPr id="13" name="outline-section-2-title"/>
          <p:cNvSpPr txBox="1"/>
          <p:nvPr/>
        </p:nvSpPr>
        <p:spPr>
          <a:xfrm>
            <a:off x="1771650" y="26098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Insight &amp; Challenges</a:t>
            </a:r>
          </a:p>
        </p:txBody>
      </p:sp>
      <p:sp>
        <p:nvSpPr>
          <p:cNvPr id="14" name="outline-section-2-description"/>
          <p:cNvSpPr txBox="1"/>
          <p:nvPr/>
        </p:nvSpPr>
        <p:spPr>
          <a:xfrm>
            <a:off x="5143500" y="26384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Shared-prefix reuse, dependency organization, and load balancing</a:t>
            </a:r>
          </a:p>
        </p:txBody>
      </p:sp>
      <p:sp>
        <p:nvSpPr>
          <p:cNvPr id="15" name="outline-section-3-card"/>
          <p:cNvSpPr/>
          <p:nvPr/>
        </p:nvSpPr>
        <p:spPr>
          <a:xfrm>
            <a:off x="781050" y="3371850"/>
            <a:ext cx="10429874" cy="666750"/>
          </a:xfrm>
          <a:prstGeom prst="rect">
            <a:avLst/>
          </a:prstGeom>
          <a:solidFill>
            <a:srgbClr val="4B1D78"/>
          </a:solidFill>
          <a:ln w="11430">
            <a:solidFill>
              <a:srgbClr val="4B1D7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utline-section-3-accent"/>
          <p:cNvSpPr/>
          <p:nvPr/>
        </p:nvSpPr>
        <p:spPr>
          <a:xfrm>
            <a:off x="781050" y="3371850"/>
            <a:ext cx="76200" cy="66675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utline-section-3-index"/>
          <p:cNvSpPr txBox="1"/>
          <p:nvPr/>
        </p:nvSpPr>
        <p:spPr>
          <a:xfrm>
            <a:off x="1085850" y="35337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4D7"/>
                </a:solidFill>
                <a:effectLst/>
                <a:uLnTx/>
                <a:uFillTx/>
                <a:latin typeface="PingFang SC" panose="020B0400000000000000" charset="-122"/>
                <a:ea typeface="+mn-ea"/>
                <a:cs typeface="+mn-cs"/>
              </a:rPr>
              <a:t>03</a:t>
            </a:r>
          </a:p>
        </p:txBody>
      </p:sp>
      <p:sp>
        <p:nvSpPr>
          <p:cNvPr id="18" name="outline-section-3-title"/>
          <p:cNvSpPr txBox="1"/>
          <p:nvPr/>
        </p:nvSpPr>
        <p:spPr>
          <a:xfrm>
            <a:off x="1771650" y="34861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PingFang SC" panose="020B0400000000000000" charset="-122"/>
                <a:ea typeface="+mn-ea"/>
                <a:cs typeface="+mn-cs"/>
              </a:rPr>
              <a:t>CoDec Design</a:t>
            </a:r>
          </a:p>
        </p:txBody>
      </p:sp>
      <p:sp>
        <p:nvSpPr>
          <p:cNvPr id="19" name="outline-section-3-description"/>
          <p:cNvSpPr txBox="1"/>
          <p:nvPr/>
        </p:nvSpPr>
        <p:spPr>
          <a:xfrm>
            <a:off x="5143500" y="35147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FFFFFF"/>
                </a:solidFill>
                <a:effectLst/>
                <a:uLnTx/>
                <a:uFillTx/>
                <a:latin typeface="PingFang SC" panose="020B0400000000000000" charset="-122"/>
                <a:ea typeface="+mn-ea"/>
                <a:cs typeface="+mn-cs"/>
              </a:rPr>
              <a:t>Prefix-tree planning, task division, and attention kernel</a:t>
            </a:r>
          </a:p>
        </p:txBody>
      </p:sp>
      <p:sp>
        <p:nvSpPr>
          <p:cNvPr id="20" name="outline-section-4-card"/>
          <p:cNvSpPr/>
          <p:nvPr/>
        </p:nvSpPr>
        <p:spPr>
          <a:xfrm>
            <a:off x="781050" y="4248150"/>
            <a:ext cx="10429874"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outline-section-4-accent"/>
          <p:cNvSpPr/>
          <p:nvPr/>
        </p:nvSpPr>
        <p:spPr>
          <a:xfrm>
            <a:off x="781050" y="42481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outline-section-4-index"/>
          <p:cNvSpPr txBox="1"/>
          <p:nvPr/>
        </p:nvSpPr>
        <p:spPr>
          <a:xfrm>
            <a:off x="1085850" y="44100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04</a:t>
            </a:r>
          </a:p>
        </p:txBody>
      </p:sp>
      <p:sp>
        <p:nvSpPr>
          <p:cNvPr id="23" name="outline-section-4-title"/>
          <p:cNvSpPr txBox="1"/>
          <p:nvPr/>
        </p:nvSpPr>
        <p:spPr>
          <a:xfrm>
            <a:off x="1771650" y="43624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Evaluation &amp; Takeaways</a:t>
            </a:r>
          </a:p>
        </p:txBody>
      </p:sp>
      <p:sp>
        <p:nvSpPr>
          <p:cNvPr id="24" name="outline-section-4-description"/>
          <p:cNvSpPr txBox="1"/>
          <p:nvPr/>
        </p:nvSpPr>
        <p:spPr>
          <a:xfrm>
            <a:off x="5143500" y="43910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Throughput gains, ablations, and applicability</a:t>
            </a:r>
          </a:p>
        </p:txBody>
      </p:sp>
      <p:sp>
        <p:nvSpPr>
          <p:cNvPr id="25" name="outline-current-card"/>
          <p:cNvSpPr/>
          <p:nvPr/>
        </p:nvSpPr>
        <p:spPr>
          <a:xfrm>
            <a:off x="781050" y="5353050"/>
            <a:ext cx="10429874" cy="533400"/>
          </a:xfrm>
          <a:prstGeom prst="rect">
            <a:avLst/>
          </a:prstGeom>
          <a:solidFill>
            <a:srgbClr val="FAF8FC"/>
          </a:solidFill>
          <a:ln w="1016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outline-current-label"/>
          <p:cNvSpPr txBox="1"/>
          <p:nvPr/>
        </p:nvSpPr>
        <p:spPr>
          <a:xfrm>
            <a:off x="1066800" y="5514975"/>
            <a:ext cx="1047750" cy="20955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Guiding Question</a:t>
            </a:r>
          </a:p>
        </p:txBody>
      </p:sp>
      <p:sp>
        <p:nvSpPr>
          <p:cNvPr id="27" name="outline-current-description"/>
          <p:cNvSpPr txBox="1"/>
          <p:nvPr/>
        </p:nvSpPr>
        <p:spPr>
          <a:xfrm>
            <a:off x="2381250" y="5476875"/>
            <a:ext cx="7762875" cy="28575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17131F"/>
                </a:solidFill>
                <a:effectLst/>
                <a:uLnTx/>
                <a:uFillTx/>
                <a:latin typeface="PingFang SC" panose="020B0400000000000000" charset="-122"/>
                <a:ea typeface="+mn-ea"/>
                <a:cs typeface="+mn-cs"/>
              </a:rPr>
              <a:t>How does CoDec turn a prefix tree into balanced GPU attention work?</a:t>
            </a:r>
          </a:p>
        </p:txBody>
      </p:sp>
      <p:sp>
        <p:nvSpPr>
          <p:cNvPr id="28" name="outline-footer-divider"/>
          <p:cNvSpPr/>
          <p:nvPr/>
        </p:nvSpPr>
        <p:spPr>
          <a:xfrm flipV="1">
            <a:off x="552451" y="6383656"/>
            <a:ext cx="10658474" cy="45719"/>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outline-footer-deck-name"/>
          <p:cNvSpPr txBox="1"/>
          <p:nvPr/>
        </p:nvSpPr>
        <p:spPr>
          <a:xfrm>
            <a:off x="552450" y="6534150"/>
            <a:ext cx="5905500" cy="228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30" name="outline-footer-page-number"/>
          <p:cNvSpPr txBox="1"/>
          <p:nvPr/>
        </p:nvSpPr>
        <p:spPr>
          <a:xfrm>
            <a:off x="10896600" y="6534150"/>
            <a:ext cx="13335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Aptos" panose="020B0400000000000000" charset="-122"/>
              </a:defRPr>
            </a:pPr>
            <a:r>
              <a:rPr lang="en-US" sz="2550" b="1" dirty="0" err="1">
                <a:solidFill>
                  <a:srgbClr val="17131F"/>
                </a:solidFill>
                <a:latin typeface="Aptos" panose="020B0400000000000000" charset="-122"/>
              </a:rPr>
              <a:t>CoDec</a:t>
            </a:r>
            <a:r>
              <a:rPr lang="en-US" sz="2550" b="1" dirty="0">
                <a:solidFill>
                  <a:srgbClr val="17131F"/>
                </a:solidFill>
                <a:latin typeface="Aptos" panose="020B0400000000000000" charset="-122"/>
              </a:rPr>
              <a:t>: Efficient Prefix-Aware Attention</a:t>
            </a:r>
          </a:p>
        </p:txBody>
      </p:sp>
      <p:pic>
        <p:nvPicPr>
          <p:cNvPr id="21" name="Content Placeholder 20"/>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a:xfrm>
            <a:off x="939247" y="1618054"/>
            <a:ext cx="10515601" cy="3719804"/>
          </a:xfrm>
        </p:spPr>
      </p:pic>
      <p:sp>
        <p:nvSpPr>
          <p:cNvPr id="22" name="TextBox 21"/>
          <p:cNvSpPr txBox="1"/>
          <p:nvPr/>
        </p:nvSpPr>
        <p:spPr>
          <a:xfrm>
            <a:off x="943029" y="5558643"/>
            <a:ext cx="3076420" cy="523220"/>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Organize Prefix Tree</a:t>
            </a:r>
          </a:p>
        </p:txBody>
      </p:sp>
      <p:sp>
        <p:nvSpPr>
          <p:cNvPr id="23" name="矩形 27"/>
          <p:cNvSpPr/>
          <p:nvPr/>
        </p:nvSpPr>
        <p:spPr>
          <a:xfrm>
            <a:off x="4071255" y="1277136"/>
            <a:ext cx="7545977" cy="4319511"/>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4" name="矩形 27"/>
          <p:cNvSpPr/>
          <p:nvPr/>
        </p:nvSpPr>
        <p:spPr>
          <a:xfrm>
            <a:off x="600890" y="3970010"/>
            <a:ext cx="3470365" cy="1449977"/>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5"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skill-template-section-label"/>
          <p:cNvSpPr txBox="1"/>
          <p:nvPr/>
        </p:nvSpPr>
        <p:spPr>
          <a:xfrm>
            <a:off x="704850" y="238125"/>
            <a:ext cx="238125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Aptos" panose="020B0400000000000000" charset="-122"/>
                <a:ea typeface="+mn-ea"/>
                <a:cs typeface="+mn-cs"/>
              </a:rPr>
              <a:t>CODEC DESIGN</a:t>
            </a:r>
          </a:p>
        </p:txBody>
      </p:sp>
      <p:sp>
        <p:nvSpPr>
          <p:cNvPr id="27"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skill-template-footer-deck-name"/>
          <p:cNvSpPr txBox="1"/>
          <p:nvPr/>
        </p:nvSpPr>
        <p:spPr>
          <a:xfrm>
            <a:off x="552450" y="6515100"/>
            <a:ext cx="590550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Aptos" panose="020B0400000000000000" charset="-122"/>
                <a:ea typeface="+mn-ea"/>
                <a:cs typeface="+mn-cs"/>
              </a:rPr>
              <a:t>CoDec | SIGMOD Research Talk</a:t>
            </a:r>
          </a:p>
        </p:txBody>
      </p:sp>
      <p:sp>
        <p:nvSpPr>
          <p:cNvPr id="30" name="skill-template-footer-page-number"/>
          <p:cNvSpPr txBox="1"/>
          <p:nvPr/>
        </p:nvSpPr>
        <p:spPr>
          <a:xfrm>
            <a:off x="10829925" y="6515100"/>
            <a:ext cx="381000" cy="209550"/>
          </a:xfrm>
          <a:prstGeom prst="rect">
            <a:avLst/>
          </a:prstGeom>
          <a:noFill/>
        </p:spPr>
        <p:txBody>
          <a:bodyPr wrap="none" lIns="0" tIns="0" rIns="0" bIns="0" anchor="t">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Aptos" panose="020B0400000000000000" charset="-122"/>
                <a:ea typeface="+mn-ea"/>
                <a:cs typeface="+mn-cs"/>
              </a:rPr>
              <a:t>31</a:t>
            </a:r>
          </a:p>
        </p:txBody>
      </p:sp>
      <p:pic>
        <p:nvPicPr>
          <p:cNvPr id="31" name="skill-template-nju-logo" descr="template-title-footer-logo-from-template.png"/>
          <p:cNvPicPr/>
          <p:nvPr/>
        </p:nvPicPr>
        <p:blipFill>
          <a:blip r:embed="rId4"/>
          <a:stretch>
            <a:fillRect/>
          </a:stretch>
        </p:blipFill>
        <p:spPr>
          <a:xfrm>
            <a:off x="9639300" y="354718"/>
            <a:ext cx="1571625" cy="48118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Aptos" panose="020B0400000000000000" charset="-122"/>
              </a:defRPr>
            </a:pPr>
            <a:r>
              <a:rPr lang="en-US" altLang="zh-CN" sz="2550" b="1" dirty="0" err="1">
                <a:solidFill>
                  <a:srgbClr val="17131F"/>
                </a:solidFill>
                <a:latin typeface="Aptos" panose="020B0400000000000000" charset="-122"/>
              </a:rPr>
              <a:t>CoDec</a:t>
            </a:r>
            <a:r>
              <a:rPr lang="en-US" altLang="zh-CN" sz="2550" b="1" dirty="0">
                <a:solidFill>
                  <a:srgbClr val="17131F"/>
                </a:solidFill>
                <a:latin typeface="Aptos" panose="020B0400000000000000" charset="-122"/>
              </a:rPr>
              <a:t>: </a:t>
            </a:r>
            <a:r>
              <a:rPr lang="en-US" sz="2550" b="1" dirty="0">
                <a:solidFill>
                  <a:srgbClr val="17131F"/>
                </a:solidFill>
                <a:latin typeface="Aptos" panose="020B0400000000000000" charset="-122"/>
              </a:rPr>
              <a:t>Efficient Prefix-Aware Attention</a:t>
            </a:r>
          </a:p>
        </p:txBody>
      </p:sp>
      <p:pic>
        <p:nvPicPr>
          <p:cNvPr id="21" name="Content Placeholder 20"/>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a:xfrm>
            <a:off x="939247" y="1618054"/>
            <a:ext cx="10515601" cy="3719804"/>
          </a:xfrm>
        </p:spPr>
      </p:pic>
      <p:sp>
        <p:nvSpPr>
          <p:cNvPr id="22" name="TextBox 21"/>
          <p:cNvSpPr txBox="1"/>
          <p:nvPr/>
        </p:nvSpPr>
        <p:spPr>
          <a:xfrm>
            <a:off x="4303311" y="5558643"/>
            <a:ext cx="3361818" cy="523220"/>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Divide Compute Tasks</a:t>
            </a:r>
          </a:p>
        </p:txBody>
      </p:sp>
      <p:sp>
        <p:nvSpPr>
          <p:cNvPr id="23" name="矩形 27"/>
          <p:cNvSpPr/>
          <p:nvPr/>
        </p:nvSpPr>
        <p:spPr>
          <a:xfrm>
            <a:off x="7489371" y="1277136"/>
            <a:ext cx="4136570" cy="4319511"/>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4" name="矩形 27"/>
          <p:cNvSpPr/>
          <p:nvPr/>
        </p:nvSpPr>
        <p:spPr>
          <a:xfrm>
            <a:off x="728443" y="1539848"/>
            <a:ext cx="3470365" cy="2349449"/>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5"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skill-template-section-label"/>
          <p:cNvSpPr txBox="1"/>
          <p:nvPr/>
        </p:nvSpPr>
        <p:spPr>
          <a:xfrm>
            <a:off x="704850" y="238125"/>
            <a:ext cx="238125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Aptos" panose="020B0400000000000000" charset="-122"/>
                <a:ea typeface="+mn-ea"/>
                <a:cs typeface="+mn-cs"/>
              </a:rPr>
              <a:t>CODEC DESIGN</a:t>
            </a:r>
          </a:p>
        </p:txBody>
      </p:sp>
      <p:sp>
        <p:nvSpPr>
          <p:cNvPr id="27"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skill-template-footer-deck-name"/>
          <p:cNvSpPr txBox="1"/>
          <p:nvPr/>
        </p:nvSpPr>
        <p:spPr>
          <a:xfrm>
            <a:off x="552450" y="6515100"/>
            <a:ext cx="590550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Aptos" panose="020B0400000000000000" charset="-122"/>
                <a:ea typeface="+mn-ea"/>
                <a:cs typeface="+mn-cs"/>
              </a:rPr>
              <a:t>CoDec | SIGMOD Research Talk</a:t>
            </a:r>
          </a:p>
        </p:txBody>
      </p:sp>
      <p:sp>
        <p:nvSpPr>
          <p:cNvPr id="30" name="skill-template-footer-page-number"/>
          <p:cNvSpPr txBox="1"/>
          <p:nvPr/>
        </p:nvSpPr>
        <p:spPr>
          <a:xfrm>
            <a:off x="10829925" y="6515100"/>
            <a:ext cx="381000" cy="209550"/>
          </a:xfrm>
          <a:prstGeom prst="rect">
            <a:avLst/>
          </a:prstGeom>
          <a:noFill/>
        </p:spPr>
        <p:txBody>
          <a:bodyPr wrap="none" lIns="0" tIns="0" rIns="0" bIns="0" anchor="t">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A7387"/>
                </a:solidFill>
                <a:effectLst/>
                <a:uLnTx/>
                <a:uFillTx/>
                <a:latin typeface="Aptos" panose="020B0400000000000000" charset="-122"/>
                <a:ea typeface="+mn-ea"/>
                <a:cs typeface="+mn-cs"/>
              </a:rPr>
              <a:t>32</a:t>
            </a:r>
          </a:p>
        </p:txBody>
      </p:sp>
      <p:pic>
        <p:nvPicPr>
          <p:cNvPr id="31" name="skill-template-nju-logo" descr="template-title-footer-logo-from-template.png"/>
          <p:cNvPicPr/>
          <p:nvPr/>
        </p:nvPicPr>
        <p:blipFill>
          <a:blip r:embed="rId4"/>
          <a:stretch>
            <a:fillRect/>
          </a:stretch>
        </p:blipFill>
        <p:spPr>
          <a:xfrm>
            <a:off x="9639300" y="354718"/>
            <a:ext cx="1571625" cy="48118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Aptos" panose="020B0400000000000000" charset="-122"/>
              </a:defRPr>
            </a:pPr>
            <a:r>
              <a:rPr lang="en-US" altLang="zh-CN" sz="2550" b="1" dirty="0" err="1">
                <a:solidFill>
                  <a:srgbClr val="17131F"/>
                </a:solidFill>
                <a:latin typeface="Aptos" panose="020B0400000000000000" charset="-122"/>
              </a:rPr>
              <a:t>CoDec</a:t>
            </a:r>
            <a:r>
              <a:rPr lang="en-US" sz="2550" b="1" dirty="0">
                <a:solidFill>
                  <a:srgbClr val="17131F"/>
                </a:solidFill>
                <a:latin typeface="Aptos" panose="020B0400000000000000" charset="-122"/>
              </a:rPr>
              <a:t>: Efficient Prefix-Aware Attention</a:t>
            </a:r>
          </a:p>
        </p:txBody>
      </p:sp>
      <p:pic>
        <p:nvPicPr>
          <p:cNvPr id="21" name="Content Placeholder 20"/>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a:xfrm>
            <a:off x="939247" y="1618054"/>
            <a:ext cx="10515601" cy="3718800"/>
          </a:xfrm>
        </p:spPr>
      </p:pic>
      <p:sp>
        <p:nvSpPr>
          <p:cNvPr id="24" name="矩形 27"/>
          <p:cNvSpPr/>
          <p:nvPr/>
        </p:nvSpPr>
        <p:spPr>
          <a:xfrm>
            <a:off x="397515" y="1531610"/>
            <a:ext cx="7100060" cy="3969243"/>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TextBox 1"/>
          <p:cNvSpPr txBox="1"/>
          <p:nvPr/>
        </p:nvSpPr>
        <p:spPr>
          <a:xfrm>
            <a:off x="7741417" y="5558643"/>
            <a:ext cx="3788729" cy="523220"/>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Execute Attention Kernel</a:t>
            </a:r>
          </a:p>
        </p:txBody>
      </p:sp>
      <p:sp>
        <p:nvSpPr>
          <p:cNvPr id="25"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skill-template-section-label"/>
          <p:cNvSpPr txBox="1"/>
          <p:nvPr/>
        </p:nvSpPr>
        <p:spPr>
          <a:xfrm>
            <a:off x="704850" y="238125"/>
            <a:ext cx="238125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Aptos" panose="020B0400000000000000" charset="-122"/>
                <a:ea typeface="+mn-ea"/>
                <a:cs typeface="+mn-cs"/>
              </a:rPr>
              <a:t>CODEC DESIGN</a:t>
            </a:r>
          </a:p>
        </p:txBody>
      </p:sp>
      <p:sp>
        <p:nvSpPr>
          <p:cNvPr id="27"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skill-template-footer-deck-name"/>
          <p:cNvSpPr txBox="1"/>
          <p:nvPr/>
        </p:nvSpPr>
        <p:spPr>
          <a:xfrm>
            <a:off x="552450" y="6515100"/>
            <a:ext cx="590550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Aptos" panose="020B0400000000000000" charset="-122"/>
                <a:ea typeface="+mn-ea"/>
                <a:cs typeface="+mn-cs"/>
              </a:rPr>
              <a:t>CoDec | SIGMOD Research Talk</a:t>
            </a:r>
          </a:p>
        </p:txBody>
      </p:sp>
      <p:sp>
        <p:nvSpPr>
          <p:cNvPr id="30" name="skill-template-footer-page-number"/>
          <p:cNvSpPr txBox="1"/>
          <p:nvPr/>
        </p:nvSpPr>
        <p:spPr>
          <a:xfrm>
            <a:off x="10829925" y="6515100"/>
            <a:ext cx="381000" cy="209550"/>
          </a:xfrm>
          <a:prstGeom prst="rect">
            <a:avLst/>
          </a:prstGeom>
          <a:noFill/>
        </p:spPr>
        <p:txBody>
          <a:bodyPr wrap="none" lIns="0" tIns="0" rIns="0" bIns="0" anchor="t">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A7387"/>
                </a:solidFill>
                <a:effectLst/>
                <a:uLnTx/>
                <a:uFillTx/>
                <a:latin typeface="Aptos" panose="020B0400000000000000" charset="-122"/>
                <a:ea typeface="+mn-ea"/>
                <a:cs typeface="+mn-cs"/>
              </a:rPr>
              <a:t>33</a:t>
            </a:r>
          </a:p>
        </p:txBody>
      </p:sp>
      <p:pic>
        <p:nvPicPr>
          <p:cNvPr id="31" name="skill-template-nju-logo" descr="template-title-footer-logo-from-template.png"/>
          <p:cNvPicPr/>
          <p:nvPr/>
        </p:nvPicPr>
        <p:blipFill>
          <a:blip r:embed="rId4"/>
          <a:stretch>
            <a:fillRect/>
          </a:stretch>
        </p:blipFill>
        <p:spPr>
          <a:xfrm>
            <a:off x="9639300" y="354718"/>
            <a:ext cx="1571625" cy="48118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Aptos" panose="020B0400000000000000" charset="-122"/>
              </a:defRPr>
            </a:pPr>
            <a:r>
              <a:rPr lang="en-US" altLang="zh-CN" sz="2550" b="1" dirty="0" err="1">
                <a:solidFill>
                  <a:srgbClr val="17131F"/>
                </a:solidFill>
                <a:latin typeface="Aptos" panose="020B0400000000000000" charset="-122"/>
              </a:rPr>
              <a:t>CoDec</a:t>
            </a:r>
            <a:r>
              <a:rPr lang="en-US" altLang="zh-CN" sz="2550" b="1" dirty="0">
                <a:solidFill>
                  <a:srgbClr val="17131F"/>
                </a:solidFill>
                <a:latin typeface="Aptos" panose="020B0400000000000000" charset="-122"/>
              </a:rPr>
              <a:t>: </a:t>
            </a:r>
            <a:r>
              <a:rPr lang="en-US" sz="2550" b="1" dirty="0">
                <a:solidFill>
                  <a:srgbClr val="17131F"/>
                </a:solidFill>
                <a:latin typeface="Aptos" panose="020B0400000000000000" charset="-122"/>
              </a:rPr>
              <a:t>Efficient Prefix-Aware Attention</a:t>
            </a:r>
          </a:p>
        </p:txBody>
      </p:sp>
      <p:pic>
        <p:nvPicPr>
          <p:cNvPr id="21" name="Content Placeholder 20"/>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a:xfrm>
            <a:off x="585787" y="1520545"/>
            <a:ext cx="10658475" cy="3816910"/>
          </a:xfrm>
        </p:spPr>
      </p:pic>
      <p:sp>
        <p:nvSpPr>
          <p:cNvPr id="22"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skill-template-section-label"/>
          <p:cNvSpPr txBox="1"/>
          <p:nvPr/>
        </p:nvSpPr>
        <p:spPr>
          <a:xfrm>
            <a:off x="704850" y="238125"/>
            <a:ext cx="238125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Aptos" panose="020B0400000000000000" charset="-122"/>
                <a:ea typeface="+mn-ea"/>
                <a:cs typeface="+mn-cs"/>
              </a:rPr>
              <a:t>CODEC DESIGN</a:t>
            </a:r>
          </a:p>
        </p:txBody>
      </p:sp>
      <p:sp>
        <p:nvSpPr>
          <p:cNvPr id="24"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skill-template-footer-deck-name"/>
          <p:cNvSpPr txBox="1"/>
          <p:nvPr/>
        </p:nvSpPr>
        <p:spPr>
          <a:xfrm>
            <a:off x="552450" y="6515100"/>
            <a:ext cx="5905500" cy="209550"/>
          </a:xfrm>
          <a:prstGeom prst="rect">
            <a:avLst/>
          </a:prstGeom>
          <a:noFill/>
        </p:spPr>
        <p:txBody>
          <a:bodyPr wrap="non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Aptos" panose="020B0400000000000000" charset="-122"/>
                <a:ea typeface="+mn-ea"/>
                <a:cs typeface="+mn-cs"/>
              </a:rPr>
              <a:t>CoDec | SIGMOD Research Talk</a:t>
            </a:r>
          </a:p>
        </p:txBody>
      </p:sp>
      <p:sp>
        <p:nvSpPr>
          <p:cNvPr id="27" name="skill-template-footer-page-number"/>
          <p:cNvSpPr txBox="1"/>
          <p:nvPr/>
        </p:nvSpPr>
        <p:spPr>
          <a:xfrm>
            <a:off x="10829925" y="6515100"/>
            <a:ext cx="381000" cy="209550"/>
          </a:xfrm>
          <a:prstGeom prst="rect">
            <a:avLst/>
          </a:prstGeom>
          <a:noFill/>
        </p:spPr>
        <p:txBody>
          <a:bodyPr wrap="none" lIns="0" tIns="0" rIns="0" bIns="0" anchor="t">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Aptos" panose="020B0400000000000000" charset="-122"/>
                <a:ea typeface="+mn-ea"/>
                <a:cs typeface="+mn-cs"/>
              </a:rPr>
              <a:t>34</a:t>
            </a:r>
          </a:p>
        </p:txBody>
      </p:sp>
      <p:pic>
        <p:nvPicPr>
          <p:cNvPr id="28" name="skill-template-nju-logo" descr="template-title-footer-logo-from-template.png"/>
          <p:cNvPicPr/>
          <p:nvPr/>
        </p:nvPicPr>
        <p:blipFill>
          <a:blip r:embed="rId4"/>
          <a:stretch>
            <a:fillRect/>
          </a:stretch>
        </p:blipFill>
        <p:spPr>
          <a:xfrm>
            <a:off x="9639300" y="354718"/>
            <a:ext cx="1571625" cy="48118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utline-title"/>
          <p:cNvSpPr txBox="1"/>
          <p:nvPr/>
        </p:nvSpPr>
        <p:spPr>
          <a:xfrm>
            <a:off x="552450" y="361950"/>
            <a:ext cx="8763000" cy="609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450" b="1" i="0" u="none" strike="noStrike" kern="1200" cap="none" spc="0" normalizeH="0" baseline="0" noProof="0">
                <a:ln>
                  <a:noFill/>
                </a:ln>
                <a:solidFill>
                  <a:srgbClr val="17131F"/>
                </a:solidFill>
                <a:effectLst/>
                <a:uLnTx/>
                <a:uFillTx/>
                <a:latin typeface="PingFang SC" panose="020B0400000000000000" charset="-122"/>
                <a:ea typeface="+mn-ea"/>
                <a:cs typeface="+mn-cs"/>
              </a:rPr>
              <a:t>Outline</a:t>
            </a:r>
          </a:p>
        </p:txBody>
      </p:sp>
      <p:pic>
        <p:nvPicPr>
          <p:cNvPr id="3" name="outline-nju-logo" descr="image.png"/>
          <p:cNvPicPr>
            <a:picLocks noChangeAspect="1"/>
          </p:cNvPicPr>
          <p:nvPr/>
        </p:nvPicPr>
        <p:blipFill>
          <a:blip r:embed="rId2"/>
          <a:stretch>
            <a:fillRect/>
          </a:stretch>
        </p:blipFill>
        <p:spPr>
          <a:xfrm>
            <a:off x="9639300" y="381000"/>
            <a:ext cx="1571625" cy="481012"/>
          </a:xfrm>
          <a:prstGeom prst="rect">
            <a:avLst/>
          </a:prstGeom>
        </p:spPr>
      </p:pic>
      <p:sp>
        <p:nvSpPr>
          <p:cNvPr id="4" name="outline-top-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outline-section-1-card"/>
          <p:cNvSpPr/>
          <p:nvPr/>
        </p:nvSpPr>
        <p:spPr>
          <a:xfrm>
            <a:off x="781049" y="1619250"/>
            <a:ext cx="10429875"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outline-section-1-accent"/>
          <p:cNvSpPr/>
          <p:nvPr/>
        </p:nvSpPr>
        <p:spPr>
          <a:xfrm>
            <a:off x="781050" y="16192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outline-section-1-index"/>
          <p:cNvSpPr txBox="1"/>
          <p:nvPr/>
        </p:nvSpPr>
        <p:spPr>
          <a:xfrm>
            <a:off x="1085850" y="17811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01</a:t>
            </a:r>
          </a:p>
        </p:txBody>
      </p:sp>
      <p:sp>
        <p:nvSpPr>
          <p:cNvPr id="8" name="outline-section-1-title"/>
          <p:cNvSpPr txBox="1"/>
          <p:nvPr/>
        </p:nvSpPr>
        <p:spPr>
          <a:xfrm>
            <a:off x="1771650" y="17335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Motivation</a:t>
            </a:r>
          </a:p>
        </p:txBody>
      </p:sp>
      <p:sp>
        <p:nvSpPr>
          <p:cNvPr id="9" name="outline-section-1-description"/>
          <p:cNvSpPr txBox="1"/>
          <p:nvPr/>
        </p:nvSpPr>
        <p:spPr>
          <a:xfrm>
            <a:off x="5143500" y="17621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Long-context serving, prefix sharing, and decode memory bottlenecks</a:t>
            </a:r>
          </a:p>
        </p:txBody>
      </p:sp>
      <p:sp>
        <p:nvSpPr>
          <p:cNvPr id="10" name="outline-section-2-card"/>
          <p:cNvSpPr/>
          <p:nvPr/>
        </p:nvSpPr>
        <p:spPr>
          <a:xfrm>
            <a:off x="781050" y="2495550"/>
            <a:ext cx="10429874"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outline-section-2-accent"/>
          <p:cNvSpPr/>
          <p:nvPr/>
        </p:nvSpPr>
        <p:spPr>
          <a:xfrm>
            <a:off x="781050" y="24955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utline-section-2-index"/>
          <p:cNvSpPr txBox="1"/>
          <p:nvPr/>
        </p:nvSpPr>
        <p:spPr>
          <a:xfrm>
            <a:off x="1085850" y="26574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02</a:t>
            </a:r>
          </a:p>
        </p:txBody>
      </p:sp>
      <p:sp>
        <p:nvSpPr>
          <p:cNvPr id="13" name="outline-section-2-title"/>
          <p:cNvSpPr txBox="1"/>
          <p:nvPr/>
        </p:nvSpPr>
        <p:spPr>
          <a:xfrm>
            <a:off x="1771650" y="26098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Insight &amp; Challenges</a:t>
            </a:r>
          </a:p>
        </p:txBody>
      </p:sp>
      <p:sp>
        <p:nvSpPr>
          <p:cNvPr id="14" name="outline-section-2-description"/>
          <p:cNvSpPr txBox="1"/>
          <p:nvPr/>
        </p:nvSpPr>
        <p:spPr>
          <a:xfrm>
            <a:off x="5143500" y="26384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Shared-prefix reuse, dependency organization, and load balancing</a:t>
            </a:r>
          </a:p>
        </p:txBody>
      </p:sp>
      <p:sp>
        <p:nvSpPr>
          <p:cNvPr id="15" name="outline-section-3-card"/>
          <p:cNvSpPr/>
          <p:nvPr/>
        </p:nvSpPr>
        <p:spPr>
          <a:xfrm>
            <a:off x="781050" y="3371850"/>
            <a:ext cx="10429874" cy="666750"/>
          </a:xfrm>
          <a:prstGeom prst="rect">
            <a:avLst/>
          </a:prstGeom>
          <a:solidFill>
            <a:srgbClr val="FFFFFF"/>
          </a:solidFill>
          <a:ln w="1143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utline-section-3-accent"/>
          <p:cNvSpPr/>
          <p:nvPr/>
        </p:nvSpPr>
        <p:spPr>
          <a:xfrm>
            <a:off x="781050" y="3371850"/>
            <a:ext cx="76200" cy="666750"/>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utline-section-3-index"/>
          <p:cNvSpPr txBox="1"/>
          <p:nvPr/>
        </p:nvSpPr>
        <p:spPr>
          <a:xfrm>
            <a:off x="1085850" y="35337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B1D78"/>
                </a:solidFill>
                <a:effectLst/>
                <a:uLnTx/>
                <a:uFillTx/>
                <a:latin typeface="PingFang SC" panose="020B0400000000000000" charset="-122"/>
                <a:ea typeface="+mn-ea"/>
                <a:cs typeface="+mn-cs"/>
              </a:rPr>
              <a:t>03</a:t>
            </a:r>
          </a:p>
        </p:txBody>
      </p:sp>
      <p:sp>
        <p:nvSpPr>
          <p:cNvPr id="18" name="outline-section-3-title"/>
          <p:cNvSpPr txBox="1"/>
          <p:nvPr/>
        </p:nvSpPr>
        <p:spPr>
          <a:xfrm>
            <a:off x="1771650" y="34861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7131F"/>
                </a:solidFill>
                <a:effectLst/>
                <a:uLnTx/>
                <a:uFillTx/>
                <a:latin typeface="PingFang SC" panose="020B0400000000000000" charset="-122"/>
                <a:ea typeface="+mn-ea"/>
                <a:cs typeface="+mn-cs"/>
              </a:rPr>
              <a:t>CoDec Design</a:t>
            </a:r>
          </a:p>
        </p:txBody>
      </p:sp>
      <p:sp>
        <p:nvSpPr>
          <p:cNvPr id="19" name="outline-section-3-description"/>
          <p:cNvSpPr txBox="1"/>
          <p:nvPr/>
        </p:nvSpPr>
        <p:spPr>
          <a:xfrm>
            <a:off x="5143500" y="35147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625B6D"/>
                </a:solidFill>
                <a:effectLst/>
                <a:uLnTx/>
                <a:uFillTx/>
                <a:latin typeface="PingFang SC" panose="020B0400000000000000" charset="-122"/>
                <a:ea typeface="+mn-ea"/>
                <a:cs typeface="+mn-cs"/>
              </a:rPr>
              <a:t>Prefix-tree planning, task division, and attention kernel</a:t>
            </a:r>
          </a:p>
        </p:txBody>
      </p:sp>
      <p:sp>
        <p:nvSpPr>
          <p:cNvPr id="20" name="outline-section-4-card"/>
          <p:cNvSpPr/>
          <p:nvPr/>
        </p:nvSpPr>
        <p:spPr>
          <a:xfrm>
            <a:off x="781050" y="4248150"/>
            <a:ext cx="10429874" cy="666750"/>
          </a:xfrm>
          <a:prstGeom prst="rect">
            <a:avLst/>
          </a:prstGeom>
          <a:solidFill>
            <a:srgbClr val="4B1D78"/>
          </a:solidFill>
          <a:ln w="11430">
            <a:solidFill>
              <a:srgbClr val="4B1D7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outline-section-4-accent"/>
          <p:cNvSpPr/>
          <p:nvPr/>
        </p:nvSpPr>
        <p:spPr>
          <a:xfrm>
            <a:off x="781050" y="4248150"/>
            <a:ext cx="76200" cy="66675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outline-section-4-index"/>
          <p:cNvSpPr txBox="1"/>
          <p:nvPr/>
        </p:nvSpPr>
        <p:spPr>
          <a:xfrm>
            <a:off x="1085850" y="4410075"/>
            <a:ext cx="419100" cy="285750"/>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4D7"/>
                </a:solidFill>
                <a:effectLst/>
                <a:uLnTx/>
                <a:uFillTx/>
                <a:latin typeface="PingFang SC" panose="020B0400000000000000" charset="-122"/>
                <a:ea typeface="+mn-ea"/>
                <a:cs typeface="+mn-cs"/>
              </a:rPr>
              <a:t>04</a:t>
            </a:r>
          </a:p>
        </p:txBody>
      </p:sp>
      <p:sp>
        <p:nvSpPr>
          <p:cNvPr id="23" name="outline-section-4-title"/>
          <p:cNvSpPr txBox="1"/>
          <p:nvPr/>
        </p:nvSpPr>
        <p:spPr>
          <a:xfrm>
            <a:off x="1771650" y="4362450"/>
            <a:ext cx="3048000" cy="3429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PingFang SC" panose="020B0400000000000000" charset="-122"/>
                <a:ea typeface="+mn-ea"/>
                <a:cs typeface="+mn-cs"/>
              </a:rPr>
              <a:t>Evaluation &amp; Takeaways</a:t>
            </a:r>
          </a:p>
        </p:txBody>
      </p:sp>
      <p:sp>
        <p:nvSpPr>
          <p:cNvPr id="24" name="outline-section-4-description"/>
          <p:cNvSpPr txBox="1"/>
          <p:nvPr/>
        </p:nvSpPr>
        <p:spPr>
          <a:xfrm>
            <a:off x="5143500" y="4391025"/>
            <a:ext cx="5334000" cy="30480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20" b="0" i="0" u="none" strike="noStrike" kern="1200" cap="none" spc="0" normalizeH="0" baseline="0" noProof="0">
                <a:ln>
                  <a:noFill/>
                </a:ln>
                <a:solidFill>
                  <a:srgbClr val="FFFFFF"/>
                </a:solidFill>
                <a:effectLst/>
                <a:uLnTx/>
                <a:uFillTx/>
                <a:latin typeface="PingFang SC" panose="020B0400000000000000" charset="-122"/>
                <a:ea typeface="+mn-ea"/>
                <a:cs typeface="+mn-cs"/>
              </a:rPr>
              <a:t>Throughput gains, ablations, and applicability</a:t>
            </a:r>
          </a:p>
        </p:txBody>
      </p:sp>
      <p:sp>
        <p:nvSpPr>
          <p:cNvPr id="25" name="outline-current-card"/>
          <p:cNvSpPr/>
          <p:nvPr/>
        </p:nvSpPr>
        <p:spPr>
          <a:xfrm>
            <a:off x="781050" y="5353050"/>
            <a:ext cx="10429874" cy="533400"/>
          </a:xfrm>
          <a:prstGeom prst="rect">
            <a:avLst/>
          </a:prstGeom>
          <a:solidFill>
            <a:srgbClr val="FAF8FC"/>
          </a:solidFill>
          <a:ln w="10160">
            <a:solidFill>
              <a:srgbClr val="D9D3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outline-current-label"/>
          <p:cNvSpPr txBox="1"/>
          <p:nvPr/>
        </p:nvSpPr>
        <p:spPr>
          <a:xfrm>
            <a:off x="1066800" y="5514975"/>
            <a:ext cx="1047750" cy="20955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Guiding Question</a:t>
            </a:r>
          </a:p>
        </p:txBody>
      </p:sp>
      <p:sp>
        <p:nvSpPr>
          <p:cNvPr id="27" name="outline-current-description"/>
          <p:cNvSpPr txBox="1"/>
          <p:nvPr/>
        </p:nvSpPr>
        <p:spPr>
          <a:xfrm>
            <a:off x="2381250" y="5476875"/>
            <a:ext cx="7762875" cy="285750"/>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17131F"/>
                </a:solidFill>
                <a:effectLst/>
                <a:uLnTx/>
                <a:uFillTx/>
                <a:latin typeface="PingFang SC" panose="020B0400000000000000" charset="-122"/>
                <a:ea typeface="+mn-ea"/>
                <a:cs typeface="+mn-cs"/>
              </a:rPr>
              <a:t>Does CoDec deliver real throughput gains, and where do those gains come from?</a:t>
            </a:r>
          </a:p>
        </p:txBody>
      </p:sp>
      <p:sp>
        <p:nvSpPr>
          <p:cNvPr id="28" name="outline-footer-divider"/>
          <p:cNvSpPr/>
          <p:nvPr/>
        </p:nvSpPr>
        <p:spPr>
          <a:xfrm flipV="1">
            <a:off x="552451" y="6383656"/>
            <a:ext cx="10658474" cy="45719"/>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outline-footer-deck-name"/>
          <p:cNvSpPr txBox="1"/>
          <p:nvPr/>
        </p:nvSpPr>
        <p:spPr>
          <a:xfrm>
            <a:off x="552450" y="6534150"/>
            <a:ext cx="5905500" cy="22860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30" name="outline-footer-page-number"/>
          <p:cNvSpPr txBox="1"/>
          <p:nvPr/>
        </p:nvSpPr>
        <p:spPr>
          <a:xfrm>
            <a:off x="10869930" y="6534150"/>
            <a:ext cx="16002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52450" y="495300"/>
            <a:ext cx="8763000" cy="495300"/>
          </a:xfrm>
        </p:spPr>
        <p:txBody>
          <a:bodyPr lIns="0" tIns="0" rIns="0" bIns="0" anchor="t"/>
          <a:lstStyle/>
          <a:p>
            <a:pPr algn="l">
              <a:defRPr sz="2550" b="1">
                <a:solidFill>
                  <a:srgbClr val="17131F"/>
                </a:solidFill>
                <a:latin typeface="PingFang SC" panose="020B0400000000000000" charset="-122"/>
              </a:defRPr>
            </a:pPr>
            <a:r>
              <a:rPr lang="en-US" sz="2550" b="1">
                <a:solidFill>
                  <a:srgbClr val="17131F"/>
                </a:solidFill>
                <a:latin typeface="PingFang SC" panose="020B0400000000000000" charset="-122"/>
              </a:rPr>
              <a:t>Evaluation</a:t>
            </a:r>
            <a:endParaRPr lang="en-US" dirty="0">
              <a:solidFill>
                <a:schemeClr val="accent5">
                  <a:lumMod val="75000"/>
                </a:schemeClr>
              </a:solidFill>
            </a:endParaRPr>
          </a:p>
        </p:txBody>
      </p:sp>
      <p:sp>
        <p:nvSpPr>
          <p:cNvPr id="16" name="Content Placeholder 15"/>
          <p:cNvSpPr>
            <a:spLocks noGrp="1"/>
          </p:cNvSpPr>
          <p:nvPr>
            <p:ph idx="1"/>
          </p:nvPr>
        </p:nvSpPr>
        <p:spPr>
          <a:xfrm>
            <a:off x="0" y="1636782"/>
            <a:ext cx="12192001" cy="934374"/>
          </a:xfrm>
        </p:spPr>
        <p:txBody>
          <a:bodyPr>
            <a:normAutofit lnSpcReduction="10000"/>
          </a:bodyPr>
          <a:lstStyle/>
          <a:p>
            <a:pPr marL="0" indent="0" algn="ctr">
              <a:buNone/>
            </a:pPr>
            <a:r>
              <a:rPr lang="en-US" dirty="0"/>
              <a:t>Implemented </a:t>
            </a:r>
            <a:r>
              <a:rPr lang="en-US" dirty="0" err="1"/>
              <a:t>CoDec</a:t>
            </a:r>
            <a:r>
              <a:rPr lang="en-US" dirty="0"/>
              <a:t> in </a:t>
            </a:r>
            <a:r>
              <a:rPr lang="en-US" dirty="0" err="1"/>
              <a:t>vLLM</a:t>
            </a:r>
            <a:r>
              <a:rPr lang="en-US" dirty="0"/>
              <a:t> using NVIDIA </a:t>
            </a:r>
            <a:r>
              <a:rPr lang="en-US" dirty="0" err="1"/>
              <a:t>CuTe</a:t>
            </a:r>
            <a:r>
              <a:rPr lang="en-US" dirty="0"/>
              <a:t>. (~1.7k LOCs)</a:t>
            </a:r>
          </a:p>
          <a:p>
            <a:pPr marL="0" indent="0" algn="ctr">
              <a:buNone/>
            </a:pPr>
            <a:r>
              <a:rPr lang="en-US" dirty="0"/>
              <a:t>Achieves up to </a:t>
            </a:r>
            <a:r>
              <a:rPr lang="en-US" dirty="0">
                <a:solidFill>
                  <a:srgbClr val="FF0000"/>
                </a:solidFill>
              </a:rPr>
              <a:t>3.</a:t>
            </a:r>
            <a:r>
              <a:rPr lang="en-US" altLang="zh-CN" dirty="0">
                <a:solidFill>
                  <a:srgbClr val="FF0000"/>
                </a:solidFill>
              </a:rPr>
              <a:t>75</a:t>
            </a:r>
            <a:r>
              <a:rPr lang="en-US" dirty="0">
                <a:solidFill>
                  <a:srgbClr val="FF0000"/>
                </a:solidFill>
              </a:rPr>
              <a:t>x</a:t>
            </a:r>
            <a:r>
              <a:rPr lang="en-US" dirty="0"/>
              <a:t> throughput speedup over </a:t>
            </a:r>
            <a:r>
              <a:rPr lang="en-US" dirty="0" err="1"/>
              <a:t>vLLM</a:t>
            </a:r>
            <a:r>
              <a:rPr lang="en-US" dirty="0"/>
              <a:t>.</a:t>
            </a:r>
          </a:p>
        </p:txBody>
      </p:sp>
      <p:grpSp>
        <p:nvGrpSpPr>
          <p:cNvPr id="13" name="Group 12"/>
          <p:cNvGrpSpPr/>
          <p:nvPr/>
        </p:nvGrpSpPr>
        <p:grpSpPr>
          <a:xfrm>
            <a:off x="5637729" y="2675727"/>
            <a:ext cx="5335071" cy="3744123"/>
            <a:chOff x="5422659" y="3049368"/>
            <a:chExt cx="5193897" cy="3361367"/>
          </a:xfrm>
        </p:grpSpPr>
        <p:graphicFrame>
          <p:nvGraphicFramePr>
            <p:cNvPr id="25" name="Chart 24"/>
            <p:cNvGraphicFramePr/>
            <p:nvPr>
              <p:extLst>
                <p:ext uri="{D42A27DB-BD31-4B8C-83A1-F6EECF244321}">
                  <p14:modId xmlns:p14="http://schemas.microsoft.com/office/powerpoint/2010/main" val="3555950544"/>
                </p:ext>
              </p:extLst>
            </p:nvPr>
          </p:nvGraphicFramePr>
          <p:xfrm>
            <a:off x="5422659" y="3049368"/>
            <a:ext cx="5193897" cy="3361367"/>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9010897" y="3389375"/>
              <a:ext cx="139243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Total: 10.</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84</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 name="TextBox 11"/>
            <p:cNvSpPr txBox="1"/>
            <p:nvPr/>
          </p:nvSpPr>
          <p:spPr>
            <a:xfrm>
              <a:off x="7005844" y="4146335"/>
              <a:ext cx="8134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2.28</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5" name="TextBox 11"/>
            <p:cNvSpPr txBox="1"/>
            <p:nvPr/>
          </p:nvSpPr>
          <p:spPr>
            <a:xfrm>
              <a:off x="8159939" y="5044407"/>
              <a:ext cx="8134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2.81</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6" name="TextBox 11"/>
            <p:cNvSpPr txBox="1"/>
            <p:nvPr/>
          </p:nvSpPr>
          <p:spPr>
            <a:xfrm>
              <a:off x="9262895" y="5354652"/>
              <a:ext cx="81348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1.69</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grpSp>
      <p:pic>
        <p:nvPicPr>
          <p:cNvPr id="7" name="图片 6"/>
          <p:cNvPicPr>
            <a:picLocks noChangeAspect="1"/>
          </p:cNvPicPr>
          <p:nvPr/>
        </p:nvPicPr>
        <p:blipFill>
          <a:blip r:embed="rId4"/>
          <a:stretch>
            <a:fillRect/>
          </a:stretch>
        </p:blipFill>
        <p:spPr>
          <a:xfrm>
            <a:off x="838200" y="2781344"/>
            <a:ext cx="4343805" cy="3167019"/>
          </a:xfrm>
          <a:prstGeom prst="rect">
            <a:avLst/>
          </a:prstGeom>
        </p:spPr>
      </p:pic>
      <p:sp>
        <p:nvSpPr>
          <p:cNvPr id="26" name="skill-template-header-accent-bar"/>
          <p:cNvSpPr/>
          <p:nvPr/>
        </p:nvSpPr>
        <p:spPr>
          <a:xfrm>
            <a:off x="552450" y="228600"/>
            <a:ext cx="66675" cy="266700"/>
          </a:xfrm>
          <a:prstGeom prst="rect">
            <a:avLst/>
          </a:prstGeom>
          <a:solidFill>
            <a:srgbClr val="C7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skill-template-section-label"/>
          <p:cNvSpPr txBox="1"/>
          <p:nvPr/>
        </p:nvSpPr>
        <p:spPr>
          <a:xfrm>
            <a:off x="704850" y="238125"/>
            <a:ext cx="238125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mn-ea"/>
                <a:cs typeface="+mn-cs"/>
              </a:rPr>
              <a:t>EVALUATION</a:t>
            </a:r>
          </a:p>
        </p:txBody>
      </p:sp>
      <p:sp>
        <p:nvSpPr>
          <p:cNvPr id="28" name="skill-template-content-divider"/>
          <p:cNvSpPr/>
          <p:nvPr/>
        </p:nvSpPr>
        <p:spPr>
          <a:xfrm>
            <a:off x="552450" y="1057275"/>
            <a:ext cx="10658475" cy="14288"/>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skill-template-footer-divider"/>
          <p:cNvSpPr/>
          <p:nvPr/>
        </p:nvSpPr>
        <p:spPr>
          <a:xfrm>
            <a:off x="552450" y="6419850"/>
            <a:ext cx="10658475" cy="9525"/>
          </a:xfrm>
          <a:prstGeom prst="rect">
            <a:avLst/>
          </a:prstGeom>
          <a:solidFill>
            <a:srgbClr val="D9D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skill-template-footer-deck-name"/>
          <p:cNvSpPr txBox="1"/>
          <p:nvPr/>
        </p:nvSpPr>
        <p:spPr>
          <a:xfrm>
            <a:off x="552450" y="6515100"/>
            <a:ext cx="5905500" cy="2095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CoDec | SIGMOD Research Talk</a:t>
            </a:r>
          </a:p>
        </p:txBody>
      </p:sp>
      <p:sp>
        <p:nvSpPr>
          <p:cNvPr id="31" name="skill-template-footer-page-number"/>
          <p:cNvSpPr txBox="1"/>
          <p:nvPr/>
        </p:nvSpPr>
        <p:spPr>
          <a:xfrm>
            <a:off x="11050905" y="6515100"/>
            <a:ext cx="160020" cy="16129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mn-ea"/>
                <a:cs typeface="+mn-cs"/>
              </a:rPr>
              <a:t>36</a:t>
            </a:r>
          </a:p>
        </p:txBody>
      </p:sp>
      <p:pic>
        <p:nvPicPr>
          <p:cNvPr id="32" name="skill-template-nju-logo" descr="template-title-footer-logo-from-template.png"/>
          <p:cNvPicPr>
            <a:picLocks noChangeAspect="1"/>
          </p:cNvPicPr>
          <p:nvPr/>
        </p:nvPicPr>
        <p:blipFill>
          <a:blip r:embed="rId5"/>
          <a:stretch>
            <a:fillRect/>
          </a:stretch>
        </p:blipFill>
        <p:spPr>
          <a:xfrm>
            <a:off x="9639300" y="354718"/>
            <a:ext cx="1571625" cy="48118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accent-bar"/>
          <p:cNvSpPr>
            <a:spLocks noGrp="1"/>
          </p:cNvSpPr>
          <p:nvPr/>
        </p:nvSpPr>
        <p:spPr>
          <a:xfrm>
            <a:off x="552450" y="228600"/>
            <a:ext cx="66675" cy="266700"/>
          </a:xfrm>
          <a:prstGeom prst="rect">
            <a:avLst/>
          </a:prstGeom>
          <a:solidFill>
            <a:srgbClr val="C79A32"/>
          </a:solidFill>
          <a:ln w="0">
            <a:solidFill>
              <a:srgbClr val="000000">
                <a:alpha val="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 name="section-label"/>
          <p:cNvSpPr>
            <a:spLocks noGrp="1"/>
          </p:cNvSpPr>
          <p:nvPr/>
        </p:nvSpPr>
        <p:spPr>
          <a:xfrm>
            <a:off x="704850" y="238125"/>
            <a:ext cx="2381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1050" b="1">
                <a:solidFill>
                  <a:srgbClr val="4B1D78"/>
                </a:solidFill>
                <a:latin typeface="PingFang SC" panose="020B0400000000000000" charset="-122"/>
                <a:ea typeface="PingFang SC" panose="020B0400000000000000" charset="-122"/>
                <a:cs typeface="PingFang SC" panose="020B0400000000000000" charset="-122"/>
              </a:defRPr>
            </a:pPr>
            <a:r>
              <a:rPr kumimoji="0" sz="1050" b="1" i="0" u="none" strike="noStrike" kern="1200" cap="none" spc="0" normalizeH="0" baseline="0" noProof="0">
                <a:ln>
                  <a:noFill/>
                </a:ln>
                <a:solidFill>
                  <a:srgbClr val="4B1D78"/>
                </a:solidFill>
                <a:effectLst/>
                <a:uLnTx/>
                <a:uFillTx/>
                <a:latin typeface="PingFang SC" panose="020B0400000000000000" charset="-122"/>
                <a:ea typeface="PingFang SC" panose="020B0400000000000000" charset="-122"/>
                <a:cs typeface="PingFang SC" panose="020B0400000000000000" charset="-122"/>
              </a:rPr>
              <a:t>TAKEAWAYS</a:t>
            </a:r>
          </a:p>
        </p:txBody>
      </p:sp>
      <p:sp>
        <p:nvSpPr>
          <p:cNvPr id="4" name="slide-title"/>
          <p:cNvSpPr>
            <a:spLocks noGrp="1"/>
          </p:cNvSpPr>
          <p:nvPr/>
        </p:nvSpPr>
        <p:spPr>
          <a:xfrm>
            <a:off x="552450" y="495300"/>
            <a:ext cx="87630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a:ln>
                  <a:noFill/>
                </a:ln>
                <a:solidFill>
                  <a:srgbClr val="17131F"/>
                </a:solidFill>
                <a:effectLst/>
                <a:uLnTx/>
                <a:uFillTx/>
                <a:latin typeface="PingFang SC" panose="020B0400000000000000" charset="-122"/>
                <a:ea typeface="PingFang SC" panose="020B0400000000000000" charset="-122"/>
                <a:cs typeface="PingFang SC" panose="020B0400000000000000" charset="-122"/>
              </a:rPr>
              <a:t>Takeaways</a:t>
            </a:r>
          </a:p>
        </p:txBody>
      </p:sp>
      <p:pic>
        <p:nvPicPr>
          <p:cNvPr id="5" name="图片 4"/>
          <p:cNvPicPr>
            <a:picLocks noChangeAspect="1"/>
          </p:cNvPicPr>
          <p:nvPr/>
        </p:nvPicPr>
        <p:blipFill>
          <a:blip r:embed="rId3"/>
          <a:stretch>
            <a:fillRect/>
          </a:stretch>
        </p:blipFill>
        <p:spPr>
          <a:xfrm>
            <a:off x="9639300" y="354718"/>
            <a:ext cx="1571625" cy="481189"/>
          </a:xfrm>
          <a:prstGeom prst="rect">
            <a:avLst/>
          </a:prstGeom>
        </p:spPr>
      </p:pic>
      <p:sp>
        <p:nvSpPr>
          <p:cNvPr id="6" name="矩形 5"/>
          <p:cNvSpPr>
            <a:spLocks noGrp="1"/>
          </p:cNvSpPr>
          <p:nvPr/>
        </p:nvSpPr>
        <p:spPr>
          <a:xfrm>
            <a:off x="552450" y="1057275"/>
            <a:ext cx="10658475" cy="14288"/>
          </a:xfrm>
          <a:prstGeom prst="rect">
            <a:avLst/>
          </a:prstGeom>
          <a:solidFill>
            <a:srgbClr val="D9D3E2"/>
          </a:solidFill>
          <a:ln w="0">
            <a:solidFill>
              <a:srgbClr val="000000">
                <a:alpha val="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 name="takeaway-1-card"/>
          <p:cNvSpPr>
            <a:spLocks noGrp="1"/>
          </p:cNvSpPr>
          <p:nvPr/>
        </p:nvSpPr>
        <p:spPr>
          <a:xfrm>
            <a:off x="552450" y="1371600"/>
            <a:ext cx="3238500" cy="1295400"/>
          </a:xfrm>
          <a:prstGeom prst="rect">
            <a:avLst/>
          </a:prstGeom>
          <a:solidFill>
            <a:srgbClr val="E7EFFA"/>
          </a:solidFill>
          <a:ln w="11430">
            <a:solidFill>
              <a:srgbClr val="315E9B"/>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 name="takeaway-1-accent"/>
          <p:cNvSpPr>
            <a:spLocks noGrp="1"/>
          </p:cNvSpPr>
          <p:nvPr/>
        </p:nvSpPr>
        <p:spPr>
          <a:xfrm>
            <a:off x="552450" y="1371600"/>
            <a:ext cx="66675" cy="1295400"/>
          </a:xfrm>
          <a:prstGeom prst="rect">
            <a:avLst/>
          </a:prstGeom>
          <a:solidFill>
            <a:srgbClr val="315E9B"/>
          </a:solidFill>
          <a:ln w="0">
            <a:solidFill>
              <a:srgbClr val="000000">
                <a:alpha val="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 name="takeaway-1-index"/>
          <p:cNvSpPr>
            <a:spLocks noGrp="1"/>
          </p:cNvSpPr>
          <p:nvPr/>
        </p:nvSpPr>
        <p:spPr>
          <a:xfrm>
            <a:off x="838200" y="1657350"/>
            <a:ext cx="419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315E9B"/>
                </a:solidFill>
                <a:latin typeface="PingFang SC" panose="020B0400000000000000" charset="-122"/>
                <a:ea typeface="PingFang SC" panose="020B0400000000000000" charset="-122"/>
                <a:cs typeface="PingFang SC" panose="020B0400000000000000" charset="-122"/>
              </a:defRPr>
            </a:pPr>
            <a:r>
              <a:rPr kumimoji="0" sz="1800" b="1" i="0" u="none" strike="noStrike" kern="1200" cap="none" spc="0" normalizeH="0" baseline="0" noProof="0">
                <a:ln>
                  <a:noFill/>
                </a:ln>
                <a:solidFill>
                  <a:srgbClr val="315E9B"/>
                </a:solidFill>
                <a:effectLst/>
                <a:uLnTx/>
                <a:uFillTx/>
                <a:latin typeface="PingFang SC" panose="020B0400000000000000" charset="-122"/>
                <a:ea typeface="PingFang SC" panose="020B0400000000000000" charset="-122"/>
                <a:cs typeface="PingFang SC" panose="020B0400000000000000" charset="-122"/>
              </a:rPr>
              <a:t>01</a:t>
            </a:r>
          </a:p>
        </p:txBody>
      </p:sp>
      <p:sp>
        <p:nvSpPr>
          <p:cNvPr id="10" name="takeaway-1-title"/>
          <p:cNvSpPr>
            <a:spLocks noGrp="1"/>
          </p:cNvSpPr>
          <p:nvPr/>
        </p:nvSpPr>
        <p:spPr>
          <a:xfrm>
            <a:off x="1314450" y="1628775"/>
            <a:ext cx="23812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1800" b="1">
                <a:solidFill>
                  <a:srgbClr val="17131F"/>
                </a:solidFill>
                <a:latin typeface="PingFang SC" panose="020B0400000000000000" charset="-122"/>
                <a:ea typeface="PingFang SC" panose="020B0400000000000000" charset="-122"/>
                <a:cs typeface="PingFang SC" panose="020B0400000000000000" charset="-122"/>
              </a:defRPr>
            </a:pPr>
            <a:r>
              <a:rPr kumimoji="0" sz="1650" b="1" i="0" u="none" strike="noStrike" kern="1200" cap="none" spc="0" normalizeH="0" baseline="0" noProof="0">
                <a:ln>
                  <a:noFill/>
                </a:ln>
                <a:solidFill>
                  <a:srgbClr val="17131F"/>
                </a:solidFill>
                <a:effectLst/>
                <a:uLnTx/>
                <a:uFillTx/>
                <a:latin typeface="PingFang SC" panose="020B0400000000000000" charset="-122"/>
                <a:ea typeface="PingFang SC" panose="020B0400000000000000" charset="-122"/>
                <a:cs typeface="PingFang SC" panose="020B0400000000000000" charset="-122"/>
              </a:rPr>
              <a:t>Decode bottleneck</a:t>
            </a:r>
          </a:p>
        </p:txBody>
      </p:sp>
      <p:sp>
        <p:nvSpPr>
          <p:cNvPr id="11" name="takeaway-1-body"/>
          <p:cNvSpPr>
            <a:spLocks noGrp="1"/>
          </p:cNvSpPr>
          <p:nvPr/>
        </p:nvSpPr>
        <p:spPr>
          <a:xfrm>
            <a:off x="1314450" y="2133600"/>
            <a:ext cx="23812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1200" b="0">
                <a:solidFill>
                  <a:srgbClr val="4F4A5D"/>
                </a:solidFill>
                <a:latin typeface="PingFang SC" panose="020B0400000000000000" charset="-122"/>
                <a:ea typeface="PingFang SC" panose="020B0400000000000000" charset="-122"/>
                <a:cs typeface="PingFang SC" panose="020B0400000000000000" charset="-122"/>
              </a:defRPr>
            </a:pPr>
            <a:r>
              <a:rPr kumimoji="0" sz="1050" b="0" i="0" u="none" strike="noStrike" kern="1200" cap="none" spc="0" normalizeH="0" baseline="0" noProof="0">
                <a:ln>
                  <a:noFill/>
                </a:ln>
                <a:solidFill>
                  <a:srgbClr val="4F4A5D"/>
                </a:solidFill>
                <a:effectLst/>
                <a:uLnTx/>
                <a:uFillTx/>
                <a:latin typeface="PingFang SC" panose="020B0400000000000000" charset="-122"/>
                <a:ea typeface="PingFang SC" panose="020B0400000000000000" charset="-122"/>
                <a:cs typeface="PingFang SC" panose="020B0400000000000000" charset="-122"/>
              </a:rPr>
              <a:t>Prefix reuse saves prefill, but decode still rereads shared KV.</a:t>
            </a:r>
          </a:p>
        </p:txBody>
      </p:sp>
      <p:sp>
        <p:nvSpPr>
          <p:cNvPr id="12" name="takeaway-2-card"/>
          <p:cNvSpPr>
            <a:spLocks noGrp="1"/>
          </p:cNvSpPr>
          <p:nvPr/>
        </p:nvSpPr>
        <p:spPr>
          <a:xfrm>
            <a:off x="552450" y="3028950"/>
            <a:ext cx="3238500" cy="1295400"/>
          </a:xfrm>
          <a:prstGeom prst="rect">
            <a:avLst/>
          </a:prstGeom>
          <a:solidFill>
            <a:srgbClr val="F2ECF8"/>
          </a:solidFill>
          <a:ln w="11430">
            <a:solidFill>
              <a:srgbClr val="4B1D78"/>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3" name="takeaway-2-accent"/>
          <p:cNvSpPr>
            <a:spLocks noGrp="1"/>
          </p:cNvSpPr>
          <p:nvPr/>
        </p:nvSpPr>
        <p:spPr>
          <a:xfrm>
            <a:off x="552450" y="3028950"/>
            <a:ext cx="66675" cy="1295400"/>
          </a:xfrm>
          <a:prstGeom prst="rect">
            <a:avLst/>
          </a:prstGeom>
          <a:solidFill>
            <a:srgbClr val="4B1D78"/>
          </a:solidFill>
          <a:ln w="0">
            <a:solidFill>
              <a:srgbClr val="000000">
                <a:alpha val="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4" name="takeaway-2-index"/>
          <p:cNvSpPr>
            <a:spLocks noGrp="1"/>
          </p:cNvSpPr>
          <p:nvPr/>
        </p:nvSpPr>
        <p:spPr>
          <a:xfrm>
            <a:off x="838200" y="3314700"/>
            <a:ext cx="419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4B1D78"/>
                </a:solidFill>
                <a:latin typeface="PingFang SC" panose="020B0400000000000000" charset="-122"/>
                <a:ea typeface="PingFang SC" panose="020B0400000000000000" charset="-122"/>
                <a:cs typeface="PingFang SC" panose="020B0400000000000000" charset="-122"/>
              </a:defRPr>
            </a:pPr>
            <a:r>
              <a:rPr kumimoji="0" sz="1800" b="1" i="0" u="none" strike="noStrike" kern="1200" cap="none" spc="0" normalizeH="0" baseline="0" noProof="0">
                <a:ln>
                  <a:noFill/>
                </a:ln>
                <a:solidFill>
                  <a:srgbClr val="4B1D78"/>
                </a:solidFill>
                <a:effectLst/>
                <a:uLnTx/>
                <a:uFillTx/>
                <a:latin typeface="PingFang SC" panose="020B0400000000000000" charset="-122"/>
                <a:ea typeface="PingFang SC" panose="020B0400000000000000" charset="-122"/>
                <a:cs typeface="PingFang SC" panose="020B0400000000000000" charset="-122"/>
              </a:rPr>
              <a:t>02</a:t>
            </a:r>
          </a:p>
        </p:txBody>
      </p:sp>
      <p:sp>
        <p:nvSpPr>
          <p:cNvPr id="15" name="takeaway-2-title"/>
          <p:cNvSpPr>
            <a:spLocks noGrp="1"/>
          </p:cNvSpPr>
          <p:nvPr/>
        </p:nvSpPr>
        <p:spPr>
          <a:xfrm>
            <a:off x="1314450" y="3286125"/>
            <a:ext cx="23812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1800" b="1">
                <a:solidFill>
                  <a:srgbClr val="17131F"/>
                </a:solidFill>
                <a:latin typeface="PingFang SC" panose="020B0400000000000000" charset="-122"/>
                <a:ea typeface="PingFang SC" panose="020B0400000000000000" charset="-122"/>
                <a:cs typeface="PingFang SC" panose="020B0400000000000000" charset="-122"/>
              </a:defRPr>
            </a:pPr>
            <a:r>
              <a:rPr kumimoji="0" sz="1650" b="1" i="0" u="none" strike="noStrike" kern="1200" cap="none" spc="0" normalizeH="0" baseline="0" noProof="0">
                <a:ln>
                  <a:noFill/>
                </a:ln>
                <a:solidFill>
                  <a:srgbClr val="17131F"/>
                </a:solidFill>
                <a:effectLst/>
                <a:uLnTx/>
                <a:uFillTx/>
                <a:latin typeface="PingFang SC" panose="020B0400000000000000" charset="-122"/>
                <a:ea typeface="PingFang SC" panose="020B0400000000000000" charset="-122"/>
                <a:cs typeface="PingFang SC" panose="020B0400000000000000" charset="-122"/>
              </a:rPr>
              <a:t>Tree-aware attention</a:t>
            </a:r>
          </a:p>
        </p:txBody>
      </p:sp>
      <p:sp>
        <p:nvSpPr>
          <p:cNvPr id="16" name="takeaway-2-body"/>
          <p:cNvSpPr>
            <a:spLocks noGrp="1"/>
          </p:cNvSpPr>
          <p:nvPr/>
        </p:nvSpPr>
        <p:spPr>
          <a:xfrm>
            <a:off x="1314450" y="3790950"/>
            <a:ext cx="23812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1200" b="0">
                <a:solidFill>
                  <a:srgbClr val="4F4A5D"/>
                </a:solidFill>
                <a:latin typeface="PingFang SC" panose="020B0400000000000000" charset="-122"/>
                <a:ea typeface="PingFang SC" panose="020B0400000000000000" charset="-122"/>
                <a:cs typeface="PingFang SC" panose="020B0400000000000000" charset="-122"/>
              </a:defRPr>
            </a:pPr>
            <a:r>
              <a:rPr kumimoji="0" sz="1050" b="0" i="0" u="none" strike="noStrike" kern="1200" cap="none" spc="0" normalizeH="0" baseline="0" noProof="0">
                <a:ln>
                  <a:noFill/>
                </a:ln>
                <a:solidFill>
                  <a:srgbClr val="4F4A5D"/>
                </a:solidFill>
                <a:effectLst/>
                <a:uLnTx/>
                <a:uFillTx/>
                <a:latin typeface="PingFang SC" panose="020B0400000000000000" charset="-122"/>
                <a:ea typeface="PingFang SC" panose="020B0400000000000000" charset="-122"/>
                <a:cs typeface="PingFang SC" panose="020B0400000000000000" charset="-122"/>
              </a:rPr>
              <a:t>CoDec coalesces KV reads and reduces outputs over prefix trees.</a:t>
            </a:r>
          </a:p>
        </p:txBody>
      </p:sp>
      <p:sp>
        <p:nvSpPr>
          <p:cNvPr id="17" name="takeaway-3-card"/>
          <p:cNvSpPr>
            <a:spLocks noGrp="1"/>
          </p:cNvSpPr>
          <p:nvPr/>
        </p:nvSpPr>
        <p:spPr>
          <a:xfrm>
            <a:off x="552450" y="4686300"/>
            <a:ext cx="3238500" cy="1295400"/>
          </a:xfrm>
          <a:prstGeom prst="rect">
            <a:avLst/>
          </a:prstGeom>
          <a:solidFill>
            <a:srgbClr val="E5F3EC"/>
          </a:solidFill>
          <a:ln w="11430">
            <a:solidFill>
              <a:srgbClr val="2E8B57"/>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8" name="takeaway-3-accent"/>
          <p:cNvSpPr>
            <a:spLocks noGrp="1"/>
          </p:cNvSpPr>
          <p:nvPr/>
        </p:nvSpPr>
        <p:spPr>
          <a:xfrm>
            <a:off x="552450" y="4686300"/>
            <a:ext cx="66675" cy="1295400"/>
          </a:xfrm>
          <a:prstGeom prst="rect">
            <a:avLst/>
          </a:prstGeom>
          <a:solidFill>
            <a:srgbClr val="2E8B57"/>
          </a:solidFill>
          <a:ln w="0">
            <a:solidFill>
              <a:srgbClr val="000000">
                <a:alpha val="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9" name="takeaway-3-index"/>
          <p:cNvSpPr>
            <a:spLocks noGrp="1"/>
          </p:cNvSpPr>
          <p:nvPr/>
        </p:nvSpPr>
        <p:spPr>
          <a:xfrm>
            <a:off x="838200" y="4972050"/>
            <a:ext cx="419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2E8B57"/>
                </a:solidFill>
                <a:latin typeface="PingFang SC" panose="020B0400000000000000" charset="-122"/>
                <a:ea typeface="PingFang SC" panose="020B0400000000000000" charset="-122"/>
                <a:cs typeface="PingFang SC" panose="020B0400000000000000" charset="-122"/>
              </a:defRPr>
            </a:pPr>
            <a:r>
              <a:rPr kumimoji="0" sz="1800" b="1" i="0" u="none" strike="noStrike" kern="1200" cap="none" spc="0" normalizeH="0" baseline="0" noProof="0">
                <a:ln>
                  <a:noFill/>
                </a:ln>
                <a:solidFill>
                  <a:srgbClr val="2E8B57"/>
                </a:solidFill>
                <a:effectLst/>
                <a:uLnTx/>
                <a:uFillTx/>
                <a:latin typeface="PingFang SC" panose="020B0400000000000000" charset="-122"/>
                <a:ea typeface="PingFang SC" panose="020B0400000000000000" charset="-122"/>
                <a:cs typeface="PingFang SC" panose="020B0400000000000000" charset="-122"/>
              </a:rPr>
              <a:t>03</a:t>
            </a:r>
          </a:p>
        </p:txBody>
      </p:sp>
      <p:sp>
        <p:nvSpPr>
          <p:cNvPr id="20" name="takeaway-3-title"/>
          <p:cNvSpPr>
            <a:spLocks noGrp="1"/>
          </p:cNvSpPr>
          <p:nvPr/>
        </p:nvSpPr>
        <p:spPr>
          <a:xfrm>
            <a:off x="1314450" y="4943475"/>
            <a:ext cx="23812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1800" b="1">
                <a:solidFill>
                  <a:srgbClr val="17131F"/>
                </a:solidFill>
                <a:latin typeface="PingFang SC" panose="020B0400000000000000" charset="-122"/>
                <a:ea typeface="PingFang SC" panose="020B0400000000000000" charset="-122"/>
                <a:cs typeface="PingFang SC" panose="020B0400000000000000" charset="-122"/>
              </a:defRPr>
            </a:pPr>
            <a:r>
              <a:rPr kumimoji="0" sz="1650" b="1" i="0" u="none" strike="noStrike" kern="1200" cap="none" spc="0" normalizeH="0" baseline="0" noProof="0">
                <a:ln>
                  <a:noFill/>
                </a:ln>
                <a:solidFill>
                  <a:srgbClr val="17131F"/>
                </a:solidFill>
                <a:effectLst/>
                <a:uLnTx/>
                <a:uFillTx/>
                <a:latin typeface="PingFang SC" panose="020B0400000000000000" charset="-122"/>
                <a:ea typeface="PingFang SC" panose="020B0400000000000000" charset="-122"/>
                <a:cs typeface="PingFang SC" panose="020B0400000000000000" charset="-122"/>
              </a:rPr>
              <a:t>IO-driven speedup</a:t>
            </a:r>
          </a:p>
        </p:txBody>
      </p:sp>
      <p:sp>
        <p:nvSpPr>
          <p:cNvPr id="21" name="takeaway-3-body"/>
          <p:cNvSpPr>
            <a:spLocks noGrp="1"/>
          </p:cNvSpPr>
          <p:nvPr/>
        </p:nvSpPr>
        <p:spPr>
          <a:xfrm>
            <a:off x="1314450" y="5448300"/>
            <a:ext cx="23812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1200" b="0">
                <a:solidFill>
                  <a:srgbClr val="4F4A5D"/>
                </a:solidFill>
                <a:latin typeface="PingFang SC" panose="020B0400000000000000" charset="-122"/>
                <a:ea typeface="PingFang SC" panose="020B0400000000000000" charset="-122"/>
                <a:cs typeface="PingFang SC" panose="020B0400000000000000" charset="-122"/>
              </a:defRPr>
            </a:pPr>
            <a:r>
              <a:rPr kumimoji="0" sz="1050" b="0" i="0" u="none" strike="noStrike" kern="1200" cap="none" spc="0" normalizeH="0" baseline="0" noProof="0" dirty="0">
                <a:ln>
                  <a:noFill/>
                </a:ln>
                <a:solidFill>
                  <a:srgbClr val="4F4A5D"/>
                </a:solidFill>
                <a:effectLst/>
                <a:uLnTx/>
                <a:uFillTx/>
                <a:latin typeface="PingFang SC" panose="020B0400000000000000" charset="-122"/>
                <a:ea typeface="PingFang SC" panose="020B0400000000000000" charset="-122"/>
                <a:cs typeface="PingFang SC" panose="020B0400000000000000" charset="-122"/>
              </a:rPr>
              <a:t>120.9x less memory traffic, 3.75x lower TPOT.</a:t>
            </a:r>
          </a:p>
        </p:txBody>
      </p:sp>
      <p:sp>
        <p:nvSpPr>
          <p:cNvPr id="22" name="image-placeholder-frame"/>
          <p:cNvSpPr>
            <a:spLocks noGrp="1"/>
          </p:cNvSpPr>
          <p:nvPr/>
        </p:nvSpPr>
        <p:spPr>
          <a:xfrm>
            <a:off x="4000500" y="1371600"/>
            <a:ext cx="7210425" cy="4610100"/>
          </a:xfrm>
          <a:prstGeom prst="rect">
            <a:avLst/>
          </a:prstGeom>
          <a:solidFill>
            <a:srgbClr val="FFFFFF"/>
          </a:solidFill>
          <a:ln w="11430">
            <a:solidFill>
              <a:srgbClr val="D9D3E2"/>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3" name="image-placeholder-area"/>
          <p:cNvSpPr>
            <a:spLocks noGrp="1"/>
          </p:cNvSpPr>
          <p:nvPr/>
        </p:nvSpPr>
        <p:spPr>
          <a:xfrm>
            <a:off x="4171950" y="1543050"/>
            <a:ext cx="6867525" cy="4267200"/>
          </a:xfrm>
          <a:prstGeom prst="rect">
            <a:avLst/>
          </a:prstGeom>
          <a:solidFill>
            <a:srgbClr val="F8F6FA"/>
          </a:solidFill>
          <a:ln w="9525">
            <a:solidFill>
              <a:srgbClr val="D9D3E2"/>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6" name="矩形 25"/>
          <p:cNvSpPr>
            <a:spLocks noGrp="1"/>
          </p:cNvSpPr>
          <p:nvPr/>
        </p:nvSpPr>
        <p:spPr>
          <a:xfrm>
            <a:off x="552450" y="6419850"/>
            <a:ext cx="10658475" cy="9525"/>
          </a:xfrm>
          <a:prstGeom prst="rect">
            <a:avLst/>
          </a:prstGeom>
          <a:solidFill>
            <a:srgbClr val="D9D3E2"/>
          </a:solidFill>
          <a:ln w="0">
            <a:solidFill>
              <a:srgbClr val="000000">
                <a:alpha val="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pic>
        <p:nvPicPr>
          <p:cNvPr id="29" name="overview-image" descr="CoDec overview image"/>
          <p:cNvPicPr>
            <a:picLocks noChangeAspect="1"/>
          </p:cNvPicPr>
          <p:nvPr/>
        </p:nvPicPr>
        <p:blipFill>
          <a:blip r:embed="rId4"/>
          <a:stretch>
            <a:fillRect/>
          </a:stretch>
        </p:blipFill>
        <p:spPr>
          <a:xfrm>
            <a:off x="4171950" y="2234849"/>
            <a:ext cx="6867525" cy="2883602"/>
          </a:xfrm>
          <a:prstGeom prst="rect">
            <a:avLst/>
          </a:prstGeom>
        </p:spPr>
      </p:pic>
      <p:sp>
        <p:nvSpPr>
          <p:cNvPr id="27" name="footer-deck-name"/>
          <p:cNvSpPr>
            <a:spLocks noGrp="1"/>
          </p:cNvSpPr>
          <p:nvPr/>
        </p:nvSpPr>
        <p:spPr>
          <a:xfrm>
            <a:off x="552450" y="6515100"/>
            <a:ext cx="590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sz="1050" b="0">
                <a:solidFill>
                  <a:srgbClr val="7A7387"/>
                </a:solidFill>
                <a:latin typeface="PingFang SC" panose="020B0400000000000000" charset="-122"/>
                <a:ea typeface="PingFang SC" panose="020B0400000000000000" charset="-122"/>
                <a:cs typeface="PingFang SC" panose="020B0400000000000000" charset="-122"/>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PingFang SC" panose="020B0400000000000000" charset="-122"/>
                <a:cs typeface="PingFang SC" panose="020B0400000000000000" charset="-122"/>
              </a:rPr>
              <a:t>CoDec | SIGMOD Research Talk</a:t>
            </a:r>
          </a:p>
        </p:txBody>
      </p:sp>
      <p:sp>
        <p:nvSpPr>
          <p:cNvPr id="28" name="footer-page-number"/>
          <p:cNvSpPr>
            <a:spLocks noGrp="1"/>
          </p:cNvSpPr>
          <p:nvPr/>
        </p:nvSpPr>
        <p:spPr>
          <a:xfrm>
            <a:off x="10829925" y="6515100"/>
            <a:ext cx="381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r" defTabSz="457200" rtl="0" eaLnBrk="1" fontAlgn="auto" latinLnBrk="0" hangingPunct="1">
              <a:lnSpc>
                <a:spcPct val="100000"/>
              </a:lnSpc>
              <a:spcBef>
                <a:spcPts val="0"/>
              </a:spcBef>
              <a:spcAft>
                <a:spcPts val="0"/>
              </a:spcAft>
              <a:buClrTx/>
              <a:buSzTx/>
              <a:buFontTx/>
              <a:buNone/>
              <a:tabLst/>
              <a:defRPr sz="1050" b="0">
                <a:solidFill>
                  <a:srgbClr val="7A7387"/>
                </a:solidFill>
                <a:latin typeface="PingFang SC" panose="020B0400000000000000" charset="-122"/>
                <a:ea typeface="PingFang SC" panose="020B0400000000000000" charset="-122"/>
                <a:cs typeface="PingFang SC" panose="020B0400000000000000" charset="-122"/>
              </a:defRPr>
            </a:pPr>
            <a:r>
              <a:rPr kumimoji="0" sz="1050" b="0" i="0" u="none" strike="noStrike" kern="1200" cap="none" spc="0" normalizeH="0" baseline="0" noProof="0">
                <a:ln>
                  <a:noFill/>
                </a:ln>
                <a:solidFill>
                  <a:srgbClr val="7A7387"/>
                </a:solidFill>
                <a:effectLst/>
                <a:uLnTx/>
                <a:uFillTx/>
                <a:latin typeface="PingFang SC" panose="020B0400000000000000" charset="-122"/>
                <a:ea typeface="PingFang SC" panose="020B0400000000000000" charset="-122"/>
                <a:cs typeface="PingFang SC" panose="020B0400000000000000" charset="-122"/>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
          <p:cNvPicPr>
            <a:picLocks noChangeAspect="1"/>
          </p:cNvPicPr>
          <p:nvPr/>
        </p:nvPicPr>
        <p:blipFill>
          <a:blip r:embed="rId3"/>
          <a:srcRect t="22396" b="22396"/>
          <a:stretch>
            <a:fillRect/>
          </a:stretch>
        </p:blipFill>
        <p:spPr>
          <a:xfrm>
            <a:off x="0" y="5905500"/>
            <a:ext cx="12192000" cy="952500"/>
          </a:xfrm>
          <a:prstGeom prst="rect">
            <a:avLst/>
          </a:prstGeom>
        </p:spPr>
      </p:pic>
      <p:pic>
        <p:nvPicPr>
          <p:cNvPr id="3" name="图片 3"/>
          <p:cNvPicPr>
            <a:picLocks noChangeAspect="1"/>
          </p:cNvPicPr>
          <p:nvPr/>
        </p:nvPicPr>
        <p:blipFill>
          <a:blip r:embed="rId4"/>
          <a:stretch>
            <a:fillRect/>
          </a:stretch>
        </p:blipFill>
        <p:spPr>
          <a:xfrm>
            <a:off x="8826341" y="438150"/>
            <a:ext cx="2216468" cy="704850"/>
          </a:xfrm>
          <a:prstGeom prst="rect">
            <a:avLst/>
          </a:prstGeom>
        </p:spPr>
      </p:pic>
      <p:sp>
        <p:nvSpPr>
          <p:cNvPr id="19" name="project-name"/>
          <p:cNvSpPr/>
          <p:nvPr/>
        </p:nvSpPr>
        <p:spPr>
          <a:xfrm>
            <a:off x="685800" y="1085850"/>
            <a:ext cx="4381500" cy="6858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5100" b="1">
                <a:solidFill>
                  <a:srgbClr val="5B1B73"/>
                </a:solidFill>
                <a:latin typeface="Aptos Display"/>
                <a:ea typeface="Aptos Display"/>
                <a:cs typeface="Aptos Display"/>
              </a:defRPr>
            </a:pPr>
            <a:r>
              <a:rPr kumimoji="0" sz="5100" b="1" i="0" u="none" strike="noStrike" kern="1200" cap="none" spc="0" normalizeH="0" baseline="0" noProof="0" dirty="0">
                <a:ln>
                  <a:noFill/>
                </a:ln>
                <a:solidFill>
                  <a:srgbClr val="5B1B73"/>
                </a:solidFill>
                <a:effectLst/>
                <a:uLnTx/>
                <a:uFillTx/>
                <a:latin typeface="Aptos Display"/>
              </a:rPr>
              <a:t>STAR</a:t>
            </a:r>
          </a:p>
        </p:txBody>
      </p:sp>
      <p:sp>
        <p:nvSpPr>
          <p:cNvPr id="20" name="subtitle"/>
          <p:cNvSpPr/>
          <p:nvPr/>
        </p:nvSpPr>
        <p:spPr>
          <a:xfrm>
            <a:off x="723900" y="1924050"/>
            <a:ext cx="5143500" cy="9144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700" b="1">
                <a:solidFill>
                  <a:srgbClr val="17131F"/>
                </a:solidFill>
                <a:latin typeface="Aptos Display"/>
                <a:ea typeface="Aptos Display"/>
                <a:cs typeface="Aptos Display"/>
              </a:defRPr>
            </a:pPr>
            <a:r>
              <a:rPr kumimoji="0" sz="2800" b="1" i="0" u="none" strike="noStrike" kern="1200" cap="none" spc="0" normalizeH="0" baseline="0" noProof="0" dirty="0">
                <a:ln>
                  <a:noFill/>
                </a:ln>
                <a:solidFill>
                  <a:srgbClr val="17131F"/>
                </a:solidFill>
                <a:effectLst/>
                <a:uLnTx/>
                <a:uFillTx/>
                <a:latin typeface="Aptos Display"/>
              </a:rPr>
              <a:t>Decode-Phase Rescheduling</a:t>
            </a:r>
          </a:p>
          <a:p>
            <a:pPr marL="0" marR="0" lvl="0" indent="0" algn="l" defTabSz="914400" eaLnBrk="1" fontAlgn="auto" latinLnBrk="0" hangingPunct="1">
              <a:lnSpc>
                <a:spcPct val="100000"/>
              </a:lnSpc>
              <a:spcBef>
                <a:spcPts val="0"/>
              </a:spcBef>
              <a:spcAft>
                <a:spcPts val="0"/>
              </a:spcAft>
              <a:buClrTx/>
              <a:buSzTx/>
              <a:buFontTx/>
              <a:buNone/>
              <a:tabLst/>
              <a:defRPr sz="2700" b="1">
                <a:solidFill>
                  <a:srgbClr val="17131F"/>
                </a:solidFill>
                <a:latin typeface="Aptos Display"/>
                <a:ea typeface="Aptos Display"/>
                <a:cs typeface="Aptos Display"/>
              </a:defRPr>
            </a:pPr>
            <a:r>
              <a:rPr kumimoji="0" sz="2800" b="1" i="0" u="none" strike="noStrike" kern="1200" cap="none" spc="0" normalizeH="0" baseline="0" noProof="0" dirty="0">
                <a:ln>
                  <a:noFill/>
                </a:ln>
                <a:solidFill>
                  <a:srgbClr val="17131F"/>
                </a:solidFill>
                <a:effectLst/>
                <a:uLnTx/>
                <a:uFillTx/>
                <a:latin typeface="Aptos Display"/>
              </a:rPr>
              <a:t>for LLM Inference</a:t>
            </a:r>
          </a:p>
        </p:txBody>
      </p:sp>
      <p:sp>
        <p:nvSpPr>
          <p:cNvPr id="21" name="authors"/>
          <p:cNvSpPr/>
          <p:nvPr/>
        </p:nvSpPr>
        <p:spPr>
          <a:xfrm>
            <a:off x="742950" y="3028950"/>
            <a:ext cx="4762500" cy="66675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275">
                <a:solidFill>
                  <a:srgbClr val="4B4658"/>
                </a:solidFill>
                <a:latin typeface="Calibri"/>
                <a:ea typeface="Calibri"/>
                <a:cs typeface="Calibri"/>
              </a:defRPr>
            </a:pPr>
            <a:r>
              <a:rPr kumimoji="0" sz="1400" b="0" i="0" u="none" strike="noStrike" kern="1200" cap="none" spc="0" normalizeH="0" baseline="0" noProof="0" dirty="0">
                <a:ln>
                  <a:noFill/>
                </a:ln>
                <a:solidFill>
                  <a:srgbClr val="4B4658"/>
                </a:solidFill>
                <a:effectLst/>
                <a:uLnTx/>
                <a:uFillTx/>
                <a:latin typeface="Calibri"/>
                <a:ea typeface="Calibri"/>
                <a:cs typeface="Calibri"/>
              </a:rPr>
              <a:t>Zhibin Wang, </a:t>
            </a:r>
            <a:r>
              <a:rPr kumimoji="0" sz="1400" b="0" i="0" u="none" strike="noStrike" kern="1200" cap="none" spc="0" normalizeH="0" baseline="0" noProof="0" dirty="0" err="1">
                <a:ln>
                  <a:noFill/>
                </a:ln>
                <a:solidFill>
                  <a:srgbClr val="4B4658"/>
                </a:solidFill>
                <a:effectLst/>
                <a:uLnTx/>
                <a:uFillTx/>
                <a:latin typeface="Calibri"/>
                <a:ea typeface="Calibri"/>
                <a:cs typeface="Calibri"/>
              </a:rPr>
              <a:t>Zetao</a:t>
            </a:r>
            <a:r>
              <a:rPr kumimoji="0" sz="1400" b="0" i="0" u="none" strike="noStrike" kern="1200" cap="none" spc="0" normalizeH="0" baseline="0" noProof="0" dirty="0">
                <a:ln>
                  <a:noFill/>
                </a:ln>
                <a:solidFill>
                  <a:srgbClr val="4B4658"/>
                </a:solidFill>
                <a:effectLst/>
                <a:uLnTx/>
                <a:uFillTx/>
                <a:latin typeface="Calibri"/>
                <a:ea typeface="Calibri"/>
                <a:cs typeface="Calibri"/>
              </a:rPr>
              <a:t> Hong, Xue Li, Zibo Wang,</a:t>
            </a:r>
          </a:p>
          <a:p>
            <a:pPr marL="0" marR="0" lvl="0" indent="0" algn="l" defTabSz="914400" eaLnBrk="1" fontAlgn="auto" latinLnBrk="0" hangingPunct="1">
              <a:lnSpc>
                <a:spcPct val="100000"/>
              </a:lnSpc>
              <a:spcBef>
                <a:spcPts val="0"/>
              </a:spcBef>
              <a:spcAft>
                <a:spcPts val="0"/>
              </a:spcAft>
              <a:buClrTx/>
              <a:buSzTx/>
              <a:buFontTx/>
              <a:buNone/>
              <a:tabLst/>
              <a:defRPr sz="1275">
                <a:solidFill>
                  <a:srgbClr val="4B4658"/>
                </a:solidFill>
                <a:latin typeface="Calibri"/>
                <a:ea typeface="Calibri"/>
                <a:cs typeface="Calibri"/>
              </a:defRPr>
            </a:pPr>
            <a:r>
              <a:rPr kumimoji="0" sz="1400" b="0" i="0" u="none" strike="noStrike" kern="1200" cap="none" spc="0" normalizeH="0" baseline="0" noProof="0" dirty="0">
                <a:ln>
                  <a:noFill/>
                </a:ln>
                <a:solidFill>
                  <a:srgbClr val="4B4658"/>
                </a:solidFill>
                <a:effectLst/>
                <a:uLnTx/>
                <a:uFillTx/>
                <a:latin typeface="Calibri"/>
                <a:ea typeface="Calibri"/>
                <a:cs typeface="Calibri"/>
              </a:rPr>
              <a:t>Shipeng Li, Qingkai Meng, Qing Wang,</a:t>
            </a:r>
          </a:p>
          <a:p>
            <a:pPr marL="0" marR="0" lvl="0" indent="0" algn="l" defTabSz="914400" eaLnBrk="1" fontAlgn="auto" latinLnBrk="0" hangingPunct="1">
              <a:lnSpc>
                <a:spcPct val="100000"/>
              </a:lnSpc>
              <a:spcBef>
                <a:spcPts val="0"/>
              </a:spcBef>
              <a:spcAft>
                <a:spcPts val="0"/>
              </a:spcAft>
              <a:buClrTx/>
              <a:buSzTx/>
              <a:buFontTx/>
              <a:buNone/>
              <a:tabLst/>
              <a:defRPr sz="1275">
                <a:solidFill>
                  <a:srgbClr val="4B4658"/>
                </a:solidFill>
                <a:latin typeface="Calibri"/>
                <a:ea typeface="Calibri"/>
                <a:cs typeface="Calibri"/>
              </a:defRPr>
            </a:pPr>
            <a:r>
              <a:rPr kumimoji="0" sz="1400" b="0" i="0" u="none" strike="noStrike" kern="1200" cap="none" spc="0" normalizeH="0" baseline="0" noProof="0" dirty="0" err="1">
                <a:ln>
                  <a:noFill/>
                </a:ln>
                <a:solidFill>
                  <a:srgbClr val="4B4658"/>
                </a:solidFill>
                <a:effectLst/>
                <a:uLnTx/>
                <a:uFillTx/>
                <a:latin typeface="Calibri"/>
                <a:ea typeface="Calibri"/>
                <a:cs typeface="Calibri"/>
              </a:rPr>
              <a:t>Chengying</a:t>
            </a:r>
            <a:r>
              <a:rPr kumimoji="0" sz="1400" b="0" i="0" u="none" strike="noStrike" kern="1200" cap="none" spc="0" normalizeH="0" baseline="0" noProof="0" dirty="0">
                <a:ln>
                  <a:noFill/>
                </a:ln>
                <a:solidFill>
                  <a:srgbClr val="4B4658"/>
                </a:solidFill>
                <a:effectLst/>
                <a:uLnTx/>
                <a:uFillTx/>
                <a:latin typeface="Calibri"/>
                <a:ea typeface="Calibri"/>
                <a:cs typeface="Calibri"/>
              </a:rPr>
              <a:t> Huan, Rong Gu, Sheng Zhong, Chen Tian</a:t>
            </a:r>
          </a:p>
        </p:txBody>
      </p:sp>
      <p:sp>
        <p:nvSpPr>
          <p:cNvPr id="22" name="cover-gold-rule"/>
          <p:cNvSpPr/>
          <p:nvPr/>
        </p:nvSpPr>
        <p:spPr>
          <a:xfrm>
            <a:off x="742950" y="3886200"/>
            <a:ext cx="4381500" cy="19050"/>
          </a:xfrm>
          <a:prstGeom prst="rect">
            <a:avLst/>
          </a:prstGeom>
          <a:solidFill>
            <a:srgbClr val="C99A2E"/>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3" name="institution"/>
          <p:cNvSpPr/>
          <p:nvPr/>
        </p:nvSpPr>
        <p:spPr>
          <a:xfrm>
            <a:off x="742950" y="4057650"/>
            <a:ext cx="4762500" cy="51435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5B5668"/>
                </a:solidFill>
                <a:latin typeface="Calibri"/>
                <a:ea typeface="Calibri"/>
                <a:cs typeface="Calibri"/>
              </a:defRPr>
            </a:pPr>
            <a:r>
              <a:rPr kumimoji="0" sz="1500" b="0" i="0" u="none" strike="noStrike" kern="1200" cap="none" spc="0" normalizeH="0" baseline="0" noProof="0" dirty="0">
                <a:ln>
                  <a:noFill/>
                </a:ln>
                <a:solidFill>
                  <a:srgbClr val="5B5668"/>
                </a:solidFill>
                <a:effectLst/>
                <a:uLnTx/>
                <a:uFillTx/>
                <a:latin typeface="Calibri"/>
                <a:ea typeface="Calibri"/>
                <a:cs typeface="Calibri"/>
              </a:rPr>
              <a:t>State Key Laboratory for Novel Software Technology, </a:t>
            </a:r>
          </a:p>
          <a:p>
            <a:pPr marL="0" marR="0" lvl="0" indent="0" algn="l" defTabSz="914400" eaLnBrk="1" fontAlgn="auto" latinLnBrk="0" hangingPunct="1">
              <a:lnSpc>
                <a:spcPct val="100000"/>
              </a:lnSpc>
              <a:spcBef>
                <a:spcPts val="0"/>
              </a:spcBef>
              <a:spcAft>
                <a:spcPts val="0"/>
              </a:spcAft>
              <a:buClrTx/>
              <a:buSzTx/>
              <a:buFontTx/>
              <a:buNone/>
              <a:tabLst/>
              <a:defRPr sz="1500">
                <a:solidFill>
                  <a:srgbClr val="5B5668"/>
                </a:solidFill>
                <a:latin typeface="Calibri"/>
                <a:ea typeface="Calibri"/>
                <a:cs typeface="Calibri"/>
              </a:defRPr>
            </a:pPr>
            <a:r>
              <a:rPr kumimoji="0" sz="1500" b="0" i="0" u="none" strike="noStrike" kern="1200" cap="none" spc="0" normalizeH="0" baseline="0" noProof="0" dirty="0">
                <a:ln>
                  <a:noFill/>
                </a:ln>
                <a:solidFill>
                  <a:srgbClr val="5B5668"/>
                </a:solidFill>
                <a:effectLst/>
                <a:uLnTx/>
                <a:uFillTx/>
                <a:latin typeface="Calibri"/>
                <a:ea typeface="Calibri"/>
                <a:cs typeface="Calibri"/>
              </a:rPr>
              <a:t>Nanjing University</a:t>
            </a:r>
          </a:p>
          <a:p>
            <a:pPr marL="0" marR="0" lvl="0" indent="0" algn="l" defTabSz="914400" eaLnBrk="1" fontAlgn="auto" latinLnBrk="0" hangingPunct="1">
              <a:lnSpc>
                <a:spcPct val="100000"/>
              </a:lnSpc>
              <a:spcBef>
                <a:spcPts val="0"/>
              </a:spcBef>
              <a:spcAft>
                <a:spcPts val="0"/>
              </a:spcAft>
              <a:buClrTx/>
              <a:buSzTx/>
              <a:buFontTx/>
              <a:buNone/>
              <a:tabLst/>
              <a:defRPr sz="1500">
                <a:solidFill>
                  <a:srgbClr val="5B5668"/>
                </a:solidFill>
                <a:latin typeface="Calibri"/>
                <a:ea typeface="Calibri"/>
                <a:cs typeface="Calibri"/>
              </a:defRPr>
            </a:pPr>
            <a:r>
              <a:rPr kumimoji="0" sz="1500" b="0" i="0" u="none" strike="noStrike" kern="1200" cap="none" spc="0" normalizeH="0" baseline="0" noProof="0" dirty="0">
                <a:ln>
                  <a:noFill/>
                </a:ln>
                <a:solidFill>
                  <a:srgbClr val="5B5668"/>
                </a:solidFill>
                <a:effectLst/>
                <a:uLnTx/>
                <a:uFillTx/>
                <a:latin typeface="Calibri"/>
                <a:ea typeface="Calibri"/>
                <a:cs typeface="Calibri"/>
              </a:rPr>
              <a:t>Alibaba Group</a:t>
            </a:r>
          </a:p>
        </p:txBody>
      </p:sp>
      <p:sp>
        <p:nvSpPr>
          <p:cNvPr id="24" name="conference"/>
          <p:cNvSpPr/>
          <p:nvPr/>
        </p:nvSpPr>
        <p:spPr>
          <a:xfrm>
            <a:off x="742950" y="4884450"/>
            <a:ext cx="4953000" cy="4191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425" b="1">
                <a:solidFill>
                  <a:srgbClr val="4B1D78"/>
                </a:solidFill>
                <a:latin typeface="Calibri"/>
                <a:ea typeface="Calibri"/>
                <a:cs typeface="Calibri"/>
              </a:defRPr>
            </a:pPr>
            <a:r>
              <a:rPr kumimoji="0" sz="1600" b="1" i="0" u="none" strike="noStrike" kern="1200" cap="none" spc="0" normalizeH="0" baseline="0" noProof="0" dirty="0">
                <a:ln>
                  <a:noFill/>
                </a:ln>
                <a:solidFill>
                  <a:srgbClr val="4B1D78"/>
                </a:solidFill>
                <a:effectLst/>
                <a:uLnTx/>
                <a:uFillTx/>
                <a:latin typeface="Calibri"/>
                <a:ea typeface="Calibri"/>
                <a:cs typeface="Calibri"/>
              </a:rPr>
              <a:t>HPDC '26 | July 13-16, 2026 | Cleveland, OH, USA</a:t>
            </a:r>
          </a:p>
        </p:txBody>
      </p:sp>
      <p:sp>
        <p:nvSpPr>
          <p:cNvPr id="33"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Calibri"/>
                <a:ea typeface="Calibri"/>
                <a:cs typeface="Calibri"/>
              </a:defRPr>
            </a:pPr>
            <a:r>
              <a:rPr kumimoji="0" sz="1050" b="0" i="0" u="none" strike="noStrike" kern="1200" cap="none" spc="0" normalizeH="0" baseline="0" noProof="0" dirty="0">
                <a:ln>
                  <a:noFill/>
                </a:ln>
                <a:solidFill>
                  <a:srgbClr val="7A7387"/>
                </a:solidFill>
                <a:effectLst/>
                <a:uLnTx/>
                <a:uFillTx/>
                <a:latin typeface="Calibri"/>
                <a:ea typeface="Calibri"/>
                <a:cs typeface="Calibri"/>
              </a:rPr>
              <a:t>38</a:t>
            </a:r>
          </a:p>
        </p:txBody>
      </p:sp>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95010" y="1863725"/>
            <a:ext cx="6085840" cy="37560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3" name="图片 2"/>
          <p:cNvPicPr>
            <a:picLocks noChangeAspect="1"/>
          </p:cNvPicPr>
          <p:nvPr/>
        </p:nvPicPr>
        <p:blipFill>
          <a:blip r:embed="rId3"/>
          <a:stretch>
            <a:fillRect/>
          </a:stretch>
        </p:blipFill>
        <p:spPr>
          <a:xfrm>
            <a:off x="9639300" y="354711"/>
            <a:ext cx="1571625" cy="481203"/>
          </a:xfrm>
          <a:prstGeom prst="rect">
            <a:avLst/>
          </a:prstGeom>
        </p:spPr>
      </p:pic>
      <p:sp>
        <p:nvSpPr>
          <p:cNvPr id="4"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 name="section-1-card"/>
          <p:cNvSpPr/>
          <p:nvPr/>
        </p:nvSpPr>
        <p:spPr>
          <a:xfrm>
            <a:off x="781050" y="1504950"/>
            <a:ext cx="9886950" cy="742950"/>
          </a:xfrm>
          <a:prstGeom prst="rect">
            <a:avLst/>
          </a:prstGeom>
          <a:solidFill>
            <a:srgbClr val="4B1D78"/>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 name="section-1-accent"/>
          <p:cNvSpPr/>
          <p:nvPr/>
        </p:nvSpPr>
        <p:spPr>
          <a:xfrm>
            <a:off x="781050" y="1504950"/>
            <a:ext cx="76200" cy="74295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 name="section-1-index"/>
          <p:cNvSpPr/>
          <p:nvPr/>
        </p:nvSpPr>
        <p:spPr>
          <a:xfrm>
            <a:off x="1085850" y="17049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FFFFFF"/>
                </a:solidFill>
                <a:latin typeface="Calibri"/>
                <a:ea typeface="Calibri"/>
                <a:cs typeface="Calibri"/>
              </a:defRPr>
            </a:pPr>
            <a:r>
              <a:rPr kumimoji="0" sz="1725" b="1" i="0" u="none" strike="noStrike" kern="1200" cap="none" spc="0" normalizeH="0" baseline="0" noProof="0" dirty="0">
                <a:ln>
                  <a:noFill/>
                </a:ln>
                <a:solidFill>
                  <a:srgbClr val="FFFFFF"/>
                </a:solidFill>
                <a:effectLst/>
                <a:uLnTx/>
                <a:uFillTx/>
                <a:latin typeface="Calibri"/>
                <a:ea typeface="Calibri"/>
                <a:cs typeface="Calibri"/>
              </a:rPr>
              <a:t>01</a:t>
            </a:r>
          </a:p>
        </p:txBody>
      </p:sp>
      <p:sp>
        <p:nvSpPr>
          <p:cNvPr id="8" name="section-1-title"/>
          <p:cNvSpPr/>
          <p:nvPr/>
        </p:nvSpPr>
        <p:spPr>
          <a:xfrm>
            <a:off x="1771650" y="16859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FFFFFF"/>
                </a:solidFill>
                <a:latin typeface="Calibri"/>
                <a:ea typeface="Calibri"/>
                <a:cs typeface="Calibri"/>
              </a:defRPr>
            </a:pPr>
            <a:r>
              <a:rPr kumimoji="0" sz="1950" b="1" i="0" u="none" strike="noStrike" kern="1200" cap="none" spc="0" normalizeH="0" baseline="0" noProof="0" dirty="0">
                <a:ln>
                  <a:noFill/>
                </a:ln>
                <a:solidFill>
                  <a:srgbClr val="FFFFFF"/>
                </a:solidFill>
                <a:effectLst/>
                <a:uLnTx/>
                <a:uFillTx/>
                <a:latin typeface="Calibri"/>
                <a:ea typeface="Calibri"/>
                <a:cs typeface="Calibri"/>
              </a:rPr>
              <a:t>Motivation</a:t>
            </a:r>
          </a:p>
        </p:txBody>
      </p:sp>
      <p:sp>
        <p:nvSpPr>
          <p:cNvPr id="9" name="section-1-description"/>
          <p:cNvSpPr/>
          <p:nvPr/>
        </p:nvSpPr>
        <p:spPr>
          <a:xfrm>
            <a:off x="4525880" y="1734264"/>
            <a:ext cx="4306820"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FFFFFF"/>
                </a:solidFill>
                <a:latin typeface="Calibri"/>
                <a:ea typeface="Calibri"/>
                <a:cs typeface="Calibri"/>
              </a:defRPr>
            </a:pPr>
            <a:r>
              <a:rPr kumimoji="0" sz="1600" b="0" i="0" u="none" strike="noStrike" kern="1200" cap="none" spc="0" normalizeH="0" baseline="0" noProof="0" dirty="0">
                <a:ln>
                  <a:noFill/>
                </a:ln>
                <a:solidFill>
                  <a:srgbClr val="FFFFFF"/>
                </a:solidFill>
                <a:effectLst/>
                <a:uLnTx/>
                <a:uFillTx/>
                <a:latin typeface="Calibri"/>
                <a:ea typeface="Calibri"/>
                <a:cs typeface="Calibri"/>
              </a:rPr>
              <a:t>Why does long-output serving break static handoff?</a:t>
            </a:r>
          </a:p>
        </p:txBody>
      </p:sp>
      <p:sp>
        <p:nvSpPr>
          <p:cNvPr id="10" name="section-2-card"/>
          <p:cNvSpPr/>
          <p:nvPr/>
        </p:nvSpPr>
        <p:spPr>
          <a:xfrm>
            <a:off x="781050" y="24193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1" name="section-2-accent"/>
          <p:cNvSpPr/>
          <p:nvPr/>
        </p:nvSpPr>
        <p:spPr>
          <a:xfrm>
            <a:off x="781050" y="24193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2" name="section-2-index"/>
          <p:cNvSpPr/>
          <p:nvPr/>
        </p:nvSpPr>
        <p:spPr>
          <a:xfrm>
            <a:off x="1085850" y="26193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02</a:t>
            </a:r>
          </a:p>
        </p:txBody>
      </p:sp>
      <p:sp>
        <p:nvSpPr>
          <p:cNvPr id="13" name="section-2-title"/>
          <p:cNvSpPr/>
          <p:nvPr/>
        </p:nvSpPr>
        <p:spPr>
          <a:xfrm>
            <a:off x="1771650" y="26003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Design</a:t>
            </a:r>
          </a:p>
        </p:txBody>
      </p:sp>
      <p:sp>
        <p:nvSpPr>
          <p:cNvPr id="14" name="section-2-description"/>
          <p:cNvSpPr/>
          <p:nvPr/>
        </p:nvSpPr>
        <p:spPr>
          <a:xfrm>
            <a:off x="4552201" y="2648664"/>
            <a:ext cx="4254178"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How can STAR predict and rebalance decode work?</a:t>
            </a:r>
          </a:p>
        </p:txBody>
      </p:sp>
      <p:sp>
        <p:nvSpPr>
          <p:cNvPr id="15" name="section-3-card"/>
          <p:cNvSpPr/>
          <p:nvPr/>
        </p:nvSpPr>
        <p:spPr>
          <a:xfrm>
            <a:off x="781050" y="33337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6" name="section-3-accent"/>
          <p:cNvSpPr/>
          <p:nvPr/>
        </p:nvSpPr>
        <p:spPr>
          <a:xfrm>
            <a:off x="781050" y="33337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7" name="section-3-index"/>
          <p:cNvSpPr/>
          <p:nvPr/>
        </p:nvSpPr>
        <p:spPr>
          <a:xfrm>
            <a:off x="1085850" y="35337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03</a:t>
            </a:r>
          </a:p>
        </p:txBody>
      </p:sp>
      <p:sp>
        <p:nvSpPr>
          <p:cNvPr id="18" name="section-3-title"/>
          <p:cNvSpPr/>
          <p:nvPr/>
        </p:nvSpPr>
        <p:spPr>
          <a:xfrm>
            <a:off x="1771650" y="35147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Evaluation</a:t>
            </a:r>
          </a:p>
        </p:txBody>
      </p:sp>
      <p:sp>
        <p:nvSpPr>
          <p:cNvPr id="19" name="section-3-description"/>
          <p:cNvSpPr/>
          <p:nvPr/>
        </p:nvSpPr>
        <p:spPr>
          <a:xfrm>
            <a:off x="4431431" y="3563064"/>
            <a:ext cx="4495718"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Does STAR improve goodput, tail TPOT, and reliability?</a:t>
            </a:r>
          </a:p>
        </p:txBody>
      </p:sp>
      <p:sp>
        <p:nvSpPr>
          <p:cNvPr id="20" name="section-4-card"/>
          <p:cNvSpPr/>
          <p:nvPr/>
        </p:nvSpPr>
        <p:spPr>
          <a:xfrm>
            <a:off x="781050" y="42481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1" name="section-4-accent"/>
          <p:cNvSpPr/>
          <p:nvPr/>
        </p:nvSpPr>
        <p:spPr>
          <a:xfrm>
            <a:off x="781050" y="42481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2" name="section-4-index"/>
          <p:cNvSpPr/>
          <p:nvPr/>
        </p:nvSpPr>
        <p:spPr>
          <a:xfrm>
            <a:off x="1085850" y="44481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04</a:t>
            </a:r>
          </a:p>
        </p:txBody>
      </p:sp>
      <p:sp>
        <p:nvSpPr>
          <p:cNvPr id="23" name="section-4-title"/>
          <p:cNvSpPr/>
          <p:nvPr/>
        </p:nvSpPr>
        <p:spPr>
          <a:xfrm>
            <a:off x="1771650" y="44291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Takeaways</a:t>
            </a:r>
          </a:p>
        </p:txBody>
      </p:sp>
      <p:sp>
        <p:nvSpPr>
          <p:cNvPr id="24" name="section-4-description"/>
          <p:cNvSpPr/>
          <p:nvPr/>
        </p:nvSpPr>
        <p:spPr>
          <a:xfrm>
            <a:off x="4509594" y="4477464"/>
            <a:ext cx="4339393"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What should serving systems remember from STAR?</a:t>
            </a:r>
          </a:p>
        </p:txBody>
      </p:sp>
      <p:sp>
        <p:nvSpPr>
          <p:cNvPr id="25" name="current-section-panel"/>
          <p:cNvSpPr/>
          <p:nvPr/>
        </p:nvSpPr>
        <p:spPr>
          <a:xfrm>
            <a:off x="781050" y="5410200"/>
            <a:ext cx="9886950" cy="609600"/>
          </a:xfrm>
          <a:prstGeom prst="rect">
            <a:avLst/>
          </a:prstGeom>
          <a:solidFill>
            <a:srgbClr val="F8F6FA"/>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6" name="current-section-label"/>
          <p:cNvSpPr/>
          <p:nvPr/>
        </p:nvSpPr>
        <p:spPr>
          <a:xfrm>
            <a:off x="1047750" y="5572125"/>
            <a:ext cx="2143125" cy="28575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Calibri"/>
                <a:ea typeface="Calibri"/>
                <a:cs typeface="Calibri"/>
              </a:defRPr>
            </a:pPr>
            <a:r>
              <a:rPr kumimoji="0" sz="1600" b="1" i="0" u="none" strike="noStrike" kern="1200" cap="none" spc="0" normalizeH="0" baseline="0" noProof="0" dirty="0">
                <a:ln>
                  <a:noFill/>
                </a:ln>
                <a:solidFill>
                  <a:srgbClr val="4B1D78"/>
                </a:solidFill>
                <a:effectLst/>
                <a:uLnTx/>
                <a:uFillTx/>
                <a:latin typeface="Calibri"/>
                <a:ea typeface="Calibri"/>
                <a:cs typeface="Calibri"/>
              </a:rPr>
              <a:t>CURRENT SESSION</a:t>
            </a:r>
          </a:p>
        </p:txBody>
      </p:sp>
      <p:sp>
        <p:nvSpPr>
          <p:cNvPr id="27" name="current-section-summary"/>
          <p:cNvSpPr/>
          <p:nvPr/>
        </p:nvSpPr>
        <p:spPr>
          <a:xfrm>
            <a:off x="3843866" y="5597567"/>
            <a:ext cx="5670848" cy="253916"/>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650" b="1">
                <a:solidFill>
                  <a:srgbClr val="17131F"/>
                </a:solidFill>
                <a:latin typeface="Calibri"/>
                <a:ea typeface="Calibri"/>
                <a:cs typeface="Calibri"/>
              </a:defRPr>
            </a:pPr>
            <a:r>
              <a:rPr kumimoji="0" sz="1650" b="1" i="0" u="none" strike="noStrike" kern="1200" cap="none" spc="0" normalizeH="0" baseline="0" noProof="0" dirty="0">
                <a:ln>
                  <a:noFill/>
                </a:ln>
                <a:solidFill>
                  <a:srgbClr val="17131F"/>
                </a:solidFill>
                <a:effectLst/>
                <a:uLnTx/>
                <a:uFillTx/>
                <a:latin typeface="Calibri"/>
                <a:ea typeface="Calibri"/>
                <a:cs typeface="Calibri"/>
              </a:rPr>
              <a:t>Why does long-output serving need decode-phase rescheduling?</a:t>
            </a:r>
          </a:p>
        </p:txBody>
      </p:sp>
      <p:sp>
        <p:nvSpPr>
          <p:cNvPr id="28"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9"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sp>
        <p:nvSpPr>
          <p:cNvPr id="30"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39</a:t>
            </a:r>
          </a:p>
        </p:txBody>
      </p:sp>
      <p:sp>
        <p:nvSpPr>
          <p:cNvPr id="3" name="slide-title"/>
          <p:cNvSpPr/>
          <p:nvPr/>
        </p:nvSpPr>
        <p:spPr>
          <a:xfrm>
            <a:off x="552450" y="554935"/>
            <a:ext cx="1368965" cy="530915"/>
          </a:xfrm>
          <a:prstGeom prst="rect">
            <a:avLst/>
          </a:prstGeom>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3450" b="1">
                <a:solidFill>
                  <a:srgbClr val="17131F"/>
                </a:solidFill>
                <a:latin typeface="&quot;PingFang SC&quot;, Calibri"/>
                <a:ea typeface="&quot;PingFang SC&quot;, Calibri"/>
                <a:cs typeface="&quot;PingFang SC&quot;, Calibri"/>
              </a:defRPr>
            </a:pPr>
            <a:r>
              <a:rPr kumimoji="0" sz="3450" b="1" i="0" u="none" strike="noStrike" kern="1200" cap="none" spc="0" normalizeH="0" baseline="0" noProof="0" dirty="0">
                <a:ln>
                  <a:noFill/>
                </a:ln>
                <a:solidFill>
                  <a:srgbClr val="17131F"/>
                </a:solidFill>
                <a:effectLst/>
                <a:uLnTx/>
                <a:uFillTx/>
                <a:latin typeface="&quot;PingFang SC&quot;, Calibri"/>
              </a:rPr>
              <a:t>Outline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362895" y="1362075"/>
            <a:ext cx="3331040" cy="369332"/>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735" b="1">
                <a:solidFill>
                  <a:srgbClr val="1F3154"/>
                </a:solidFill>
                <a:latin typeface="Arial" panose="020B0604020202090204"/>
                <a:ea typeface="Arial" panose="020B0604020202090204"/>
                <a:cs typeface="Arial" panose="020B0604020202090204"/>
              </a:defRPr>
            </a:pPr>
            <a:r>
              <a:rPr kumimoji="0" lang="en-GB" sz="2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LLM inference pipeline</a:t>
            </a:r>
          </a:p>
        </p:txBody>
      </p:sp>
      <p:sp>
        <p:nvSpPr>
          <p:cNvPr id="17" name="矩形 16"/>
          <p:cNvSpPr/>
          <p:nvPr/>
        </p:nvSpPr>
        <p:spPr>
          <a:xfrm>
            <a:off x="1598302" y="1866900"/>
            <a:ext cx="1809750" cy="1181100"/>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grpSp>
        <p:nvGrpSpPr>
          <p:cNvPr id="8" name="组合 7"/>
          <p:cNvGrpSpPr/>
          <p:nvPr/>
        </p:nvGrpSpPr>
        <p:grpSpPr>
          <a:xfrm>
            <a:off x="2407927" y="2047875"/>
            <a:ext cx="209550" cy="323850"/>
            <a:chOff x="2407927" y="2047875"/>
            <a:chExt cx="209550" cy="323850"/>
          </a:xfrm>
        </p:grpSpPr>
        <p:sp>
          <p:nvSpPr>
            <p:cNvPr id="18" name="矩形 17"/>
            <p:cNvSpPr/>
            <p:nvPr/>
          </p:nvSpPr>
          <p:spPr>
            <a:xfrm>
              <a:off x="2407927" y="2047875"/>
              <a:ext cx="209550" cy="323850"/>
            </a:xfrm>
            <a:prstGeom prst="rect">
              <a:avLst/>
            </a:prstGeom>
            <a:solidFill>
              <a:srgbClr val="FBFAFC"/>
            </a:solidFill>
            <a:ln w="13335">
              <a:solidFill>
                <a:srgbClr val="1F315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9" name="矩形 18"/>
            <p:cNvSpPr/>
            <p:nvPr/>
          </p:nvSpPr>
          <p:spPr>
            <a:xfrm>
              <a:off x="2474602" y="2152650"/>
              <a:ext cx="76200" cy="19050"/>
            </a:xfrm>
            <a:prstGeom prst="rect">
              <a:avLst/>
            </a:prstGeom>
            <a:solidFill>
              <a:srgbClr val="1F3154"/>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0" name="矩形 19"/>
            <p:cNvSpPr/>
            <p:nvPr/>
          </p:nvSpPr>
          <p:spPr>
            <a:xfrm>
              <a:off x="2474602" y="2247900"/>
              <a:ext cx="19050" cy="19050"/>
            </a:xfrm>
            <a:prstGeom prst="rect">
              <a:avLst/>
            </a:prstGeom>
            <a:solidFill>
              <a:srgbClr val="1F3154"/>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1" name="矩形 20"/>
            <p:cNvSpPr/>
            <p:nvPr/>
          </p:nvSpPr>
          <p:spPr>
            <a:xfrm>
              <a:off x="2455552" y="2343150"/>
              <a:ext cx="19050" cy="19050"/>
            </a:xfrm>
            <a:prstGeom prst="rect">
              <a:avLst/>
            </a:prstGeom>
            <a:solidFill>
              <a:srgbClr val="1F3154"/>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grpSp>
      <p:sp>
        <p:nvSpPr>
          <p:cNvPr id="22" name="矩形 21"/>
          <p:cNvSpPr/>
          <p:nvPr/>
        </p:nvSpPr>
        <p:spPr>
          <a:xfrm>
            <a:off x="1731652" y="2386012"/>
            <a:ext cx="1543050" cy="2286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1485"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Request</a:t>
            </a:r>
          </a:p>
        </p:txBody>
      </p:sp>
      <p:sp>
        <p:nvSpPr>
          <p:cNvPr id="23" name="矩形 22"/>
          <p:cNvSpPr/>
          <p:nvPr/>
        </p:nvSpPr>
        <p:spPr>
          <a:xfrm>
            <a:off x="1846747" y="2689681"/>
            <a:ext cx="1312860"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prompt arrives</a:t>
            </a:r>
          </a:p>
        </p:txBody>
      </p:sp>
      <p:sp>
        <p:nvSpPr>
          <p:cNvPr id="24" name="矩形 23"/>
          <p:cNvSpPr/>
          <p:nvPr/>
        </p:nvSpPr>
        <p:spPr>
          <a:xfrm>
            <a:off x="3531877" y="2324100"/>
            <a:ext cx="323850" cy="266700"/>
          </a:xfrm>
          <a:prstGeom prst="rect">
            <a:avLst/>
          </a:prstGeom>
          <a:solidFill>
            <a:srgbClr val="000000">
              <a:alpha val="0"/>
            </a:srgbClr>
          </a:solidFill>
          <a:ln w="0">
            <a:solidFill>
              <a:srgbClr val="000000">
                <a:alpha val="0"/>
              </a:srgbClr>
            </a:solidFill>
            <a:prstDash val="solid"/>
          </a:ln>
        </p:spPr>
        <p:txBody>
          <a:bodyPr lIns="0" tIns="0" rIns="0" bIns="0" anchor="t">
            <a:normAutofit fontScale="88384"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sz="1980" b="1">
                <a:solidFill>
                  <a:srgbClr val="B8954E"/>
                </a:solidFill>
                <a:latin typeface="Arial" panose="020B0604020202090204"/>
                <a:ea typeface="Arial" panose="020B0604020202090204"/>
                <a:cs typeface="Arial" panose="020B0604020202090204"/>
              </a:defRPr>
            </a:pPr>
            <a:r>
              <a:rPr kumimoji="0" sz="1980" b="1" i="0" u="none" strike="noStrike" kern="1200" cap="none" spc="0" normalizeH="0" baseline="0" noProof="0" dirty="0">
                <a:ln>
                  <a:noFill/>
                </a:ln>
                <a:solidFill>
                  <a:srgbClr val="B8954E"/>
                </a:solidFill>
                <a:effectLst/>
                <a:uLnTx/>
                <a:uFillTx/>
                <a:latin typeface="Arial" panose="020B0604020202090204"/>
                <a:ea typeface="Arial" panose="020B0604020202090204"/>
                <a:cs typeface="Arial" panose="020B0604020202090204"/>
              </a:rPr>
              <a:t>-&gt;</a:t>
            </a:r>
          </a:p>
        </p:txBody>
      </p:sp>
      <p:sp>
        <p:nvSpPr>
          <p:cNvPr id="25" name="矩形 24"/>
          <p:cNvSpPr/>
          <p:nvPr/>
        </p:nvSpPr>
        <p:spPr>
          <a:xfrm>
            <a:off x="3979552" y="1866900"/>
            <a:ext cx="1809750" cy="1181100"/>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grpSp>
        <p:nvGrpSpPr>
          <p:cNvPr id="7" name="组合 6"/>
          <p:cNvGrpSpPr/>
          <p:nvPr/>
        </p:nvGrpSpPr>
        <p:grpSpPr>
          <a:xfrm>
            <a:off x="4712977" y="2028825"/>
            <a:ext cx="352425" cy="361950"/>
            <a:chOff x="4712977" y="2028825"/>
            <a:chExt cx="352425" cy="361950"/>
          </a:xfrm>
        </p:grpSpPr>
        <p:sp>
          <p:nvSpPr>
            <p:cNvPr id="26" name="矩形 25"/>
            <p:cNvSpPr/>
            <p:nvPr/>
          </p:nvSpPr>
          <p:spPr>
            <a:xfrm>
              <a:off x="4779652" y="2095500"/>
              <a:ext cx="228600" cy="228600"/>
            </a:xfrm>
            <a:prstGeom prst="rect">
              <a:avLst/>
            </a:prstGeom>
            <a:solidFill>
              <a:srgbClr val="FBFAFC"/>
            </a:solidFill>
            <a:ln w="13335">
              <a:solidFill>
                <a:srgbClr val="B8954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7" name="矩形 26"/>
            <p:cNvSpPr/>
            <p:nvPr/>
          </p:nvSpPr>
          <p:spPr>
            <a:xfrm>
              <a:off x="4712977" y="2028825"/>
              <a:ext cx="38100" cy="7620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8" name="矩形 27"/>
            <p:cNvSpPr/>
            <p:nvPr/>
          </p:nvSpPr>
          <p:spPr>
            <a:xfrm>
              <a:off x="4712977" y="2314575"/>
              <a:ext cx="38100" cy="7620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9" name="矩形 28"/>
            <p:cNvSpPr/>
            <p:nvPr/>
          </p:nvSpPr>
          <p:spPr>
            <a:xfrm>
              <a:off x="4817752" y="2028825"/>
              <a:ext cx="38100" cy="7620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0" name="矩形 29"/>
            <p:cNvSpPr/>
            <p:nvPr/>
          </p:nvSpPr>
          <p:spPr>
            <a:xfrm>
              <a:off x="4817752" y="2314575"/>
              <a:ext cx="38100" cy="7620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1" name="矩形 30"/>
            <p:cNvSpPr/>
            <p:nvPr/>
          </p:nvSpPr>
          <p:spPr>
            <a:xfrm>
              <a:off x="4922527" y="2028825"/>
              <a:ext cx="38100" cy="7620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2" name="矩形 31"/>
            <p:cNvSpPr/>
            <p:nvPr/>
          </p:nvSpPr>
          <p:spPr>
            <a:xfrm>
              <a:off x="4922527" y="2314575"/>
              <a:ext cx="38100" cy="7620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4" name="矩形 33"/>
            <p:cNvSpPr/>
            <p:nvPr/>
          </p:nvSpPr>
          <p:spPr>
            <a:xfrm>
              <a:off x="5027302" y="2314575"/>
              <a:ext cx="38100" cy="7620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5" name="矩形 34"/>
            <p:cNvSpPr/>
            <p:nvPr/>
          </p:nvSpPr>
          <p:spPr>
            <a:xfrm>
              <a:off x="4874902" y="2190750"/>
              <a:ext cx="38100" cy="3810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3" name="矩形 32"/>
            <p:cNvSpPr/>
            <p:nvPr/>
          </p:nvSpPr>
          <p:spPr>
            <a:xfrm>
              <a:off x="5027302" y="2028825"/>
              <a:ext cx="38100" cy="7620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grpSp>
      <p:sp>
        <p:nvSpPr>
          <p:cNvPr id="36" name="矩形 35"/>
          <p:cNvSpPr/>
          <p:nvPr/>
        </p:nvSpPr>
        <p:spPr>
          <a:xfrm>
            <a:off x="4112902" y="2386012"/>
            <a:ext cx="1543050" cy="2286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1485"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Prefill</a:t>
            </a:r>
          </a:p>
        </p:txBody>
      </p:sp>
      <p:sp>
        <p:nvSpPr>
          <p:cNvPr id="37" name="矩形 36"/>
          <p:cNvSpPr/>
          <p:nvPr/>
        </p:nvSpPr>
        <p:spPr>
          <a:xfrm>
            <a:off x="4198341" y="2597348"/>
            <a:ext cx="1372171" cy="43088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one forward pass</a:t>
            </a:r>
          </a:p>
          <a:p>
            <a:pPr marL="0" marR="0" lvl="0" indent="0" algn="ctr"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compute-bound</a:t>
            </a:r>
          </a:p>
        </p:txBody>
      </p:sp>
      <p:sp>
        <p:nvSpPr>
          <p:cNvPr id="38" name="矩形 37"/>
          <p:cNvSpPr/>
          <p:nvPr/>
        </p:nvSpPr>
        <p:spPr>
          <a:xfrm>
            <a:off x="5913127" y="2324100"/>
            <a:ext cx="323850" cy="266700"/>
          </a:xfrm>
          <a:prstGeom prst="rect">
            <a:avLst/>
          </a:prstGeom>
          <a:solidFill>
            <a:srgbClr val="000000">
              <a:alpha val="0"/>
            </a:srgbClr>
          </a:solidFill>
          <a:ln w="0">
            <a:solidFill>
              <a:srgbClr val="000000">
                <a:alpha val="0"/>
              </a:srgbClr>
            </a:solidFill>
            <a:prstDash val="solid"/>
          </a:ln>
        </p:spPr>
        <p:txBody>
          <a:bodyPr lIns="0" tIns="0" rIns="0" bIns="0" anchor="t">
            <a:normAutofit fontScale="88384"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sz="1980" b="1">
                <a:solidFill>
                  <a:srgbClr val="B8954E"/>
                </a:solidFill>
                <a:latin typeface="Arial" panose="020B0604020202090204"/>
                <a:ea typeface="Arial" panose="020B0604020202090204"/>
                <a:cs typeface="Arial" panose="020B0604020202090204"/>
              </a:defRPr>
            </a:pPr>
            <a:r>
              <a:rPr kumimoji="0" sz="1980" b="1" i="0" u="none" strike="noStrike" kern="1200" cap="none" spc="0" normalizeH="0" baseline="0" noProof="0" dirty="0">
                <a:ln>
                  <a:noFill/>
                </a:ln>
                <a:solidFill>
                  <a:srgbClr val="B8954E"/>
                </a:solidFill>
                <a:effectLst/>
                <a:uLnTx/>
                <a:uFillTx/>
                <a:latin typeface="Arial" panose="020B0604020202090204"/>
                <a:ea typeface="Arial" panose="020B0604020202090204"/>
                <a:cs typeface="Arial" panose="020B0604020202090204"/>
              </a:rPr>
              <a:t>-&gt;</a:t>
            </a:r>
          </a:p>
        </p:txBody>
      </p:sp>
      <p:sp>
        <p:nvSpPr>
          <p:cNvPr id="39" name="矩形 38"/>
          <p:cNvSpPr/>
          <p:nvPr/>
        </p:nvSpPr>
        <p:spPr>
          <a:xfrm>
            <a:off x="6360802" y="1866900"/>
            <a:ext cx="1809750" cy="1181100"/>
          </a:xfrm>
          <a:prstGeom prst="rect">
            <a:avLst/>
          </a:prstGeom>
          <a:solidFill>
            <a:srgbClr val="F7F2F8"/>
          </a:solidFill>
          <a:ln w="19050">
            <a:solidFill>
              <a:srgbClr val="823B91"/>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grpSp>
        <p:nvGrpSpPr>
          <p:cNvPr id="6" name="组合 5"/>
          <p:cNvGrpSpPr/>
          <p:nvPr/>
        </p:nvGrpSpPr>
        <p:grpSpPr>
          <a:xfrm>
            <a:off x="7033552" y="2000250"/>
            <a:ext cx="496050" cy="400050"/>
            <a:chOff x="7033552" y="2000250"/>
            <a:chExt cx="496050" cy="400050"/>
          </a:xfrm>
        </p:grpSpPr>
        <p:sp>
          <p:nvSpPr>
            <p:cNvPr id="40" name="椭圆 39"/>
            <p:cNvSpPr/>
            <p:nvPr/>
          </p:nvSpPr>
          <p:spPr>
            <a:xfrm>
              <a:off x="7033552" y="2000250"/>
              <a:ext cx="247650" cy="247650"/>
            </a:xfrm>
            <a:prstGeom prst="ellipse">
              <a:avLst/>
            </a:prstGeom>
            <a:solidFill>
              <a:srgbClr val="F7F2F8"/>
            </a:solidFill>
            <a:ln w="13335">
              <a:solidFill>
                <a:srgbClr val="4F155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1" name="椭圆 40"/>
            <p:cNvSpPr/>
            <p:nvPr/>
          </p:nvSpPr>
          <p:spPr>
            <a:xfrm>
              <a:off x="7155952" y="2076450"/>
              <a:ext cx="247650" cy="247650"/>
            </a:xfrm>
            <a:prstGeom prst="ellipse">
              <a:avLst/>
            </a:prstGeom>
            <a:solidFill>
              <a:srgbClr val="4F1556"/>
            </a:solidFill>
            <a:ln w="13335">
              <a:solidFill>
                <a:srgbClr val="4F155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2" name="椭圆 41"/>
            <p:cNvSpPr/>
            <p:nvPr/>
          </p:nvSpPr>
          <p:spPr>
            <a:xfrm>
              <a:off x="7281952" y="2152650"/>
              <a:ext cx="247650" cy="247650"/>
            </a:xfrm>
            <a:prstGeom prst="ellipse">
              <a:avLst/>
            </a:prstGeom>
            <a:solidFill>
              <a:srgbClr val="F7F2F8"/>
            </a:solidFill>
            <a:ln w="13335">
              <a:solidFill>
                <a:srgbClr val="4F155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grpSp>
      <p:sp>
        <p:nvSpPr>
          <p:cNvPr id="43" name="矩形 42"/>
          <p:cNvSpPr/>
          <p:nvPr/>
        </p:nvSpPr>
        <p:spPr>
          <a:xfrm>
            <a:off x="6494152" y="2386012"/>
            <a:ext cx="1543050" cy="2286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1485" b="1">
                <a:solidFill>
                  <a:srgbClr val="4F1556"/>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Decode</a:t>
            </a:r>
          </a:p>
        </p:txBody>
      </p:sp>
      <p:sp>
        <p:nvSpPr>
          <p:cNvPr id="44" name="矩形 43"/>
          <p:cNvSpPr/>
          <p:nvPr/>
        </p:nvSpPr>
        <p:spPr>
          <a:xfrm>
            <a:off x="6664551" y="2597348"/>
            <a:ext cx="1202252" cy="43088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token by token</a:t>
            </a:r>
          </a:p>
          <a:p>
            <a:pPr marL="0" marR="0" lvl="0" indent="0" algn="ctr"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memory-bound</a:t>
            </a:r>
          </a:p>
        </p:txBody>
      </p:sp>
      <p:sp>
        <p:nvSpPr>
          <p:cNvPr id="45" name="矩形 44"/>
          <p:cNvSpPr/>
          <p:nvPr/>
        </p:nvSpPr>
        <p:spPr>
          <a:xfrm>
            <a:off x="8294377" y="2324100"/>
            <a:ext cx="323850" cy="266700"/>
          </a:xfrm>
          <a:prstGeom prst="rect">
            <a:avLst/>
          </a:prstGeom>
          <a:solidFill>
            <a:srgbClr val="000000">
              <a:alpha val="0"/>
            </a:srgbClr>
          </a:solidFill>
          <a:ln w="0">
            <a:solidFill>
              <a:srgbClr val="000000">
                <a:alpha val="0"/>
              </a:srgbClr>
            </a:solidFill>
            <a:prstDash val="solid"/>
          </a:ln>
        </p:spPr>
        <p:txBody>
          <a:bodyPr lIns="0" tIns="0" rIns="0" bIns="0" anchor="t">
            <a:normAutofit fontScale="88384"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sz="1980" b="1">
                <a:solidFill>
                  <a:srgbClr val="B8954E"/>
                </a:solidFill>
                <a:latin typeface="Arial" panose="020B0604020202090204"/>
                <a:ea typeface="Arial" panose="020B0604020202090204"/>
                <a:cs typeface="Arial" panose="020B0604020202090204"/>
              </a:defRPr>
            </a:pPr>
            <a:r>
              <a:rPr kumimoji="0" sz="1980" b="1" i="0" u="none" strike="noStrike" kern="1200" cap="none" spc="0" normalizeH="0" baseline="0" noProof="0" dirty="0">
                <a:ln>
                  <a:noFill/>
                </a:ln>
                <a:solidFill>
                  <a:srgbClr val="B8954E"/>
                </a:solidFill>
                <a:effectLst/>
                <a:uLnTx/>
                <a:uFillTx/>
                <a:latin typeface="Arial" panose="020B0604020202090204"/>
                <a:ea typeface="Arial" panose="020B0604020202090204"/>
                <a:cs typeface="Arial" panose="020B0604020202090204"/>
              </a:rPr>
              <a:t>-&gt;</a:t>
            </a:r>
          </a:p>
        </p:txBody>
      </p:sp>
      <p:sp>
        <p:nvSpPr>
          <p:cNvPr id="46" name="矩形 45"/>
          <p:cNvSpPr/>
          <p:nvPr/>
        </p:nvSpPr>
        <p:spPr>
          <a:xfrm>
            <a:off x="8742052" y="1866900"/>
            <a:ext cx="1809750" cy="1181100"/>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grpSp>
        <p:nvGrpSpPr>
          <p:cNvPr id="9" name="组合 8"/>
          <p:cNvGrpSpPr/>
          <p:nvPr/>
        </p:nvGrpSpPr>
        <p:grpSpPr>
          <a:xfrm>
            <a:off x="9504052" y="2095500"/>
            <a:ext cx="304800" cy="304800"/>
            <a:chOff x="9504052" y="2095500"/>
            <a:chExt cx="304800" cy="304800"/>
          </a:xfrm>
        </p:grpSpPr>
        <p:sp>
          <p:nvSpPr>
            <p:cNvPr id="47" name="矩形 46"/>
            <p:cNvSpPr/>
            <p:nvPr/>
          </p:nvSpPr>
          <p:spPr>
            <a:xfrm>
              <a:off x="9504052" y="2095500"/>
              <a:ext cx="304800" cy="247650"/>
            </a:xfrm>
            <a:prstGeom prst="rect">
              <a:avLst/>
            </a:prstGeom>
            <a:solidFill>
              <a:srgbClr val="FBFAFC"/>
            </a:solidFill>
            <a:ln w="13335">
              <a:solidFill>
                <a:srgbClr val="47745B"/>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8" name="矩形 47"/>
            <p:cNvSpPr/>
            <p:nvPr/>
          </p:nvSpPr>
          <p:spPr>
            <a:xfrm>
              <a:off x="9637402" y="2333625"/>
              <a:ext cx="123825" cy="66675"/>
            </a:xfrm>
            <a:prstGeom prst="rect">
              <a:avLst/>
            </a:prstGeom>
            <a:solidFill>
              <a:srgbClr val="FBFAFC"/>
            </a:solidFill>
            <a:ln w="13335">
              <a:solidFill>
                <a:srgbClr val="47745B"/>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9" name="矩形 48"/>
            <p:cNvSpPr/>
            <p:nvPr/>
          </p:nvSpPr>
          <p:spPr>
            <a:xfrm>
              <a:off x="9599302" y="2219325"/>
              <a:ext cx="114300" cy="19050"/>
            </a:xfrm>
            <a:prstGeom prst="rect">
              <a:avLst/>
            </a:prstGeom>
            <a:solidFill>
              <a:srgbClr val="47745B"/>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0" name="矩形 49"/>
            <p:cNvSpPr/>
            <p:nvPr/>
          </p:nvSpPr>
          <p:spPr>
            <a:xfrm>
              <a:off x="9599302" y="2314575"/>
              <a:ext cx="38100" cy="19050"/>
            </a:xfrm>
            <a:prstGeom prst="rect">
              <a:avLst/>
            </a:prstGeom>
            <a:solidFill>
              <a:srgbClr val="47745B"/>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grpSp>
      <p:sp>
        <p:nvSpPr>
          <p:cNvPr id="51" name="矩形 50"/>
          <p:cNvSpPr/>
          <p:nvPr/>
        </p:nvSpPr>
        <p:spPr>
          <a:xfrm>
            <a:off x="8875402" y="2386012"/>
            <a:ext cx="1543050" cy="2286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1485"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Response</a:t>
            </a:r>
          </a:p>
        </p:txBody>
      </p:sp>
      <p:sp>
        <p:nvSpPr>
          <p:cNvPr id="52" name="矩形 51"/>
          <p:cNvSpPr/>
          <p:nvPr/>
        </p:nvSpPr>
        <p:spPr>
          <a:xfrm>
            <a:off x="8859852" y="2689681"/>
            <a:ext cx="1574150"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completed output</a:t>
            </a:r>
          </a:p>
        </p:txBody>
      </p:sp>
      <p:grpSp>
        <p:nvGrpSpPr>
          <p:cNvPr id="4" name="组合 3"/>
          <p:cNvGrpSpPr/>
          <p:nvPr/>
        </p:nvGrpSpPr>
        <p:grpSpPr>
          <a:xfrm>
            <a:off x="2302627" y="4140991"/>
            <a:ext cx="3486675" cy="1543050"/>
            <a:chOff x="4178538" y="3829050"/>
            <a:chExt cx="3486675" cy="1543050"/>
          </a:xfrm>
        </p:grpSpPr>
        <p:sp>
          <p:nvSpPr>
            <p:cNvPr id="59" name="矩形 58"/>
            <p:cNvSpPr/>
            <p:nvPr/>
          </p:nvSpPr>
          <p:spPr>
            <a:xfrm>
              <a:off x="4245213" y="3829050"/>
              <a:ext cx="3420000" cy="1543050"/>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0" name="矩形 59"/>
            <p:cNvSpPr/>
            <p:nvPr/>
          </p:nvSpPr>
          <p:spPr>
            <a:xfrm>
              <a:off x="4178538" y="3829050"/>
              <a:ext cx="66675" cy="154305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1" name="矩形 60"/>
            <p:cNvSpPr/>
            <p:nvPr/>
          </p:nvSpPr>
          <p:spPr>
            <a:xfrm>
              <a:off x="4411583" y="3981450"/>
              <a:ext cx="2495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870" b="1">
                  <a:solidFill>
                    <a:srgbClr val="B8954E"/>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B8954E"/>
                  </a:solidFill>
                  <a:effectLst/>
                  <a:uLnTx/>
                  <a:uFillTx/>
                  <a:latin typeface="Arial" panose="020B0604020202090204"/>
                  <a:ea typeface="Arial" panose="020B0604020202090204"/>
                  <a:cs typeface="Arial" panose="020B0604020202090204"/>
                </a:rPr>
                <a:t>ARCHITECTURE</a:t>
              </a:r>
            </a:p>
          </p:txBody>
        </p:sp>
        <p:sp>
          <p:nvSpPr>
            <p:cNvPr id="62" name="矩形 61"/>
            <p:cNvSpPr/>
            <p:nvPr/>
          </p:nvSpPr>
          <p:spPr>
            <a:xfrm>
              <a:off x="4411583" y="4257675"/>
              <a:ext cx="3139618" cy="244792"/>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1485"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PD disaggregation separates phases</a:t>
              </a:r>
            </a:p>
          </p:txBody>
        </p:sp>
        <p:sp>
          <p:nvSpPr>
            <p:cNvPr id="63" name="矩形 62"/>
            <p:cNvSpPr/>
            <p:nvPr/>
          </p:nvSpPr>
          <p:spPr>
            <a:xfrm>
              <a:off x="4411583" y="4604116"/>
              <a:ext cx="3139618" cy="492443"/>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PD systems split prefill and decode to avoid interference.</a:t>
              </a:r>
            </a:p>
          </p:txBody>
        </p:sp>
      </p:grpSp>
      <p:grpSp>
        <p:nvGrpSpPr>
          <p:cNvPr id="5" name="组合 4"/>
          <p:cNvGrpSpPr/>
          <p:nvPr/>
        </p:nvGrpSpPr>
        <p:grpSpPr>
          <a:xfrm>
            <a:off x="6388852" y="4147183"/>
            <a:ext cx="3420000" cy="1530667"/>
            <a:chOff x="7790925" y="3829049"/>
            <a:chExt cx="3420000" cy="1530667"/>
          </a:xfrm>
        </p:grpSpPr>
        <p:sp>
          <p:nvSpPr>
            <p:cNvPr id="64" name="矩形 63"/>
            <p:cNvSpPr/>
            <p:nvPr/>
          </p:nvSpPr>
          <p:spPr>
            <a:xfrm>
              <a:off x="7790925" y="3829049"/>
              <a:ext cx="3420000" cy="1530667"/>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5" name="矩形 64"/>
            <p:cNvSpPr/>
            <p:nvPr/>
          </p:nvSpPr>
          <p:spPr>
            <a:xfrm>
              <a:off x="7790925" y="3829049"/>
              <a:ext cx="66675" cy="1530667"/>
            </a:xfrm>
            <a:prstGeom prst="rect">
              <a:avLst/>
            </a:prstGeom>
            <a:solidFill>
              <a:srgbClr val="47745B"/>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6" name="矩形 65"/>
            <p:cNvSpPr/>
            <p:nvPr/>
          </p:nvSpPr>
          <p:spPr>
            <a:xfrm>
              <a:off x="8026113" y="3981450"/>
              <a:ext cx="2495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870" b="1">
                  <a:solidFill>
                    <a:srgbClr val="47745B"/>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47745B"/>
                  </a:solidFill>
                  <a:effectLst/>
                  <a:uLnTx/>
                  <a:uFillTx/>
                  <a:latin typeface="Arial" panose="020B0604020202090204"/>
                  <a:ea typeface="Arial" panose="020B0604020202090204"/>
                  <a:cs typeface="Arial" panose="020B0604020202090204"/>
                </a:rPr>
                <a:t>SCHEDULING GAP</a:t>
              </a:r>
            </a:p>
          </p:txBody>
        </p:sp>
        <p:sp>
          <p:nvSpPr>
            <p:cNvPr id="67" name="矩形 66"/>
            <p:cNvSpPr/>
            <p:nvPr/>
          </p:nvSpPr>
          <p:spPr>
            <a:xfrm>
              <a:off x="8026113" y="4247405"/>
              <a:ext cx="3059430" cy="2667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485"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Static handoff must last too long</a:t>
              </a:r>
            </a:p>
          </p:txBody>
        </p:sp>
        <p:sp>
          <p:nvSpPr>
            <p:cNvPr id="68" name="矩形 67"/>
            <p:cNvSpPr/>
            <p:nvPr/>
          </p:nvSpPr>
          <p:spPr>
            <a:xfrm>
              <a:off x="8026113" y="4604116"/>
              <a:ext cx="3121573" cy="492443"/>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Initial placement must survive thousands of decode steps.</a:t>
              </a:r>
            </a:p>
          </p:txBody>
        </p:sp>
      </p:grpSp>
      <p:sp>
        <p:nvSpPr>
          <p:cNvPr id="69" name="矩形 68"/>
          <p:cNvSpPr/>
          <p:nvPr/>
        </p:nvSpPr>
        <p:spPr>
          <a:xfrm>
            <a:off x="1930576" y="5880470"/>
            <a:ext cx="8630568" cy="276999"/>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735" b="1">
                <a:solidFill>
                  <a:srgbClr val="1F3154"/>
                </a:solidFill>
                <a:latin typeface="Arial" panose="020B0604020202090204"/>
                <a:ea typeface="Arial" panose="020B0604020202090204"/>
                <a:cs typeface="Arial" panose="020B0604020202090204"/>
              </a:defRPr>
            </a:pPr>
            <a:r>
              <a:rPr kumimoji="0" sz="18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Implication: static handoff must remain valid across thousands of token steps.</a:t>
            </a:r>
          </a:p>
        </p:txBody>
      </p:sp>
      <p:sp>
        <p:nvSpPr>
          <p:cNvPr id="70"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1"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BACKGROUND</a:t>
            </a:r>
          </a:p>
        </p:txBody>
      </p:sp>
      <p:sp>
        <p:nvSpPr>
          <p:cNvPr id="72" name="slide-title"/>
          <p:cNvSpPr/>
          <p:nvPr/>
        </p:nvSpPr>
        <p:spPr>
          <a:xfrm>
            <a:off x="552450" y="564833"/>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dirty="0">
                <a:ln>
                  <a:noFill/>
                </a:ln>
                <a:solidFill>
                  <a:srgbClr val="17131F"/>
                </a:solidFill>
                <a:effectLst/>
                <a:uLnTx/>
                <a:uFillTx/>
                <a:ea typeface="PingFang SC" panose="020B0400000000000000" charset="-122"/>
              </a:rPr>
              <a:t>Long outputs shift bottleneck to decode.</a:t>
            </a:r>
          </a:p>
        </p:txBody>
      </p:sp>
      <p:sp>
        <p:nvSpPr>
          <p:cNvPr id="73"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4"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5"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77" name="图片 10"/>
          <p:cNvPicPr>
            <a:picLocks noChangeAspect="1"/>
          </p:cNvPicPr>
          <p:nvPr/>
        </p:nvPicPr>
        <p:blipFill>
          <a:blip r:embed="rId3"/>
          <a:stretch>
            <a:fillRect/>
          </a:stretch>
        </p:blipFill>
        <p:spPr>
          <a:xfrm>
            <a:off x="9639300" y="354718"/>
            <a:ext cx="1571625" cy="481189"/>
          </a:xfrm>
          <a:prstGeom prst="rect">
            <a:avLst/>
          </a:prstGeom>
        </p:spPr>
      </p:pic>
      <p:sp>
        <p:nvSpPr>
          <p:cNvPr id="82"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40</a:t>
            </a:r>
          </a:p>
        </p:txBody>
      </p:sp>
      <p:grpSp>
        <p:nvGrpSpPr>
          <p:cNvPr id="3" name="组合 2"/>
          <p:cNvGrpSpPr/>
          <p:nvPr/>
        </p:nvGrpSpPr>
        <p:grpSpPr>
          <a:xfrm>
            <a:off x="1524000" y="3264691"/>
            <a:ext cx="9144000" cy="703242"/>
            <a:chOff x="1524000" y="3264691"/>
            <a:chExt cx="9144000" cy="703242"/>
          </a:xfrm>
        </p:grpSpPr>
        <p:sp>
          <p:nvSpPr>
            <p:cNvPr id="76" name="Rounded Rectangle 82"/>
            <p:cNvSpPr/>
            <p:nvPr/>
          </p:nvSpPr>
          <p:spPr>
            <a:xfrm>
              <a:off x="1524000" y="3264691"/>
              <a:ext cx="9144000" cy="703242"/>
            </a:xfrm>
            <a:prstGeom prst="roundRect">
              <a:avLst/>
            </a:prstGeom>
            <a:solidFill>
              <a:srgbClr val="E8E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endParaRPr>
            </a:p>
          </p:txBody>
        </p:sp>
        <p:sp>
          <p:nvSpPr>
            <p:cNvPr id="78" name="Rectangle 83"/>
            <p:cNvSpPr/>
            <p:nvPr/>
          </p:nvSpPr>
          <p:spPr>
            <a:xfrm>
              <a:off x="1524000" y="3264691"/>
              <a:ext cx="73152" cy="703242"/>
            </a:xfrm>
            <a:prstGeom prst="rect">
              <a:avLst/>
            </a:prstGeom>
            <a:solidFill>
              <a:srgbClr val="2D1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endParaRPr>
            </a:p>
          </p:txBody>
        </p:sp>
        <p:sp>
          <p:nvSpPr>
            <p:cNvPr id="79" name="TextBox 84"/>
            <p:cNvSpPr txBox="1"/>
            <p:nvPr/>
          </p:nvSpPr>
          <p:spPr>
            <a:xfrm>
              <a:off x="1524000" y="3354544"/>
              <a:ext cx="9070340" cy="401955"/>
            </a:xfrm>
            <a:prstGeom prst="rect">
              <a:avLst/>
            </a:prstGeom>
            <a:noFill/>
          </p:spPr>
          <p:txBody>
            <a:bodyPr wrap="square" lIns="64008" tIns="32004" rIns="64008" bIns="32004"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2D1B69"/>
                  </a:solidFill>
                  <a:effectLst/>
                  <a:uLnTx/>
                  <a:uFillTx/>
                  <a:latin typeface="Aptos"/>
                  <a:ea typeface="Calibri"/>
                  <a:cs typeface="Calibri"/>
                </a:rPr>
                <a:t>Long reasoning outputs keep requests resident in decode phase.</a:t>
              </a:r>
            </a:p>
          </p:txBody>
        </p:sp>
      </p:grpSp>
      <p:sp>
        <p:nvSpPr>
          <p:cNvPr id="2" name="Rectangle 83"/>
          <p:cNvSpPr/>
          <p:nvPr/>
        </p:nvSpPr>
        <p:spPr>
          <a:xfrm>
            <a:off x="10594848" y="3264691"/>
            <a:ext cx="73152" cy="703242"/>
          </a:xfrm>
          <a:prstGeom prst="rect">
            <a:avLst/>
          </a:prstGeom>
          <a:solidFill>
            <a:srgbClr val="2D1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28650" y="1371600"/>
            <a:ext cx="7000875" cy="3143250"/>
          </a:xfrm>
          <a:prstGeom prst="rect">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17" name="图片 17"/>
          <p:cNvPicPr>
            <a:picLocks noChangeAspect="1"/>
          </p:cNvPicPr>
          <p:nvPr/>
        </p:nvPicPr>
        <p:blipFill>
          <a:blip r:embed="rId3"/>
          <a:stretch>
            <a:fillRect/>
          </a:stretch>
        </p:blipFill>
        <p:spPr>
          <a:xfrm>
            <a:off x="685800" y="1507174"/>
            <a:ext cx="6886575" cy="2643502"/>
          </a:xfrm>
          <a:prstGeom prst="rect">
            <a:avLst/>
          </a:prstGeom>
        </p:spPr>
      </p:pic>
      <p:sp>
        <p:nvSpPr>
          <p:cNvPr id="3" name="矩形 2"/>
          <p:cNvSpPr/>
          <p:nvPr/>
        </p:nvSpPr>
        <p:spPr>
          <a:xfrm>
            <a:off x="742950" y="4200525"/>
            <a:ext cx="6772275" cy="215444"/>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err="1">
                <a:ln>
                  <a:noFill/>
                </a:ln>
                <a:solidFill>
                  <a:srgbClr val="5D6878"/>
                </a:solidFill>
                <a:effectLst/>
                <a:uLnTx/>
                <a:uFillTx/>
                <a:latin typeface="Arial" panose="020B0604020202090204"/>
                <a:ea typeface="Arial" panose="020B0604020202090204"/>
                <a:cs typeface="Arial" panose="020B0604020202090204"/>
              </a:rPr>
              <a:t>ShareGPT</a:t>
            </a: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 output-length distribution with DeepSeek-R1-Distill-Qwen-7B</a:t>
            </a:r>
          </a:p>
        </p:txBody>
      </p:sp>
      <p:sp>
        <p:nvSpPr>
          <p:cNvPr id="20" name="矩形 19"/>
          <p:cNvSpPr/>
          <p:nvPr/>
        </p:nvSpPr>
        <p:spPr>
          <a:xfrm>
            <a:off x="8020049" y="1276350"/>
            <a:ext cx="3190875" cy="854957"/>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1" name="矩形 20"/>
          <p:cNvSpPr/>
          <p:nvPr/>
        </p:nvSpPr>
        <p:spPr>
          <a:xfrm>
            <a:off x="8131210" y="1381213"/>
            <a:ext cx="873637" cy="369332"/>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2230" b="1">
                <a:solidFill>
                  <a:srgbClr val="47745B"/>
                </a:solidFill>
                <a:latin typeface="Arial" panose="020B0604020202090204"/>
                <a:ea typeface="Arial" panose="020B0604020202090204"/>
                <a:cs typeface="Arial" panose="020B0604020202090204"/>
              </a:defRPr>
            </a:pPr>
            <a:r>
              <a:rPr kumimoji="0" sz="2400" b="1" i="0" u="none" strike="noStrike" kern="1200" cap="none" spc="0" normalizeH="0" baseline="0" noProof="0" dirty="0">
                <a:ln>
                  <a:noFill/>
                </a:ln>
                <a:solidFill>
                  <a:srgbClr val="47745B"/>
                </a:solidFill>
                <a:effectLst/>
                <a:uLnTx/>
                <a:uFillTx/>
                <a:latin typeface="Arial" panose="020B0604020202090204"/>
                <a:ea typeface="Arial" panose="020B0604020202090204"/>
                <a:cs typeface="Arial" panose="020B0604020202090204"/>
              </a:rPr>
              <a:t>29.2%</a:t>
            </a:r>
          </a:p>
        </p:txBody>
      </p:sp>
      <p:sp>
        <p:nvSpPr>
          <p:cNvPr id="22" name="矩形 21"/>
          <p:cNvSpPr/>
          <p:nvPr/>
        </p:nvSpPr>
        <p:spPr>
          <a:xfrm>
            <a:off x="9714597" y="1373828"/>
            <a:ext cx="1322478"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short outputs</a:t>
            </a:r>
          </a:p>
        </p:txBody>
      </p:sp>
      <p:sp>
        <p:nvSpPr>
          <p:cNvPr id="23" name="矩形 22"/>
          <p:cNvSpPr/>
          <p:nvPr/>
        </p:nvSpPr>
        <p:spPr>
          <a:xfrm>
            <a:off x="8131210" y="1752687"/>
            <a:ext cx="2526333"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Generate fewer than 1K tokens.</a:t>
            </a:r>
          </a:p>
        </p:txBody>
      </p:sp>
      <p:sp>
        <p:nvSpPr>
          <p:cNvPr id="24" name="矩形 23"/>
          <p:cNvSpPr/>
          <p:nvPr/>
        </p:nvSpPr>
        <p:spPr>
          <a:xfrm>
            <a:off x="8020050" y="2340132"/>
            <a:ext cx="3190874" cy="1022193"/>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5" name="矩形 24"/>
          <p:cNvSpPr/>
          <p:nvPr/>
        </p:nvSpPr>
        <p:spPr>
          <a:xfrm>
            <a:off x="8131210" y="2435382"/>
            <a:ext cx="811119" cy="34317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2230" b="1">
                <a:solidFill>
                  <a:srgbClr val="A64B56"/>
                </a:solidFill>
                <a:latin typeface="Arial" panose="020B0604020202090204"/>
                <a:ea typeface="Arial" panose="020B0604020202090204"/>
                <a:cs typeface="Arial" panose="020B0604020202090204"/>
              </a:defRPr>
            </a:pPr>
            <a:r>
              <a:rPr kumimoji="0" sz="2230" b="1" i="0" u="none" strike="noStrike" kern="1200" cap="none" spc="0" normalizeH="0" baseline="0" noProof="0" dirty="0">
                <a:ln>
                  <a:noFill/>
                </a:ln>
                <a:solidFill>
                  <a:srgbClr val="A64B56"/>
                </a:solidFill>
                <a:effectLst/>
                <a:uLnTx/>
                <a:uFillTx/>
                <a:latin typeface="Arial" panose="020B0604020202090204"/>
                <a:ea typeface="Arial" panose="020B0604020202090204"/>
                <a:cs typeface="Arial" panose="020B0604020202090204"/>
              </a:rPr>
              <a:t>17.3%</a:t>
            </a:r>
          </a:p>
        </p:txBody>
      </p:sp>
      <p:sp>
        <p:nvSpPr>
          <p:cNvPr id="26" name="矩形 25"/>
          <p:cNvSpPr/>
          <p:nvPr/>
        </p:nvSpPr>
        <p:spPr>
          <a:xfrm>
            <a:off x="9315450" y="2437003"/>
            <a:ext cx="1721625"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very long outputs</a:t>
            </a:r>
          </a:p>
        </p:txBody>
      </p:sp>
      <p:sp>
        <p:nvSpPr>
          <p:cNvPr id="27" name="矩形 26"/>
          <p:cNvSpPr/>
          <p:nvPr/>
        </p:nvSpPr>
        <p:spPr>
          <a:xfrm>
            <a:off x="8131210" y="2813524"/>
            <a:ext cx="2726708" cy="430887"/>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Exceed 30K tokens and dominate </a:t>
            </a:r>
            <a:endParaRPr kumimoji="0" lang="en-US"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endParaRPr>
          </a:p>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residency.</a:t>
            </a:r>
          </a:p>
        </p:txBody>
      </p:sp>
      <p:sp>
        <p:nvSpPr>
          <p:cNvPr id="28" name="矩形 27"/>
          <p:cNvSpPr/>
          <p:nvPr/>
        </p:nvSpPr>
        <p:spPr>
          <a:xfrm>
            <a:off x="8020049" y="3617595"/>
            <a:ext cx="3190873" cy="1064895"/>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9" name="矩形 28"/>
          <p:cNvSpPr/>
          <p:nvPr/>
        </p:nvSpPr>
        <p:spPr>
          <a:xfrm>
            <a:off x="8131210" y="3712845"/>
            <a:ext cx="642805" cy="34317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2230" b="1">
                <a:solidFill>
                  <a:srgbClr val="4F1556"/>
                </a:solidFill>
                <a:latin typeface="Arial" panose="020B0604020202090204"/>
                <a:ea typeface="Arial" panose="020B0604020202090204"/>
                <a:cs typeface="Arial" panose="020B0604020202090204"/>
              </a:defRPr>
            </a:pPr>
            <a:r>
              <a:rPr kumimoji="0" sz="223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&gt;16x</a:t>
            </a:r>
          </a:p>
        </p:txBody>
      </p:sp>
      <p:sp>
        <p:nvSpPr>
          <p:cNvPr id="30" name="矩形 29"/>
          <p:cNvSpPr/>
          <p:nvPr/>
        </p:nvSpPr>
        <p:spPr>
          <a:xfrm>
            <a:off x="8959583" y="3706456"/>
            <a:ext cx="2077492"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real request variation</a:t>
            </a:r>
          </a:p>
        </p:txBody>
      </p:sp>
      <p:sp>
        <p:nvSpPr>
          <p:cNvPr id="31" name="矩形 30"/>
          <p:cNvSpPr/>
          <p:nvPr/>
        </p:nvSpPr>
        <p:spPr>
          <a:xfrm>
            <a:off x="8131210" y="4139802"/>
            <a:ext cx="2889215" cy="430887"/>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Gemini example pairs differ by more than sixteen times.</a:t>
            </a:r>
          </a:p>
        </p:txBody>
      </p:sp>
      <p:sp>
        <p:nvSpPr>
          <p:cNvPr id="32" name="矩形 31"/>
          <p:cNvSpPr/>
          <p:nvPr/>
        </p:nvSpPr>
        <p:spPr>
          <a:xfrm>
            <a:off x="946417" y="4819650"/>
            <a:ext cx="930940" cy="304800"/>
          </a:xfrm>
          <a:prstGeom prst="rect">
            <a:avLst/>
          </a:prstGeom>
          <a:solidFill>
            <a:srgbClr val="4F1556"/>
          </a:solidFill>
          <a:ln w="5715">
            <a:solidFill>
              <a:srgbClr val="FFFFFF"/>
            </a:solidFill>
            <a:prstDash val="soli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3" name="矩形 32"/>
          <p:cNvSpPr/>
          <p:nvPr/>
        </p:nvSpPr>
        <p:spPr>
          <a:xfrm>
            <a:off x="949562" y="4876800"/>
            <a:ext cx="861120" cy="190500"/>
          </a:xfrm>
          <a:prstGeom prst="rect">
            <a:avLst/>
          </a:prstGeom>
          <a:solidFill>
            <a:srgbClr val="000000">
              <a:alpha val="0"/>
            </a:srgbClr>
          </a:solidFill>
          <a:ln w="0">
            <a:solidFill>
              <a:srgbClr val="000000">
                <a:alpha val="0"/>
              </a:srgbClr>
            </a:solidFill>
            <a:prstDash val="solid"/>
          </a:ln>
        </p:spPr>
        <p:txBody>
          <a:bodyPr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035" b="1">
                <a:solidFill>
                  <a:srgbClr val="FFFFFF"/>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Quantile</a:t>
            </a:r>
          </a:p>
        </p:txBody>
      </p:sp>
      <p:sp>
        <p:nvSpPr>
          <p:cNvPr id="34" name="矩形 33"/>
          <p:cNvSpPr/>
          <p:nvPr/>
        </p:nvSpPr>
        <p:spPr>
          <a:xfrm>
            <a:off x="1877357" y="4819650"/>
            <a:ext cx="3556000" cy="304800"/>
          </a:xfrm>
          <a:prstGeom prst="rect">
            <a:avLst/>
          </a:prstGeom>
          <a:solidFill>
            <a:srgbClr val="4F1556"/>
          </a:solidFill>
          <a:ln w="5715">
            <a:solidFill>
              <a:srgbClr val="FFFFFF"/>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5" name="矩形 34"/>
          <p:cNvSpPr/>
          <p:nvPr/>
        </p:nvSpPr>
        <p:spPr>
          <a:xfrm>
            <a:off x="1944032" y="4876800"/>
            <a:ext cx="3422650" cy="190500"/>
          </a:xfrm>
          <a:prstGeom prst="rect">
            <a:avLst/>
          </a:prstGeom>
          <a:solidFill>
            <a:srgbClr val="000000">
              <a:alpha val="0"/>
            </a:srgbClr>
          </a:solidFill>
          <a:ln w="0">
            <a:solidFill>
              <a:srgbClr val="000000">
                <a:alpha val="0"/>
              </a:srgbClr>
            </a:solidFill>
            <a:prstDash val="solid"/>
          </a:ln>
        </p:spPr>
        <p:txBody>
          <a:bodyPr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1035" b="1">
                <a:solidFill>
                  <a:srgbClr val="FFFFFF"/>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Output length (The Decode Workload)</a:t>
            </a:r>
          </a:p>
        </p:txBody>
      </p:sp>
      <p:sp>
        <p:nvSpPr>
          <p:cNvPr id="36" name="矩形 35"/>
          <p:cNvSpPr/>
          <p:nvPr/>
        </p:nvSpPr>
        <p:spPr>
          <a:xfrm>
            <a:off x="946417" y="5124450"/>
            <a:ext cx="930940" cy="3048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7" name="矩形 36"/>
          <p:cNvSpPr/>
          <p:nvPr/>
        </p:nvSpPr>
        <p:spPr>
          <a:xfrm>
            <a:off x="949562" y="5172075"/>
            <a:ext cx="861120" cy="209550"/>
          </a:xfrm>
          <a:prstGeom prst="rect">
            <a:avLst/>
          </a:prstGeom>
          <a:solidFill>
            <a:srgbClr val="000000">
              <a:alpha val="0"/>
            </a:srgbClr>
          </a:solidFill>
          <a:ln w="0">
            <a:solidFill>
              <a:srgbClr val="000000">
                <a:alpha val="0"/>
              </a:srgbClr>
            </a:solidFill>
            <a:prstDash val="solid"/>
          </a:ln>
        </p:spPr>
        <p:txBody>
          <a:bodyPr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P50</a:t>
            </a:r>
          </a:p>
        </p:txBody>
      </p:sp>
      <p:sp>
        <p:nvSpPr>
          <p:cNvPr id="38" name="矩形 37"/>
          <p:cNvSpPr/>
          <p:nvPr/>
        </p:nvSpPr>
        <p:spPr>
          <a:xfrm>
            <a:off x="1877357" y="5124450"/>
            <a:ext cx="3556000" cy="304800"/>
          </a:xfrm>
          <a:prstGeom prst="rect">
            <a:avLst/>
          </a:prstGeom>
          <a:solidFill>
            <a:srgbClr val="FBF8FC"/>
          </a:solidFill>
          <a:ln w="6668">
            <a:solidFill>
              <a:srgbClr val="E8DDE9"/>
            </a:solidFill>
            <a:prstDash val="soli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9" name="矩形 38"/>
          <p:cNvSpPr/>
          <p:nvPr/>
        </p:nvSpPr>
        <p:spPr>
          <a:xfrm>
            <a:off x="1944032" y="5172075"/>
            <a:ext cx="3422650" cy="209550"/>
          </a:xfrm>
          <a:prstGeom prst="rect">
            <a:avLst/>
          </a:prstGeom>
          <a:solidFill>
            <a:srgbClr val="000000">
              <a:alpha val="0"/>
            </a:srgbClr>
          </a:solidFill>
          <a:ln w="0">
            <a:solidFill>
              <a:srgbClr val="000000">
                <a:alpha val="0"/>
              </a:srgbClr>
            </a:solidFill>
            <a:prstDash val="solid"/>
          </a:ln>
        </p:spPr>
        <p:txBody>
          <a:bodyPr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1,536 tokens</a:t>
            </a:r>
          </a:p>
        </p:txBody>
      </p:sp>
      <p:sp>
        <p:nvSpPr>
          <p:cNvPr id="40" name="矩形 39"/>
          <p:cNvSpPr/>
          <p:nvPr/>
        </p:nvSpPr>
        <p:spPr>
          <a:xfrm>
            <a:off x="946417" y="5429250"/>
            <a:ext cx="930940" cy="304800"/>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1" name="矩形 40"/>
          <p:cNvSpPr/>
          <p:nvPr/>
        </p:nvSpPr>
        <p:spPr>
          <a:xfrm>
            <a:off x="949562" y="5476875"/>
            <a:ext cx="861120" cy="209550"/>
          </a:xfrm>
          <a:prstGeom prst="rect">
            <a:avLst/>
          </a:prstGeom>
          <a:solidFill>
            <a:srgbClr val="000000">
              <a:alpha val="0"/>
            </a:srgbClr>
          </a:solidFill>
          <a:ln w="0">
            <a:solidFill>
              <a:srgbClr val="000000">
                <a:alpha val="0"/>
              </a:srgbClr>
            </a:solidFill>
            <a:prstDash val="solid"/>
          </a:ln>
        </p:spPr>
        <p:txBody>
          <a:bodyPr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P90</a:t>
            </a:r>
          </a:p>
        </p:txBody>
      </p:sp>
      <p:sp>
        <p:nvSpPr>
          <p:cNvPr id="42" name="矩形 41"/>
          <p:cNvSpPr/>
          <p:nvPr/>
        </p:nvSpPr>
        <p:spPr>
          <a:xfrm>
            <a:off x="1877357" y="5429250"/>
            <a:ext cx="3556000" cy="304800"/>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3" name="矩形 42"/>
          <p:cNvSpPr/>
          <p:nvPr/>
        </p:nvSpPr>
        <p:spPr>
          <a:xfrm>
            <a:off x="1944032" y="5476875"/>
            <a:ext cx="3422650" cy="209550"/>
          </a:xfrm>
          <a:prstGeom prst="rect">
            <a:avLst/>
          </a:prstGeom>
          <a:solidFill>
            <a:srgbClr val="000000">
              <a:alpha val="0"/>
            </a:srgbClr>
          </a:solidFill>
          <a:ln w="0">
            <a:solidFill>
              <a:srgbClr val="000000">
                <a:alpha val="0"/>
              </a:srgbClr>
            </a:solidFill>
            <a:prstDash val="solid"/>
          </a:ln>
        </p:spPr>
        <p:txBody>
          <a:bodyPr lIns="0" tIns="0" rIns="0" bIns="0" anchor="ctr">
            <a:normAutofit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32,670 tokens</a:t>
            </a:r>
          </a:p>
        </p:txBody>
      </p:sp>
      <p:sp>
        <p:nvSpPr>
          <p:cNvPr id="44" name="矩形 43"/>
          <p:cNvSpPr/>
          <p:nvPr/>
        </p:nvSpPr>
        <p:spPr>
          <a:xfrm>
            <a:off x="946417" y="5734050"/>
            <a:ext cx="930940" cy="3048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5" name="矩形 44"/>
          <p:cNvSpPr/>
          <p:nvPr/>
        </p:nvSpPr>
        <p:spPr>
          <a:xfrm>
            <a:off x="949562" y="5781675"/>
            <a:ext cx="861120" cy="209550"/>
          </a:xfrm>
          <a:prstGeom prst="rect">
            <a:avLst/>
          </a:prstGeom>
          <a:solidFill>
            <a:srgbClr val="000000">
              <a:alpha val="0"/>
            </a:srgbClr>
          </a:solidFill>
          <a:ln w="0">
            <a:solidFill>
              <a:srgbClr val="000000">
                <a:alpha val="0"/>
              </a:srgbClr>
            </a:solidFill>
            <a:prstDash val="solid"/>
          </a:ln>
        </p:spPr>
        <p:txBody>
          <a:bodyPr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P95</a:t>
            </a:r>
          </a:p>
        </p:txBody>
      </p:sp>
      <p:sp>
        <p:nvSpPr>
          <p:cNvPr id="46" name="矩形 45"/>
          <p:cNvSpPr/>
          <p:nvPr/>
        </p:nvSpPr>
        <p:spPr>
          <a:xfrm>
            <a:off x="1877357" y="5734050"/>
            <a:ext cx="3556000" cy="3048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7" name="矩形 46"/>
          <p:cNvSpPr/>
          <p:nvPr/>
        </p:nvSpPr>
        <p:spPr>
          <a:xfrm>
            <a:off x="1944032" y="5781675"/>
            <a:ext cx="3422650" cy="209550"/>
          </a:xfrm>
          <a:prstGeom prst="rect">
            <a:avLst/>
          </a:prstGeom>
          <a:solidFill>
            <a:srgbClr val="000000">
              <a:alpha val="0"/>
            </a:srgbClr>
          </a:solidFill>
          <a:ln w="0">
            <a:solidFill>
              <a:srgbClr val="000000">
                <a:alpha val="0"/>
              </a:srgbClr>
            </a:solidFill>
            <a:prstDash val="solid"/>
          </a:ln>
        </p:spPr>
        <p:txBody>
          <a:bodyPr lIns="0" tIns="0" rIns="0" bIns="0" anchor="ctr">
            <a:normAutofit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32,679 tokens</a:t>
            </a:r>
          </a:p>
        </p:txBody>
      </p:sp>
      <p:sp>
        <p:nvSpPr>
          <p:cNvPr id="7" name="Rounded Rectangle 52"/>
          <p:cNvSpPr/>
          <p:nvPr/>
        </p:nvSpPr>
        <p:spPr>
          <a:xfrm>
            <a:off x="5881688" y="4998016"/>
            <a:ext cx="5155388" cy="777170"/>
          </a:xfrm>
          <a:prstGeom prst="round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dirty="0">
              <a:ln>
                <a:noFill/>
              </a:ln>
              <a:solidFill>
                <a:srgbClr val="23232D"/>
              </a:solidFill>
              <a:effectLst/>
              <a:uLnTx/>
              <a:uFillTx/>
              <a:latin typeface="Aptos"/>
              <a:ea typeface="Calibri"/>
              <a:cs typeface="Calibri"/>
            </a:endParaRPr>
          </a:p>
        </p:txBody>
      </p:sp>
      <p:sp>
        <p:nvSpPr>
          <p:cNvPr id="48" name="矩形 47"/>
          <p:cNvSpPr/>
          <p:nvPr/>
        </p:nvSpPr>
        <p:spPr>
          <a:xfrm>
            <a:off x="5962662" y="4972477"/>
            <a:ext cx="4993441" cy="828248"/>
          </a:xfrm>
          <a:prstGeom prst="rect">
            <a:avLst/>
          </a:prstGeom>
          <a:solidFill>
            <a:srgbClr val="000000">
              <a:alpha val="0"/>
            </a:srgbClr>
          </a:solidFill>
          <a:ln w="0">
            <a:solidFill>
              <a:srgbClr val="000000">
                <a:alpha val="0"/>
              </a:srgbClr>
            </a:solidFill>
            <a:prstDash val="solid"/>
          </a:ln>
        </p:spPr>
        <p:txBody>
          <a:bodyPr lIns="0" tIns="0" rIns="0" bIns="0" anchor="ctr" anchorCtr="1"/>
          <a:lstStyle/>
          <a:p>
            <a:pPr marL="0" marR="0" lvl="0" indent="0" algn="l" defTabSz="914400" eaLnBrk="1" fontAlgn="auto" latinLnBrk="0" hangingPunct="1">
              <a:lnSpc>
                <a:spcPct val="100000"/>
              </a:lnSpc>
              <a:spcBef>
                <a:spcPts val="0"/>
              </a:spcBef>
              <a:spcAft>
                <a:spcPts val="0"/>
              </a:spcAft>
              <a:buClrTx/>
              <a:buSzTx/>
              <a:buFontTx/>
              <a:buNone/>
              <a:tabLst/>
              <a:defRPr sz="1485" b="1">
                <a:solidFill>
                  <a:srgbClr val="1F3154"/>
                </a:solidFill>
                <a:latin typeface="Arial" panose="020B0604020202090204"/>
                <a:ea typeface="Arial" panose="020B0604020202090204"/>
                <a:cs typeface="Arial" panose="020B0604020202090204"/>
              </a:defRPr>
            </a:pPr>
            <a:r>
              <a:rPr kumimoji="0" sz="20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Long requests keep accumulating KV cache after handoff.</a:t>
            </a:r>
          </a:p>
        </p:txBody>
      </p:sp>
      <p:sp>
        <p:nvSpPr>
          <p:cNvPr id="52"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3"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MOTIVATION</a:t>
            </a:r>
          </a:p>
        </p:txBody>
      </p:sp>
      <p:sp>
        <p:nvSpPr>
          <p:cNvPr id="54" name="slide-title"/>
          <p:cNvSpPr/>
          <p:nvPr/>
        </p:nvSpPr>
        <p:spPr>
          <a:xfrm>
            <a:off x="552450" y="561975"/>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dirty="0">
                <a:ln>
                  <a:noFill/>
                </a:ln>
                <a:solidFill>
                  <a:srgbClr val="17131F"/>
                </a:solidFill>
                <a:effectLst/>
                <a:uLnTx/>
                <a:uFillTx/>
                <a:ea typeface="PingFang SC" panose="020B0400000000000000" charset="-122"/>
              </a:rPr>
              <a:t>Static decode assignment causes imbalance.</a:t>
            </a:r>
          </a:p>
        </p:txBody>
      </p:sp>
      <p:sp>
        <p:nvSpPr>
          <p:cNvPr id="55"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6"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7"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58" name="图片 10"/>
          <p:cNvPicPr>
            <a:picLocks noChangeAspect="1"/>
          </p:cNvPicPr>
          <p:nvPr/>
        </p:nvPicPr>
        <p:blipFill>
          <a:blip r:embed="rId4"/>
          <a:stretch>
            <a:fillRect/>
          </a:stretch>
        </p:blipFill>
        <p:spPr>
          <a:xfrm>
            <a:off x="9639300" y="354718"/>
            <a:ext cx="1571625" cy="481189"/>
          </a:xfrm>
          <a:prstGeom prst="rect">
            <a:avLst/>
          </a:prstGeom>
        </p:spPr>
      </p:pic>
      <p:sp>
        <p:nvSpPr>
          <p:cNvPr id="67"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569698" y="5987116"/>
            <a:ext cx="9114790" cy="385109"/>
            <a:chOff x="1538605" y="5868035"/>
            <a:chExt cx="9114790" cy="600038"/>
          </a:xfrm>
        </p:grpSpPr>
        <p:sp>
          <p:nvSpPr>
            <p:cNvPr id="15" name="Rounded Rectangle 52"/>
            <p:cNvSpPr/>
            <p:nvPr/>
          </p:nvSpPr>
          <p:spPr>
            <a:xfrm>
              <a:off x="1538605" y="5868035"/>
              <a:ext cx="9114790" cy="600038"/>
            </a:xfrm>
            <a:prstGeom prst="round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dirty="0">
                <a:ln>
                  <a:noFill/>
                </a:ln>
                <a:solidFill>
                  <a:srgbClr val="23232D"/>
                </a:solidFill>
                <a:effectLst/>
                <a:uLnTx/>
                <a:uFillTx/>
                <a:latin typeface="Aptos"/>
                <a:ea typeface="Calibri"/>
                <a:cs typeface="Calibri"/>
              </a:endParaRPr>
            </a:p>
          </p:txBody>
        </p:sp>
        <p:sp>
          <p:nvSpPr>
            <p:cNvPr id="20" name="矩形 19"/>
            <p:cNvSpPr/>
            <p:nvPr/>
          </p:nvSpPr>
          <p:spPr>
            <a:xfrm>
              <a:off x="1585951" y="6021860"/>
              <a:ext cx="9020098" cy="292388"/>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2310" b="1">
                  <a:solidFill>
                    <a:srgbClr val="1F3154"/>
                  </a:solidFill>
                  <a:latin typeface="Arial" panose="020B0604020202090204"/>
                  <a:ea typeface="Arial" panose="020B0604020202090204"/>
                  <a:cs typeface="Arial" panose="020B0604020202090204"/>
                </a:defRPr>
              </a:pPr>
              <a:r>
                <a:rPr kumimoji="0" sz="19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Long requests on the same node keep growing KV cache, causing imbalance.</a:t>
              </a:r>
            </a:p>
          </p:txBody>
        </p:sp>
      </p:grpSp>
      <p:sp>
        <p:nvSpPr>
          <p:cNvPr id="308" name="文本框 307"/>
          <p:cNvSpPr/>
          <p:nvPr/>
        </p:nvSpPr>
        <p:spPr>
          <a:xfrm>
            <a:off x="165100" y="1021080"/>
            <a:ext cx="3101975" cy="429895"/>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70C0"/>
                </a:solidFill>
                <a:effectLst/>
                <a:uLnTx/>
                <a:uFillTx/>
                <a:latin typeface="Calibri"/>
                <a:ea typeface="Calibri"/>
                <a:cs typeface="Calibri"/>
              </a:rPr>
              <a:t>KV </a:t>
            </a:r>
            <a:r>
              <a:rPr kumimoji="0" sz="2000" b="1" i="0" u="none" strike="noStrike" kern="1200" cap="none" spc="0" normalizeH="0" baseline="0" noProof="0" dirty="0">
                <a:ln>
                  <a:noFill/>
                </a:ln>
                <a:solidFill>
                  <a:srgbClr val="0070C0"/>
                </a:solidFill>
                <a:effectLst/>
                <a:uLnTx/>
                <a:uFillTx/>
                <a:latin typeface="Calibri"/>
                <a:ea typeface="Calibri"/>
                <a:cs typeface="Calibri"/>
              </a:rPr>
              <a:t>cache capacity:18</a:t>
            </a:r>
            <a:r>
              <a:rPr kumimoji="0" sz="2200" b="1" i="0" u="none" strike="noStrike" kern="1200" cap="none" spc="0" normalizeH="0" baseline="0" noProof="0" dirty="0">
                <a:ln>
                  <a:noFill/>
                </a:ln>
                <a:solidFill>
                  <a:srgbClr val="0070C0"/>
                </a:solidFill>
                <a:effectLst/>
                <a:uLnTx/>
                <a:uFillTx/>
                <a:latin typeface="Calibri"/>
                <a:ea typeface="Calibri"/>
                <a:cs typeface="Calibri"/>
              </a:rPr>
              <a:t> </a:t>
            </a:r>
          </a:p>
        </p:txBody>
      </p:sp>
      <p:sp>
        <p:nvSpPr>
          <p:cNvPr id="309" name="文本框 308"/>
          <p:cNvSpPr/>
          <p:nvPr/>
        </p:nvSpPr>
        <p:spPr>
          <a:xfrm>
            <a:off x="5622925" y="1021080"/>
            <a:ext cx="6418580" cy="39878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2000" b="1" i="1" u="none" strike="noStrike" kern="1200" cap="none" spc="0" normalizeH="0" baseline="0" noProof="0" dirty="0">
                <a:ln>
                  <a:noFill/>
                </a:ln>
                <a:solidFill>
                  <a:srgbClr val="7030A0"/>
                </a:solidFill>
                <a:effectLst/>
                <a:uLnTx/>
                <a:uFillTx/>
                <a:latin typeface="Calibri"/>
                <a:ea typeface="Calibri"/>
                <a:cs typeface="Calibri"/>
              </a:rPr>
              <a:t>prefill-&gt;decode: </a:t>
            </a:r>
            <a:r>
              <a:rPr kumimoji="0" sz="2000" b="0" i="1" u="none" strike="noStrike" kern="1200" cap="none" spc="0" normalizeH="0" baseline="0" noProof="0" dirty="0">
                <a:ln>
                  <a:noFill/>
                </a:ln>
                <a:solidFill>
                  <a:srgbClr val="7030A0"/>
                </a:solidFill>
                <a:effectLst/>
                <a:uLnTx/>
                <a:uFillTx/>
                <a:latin typeface="Calibri"/>
                <a:ea typeface="Calibri"/>
                <a:cs typeface="Calibri"/>
              </a:rPr>
              <a:t>select lowest </a:t>
            </a:r>
            <a:r>
              <a:rPr kumimoji="0" sz="2000" b="0" i="1" u="none" strike="noStrike" kern="1200" cap="none" spc="0" normalizeH="0" baseline="0" noProof="0" dirty="0" err="1">
                <a:ln>
                  <a:noFill/>
                </a:ln>
                <a:solidFill>
                  <a:srgbClr val="7030A0"/>
                </a:solidFill>
                <a:effectLst/>
                <a:uLnTx/>
                <a:uFillTx/>
                <a:latin typeface="Calibri"/>
                <a:ea typeface="Calibri"/>
                <a:cs typeface="Calibri"/>
              </a:rPr>
              <a:t>kv</a:t>
            </a:r>
            <a:r>
              <a:rPr kumimoji="0" sz="2000" b="0" i="1" u="none" strike="noStrike" kern="1200" cap="none" spc="0" normalizeH="0" baseline="0" noProof="0" dirty="0">
                <a:ln>
                  <a:noFill/>
                </a:ln>
                <a:solidFill>
                  <a:srgbClr val="7030A0"/>
                </a:solidFill>
                <a:effectLst/>
                <a:uLnTx/>
                <a:uFillTx/>
                <a:latin typeface="Calibri"/>
                <a:ea typeface="Calibri"/>
                <a:cs typeface="Calibri"/>
              </a:rPr>
              <a:t> cache load instance</a:t>
            </a:r>
          </a:p>
        </p:txBody>
      </p:sp>
      <p:sp>
        <p:nvSpPr>
          <p:cNvPr id="434"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35" name="section-label"/>
          <p:cNvSpPr/>
          <p:nvPr/>
        </p:nvSpPr>
        <p:spPr>
          <a:xfrm>
            <a:off x="704850" y="219075"/>
            <a:ext cx="3355975" cy="245745"/>
          </a:xfrm>
          <a:prstGeom prst="rect">
            <a:avLst/>
          </a:prstGeom>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OBSERVATIO</a:t>
            </a:r>
            <a:r>
              <a:rPr kumimoji="0" lang="en-US" sz="1600" b="1" i="0" u="none" strike="noStrike" kern="1200" cap="none" spc="0" normalizeH="0" baseline="0" noProof="0" dirty="0">
                <a:ln>
                  <a:noFill/>
                </a:ln>
                <a:solidFill>
                  <a:srgbClr val="4B1D78"/>
                </a:solidFill>
                <a:effectLst/>
                <a:uLnTx/>
                <a:uFillTx/>
                <a:latin typeface="&quot;PingFang SC&quot;, Arial"/>
              </a:rPr>
              <a:t>N</a:t>
            </a:r>
            <a:endParaRPr kumimoji="0" lang="en-US" altLang="zh-CN" sz="1600" b="1" i="0" u="none" strike="noStrike" kern="1200" cap="none" spc="0" normalizeH="0" baseline="0" noProof="0" dirty="0">
              <a:ln>
                <a:noFill/>
              </a:ln>
              <a:solidFill>
                <a:srgbClr val="4B1D78"/>
              </a:solidFill>
              <a:effectLst/>
              <a:uLnTx/>
              <a:uFillTx/>
              <a:latin typeface="&quot;PingFang SC&quot;, Arial"/>
              <a:ea typeface="宋体" charset="0"/>
            </a:endParaRPr>
          </a:p>
        </p:txBody>
      </p:sp>
      <p:sp>
        <p:nvSpPr>
          <p:cNvPr id="437"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38"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39"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440" name="图片 10"/>
          <p:cNvPicPr>
            <a:picLocks noChangeAspect="1"/>
          </p:cNvPicPr>
          <p:nvPr/>
        </p:nvPicPr>
        <p:blipFill>
          <a:blip r:embed="rId3"/>
          <a:stretch>
            <a:fillRect/>
          </a:stretch>
        </p:blipFill>
        <p:spPr>
          <a:xfrm>
            <a:off x="9639300" y="354718"/>
            <a:ext cx="1571625" cy="481189"/>
          </a:xfrm>
          <a:prstGeom prst="rect">
            <a:avLst/>
          </a:prstGeom>
        </p:spPr>
      </p:pic>
      <p:sp>
        <p:nvSpPr>
          <p:cNvPr id="446"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42</a:t>
            </a:r>
          </a:p>
        </p:txBody>
      </p:sp>
      <p:sp>
        <p:nvSpPr>
          <p:cNvPr id="2" name="slide-title"/>
          <p:cNvSpPr/>
          <p:nvPr/>
        </p:nvSpPr>
        <p:spPr>
          <a:xfrm>
            <a:off x="552450" y="580073"/>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lang="en-US" altLang="zh-CN" sz="2850" b="1" i="0" u="none" strike="noStrike" kern="1200" cap="none" spc="0" normalizeH="0" baseline="0" noProof="0" dirty="0">
                <a:ln>
                  <a:noFill/>
                </a:ln>
                <a:solidFill>
                  <a:srgbClr val="17131F"/>
                </a:solidFill>
                <a:effectLst/>
                <a:uLnTx/>
                <a:uFillTx/>
                <a:ea typeface="PingFang SC" panose="020B0400000000000000" charset="-122"/>
              </a:rPr>
              <a:t>Imbalance workload in decode phase.</a:t>
            </a:r>
          </a:p>
        </p:txBody>
      </p:sp>
      <p:sp>
        <p:nvSpPr>
          <p:cNvPr id="104" name="文本框 103"/>
          <p:cNvSpPr/>
          <p:nvPr/>
        </p:nvSpPr>
        <p:spPr>
          <a:xfrm>
            <a:off x="228600" y="1568450"/>
            <a:ext cx="1280795" cy="64516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decode</a:t>
            </a:r>
          </a:p>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instance1</a:t>
            </a:r>
          </a:p>
        </p:txBody>
      </p:sp>
      <p:sp>
        <p:nvSpPr>
          <p:cNvPr id="157" name="文本框 156"/>
          <p:cNvSpPr/>
          <p:nvPr/>
        </p:nvSpPr>
        <p:spPr>
          <a:xfrm>
            <a:off x="225425" y="2702560"/>
            <a:ext cx="1280795" cy="64516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decode</a:t>
            </a:r>
          </a:p>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instance2</a:t>
            </a:r>
          </a:p>
        </p:txBody>
      </p:sp>
      <p:sp>
        <p:nvSpPr>
          <p:cNvPr id="210" name="文本框 209"/>
          <p:cNvSpPr/>
          <p:nvPr/>
        </p:nvSpPr>
        <p:spPr>
          <a:xfrm>
            <a:off x="225425" y="3882390"/>
            <a:ext cx="1280795" cy="64516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decode</a:t>
            </a:r>
          </a:p>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instance3</a:t>
            </a:r>
          </a:p>
        </p:txBody>
      </p:sp>
      <p:sp>
        <p:nvSpPr>
          <p:cNvPr id="37" name="矩形 36"/>
          <p:cNvSpPr/>
          <p:nvPr/>
        </p:nvSpPr>
        <p:spPr>
          <a:xfrm>
            <a:off x="1401445" y="146748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1" name="文本框 40"/>
          <p:cNvSpPr/>
          <p:nvPr/>
        </p:nvSpPr>
        <p:spPr>
          <a:xfrm>
            <a:off x="1535430" y="1468755"/>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req1</a:t>
            </a:r>
          </a:p>
        </p:txBody>
      </p:sp>
      <p:sp>
        <p:nvSpPr>
          <p:cNvPr id="42" name="文本框 41"/>
          <p:cNvSpPr/>
          <p:nvPr/>
        </p:nvSpPr>
        <p:spPr>
          <a:xfrm>
            <a:off x="1535430" y="173355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req2</a:t>
            </a:r>
          </a:p>
        </p:txBody>
      </p:sp>
      <p:sp>
        <p:nvSpPr>
          <p:cNvPr id="43" name="文本框 42"/>
          <p:cNvSpPr/>
          <p:nvPr/>
        </p:nvSpPr>
        <p:spPr>
          <a:xfrm>
            <a:off x="1538605" y="199390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req3</a:t>
            </a:r>
          </a:p>
        </p:txBody>
      </p:sp>
      <p:sp>
        <p:nvSpPr>
          <p:cNvPr id="45" name="矩形 44"/>
          <p:cNvSpPr/>
          <p:nvPr/>
        </p:nvSpPr>
        <p:spPr>
          <a:xfrm>
            <a:off x="2212340" y="158051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4" name="圆角矩形 43"/>
          <p:cNvSpPr/>
          <p:nvPr/>
        </p:nvSpPr>
        <p:spPr>
          <a:xfrm>
            <a:off x="2433955" y="16081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0" name="圆角矩形 39"/>
          <p:cNvSpPr/>
          <p:nvPr/>
        </p:nvSpPr>
        <p:spPr>
          <a:xfrm>
            <a:off x="2268855" y="16081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6" name="矩形 45"/>
          <p:cNvSpPr/>
          <p:nvPr/>
        </p:nvSpPr>
        <p:spPr>
          <a:xfrm>
            <a:off x="2215515" y="185039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7" name="圆角矩形 46"/>
          <p:cNvSpPr/>
          <p:nvPr/>
        </p:nvSpPr>
        <p:spPr>
          <a:xfrm>
            <a:off x="2437130" y="187960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8" name="圆角矩形 47"/>
          <p:cNvSpPr/>
          <p:nvPr/>
        </p:nvSpPr>
        <p:spPr>
          <a:xfrm>
            <a:off x="2272030" y="187642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9" name="矩形 48"/>
          <p:cNvSpPr/>
          <p:nvPr/>
        </p:nvSpPr>
        <p:spPr>
          <a:xfrm>
            <a:off x="2209165" y="209169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50" name="圆角矩形 49"/>
          <p:cNvSpPr/>
          <p:nvPr/>
        </p:nvSpPr>
        <p:spPr>
          <a:xfrm>
            <a:off x="2430780" y="212090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51" name="圆角矩形 50"/>
          <p:cNvSpPr/>
          <p:nvPr/>
        </p:nvSpPr>
        <p:spPr>
          <a:xfrm>
            <a:off x="2265680" y="211772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05" name="矩形 104"/>
          <p:cNvSpPr/>
          <p:nvPr/>
        </p:nvSpPr>
        <p:spPr>
          <a:xfrm>
            <a:off x="1398270" y="260159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06" name="文本框 105"/>
          <p:cNvSpPr/>
          <p:nvPr/>
        </p:nvSpPr>
        <p:spPr>
          <a:xfrm>
            <a:off x="1532255" y="2602865"/>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req4</a:t>
            </a:r>
          </a:p>
        </p:txBody>
      </p:sp>
      <p:sp>
        <p:nvSpPr>
          <p:cNvPr id="107" name="文本框 106"/>
          <p:cNvSpPr/>
          <p:nvPr/>
        </p:nvSpPr>
        <p:spPr>
          <a:xfrm>
            <a:off x="1532255" y="286766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req5</a:t>
            </a:r>
          </a:p>
        </p:txBody>
      </p:sp>
      <p:sp>
        <p:nvSpPr>
          <p:cNvPr id="108" name="文本框 107"/>
          <p:cNvSpPr/>
          <p:nvPr/>
        </p:nvSpPr>
        <p:spPr>
          <a:xfrm>
            <a:off x="1535430" y="312801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req6</a:t>
            </a:r>
          </a:p>
        </p:txBody>
      </p:sp>
      <p:sp>
        <p:nvSpPr>
          <p:cNvPr id="109" name="矩形 108"/>
          <p:cNvSpPr/>
          <p:nvPr/>
        </p:nvSpPr>
        <p:spPr>
          <a:xfrm>
            <a:off x="2209165" y="271462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0" name="圆角矩形 109"/>
          <p:cNvSpPr/>
          <p:nvPr/>
        </p:nvSpPr>
        <p:spPr>
          <a:xfrm>
            <a:off x="2430780" y="27438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1" name="圆角矩形 110"/>
          <p:cNvSpPr/>
          <p:nvPr/>
        </p:nvSpPr>
        <p:spPr>
          <a:xfrm>
            <a:off x="2265680" y="274066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2" name="矩形 111"/>
          <p:cNvSpPr/>
          <p:nvPr/>
        </p:nvSpPr>
        <p:spPr>
          <a:xfrm>
            <a:off x="2212340" y="298450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3" name="圆角矩形 112"/>
          <p:cNvSpPr/>
          <p:nvPr/>
        </p:nvSpPr>
        <p:spPr>
          <a:xfrm>
            <a:off x="2433955" y="301371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4" name="圆角矩形 113"/>
          <p:cNvSpPr/>
          <p:nvPr/>
        </p:nvSpPr>
        <p:spPr>
          <a:xfrm>
            <a:off x="2268855" y="30105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5" name="矩形 114"/>
          <p:cNvSpPr/>
          <p:nvPr/>
        </p:nvSpPr>
        <p:spPr>
          <a:xfrm>
            <a:off x="2205990" y="322580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6" name="圆角矩形 115"/>
          <p:cNvSpPr/>
          <p:nvPr/>
        </p:nvSpPr>
        <p:spPr>
          <a:xfrm>
            <a:off x="2427605" y="325501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7" name="圆角矩形 116"/>
          <p:cNvSpPr/>
          <p:nvPr/>
        </p:nvSpPr>
        <p:spPr>
          <a:xfrm>
            <a:off x="2262505" y="32518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58" name="矩形 157"/>
          <p:cNvSpPr/>
          <p:nvPr/>
        </p:nvSpPr>
        <p:spPr>
          <a:xfrm>
            <a:off x="1398270" y="378142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59" name="文本框 158"/>
          <p:cNvSpPr/>
          <p:nvPr/>
        </p:nvSpPr>
        <p:spPr>
          <a:xfrm>
            <a:off x="1532255" y="3782695"/>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req7</a:t>
            </a:r>
          </a:p>
        </p:txBody>
      </p:sp>
      <p:sp>
        <p:nvSpPr>
          <p:cNvPr id="160" name="文本框 159"/>
          <p:cNvSpPr/>
          <p:nvPr/>
        </p:nvSpPr>
        <p:spPr>
          <a:xfrm>
            <a:off x="1532255" y="404749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req8</a:t>
            </a:r>
          </a:p>
        </p:txBody>
      </p:sp>
      <p:sp>
        <p:nvSpPr>
          <p:cNvPr id="161" name="文本框 160"/>
          <p:cNvSpPr/>
          <p:nvPr/>
        </p:nvSpPr>
        <p:spPr>
          <a:xfrm>
            <a:off x="1535430" y="430784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req9</a:t>
            </a:r>
          </a:p>
        </p:txBody>
      </p:sp>
      <p:sp>
        <p:nvSpPr>
          <p:cNvPr id="162" name="矩形 161"/>
          <p:cNvSpPr/>
          <p:nvPr/>
        </p:nvSpPr>
        <p:spPr>
          <a:xfrm>
            <a:off x="2209165" y="389445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63" name="圆角矩形 162"/>
          <p:cNvSpPr/>
          <p:nvPr/>
        </p:nvSpPr>
        <p:spPr>
          <a:xfrm>
            <a:off x="2430780" y="392366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64" name="圆角矩形 163"/>
          <p:cNvSpPr/>
          <p:nvPr/>
        </p:nvSpPr>
        <p:spPr>
          <a:xfrm>
            <a:off x="2265680" y="392049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65" name="矩形 164"/>
          <p:cNvSpPr/>
          <p:nvPr/>
        </p:nvSpPr>
        <p:spPr>
          <a:xfrm>
            <a:off x="2212340" y="416433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66" name="圆角矩形 165"/>
          <p:cNvSpPr/>
          <p:nvPr/>
        </p:nvSpPr>
        <p:spPr>
          <a:xfrm>
            <a:off x="2433955" y="419354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67" name="圆角矩形 166"/>
          <p:cNvSpPr/>
          <p:nvPr/>
        </p:nvSpPr>
        <p:spPr>
          <a:xfrm>
            <a:off x="2268855" y="419036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68" name="矩形 167"/>
          <p:cNvSpPr/>
          <p:nvPr/>
        </p:nvSpPr>
        <p:spPr>
          <a:xfrm>
            <a:off x="2205990" y="440563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69" name="圆角矩形 168"/>
          <p:cNvSpPr/>
          <p:nvPr/>
        </p:nvSpPr>
        <p:spPr>
          <a:xfrm>
            <a:off x="2427605" y="443484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70" name="圆角矩形 169"/>
          <p:cNvSpPr/>
          <p:nvPr/>
        </p:nvSpPr>
        <p:spPr>
          <a:xfrm>
            <a:off x="2262505" y="443166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24" name="文本框 323"/>
          <p:cNvSpPr/>
          <p:nvPr/>
        </p:nvSpPr>
        <p:spPr>
          <a:xfrm>
            <a:off x="1214755" y="4979670"/>
            <a:ext cx="2576830" cy="52197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Calibri"/>
                <a:cs typeface="Calibri"/>
              </a:rPr>
              <a:t>req6 finish</a:t>
            </a:r>
          </a:p>
          <a:p>
            <a:pPr marL="0" marR="0" lvl="0" indent="0" algn="ctr" defTabSz="91440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0AD47"/>
                </a:solidFill>
                <a:effectLst/>
                <a:uLnTx/>
                <a:uFillTx/>
                <a:latin typeface="Calibri"/>
                <a:ea typeface="Calibri"/>
                <a:cs typeface="Calibri"/>
                <a:sym typeface="+mn-ea"/>
              </a:rPr>
              <a:t>schedule req1</a:t>
            </a:r>
            <a:r>
              <a:rPr kumimoji="0" lang="en-US" sz="1400" b="0" i="0" u="none" strike="noStrike" kern="1200" cap="none" spc="0" normalizeH="0" baseline="0" noProof="0" dirty="0">
                <a:ln>
                  <a:noFill/>
                </a:ln>
                <a:solidFill>
                  <a:srgbClr val="70AD47"/>
                </a:solidFill>
                <a:effectLst/>
                <a:uLnTx/>
                <a:uFillTx/>
                <a:latin typeface="Calibri"/>
                <a:ea typeface="Calibri"/>
                <a:cs typeface="Calibri"/>
                <a:sym typeface="+mn-ea"/>
              </a:rPr>
              <a:t>0</a:t>
            </a:r>
            <a:r>
              <a:rPr kumimoji="0" sz="1400" b="0" i="0" u="none" strike="noStrike" kern="1200" cap="none" spc="0" normalizeH="0" baseline="0" noProof="0" dirty="0">
                <a:ln>
                  <a:noFill/>
                </a:ln>
                <a:solidFill>
                  <a:srgbClr val="70AD47"/>
                </a:solidFill>
                <a:effectLst/>
                <a:uLnTx/>
                <a:uFillTx/>
                <a:latin typeface="Calibri"/>
                <a:ea typeface="Calibri"/>
                <a:cs typeface="Calibri"/>
                <a:sym typeface="+mn-ea"/>
              </a:rPr>
              <a:t> to instance</a:t>
            </a:r>
            <a:r>
              <a:rPr kumimoji="0" lang="en-US" sz="1400" b="0" i="0" u="none" strike="noStrike" kern="1200" cap="none" spc="0" normalizeH="0" baseline="0" noProof="0" dirty="0">
                <a:ln>
                  <a:noFill/>
                </a:ln>
                <a:solidFill>
                  <a:srgbClr val="70AD47"/>
                </a:solidFill>
                <a:effectLst/>
                <a:uLnTx/>
                <a:uFillTx/>
                <a:latin typeface="Calibri"/>
                <a:ea typeface="Calibri"/>
                <a:cs typeface="Calibri"/>
                <a:sym typeface="+mn-ea"/>
              </a:rPr>
              <a:t>2</a:t>
            </a:r>
          </a:p>
        </p:txBody>
      </p:sp>
      <p:sp>
        <p:nvSpPr>
          <p:cNvPr id="3" name="鏂囨湰妗?328"/>
          <p:cNvSpPr/>
          <p:nvPr/>
        </p:nvSpPr>
        <p:spPr>
          <a:xfrm>
            <a:off x="2896870" y="3198127"/>
            <a:ext cx="616744" cy="216000"/>
          </a:xfrm>
          <a:prstGeom prst="roundRect">
            <a:avLst>
              <a:gd name="adj" fmla="val 39816"/>
            </a:avLst>
          </a:prstGeom>
          <a:solidFill>
            <a:srgbClr val="FCE7E7"/>
          </a:solidFill>
          <a:ln w="9525">
            <a:solidFill>
              <a:srgbClr val="E36A6A"/>
            </a:solidFill>
          </a:ln>
          <a:effectLst>
            <a:outerShdw blurRad="38100" dist="19050" dir="5400000" algn="tl" rotWithShape="0">
              <a:srgbClr val="9F1D1D">
                <a:alpha val="14000"/>
              </a:srgbClr>
            </a:outerShdw>
          </a:effectLst>
        </p:spPr>
        <p:txBody>
          <a:bodyPr wrap="none" lIns="63500" tIns="25400" rIns="63500" bIns="25400" anchor="ctr">
            <a:spAutoFit/>
          </a:bodyPr>
          <a:ls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9F1D1D"/>
                </a:solidFill>
                <a:effectLst/>
                <a:uLnTx/>
                <a:uFillTx/>
                <a:latin typeface="Calibri"/>
                <a:ea typeface="Calibri"/>
                <a:cs typeface="Calibri"/>
              </a:rPr>
              <a:t>finish</a:t>
            </a:r>
            <a:endParaRPr kumimoji="0" sz="1100" b="1" i="0" u="none" strike="noStrike" kern="1200" cap="none" spc="0" normalizeH="0" baseline="0" noProof="0" dirty="0">
              <a:ln>
                <a:noFill/>
              </a:ln>
              <a:solidFill>
                <a:srgbClr val="9F1D1D"/>
              </a:solidFill>
              <a:effectLst/>
              <a:uLnTx/>
              <a:uFillTx/>
              <a:latin typeface="Calibri"/>
              <a:ea typeface="Calibri"/>
              <a:cs typeface="Calibri"/>
            </a:endParaRPr>
          </a:p>
        </p:txBody>
      </p:sp>
      <p:sp>
        <p:nvSpPr>
          <p:cNvPr id="27" name="文本框 26"/>
          <p:cNvSpPr txBox="1"/>
          <p:nvPr/>
        </p:nvSpPr>
        <p:spPr>
          <a:xfrm>
            <a:off x="2496972" y="4664710"/>
            <a:ext cx="296876" cy="369332"/>
          </a:xfrm>
          <a:prstGeom prst="rect">
            <a:avLst/>
          </a:prstGeom>
          <a:no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70C0"/>
                </a:solidFill>
                <a:effectLst/>
                <a:uLnTx/>
                <a:uFillTx/>
                <a:latin typeface="Calibri"/>
                <a:ea typeface="Calibri"/>
                <a:cs typeface="Calibri"/>
              </a:rPr>
              <a:t>T</a:t>
            </a:r>
          </a:p>
        </p:txBody>
      </p:sp>
      <p:grpSp>
        <p:nvGrpSpPr>
          <p:cNvPr id="6" name="组合 5"/>
          <p:cNvGrpSpPr/>
          <p:nvPr/>
        </p:nvGrpSpPr>
        <p:grpSpPr>
          <a:xfrm>
            <a:off x="6653530" y="1467485"/>
            <a:ext cx="2506345" cy="4368800"/>
            <a:chOff x="6653530" y="1467485"/>
            <a:chExt cx="2506345" cy="4368800"/>
          </a:xfrm>
        </p:grpSpPr>
        <p:sp>
          <p:nvSpPr>
            <p:cNvPr id="267" name="矩形 266"/>
            <p:cNvSpPr/>
            <p:nvPr/>
          </p:nvSpPr>
          <p:spPr>
            <a:xfrm>
              <a:off x="6758305" y="146748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68" name="文本框 267"/>
            <p:cNvSpPr/>
            <p:nvPr/>
          </p:nvSpPr>
          <p:spPr>
            <a:xfrm>
              <a:off x="6892290" y="1468755"/>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req1</a:t>
              </a:r>
            </a:p>
          </p:txBody>
        </p:sp>
        <p:sp>
          <p:nvSpPr>
            <p:cNvPr id="131" name="矩形 130"/>
            <p:cNvSpPr/>
            <p:nvPr/>
          </p:nvSpPr>
          <p:spPr>
            <a:xfrm>
              <a:off x="6758305" y="262445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32" name="文本框 131"/>
            <p:cNvSpPr/>
            <p:nvPr/>
          </p:nvSpPr>
          <p:spPr>
            <a:xfrm>
              <a:off x="6884035" y="2625725"/>
              <a:ext cx="798830"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req4</a:t>
              </a:r>
            </a:p>
          </p:txBody>
        </p:sp>
        <p:sp>
          <p:nvSpPr>
            <p:cNvPr id="133" name="文本框 132"/>
            <p:cNvSpPr/>
            <p:nvPr/>
          </p:nvSpPr>
          <p:spPr>
            <a:xfrm>
              <a:off x="6892290" y="289052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req5</a:t>
              </a:r>
            </a:p>
          </p:txBody>
        </p:sp>
        <p:sp>
          <p:nvSpPr>
            <p:cNvPr id="135" name="矩形 134"/>
            <p:cNvSpPr/>
            <p:nvPr/>
          </p:nvSpPr>
          <p:spPr>
            <a:xfrm>
              <a:off x="7569200" y="274066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37" name="圆角矩形 136"/>
            <p:cNvSpPr/>
            <p:nvPr/>
          </p:nvSpPr>
          <p:spPr>
            <a:xfrm>
              <a:off x="7625715" y="276510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38" name="矩形 137"/>
            <p:cNvSpPr/>
            <p:nvPr/>
          </p:nvSpPr>
          <p:spPr>
            <a:xfrm>
              <a:off x="7572375" y="300736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39" name="圆角矩形 138"/>
            <p:cNvSpPr/>
            <p:nvPr/>
          </p:nvSpPr>
          <p:spPr>
            <a:xfrm>
              <a:off x="7797165" y="303180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40" name="圆角矩形 139"/>
            <p:cNvSpPr/>
            <p:nvPr/>
          </p:nvSpPr>
          <p:spPr>
            <a:xfrm>
              <a:off x="7628890" y="303180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69" name="文本框 268"/>
            <p:cNvSpPr/>
            <p:nvPr/>
          </p:nvSpPr>
          <p:spPr>
            <a:xfrm>
              <a:off x="6892290" y="173355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req2</a:t>
              </a:r>
            </a:p>
          </p:txBody>
        </p:sp>
        <p:sp>
          <p:nvSpPr>
            <p:cNvPr id="270" name="文本框 269"/>
            <p:cNvSpPr/>
            <p:nvPr/>
          </p:nvSpPr>
          <p:spPr>
            <a:xfrm>
              <a:off x="6895465" y="199390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req3</a:t>
              </a:r>
            </a:p>
          </p:txBody>
        </p:sp>
        <p:sp>
          <p:nvSpPr>
            <p:cNvPr id="271" name="矩形 270"/>
            <p:cNvSpPr/>
            <p:nvPr/>
          </p:nvSpPr>
          <p:spPr>
            <a:xfrm>
              <a:off x="7569200" y="158051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72" name="圆角矩形 271"/>
            <p:cNvSpPr/>
            <p:nvPr/>
          </p:nvSpPr>
          <p:spPr>
            <a:xfrm>
              <a:off x="7793990" y="161131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73" name="圆角矩形 272"/>
            <p:cNvSpPr/>
            <p:nvPr/>
          </p:nvSpPr>
          <p:spPr>
            <a:xfrm>
              <a:off x="7625715" y="161131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74" name="矩形 273"/>
            <p:cNvSpPr/>
            <p:nvPr/>
          </p:nvSpPr>
          <p:spPr>
            <a:xfrm>
              <a:off x="7572375" y="185039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75" name="圆角矩形 274"/>
            <p:cNvSpPr/>
            <p:nvPr/>
          </p:nvSpPr>
          <p:spPr>
            <a:xfrm>
              <a:off x="7803515" y="18748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76" name="圆角矩形 275"/>
            <p:cNvSpPr/>
            <p:nvPr/>
          </p:nvSpPr>
          <p:spPr>
            <a:xfrm>
              <a:off x="7628890" y="18748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77" name="矩形 276"/>
            <p:cNvSpPr/>
            <p:nvPr/>
          </p:nvSpPr>
          <p:spPr>
            <a:xfrm>
              <a:off x="7566025" y="209169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78" name="圆角矩形 277"/>
            <p:cNvSpPr/>
            <p:nvPr/>
          </p:nvSpPr>
          <p:spPr>
            <a:xfrm>
              <a:off x="7797165" y="21161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79" name="圆角矩形 278"/>
            <p:cNvSpPr/>
            <p:nvPr/>
          </p:nvSpPr>
          <p:spPr>
            <a:xfrm>
              <a:off x="7622540" y="21161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80" name="圆角矩形 279"/>
            <p:cNvSpPr/>
            <p:nvPr/>
          </p:nvSpPr>
          <p:spPr>
            <a:xfrm>
              <a:off x="7962265" y="161131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81" name="圆角矩形 280"/>
            <p:cNvSpPr/>
            <p:nvPr/>
          </p:nvSpPr>
          <p:spPr>
            <a:xfrm>
              <a:off x="7971790" y="21161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82" name="圆角矩形 281"/>
            <p:cNvSpPr/>
            <p:nvPr/>
          </p:nvSpPr>
          <p:spPr>
            <a:xfrm>
              <a:off x="7978140" y="18748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9" name="圆角矩形 298"/>
            <p:cNvSpPr/>
            <p:nvPr/>
          </p:nvSpPr>
          <p:spPr>
            <a:xfrm>
              <a:off x="8130540" y="161131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00" name="圆角矩形 299"/>
            <p:cNvSpPr/>
            <p:nvPr/>
          </p:nvSpPr>
          <p:spPr>
            <a:xfrm>
              <a:off x="8152765" y="18748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01" name="圆角矩形 300"/>
            <p:cNvSpPr/>
            <p:nvPr/>
          </p:nvSpPr>
          <p:spPr>
            <a:xfrm>
              <a:off x="8146415" y="21161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26" name="文本框 325"/>
            <p:cNvSpPr/>
            <p:nvPr/>
          </p:nvSpPr>
          <p:spPr>
            <a:xfrm>
              <a:off x="6653530" y="4975860"/>
              <a:ext cx="2506345" cy="860425"/>
            </a:xfrm>
            <a:prstGeom prst="rect">
              <a:avLst/>
            </a:prstGeom>
            <a:noFill/>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prstClr val="black"/>
                  </a:solidFill>
                  <a:effectLst/>
                  <a:uLnTx/>
                  <a:uFillTx/>
                  <a:latin typeface="Calibri"/>
                  <a:ea typeface="Calibri"/>
                  <a:cs typeface="Calibri"/>
                </a:rPr>
                <a:t>req11 finish</a:t>
              </a:r>
            </a:p>
            <a:p>
              <a:pPr marL="0" marR="0" lvl="0" indent="0" algn="ctr" defTabSz="91440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0AD47"/>
                  </a:solidFill>
                  <a:effectLst/>
                  <a:uLnTx/>
                  <a:uFillTx/>
                  <a:latin typeface="Calibri"/>
                  <a:ea typeface="Calibri"/>
                  <a:cs typeface="Calibri"/>
                  <a:sym typeface="+mn-ea"/>
                </a:rPr>
                <a:t>schedule req1</a:t>
              </a:r>
              <a:r>
                <a:rPr kumimoji="0" lang="en-US" sz="1400" b="0" i="0" u="none" strike="noStrike" kern="1200" cap="none" spc="0" normalizeH="0" baseline="0" noProof="0" dirty="0">
                  <a:ln>
                    <a:noFill/>
                  </a:ln>
                  <a:solidFill>
                    <a:srgbClr val="70AD47"/>
                  </a:solidFill>
                  <a:effectLst/>
                  <a:uLnTx/>
                  <a:uFillTx/>
                  <a:latin typeface="Calibri"/>
                  <a:ea typeface="Calibri"/>
                  <a:cs typeface="Calibri"/>
                  <a:sym typeface="+mn-ea"/>
                </a:rPr>
                <a:t>2</a:t>
              </a:r>
              <a:r>
                <a:rPr kumimoji="0" sz="1400" b="0" i="0" u="none" strike="noStrike" kern="1200" cap="none" spc="0" normalizeH="0" baseline="0" noProof="0" dirty="0">
                  <a:ln>
                    <a:noFill/>
                  </a:ln>
                  <a:solidFill>
                    <a:srgbClr val="70AD47"/>
                  </a:solidFill>
                  <a:effectLst/>
                  <a:uLnTx/>
                  <a:uFillTx/>
                  <a:latin typeface="Calibri"/>
                  <a:ea typeface="Calibri"/>
                  <a:cs typeface="Calibri"/>
                  <a:sym typeface="+mn-ea"/>
                </a:rPr>
                <a:t> to instance3</a:t>
              </a:r>
              <a:endParaRPr kumimoji="0" sz="1400" b="0" i="0" u="none" strike="noStrike" kern="1200" cap="none" spc="0" normalizeH="0" baseline="0" noProof="0" dirty="0">
                <a:ln>
                  <a:noFill/>
                </a:ln>
                <a:solidFill>
                  <a:prstClr val="black"/>
                </a:solidFill>
                <a:effectLst/>
                <a:uLnTx/>
                <a:uFillTx/>
                <a:latin typeface="Calibri"/>
                <a:ea typeface="Calibri"/>
                <a:cs typeface="Calibri"/>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32" name="圆角矩形 331"/>
            <p:cNvSpPr/>
            <p:nvPr/>
          </p:nvSpPr>
          <p:spPr>
            <a:xfrm>
              <a:off x="7965440" y="303180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86" name="矩形 385"/>
            <p:cNvSpPr/>
            <p:nvPr/>
          </p:nvSpPr>
          <p:spPr>
            <a:xfrm>
              <a:off x="6758305" y="380428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87" name="文本框 386"/>
            <p:cNvSpPr/>
            <p:nvPr/>
          </p:nvSpPr>
          <p:spPr>
            <a:xfrm>
              <a:off x="6804025" y="3805555"/>
              <a:ext cx="821690"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70AD47"/>
                  </a:solidFill>
                  <a:effectLst/>
                  <a:uLnTx/>
                  <a:uFillTx/>
                  <a:latin typeface="Calibri"/>
                  <a:ea typeface="Calibri"/>
                  <a:cs typeface="Calibri"/>
                </a:rPr>
                <a:t>req11</a:t>
              </a:r>
            </a:p>
          </p:txBody>
        </p:sp>
        <p:sp>
          <p:nvSpPr>
            <p:cNvPr id="389" name="文本框 388"/>
            <p:cNvSpPr/>
            <p:nvPr/>
          </p:nvSpPr>
          <p:spPr>
            <a:xfrm>
              <a:off x="6895465" y="433070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req9</a:t>
              </a:r>
            </a:p>
          </p:txBody>
        </p:sp>
        <p:sp>
          <p:nvSpPr>
            <p:cNvPr id="390" name="矩形 389"/>
            <p:cNvSpPr/>
            <p:nvPr/>
          </p:nvSpPr>
          <p:spPr>
            <a:xfrm>
              <a:off x="7569200" y="391731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92" name="圆角矩形 391"/>
            <p:cNvSpPr/>
            <p:nvPr/>
          </p:nvSpPr>
          <p:spPr>
            <a:xfrm>
              <a:off x="7625715" y="394335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96" name="矩形 395"/>
            <p:cNvSpPr/>
            <p:nvPr/>
          </p:nvSpPr>
          <p:spPr>
            <a:xfrm>
              <a:off x="7566025" y="442849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97" name="圆角矩形 396"/>
            <p:cNvSpPr/>
            <p:nvPr/>
          </p:nvSpPr>
          <p:spPr>
            <a:xfrm>
              <a:off x="7793990" y="44529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98" name="圆角矩形 397"/>
            <p:cNvSpPr/>
            <p:nvPr/>
          </p:nvSpPr>
          <p:spPr>
            <a:xfrm>
              <a:off x="7622540" y="44529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03" name="圆角矩形 402"/>
            <p:cNvSpPr/>
            <p:nvPr/>
          </p:nvSpPr>
          <p:spPr>
            <a:xfrm>
              <a:off x="7965440" y="44529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22" name="圆角矩形 421"/>
            <p:cNvSpPr/>
            <p:nvPr/>
          </p:nvSpPr>
          <p:spPr>
            <a:xfrm>
              <a:off x="7798647" y="276510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23" name="圆角矩形 422"/>
            <p:cNvSpPr/>
            <p:nvPr/>
          </p:nvSpPr>
          <p:spPr>
            <a:xfrm>
              <a:off x="7971579" y="276510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24" name="圆角矩形 423"/>
            <p:cNvSpPr/>
            <p:nvPr/>
          </p:nvSpPr>
          <p:spPr>
            <a:xfrm>
              <a:off x="8144510" y="276510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28" name="圆角矩形 427"/>
            <p:cNvSpPr/>
            <p:nvPr/>
          </p:nvSpPr>
          <p:spPr>
            <a:xfrm>
              <a:off x="8136890" y="44529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31" name="圆角矩形 430"/>
            <p:cNvSpPr/>
            <p:nvPr/>
          </p:nvSpPr>
          <p:spPr>
            <a:xfrm>
              <a:off x="8133715" y="303180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 name="鏂囨湰妗?328"/>
            <p:cNvSpPr/>
            <p:nvPr/>
          </p:nvSpPr>
          <p:spPr>
            <a:xfrm>
              <a:off x="8208885" y="3867150"/>
              <a:ext cx="616744" cy="216000"/>
            </a:xfrm>
            <a:prstGeom prst="roundRect">
              <a:avLst>
                <a:gd name="adj" fmla="val 39816"/>
              </a:avLst>
            </a:prstGeom>
            <a:solidFill>
              <a:srgbClr val="FCE7E7"/>
            </a:solidFill>
            <a:ln w="9525">
              <a:solidFill>
                <a:srgbClr val="E36A6A"/>
              </a:solidFill>
            </a:ln>
            <a:effectLst>
              <a:outerShdw blurRad="38100" dist="19050" dir="5400000" algn="tl" rotWithShape="0">
                <a:srgbClr val="9F1D1D">
                  <a:alpha val="14000"/>
                </a:srgbClr>
              </a:outerShdw>
            </a:effectLst>
          </p:spPr>
          <p:txBody>
            <a:bodyPr wrap="none" lIns="63500" tIns="25400" rIns="63500" bIns="25400" anchor="ctr">
              <a:spAutoFit/>
            </a:bodyPr>
            <a:ls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9F1D1D"/>
                  </a:solidFill>
                  <a:effectLst/>
                  <a:uLnTx/>
                  <a:uFillTx/>
                  <a:latin typeface="Calibri"/>
                  <a:ea typeface="Calibri"/>
                  <a:cs typeface="Calibri"/>
                </a:rPr>
                <a:t>finish</a:t>
              </a:r>
              <a:endParaRPr kumimoji="0" sz="1100" b="1" i="0" u="none" strike="noStrike" kern="1200" cap="none" spc="0" normalizeH="0" baseline="0" noProof="0" dirty="0">
                <a:ln>
                  <a:noFill/>
                </a:ln>
                <a:solidFill>
                  <a:srgbClr val="9F1D1D"/>
                </a:solidFill>
                <a:effectLst/>
                <a:uLnTx/>
                <a:uFillTx/>
                <a:latin typeface="Calibri"/>
                <a:ea typeface="Calibri"/>
                <a:cs typeface="Calibri"/>
              </a:endParaRPr>
            </a:p>
          </p:txBody>
        </p:sp>
        <p:sp>
          <p:nvSpPr>
            <p:cNvPr id="31" name="文本框 30"/>
            <p:cNvSpPr txBox="1"/>
            <p:nvPr/>
          </p:nvSpPr>
          <p:spPr>
            <a:xfrm>
              <a:off x="7641244" y="4664710"/>
              <a:ext cx="530916" cy="369332"/>
            </a:xfrm>
            <a:prstGeom prst="rect">
              <a:avLst/>
            </a:prstGeom>
            <a:no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70C0"/>
                  </a:solidFill>
                  <a:effectLst/>
                  <a:uLnTx/>
                  <a:uFillTx/>
                  <a:latin typeface="Calibri"/>
                  <a:ea typeface="Calibri"/>
                  <a:cs typeface="Calibri"/>
                </a:rPr>
                <a:t>T+1</a:t>
              </a:r>
            </a:p>
          </p:txBody>
        </p:sp>
      </p:grpSp>
      <p:grpSp>
        <p:nvGrpSpPr>
          <p:cNvPr id="13" name="组合 12"/>
          <p:cNvGrpSpPr/>
          <p:nvPr/>
        </p:nvGrpSpPr>
        <p:grpSpPr>
          <a:xfrm>
            <a:off x="9451340" y="1490345"/>
            <a:ext cx="2506345" cy="4225998"/>
            <a:chOff x="9451340" y="1490345"/>
            <a:chExt cx="2506345" cy="4225998"/>
          </a:xfrm>
        </p:grpSpPr>
        <p:sp>
          <p:nvSpPr>
            <p:cNvPr id="433" name="文本框 432"/>
            <p:cNvSpPr/>
            <p:nvPr/>
          </p:nvSpPr>
          <p:spPr>
            <a:xfrm>
              <a:off x="9451340" y="4979640"/>
              <a:ext cx="2506345" cy="736703"/>
            </a:xfrm>
            <a:prstGeom prst="rect">
              <a:avLst/>
            </a:prstGeom>
            <a:noFill/>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C00000"/>
                  </a:solidFill>
                  <a:effectLst/>
                  <a:uLnTx/>
                  <a:uFillTx/>
                  <a:latin typeface="Calibri"/>
                  <a:ea typeface="Calibri"/>
                  <a:cs typeface="Calibri"/>
                </a:rPr>
                <a:t>instance1 </a:t>
              </a:r>
              <a:r>
                <a:rPr kumimoji="0" sz="1400" b="0" i="0" u="none" strike="noStrike" kern="1200" cap="none" spc="0" normalizeH="0" baseline="0" noProof="0" dirty="0" err="1">
                  <a:ln>
                    <a:noFill/>
                  </a:ln>
                  <a:solidFill>
                    <a:srgbClr val="C00000"/>
                  </a:solidFill>
                  <a:effectLst/>
                  <a:uLnTx/>
                  <a:uFillTx/>
                  <a:latin typeface="Calibri"/>
                  <a:ea typeface="Calibri"/>
                  <a:cs typeface="Calibri"/>
                </a:rPr>
                <a:t>oom</a:t>
              </a:r>
              <a:endParaRPr kumimoji="0" lang="en-US" sz="1400" b="0" i="0" u="none" strike="noStrike" kern="1200" cap="none" spc="0" normalizeH="0" baseline="0" noProof="0" dirty="0">
                <a:ln>
                  <a:noFill/>
                </a:ln>
                <a:solidFill>
                  <a:srgbClr val="70AD47"/>
                </a:solidFill>
                <a:effectLst/>
                <a:uLnTx/>
                <a:uFillTx/>
                <a:latin typeface="Calibri"/>
                <a:ea typeface="Calibri"/>
                <a:cs typeface="Calibri"/>
              </a:endParaRPr>
            </a:p>
          </p:txBody>
        </p:sp>
        <p:grpSp>
          <p:nvGrpSpPr>
            <p:cNvPr id="12" name="组合 11"/>
            <p:cNvGrpSpPr/>
            <p:nvPr/>
          </p:nvGrpSpPr>
          <p:grpSpPr>
            <a:xfrm>
              <a:off x="9451340" y="1490345"/>
              <a:ext cx="2280285" cy="3543697"/>
              <a:chOff x="9451340" y="1490345"/>
              <a:chExt cx="2280285" cy="3543697"/>
            </a:xfrm>
          </p:grpSpPr>
          <p:sp>
            <p:nvSpPr>
              <p:cNvPr id="283" name="矩形 282"/>
              <p:cNvSpPr/>
              <p:nvPr/>
            </p:nvSpPr>
            <p:spPr>
              <a:xfrm>
                <a:off x="9455150" y="149034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84" name="文本框 283"/>
              <p:cNvSpPr/>
              <p:nvPr/>
            </p:nvSpPr>
            <p:spPr>
              <a:xfrm>
                <a:off x="9589135" y="1491615"/>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req1</a:t>
                </a:r>
              </a:p>
            </p:txBody>
          </p:sp>
          <p:sp>
            <p:nvSpPr>
              <p:cNvPr id="285" name="文本框 284"/>
              <p:cNvSpPr/>
              <p:nvPr/>
            </p:nvSpPr>
            <p:spPr>
              <a:xfrm>
                <a:off x="9589135" y="175641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req2</a:t>
                </a:r>
              </a:p>
            </p:txBody>
          </p:sp>
          <p:sp>
            <p:nvSpPr>
              <p:cNvPr id="286" name="文本框 285"/>
              <p:cNvSpPr/>
              <p:nvPr/>
            </p:nvSpPr>
            <p:spPr>
              <a:xfrm>
                <a:off x="9592310" y="201676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req3</a:t>
                </a:r>
              </a:p>
            </p:txBody>
          </p:sp>
          <p:sp>
            <p:nvSpPr>
              <p:cNvPr id="287" name="矩形 286"/>
              <p:cNvSpPr/>
              <p:nvPr/>
            </p:nvSpPr>
            <p:spPr>
              <a:xfrm>
                <a:off x="10266045" y="160337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88" name="圆角矩形 287"/>
              <p:cNvSpPr/>
              <p:nvPr/>
            </p:nvSpPr>
            <p:spPr>
              <a:xfrm>
                <a:off x="10489248" y="16389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89" name="圆角矩形 288"/>
              <p:cNvSpPr/>
              <p:nvPr/>
            </p:nvSpPr>
            <p:spPr>
              <a:xfrm>
                <a:off x="10322560" y="16389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0" name="矩形 289"/>
              <p:cNvSpPr/>
              <p:nvPr/>
            </p:nvSpPr>
            <p:spPr>
              <a:xfrm>
                <a:off x="10269220" y="187325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1" name="圆角矩形 290"/>
              <p:cNvSpPr/>
              <p:nvPr/>
            </p:nvSpPr>
            <p:spPr>
              <a:xfrm>
                <a:off x="10492423" y="190404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2" name="圆角矩形 291"/>
              <p:cNvSpPr/>
              <p:nvPr/>
            </p:nvSpPr>
            <p:spPr>
              <a:xfrm>
                <a:off x="10325735" y="190404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3" name="矩形 292"/>
              <p:cNvSpPr/>
              <p:nvPr/>
            </p:nvSpPr>
            <p:spPr>
              <a:xfrm>
                <a:off x="10262870" y="211455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4" name="圆角矩形 293"/>
              <p:cNvSpPr/>
              <p:nvPr/>
            </p:nvSpPr>
            <p:spPr>
              <a:xfrm>
                <a:off x="10484485" y="214376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5" name="圆角矩形 294"/>
              <p:cNvSpPr/>
              <p:nvPr/>
            </p:nvSpPr>
            <p:spPr>
              <a:xfrm>
                <a:off x="10319385" y="214058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6" name="圆角矩形 295"/>
              <p:cNvSpPr/>
              <p:nvPr/>
            </p:nvSpPr>
            <p:spPr>
              <a:xfrm>
                <a:off x="10655936" y="16389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7" name="圆角矩形 296"/>
              <p:cNvSpPr/>
              <p:nvPr/>
            </p:nvSpPr>
            <p:spPr>
              <a:xfrm>
                <a:off x="10659110" y="21469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98" name="圆角矩形 297"/>
              <p:cNvSpPr/>
              <p:nvPr/>
            </p:nvSpPr>
            <p:spPr>
              <a:xfrm>
                <a:off x="10659111" y="190404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02" name="圆角矩形 301"/>
              <p:cNvSpPr/>
              <p:nvPr/>
            </p:nvSpPr>
            <p:spPr>
              <a:xfrm>
                <a:off x="10822624" y="16389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03" name="圆角矩形 302"/>
              <p:cNvSpPr/>
              <p:nvPr/>
            </p:nvSpPr>
            <p:spPr>
              <a:xfrm>
                <a:off x="10989310" y="16389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04" name="圆角矩形 303"/>
              <p:cNvSpPr/>
              <p:nvPr/>
            </p:nvSpPr>
            <p:spPr>
              <a:xfrm>
                <a:off x="10825798" y="190404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05" name="圆角矩形 304"/>
              <p:cNvSpPr/>
              <p:nvPr/>
            </p:nvSpPr>
            <p:spPr>
              <a:xfrm>
                <a:off x="10992485" y="190404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06" name="圆角矩形 305"/>
              <p:cNvSpPr/>
              <p:nvPr/>
            </p:nvSpPr>
            <p:spPr>
              <a:xfrm>
                <a:off x="10992485" y="213741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07" name="圆角矩形 306"/>
              <p:cNvSpPr/>
              <p:nvPr/>
            </p:nvSpPr>
            <p:spPr>
              <a:xfrm>
                <a:off x="10827385" y="213741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33" name="矩形 332"/>
              <p:cNvSpPr/>
              <p:nvPr/>
            </p:nvSpPr>
            <p:spPr>
              <a:xfrm>
                <a:off x="9455150" y="2616200"/>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34" name="文本框 333"/>
              <p:cNvSpPr/>
              <p:nvPr/>
            </p:nvSpPr>
            <p:spPr>
              <a:xfrm>
                <a:off x="9602470" y="2617470"/>
                <a:ext cx="798830"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req4</a:t>
                </a:r>
              </a:p>
            </p:txBody>
          </p:sp>
          <p:sp>
            <p:nvSpPr>
              <p:cNvPr id="335" name="文本框 334"/>
              <p:cNvSpPr/>
              <p:nvPr/>
            </p:nvSpPr>
            <p:spPr>
              <a:xfrm>
                <a:off x="9589135" y="2882265"/>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req5</a:t>
                </a:r>
              </a:p>
            </p:txBody>
          </p:sp>
          <p:sp>
            <p:nvSpPr>
              <p:cNvPr id="337" name="矩形 336"/>
              <p:cNvSpPr/>
              <p:nvPr/>
            </p:nvSpPr>
            <p:spPr>
              <a:xfrm>
                <a:off x="10266045" y="272923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38" name="圆角矩形 337"/>
              <p:cNvSpPr/>
              <p:nvPr/>
            </p:nvSpPr>
            <p:spPr>
              <a:xfrm>
                <a:off x="10322560" y="275367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39" name="矩形 338"/>
              <p:cNvSpPr/>
              <p:nvPr/>
            </p:nvSpPr>
            <p:spPr>
              <a:xfrm>
                <a:off x="10269220" y="299910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40" name="圆角矩形 339"/>
              <p:cNvSpPr/>
              <p:nvPr/>
            </p:nvSpPr>
            <p:spPr>
              <a:xfrm>
                <a:off x="10493216" y="302355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41" name="圆角矩形 340"/>
              <p:cNvSpPr/>
              <p:nvPr/>
            </p:nvSpPr>
            <p:spPr>
              <a:xfrm>
                <a:off x="10325735" y="302355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44" name="圆角矩形 343"/>
              <p:cNvSpPr/>
              <p:nvPr/>
            </p:nvSpPr>
            <p:spPr>
              <a:xfrm>
                <a:off x="10660697" y="302355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45" name="圆角矩形 344"/>
              <p:cNvSpPr/>
              <p:nvPr/>
            </p:nvSpPr>
            <p:spPr>
              <a:xfrm>
                <a:off x="10492105" y="275367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47" name="圆角矩形 346"/>
              <p:cNvSpPr/>
              <p:nvPr/>
            </p:nvSpPr>
            <p:spPr>
              <a:xfrm>
                <a:off x="10828178" y="302355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04" name="矩形 403"/>
              <p:cNvSpPr/>
              <p:nvPr/>
            </p:nvSpPr>
            <p:spPr>
              <a:xfrm>
                <a:off x="9451340" y="380428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05" name="文本框 404"/>
              <p:cNvSpPr/>
              <p:nvPr/>
            </p:nvSpPr>
            <p:spPr>
              <a:xfrm>
                <a:off x="9497060" y="3805555"/>
                <a:ext cx="821690"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70AD47"/>
                    </a:solidFill>
                    <a:effectLst/>
                    <a:uLnTx/>
                    <a:uFillTx/>
                    <a:latin typeface="Calibri"/>
                    <a:ea typeface="Calibri"/>
                    <a:cs typeface="Calibri"/>
                  </a:rPr>
                  <a:t>req1</a:t>
                </a:r>
                <a:r>
                  <a:rPr kumimoji="0" lang="en-US" sz="1800" b="1" i="0" u="none" strike="noStrike" kern="1200" cap="none" spc="0" normalizeH="0" baseline="0" noProof="0" dirty="0">
                    <a:ln>
                      <a:noFill/>
                    </a:ln>
                    <a:solidFill>
                      <a:srgbClr val="70AD47"/>
                    </a:solidFill>
                    <a:effectLst/>
                    <a:uLnTx/>
                    <a:uFillTx/>
                    <a:latin typeface="Calibri"/>
                    <a:ea typeface="Calibri"/>
                    <a:cs typeface="Calibri"/>
                  </a:rPr>
                  <a:t>2</a:t>
                </a:r>
              </a:p>
            </p:txBody>
          </p:sp>
          <p:sp>
            <p:nvSpPr>
              <p:cNvPr id="407" name="文本框 406"/>
              <p:cNvSpPr/>
              <p:nvPr/>
            </p:nvSpPr>
            <p:spPr>
              <a:xfrm>
                <a:off x="9588500" y="433070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req9</a:t>
                </a:r>
              </a:p>
            </p:txBody>
          </p:sp>
          <p:sp>
            <p:nvSpPr>
              <p:cNvPr id="408" name="矩形 407"/>
              <p:cNvSpPr/>
              <p:nvPr/>
            </p:nvSpPr>
            <p:spPr>
              <a:xfrm>
                <a:off x="10262235" y="391731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10" name="圆角矩形 409"/>
              <p:cNvSpPr/>
              <p:nvPr/>
            </p:nvSpPr>
            <p:spPr>
              <a:xfrm>
                <a:off x="10318750" y="394335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14" name="矩形 413"/>
              <p:cNvSpPr/>
              <p:nvPr/>
            </p:nvSpPr>
            <p:spPr>
              <a:xfrm>
                <a:off x="10259060" y="442849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15" name="圆角矩形 414"/>
              <p:cNvSpPr/>
              <p:nvPr/>
            </p:nvSpPr>
            <p:spPr>
              <a:xfrm>
                <a:off x="10484644" y="44529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16" name="圆角矩形 415"/>
              <p:cNvSpPr/>
              <p:nvPr/>
            </p:nvSpPr>
            <p:spPr>
              <a:xfrm>
                <a:off x="10315575" y="44529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21" name="圆角矩形 420"/>
              <p:cNvSpPr/>
              <p:nvPr/>
            </p:nvSpPr>
            <p:spPr>
              <a:xfrm>
                <a:off x="10653713" y="44529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25" name="圆角矩形 424"/>
              <p:cNvSpPr/>
              <p:nvPr/>
            </p:nvSpPr>
            <p:spPr>
              <a:xfrm>
                <a:off x="10661650" y="275367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26" name="圆角矩形 425"/>
              <p:cNvSpPr/>
              <p:nvPr/>
            </p:nvSpPr>
            <p:spPr>
              <a:xfrm>
                <a:off x="10831195" y="275367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27" name="圆角矩形 426"/>
              <p:cNvSpPr/>
              <p:nvPr/>
            </p:nvSpPr>
            <p:spPr>
              <a:xfrm>
                <a:off x="11000740" y="275367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29" name="圆角矩形 428"/>
              <p:cNvSpPr/>
              <p:nvPr/>
            </p:nvSpPr>
            <p:spPr>
              <a:xfrm>
                <a:off x="10822782" y="44529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30" name="圆角矩形 429"/>
              <p:cNvSpPr/>
              <p:nvPr/>
            </p:nvSpPr>
            <p:spPr>
              <a:xfrm>
                <a:off x="10991850" y="445293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432" name="圆角矩形 431"/>
              <p:cNvSpPr/>
              <p:nvPr/>
            </p:nvSpPr>
            <p:spPr>
              <a:xfrm>
                <a:off x="10995660" y="302355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4" name="鏂囨湰妗?328"/>
              <p:cNvSpPr/>
              <p:nvPr/>
            </p:nvSpPr>
            <p:spPr>
              <a:xfrm>
                <a:off x="11154393" y="1825413"/>
                <a:ext cx="540000" cy="252000"/>
              </a:xfrm>
              <a:prstGeom prst="roundRect">
                <a:avLst>
                  <a:gd name="adj" fmla="val 39816"/>
                </a:avLst>
              </a:prstGeom>
              <a:solidFill>
                <a:srgbClr val="FCE7E7"/>
              </a:solidFill>
              <a:ln w="9525">
                <a:solidFill>
                  <a:srgbClr val="E36A6A"/>
                </a:solidFill>
              </a:ln>
              <a:effectLst>
                <a:outerShdw blurRad="38100" dist="19050" dir="5400000" algn="tl" rotWithShape="0">
                  <a:srgbClr val="9F1D1D">
                    <a:alpha val="14000"/>
                  </a:srgbClr>
                </a:outerShdw>
              </a:effectLst>
            </p:spPr>
            <p:txBody>
              <a:bodyPr wrap="none" lIns="63500" tIns="25400" rIns="63500" bIns="25400" anchor="ctr">
                <a:spAutoFit/>
              </a:bodyPr>
              <a:ls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9F1D1D"/>
                    </a:solidFill>
                    <a:effectLst/>
                    <a:uLnTx/>
                    <a:uFillTx/>
                    <a:latin typeface="Calibri"/>
                    <a:ea typeface="Calibri"/>
                    <a:cs typeface="Calibri"/>
                  </a:rPr>
                  <a:t>OOM</a:t>
                </a:r>
                <a:endParaRPr kumimoji="0" sz="1100" b="1" i="0" u="none" strike="noStrike" kern="1200" cap="none" spc="0" normalizeH="0" baseline="0" noProof="0" dirty="0">
                  <a:ln>
                    <a:noFill/>
                  </a:ln>
                  <a:solidFill>
                    <a:srgbClr val="9F1D1D"/>
                  </a:solidFill>
                  <a:effectLst/>
                  <a:uLnTx/>
                  <a:uFillTx/>
                  <a:latin typeface="Calibri"/>
                  <a:ea typeface="Calibri"/>
                  <a:cs typeface="Calibri"/>
                </a:endParaRPr>
              </a:p>
            </p:txBody>
          </p:sp>
          <p:sp>
            <p:nvSpPr>
              <p:cNvPr id="32" name="文本框 31"/>
              <p:cNvSpPr txBox="1"/>
              <p:nvPr/>
            </p:nvSpPr>
            <p:spPr>
              <a:xfrm>
                <a:off x="10439054" y="4664710"/>
                <a:ext cx="530916" cy="369332"/>
              </a:xfrm>
              <a:prstGeom prst="rect">
                <a:avLst/>
              </a:prstGeom>
              <a:no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70C0"/>
                    </a:solidFill>
                    <a:effectLst/>
                    <a:uLnTx/>
                    <a:uFillTx/>
                    <a:latin typeface="Calibri"/>
                    <a:ea typeface="Calibri"/>
                    <a:cs typeface="Calibri"/>
                  </a:rPr>
                  <a:t>T+3</a:t>
                </a:r>
              </a:p>
            </p:txBody>
          </p:sp>
        </p:grpSp>
      </p:grpSp>
      <p:grpSp>
        <p:nvGrpSpPr>
          <p:cNvPr id="5" name="组合 4"/>
          <p:cNvGrpSpPr/>
          <p:nvPr/>
        </p:nvGrpSpPr>
        <p:grpSpPr>
          <a:xfrm>
            <a:off x="4060190" y="1467485"/>
            <a:ext cx="2506345" cy="4605625"/>
            <a:chOff x="4060190" y="1467485"/>
            <a:chExt cx="2506345" cy="4605625"/>
          </a:xfrm>
        </p:grpSpPr>
        <p:sp>
          <p:nvSpPr>
            <p:cNvPr id="52" name="矩形 51"/>
            <p:cNvSpPr/>
            <p:nvPr/>
          </p:nvSpPr>
          <p:spPr>
            <a:xfrm>
              <a:off x="4063365" y="146748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3" name="文本框 52"/>
            <p:cNvSpPr/>
            <p:nvPr/>
          </p:nvSpPr>
          <p:spPr>
            <a:xfrm>
              <a:off x="4197350" y="1468755"/>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req1</a:t>
              </a:r>
            </a:p>
          </p:txBody>
        </p:sp>
        <p:sp>
          <p:nvSpPr>
            <p:cNvPr id="54" name="文本框 53"/>
            <p:cNvSpPr/>
            <p:nvPr/>
          </p:nvSpPr>
          <p:spPr>
            <a:xfrm>
              <a:off x="4197350" y="173355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req2</a:t>
              </a:r>
            </a:p>
          </p:txBody>
        </p:sp>
        <p:sp>
          <p:nvSpPr>
            <p:cNvPr id="55" name="文本框 54"/>
            <p:cNvSpPr/>
            <p:nvPr/>
          </p:nvSpPr>
          <p:spPr>
            <a:xfrm>
              <a:off x="4200525" y="199390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req3</a:t>
              </a:r>
            </a:p>
          </p:txBody>
        </p:sp>
        <p:sp>
          <p:nvSpPr>
            <p:cNvPr id="56" name="矩形 55"/>
            <p:cNvSpPr/>
            <p:nvPr/>
          </p:nvSpPr>
          <p:spPr>
            <a:xfrm>
              <a:off x="4874260" y="158051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57" name="圆角矩形 56"/>
            <p:cNvSpPr/>
            <p:nvPr/>
          </p:nvSpPr>
          <p:spPr>
            <a:xfrm>
              <a:off x="5095875" y="160972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58" name="圆角矩形 57"/>
            <p:cNvSpPr/>
            <p:nvPr/>
          </p:nvSpPr>
          <p:spPr>
            <a:xfrm>
              <a:off x="4930775" y="160972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59" name="矩形 58"/>
            <p:cNvSpPr/>
            <p:nvPr/>
          </p:nvSpPr>
          <p:spPr>
            <a:xfrm>
              <a:off x="4877435" y="185039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60" name="圆角矩形 59"/>
            <p:cNvSpPr/>
            <p:nvPr/>
          </p:nvSpPr>
          <p:spPr>
            <a:xfrm>
              <a:off x="5099050" y="187960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61" name="圆角矩形 60"/>
            <p:cNvSpPr/>
            <p:nvPr/>
          </p:nvSpPr>
          <p:spPr>
            <a:xfrm>
              <a:off x="4933950" y="187642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62" name="矩形 61"/>
            <p:cNvSpPr/>
            <p:nvPr/>
          </p:nvSpPr>
          <p:spPr>
            <a:xfrm>
              <a:off x="4871085" y="209169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63" name="圆角矩形 62"/>
            <p:cNvSpPr/>
            <p:nvPr/>
          </p:nvSpPr>
          <p:spPr>
            <a:xfrm>
              <a:off x="5092700" y="212090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64" name="圆角矩形 63"/>
            <p:cNvSpPr/>
            <p:nvPr/>
          </p:nvSpPr>
          <p:spPr>
            <a:xfrm>
              <a:off x="4927600" y="211772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18" name="矩形 117"/>
            <p:cNvSpPr/>
            <p:nvPr/>
          </p:nvSpPr>
          <p:spPr>
            <a:xfrm>
              <a:off x="4060190" y="260159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19" name="文本框 118"/>
            <p:cNvSpPr/>
            <p:nvPr/>
          </p:nvSpPr>
          <p:spPr>
            <a:xfrm>
              <a:off x="4194175" y="2602865"/>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req4</a:t>
              </a:r>
            </a:p>
          </p:txBody>
        </p:sp>
        <p:sp>
          <p:nvSpPr>
            <p:cNvPr id="120" name="文本框 119"/>
            <p:cNvSpPr/>
            <p:nvPr/>
          </p:nvSpPr>
          <p:spPr>
            <a:xfrm>
              <a:off x="4194175" y="286766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req5</a:t>
              </a:r>
            </a:p>
          </p:txBody>
        </p:sp>
        <p:sp>
          <p:nvSpPr>
            <p:cNvPr id="121" name="文本框 120"/>
            <p:cNvSpPr/>
            <p:nvPr/>
          </p:nvSpPr>
          <p:spPr>
            <a:xfrm>
              <a:off x="4108450" y="3128010"/>
              <a:ext cx="81597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70AD47"/>
                  </a:solidFill>
                  <a:effectLst/>
                  <a:uLnTx/>
                  <a:uFillTx/>
                  <a:latin typeface="Calibri"/>
                  <a:ea typeface="Calibri"/>
                  <a:cs typeface="Calibri"/>
                </a:rPr>
                <a:t>req10</a:t>
              </a:r>
            </a:p>
          </p:txBody>
        </p:sp>
        <p:sp>
          <p:nvSpPr>
            <p:cNvPr id="122" name="矩形 121"/>
            <p:cNvSpPr/>
            <p:nvPr/>
          </p:nvSpPr>
          <p:spPr>
            <a:xfrm>
              <a:off x="4871085" y="271462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23" name="圆角矩形 122"/>
            <p:cNvSpPr/>
            <p:nvPr/>
          </p:nvSpPr>
          <p:spPr>
            <a:xfrm>
              <a:off x="5097463" y="273907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24" name="圆角矩形 123"/>
            <p:cNvSpPr/>
            <p:nvPr/>
          </p:nvSpPr>
          <p:spPr>
            <a:xfrm>
              <a:off x="4927600" y="273907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25" name="矩形 124"/>
            <p:cNvSpPr/>
            <p:nvPr/>
          </p:nvSpPr>
          <p:spPr>
            <a:xfrm>
              <a:off x="4874260" y="298450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26" name="圆角矩形 125"/>
            <p:cNvSpPr/>
            <p:nvPr/>
          </p:nvSpPr>
          <p:spPr>
            <a:xfrm>
              <a:off x="5099050" y="300894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27" name="圆角矩形 126"/>
            <p:cNvSpPr/>
            <p:nvPr/>
          </p:nvSpPr>
          <p:spPr>
            <a:xfrm>
              <a:off x="4930775" y="300894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28" name="矩形 127"/>
            <p:cNvSpPr/>
            <p:nvPr/>
          </p:nvSpPr>
          <p:spPr>
            <a:xfrm>
              <a:off x="4867910" y="322580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30" name="圆角矩形 129"/>
            <p:cNvSpPr/>
            <p:nvPr/>
          </p:nvSpPr>
          <p:spPr>
            <a:xfrm>
              <a:off x="4924425" y="325183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64" name="圆角矩形 263"/>
            <p:cNvSpPr/>
            <p:nvPr/>
          </p:nvSpPr>
          <p:spPr>
            <a:xfrm>
              <a:off x="5260975" y="160972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65" name="圆角矩形 264"/>
            <p:cNvSpPr/>
            <p:nvPr/>
          </p:nvSpPr>
          <p:spPr>
            <a:xfrm>
              <a:off x="5267325" y="212407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266" name="圆角矩形 265"/>
            <p:cNvSpPr/>
            <p:nvPr/>
          </p:nvSpPr>
          <p:spPr>
            <a:xfrm>
              <a:off x="5267325" y="188595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48" name="矩形 347"/>
            <p:cNvSpPr/>
            <p:nvPr/>
          </p:nvSpPr>
          <p:spPr>
            <a:xfrm>
              <a:off x="4063365" y="3781425"/>
              <a:ext cx="2276475" cy="85979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49" name="文本框 348"/>
            <p:cNvSpPr/>
            <p:nvPr/>
          </p:nvSpPr>
          <p:spPr>
            <a:xfrm>
              <a:off x="4197350" y="3782695"/>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req7</a:t>
              </a:r>
            </a:p>
          </p:txBody>
        </p:sp>
        <p:sp>
          <p:nvSpPr>
            <p:cNvPr id="350" name="文本框 349"/>
            <p:cNvSpPr/>
            <p:nvPr/>
          </p:nvSpPr>
          <p:spPr>
            <a:xfrm>
              <a:off x="4197350" y="404749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req8</a:t>
              </a:r>
            </a:p>
          </p:txBody>
        </p:sp>
        <p:sp>
          <p:nvSpPr>
            <p:cNvPr id="351" name="文本框 350"/>
            <p:cNvSpPr/>
            <p:nvPr/>
          </p:nvSpPr>
          <p:spPr>
            <a:xfrm>
              <a:off x="4200525" y="4307840"/>
              <a:ext cx="654685" cy="36830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libri"/>
                  <a:ea typeface="Calibri"/>
                  <a:cs typeface="Calibri"/>
                </a:rPr>
                <a:t>req9</a:t>
              </a:r>
            </a:p>
          </p:txBody>
        </p:sp>
        <p:sp>
          <p:nvSpPr>
            <p:cNvPr id="352" name="矩形 351"/>
            <p:cNvSpPr/>
            <p:nvPr/>
          </p:nvSpPr>
          <p:spPr>
            <a:xfrm>
              <a:off x="4874260" y="3894455"/>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53" name="圆角矩形 352"/>
            <p:cNvSpPr/>
            <p:nvPr/>
          </p:nvSpPr>
          <p:spPr>
            <a:xfrm>
              <a:off x="5095875" y="392366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54" name="圆角矩形 353"/>
            <p:cNvSpPr/>
            <p:nvPr/>
          </p:nvSpPr>
          <p:spPr>
            <a:xfrm>
              <a:off x="4930775" y="392049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55" name="矩形 354"/>
            <p:cNvSpPr/>
            <p:nvPr/>
          </p:nvSpPr>
          <p:spPr>
            <a:xfrm>
              <a:off x="4877435" y="416433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56" name="圆角矩形 355"/>
            <p:cNvSpPr/>
            <p:nvPr/>
          </p:nvSpPr>
          <p:spPr>
            <a:xfrm>
              <a:off x="5099050" y="419354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57" name="圆角矩形 356"/>
            <p:cNvSpPr/>
            <p:nvPr/>
          </p:nvSpPr>
          <p:spPr>
            <a:xfrm>
              <a:off x="4933950" y="419036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58" name="矩形 357"/>
            <p:cNvSpPr/>
            <p:nvPr/>
          </p:nvSpPr>
          <p:spPr>
            <a:xfrm>
              <a:off x="4871085" y="4405630"/>
              <a:ext cx="1369060" cy="166370"/>
            </a:xfrm>
            <a:prstGeom prst="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59" name="圆角矩形 358"/>
            <p:cNvSpPr/>
            <p:nvPr/>
          </p:nvSpPr>
          <p:spPr>
            <a:xfrm>
              <a:off x="5092700" y="443484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60" name="圆角矩形 359"/>
            <p:cNvSpPr/>
            <p:nvPr/>
          </p:nvSpPr>
          <p:spPr>
            <a:xfrm>
              <a:off x="4927600" y="443166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63" name="圆角矩形 362"/>
            <p:cNvSpPr/>
            <p:nvPr/>
          </p:nvSpPr>
          <p:spPr>
            <a:xfrm>
              <a:off x="5267325" y="2739073"/>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64" name="圆角矩形 363"/>
            <p:cNvSpPr/>
            <p:nvPr/>
          </p:nvSpPr>
          <p:spPr>
            <a:xfrm>
              <a:off x="5267325" y="3008948"/>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65" name="圆角矩形 364"/>
            <p:cNvSpPr/>
            <p:nvPr/>
          </p:nvSpPr>
          <p:spPr>
            <a:xfrm>
              <a:off x="5267325" y="392366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66" name="圆角矩形 365"/>
            <p:cNvSpPr/>
            <p:nvPr/>
          </p:nvSpPr>
          <p:spPr>
            <a:xfrm>
              <a:off x="5267325" y="4193540"/>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367" name="圆角矩形 366"/>
            <p:cNvSpPr/>
            <p:nvPr/>
          </p:nvSpPr>
          <p:spPr>
            <a:xfrm>
              <a:off x="5267325" y="4425315"/>
              <a:ext cx="146685" cy="11747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Calibri"/>
                <a:cs typeface="Calibri"/>
              </a:endParaRPr>
            </a:p>
          </p:txBody>
        </p:sp>
        <p:sp>
          <p:nvSpPr>
            <p:cNvPr id="7" name="鏂囨湰妗?328"/>
            <p:cNvSpPr/>
            <p:nvPr/>
          </p:nvSpPr>
          <p:spPr>
            <a:xfrm>
              <a:off x="5558790" y="4130481"/>
              <a:ext cx="616744" cy="216000"/>
            </a:xfrm>
            <a:prstGeom prst="roundRect">
              <a:avLst>
                <a:gd name="adj" fmla="val 39816"/>
              </a:avLst>
            </a:prstGeom>
            <a:solidFill>
              <a:srgbClr val="FCE7E7"/>
            </a:solidFill>
            <a:ln w="9525">
              <a:solidFill>
                <a:srgbClr val="E36A6A"/>
              </a:solidFill>
            </a:ln>
            <a:effectLst>
              <a:outerShdw blurRad="38100" dist="19050" dir="5400000" algn="tl" rotWithShape="0">
                <a:srgbClr val="9F1D1D">
                  <a:alpha val="14000"/>
                </a:srgbClr>
              </a:outerShdw>
            </a:effectLst>
          </p:spPr>
          <p:txBody>
            <a:bodyPr wrap="none" lIns="63500" tIns="25400" rIns="63500" bIns="25400" anchor="ctr">
              <a:spAutoFit/>
            </a:bodyPr>
            <a:ls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9F1D1D"/>
                  </a:solidFill>
                  <a:effectLst/>
                  <a:uLnTx/>
                  <a:uFillTx/>
                  <a:latin typeface="Calibri"/>
                  <a:ea typeface="Calibri"/>
                  <a:cs typeface="Calibri"/>
                </a:rPr>
                <a:t>finish</a:t>
              </a:r>
              <a:endParaRPr kumimoji="0" sz="1100" b="1" i="0" u="none" strike="noStrike" kern="1200" cap="none" spc="0" normalizeH="0" baseline="0" noProof="0" dirty="0">
                <a:ln>
                  <a:noFill/>
                </a:ln>
                <a:solidFill>
                  <a:srgbClr val="9F1D1D"/>
                </a:solidFill>
                <a:effectLst/>
                <a:uLnTx/>
                <a:uFillTx/>
                <a:latin typeface="Calibri"/>
                <a:ea typeface="Calibri"/>
                <a:cs typeface="Calibri"/>
              </a:endParaRPr>
            </a:p>
          </p:txBody>
        </p:sp>
        <p:sp>
          <p:nvSpPr>
            <p:cNvPr id="8" name="鏂囨湰妗?328"/>
            <p:cNvSpPr/>
            <p:nvPr/>
          </p:nvSpPr>
          <p:spPr>
            <a:xfrm>
              <a:off x="5558790" y="3844290"/>
              <a:ext cx="616744" cy="216000"/>
            </a:xfrm>
            <a:prstGeom prst="roundRect">
              <a:avLst>
                <a:gd name="adj" fmla="val 39816"/>
              </a:avLst>
            </a:prstGeom>
            <a:solidFill>
              <a:srgbClr val="FCE7E7"/>
            </a:solidFill>
            <a:ln w="9525">
              <a:solidFill>
                <a:srgbClr val="E36A6A"/>
              </a:solidFill>
            </a:ln>
            <a:effectLst>
              <a:outerShdw blurRad="38100" dist="19050" dir="5400000" algn="tl" rotWithShape="0">
                <a:srgbClr val="9F1D1D">
                  <a:alpha val="14000"/>
                </a:srgbClr>
              </a:outerShdw>
            </a:effectLst>
          </p:spPr>
          <p:txBody>
            <a:bodyPr wrap="none" lIns="63500" tIns="25400" rIns="63500" bIns="25400" anchor="ctr">
              <a:spAutoFit/>
            </a:bodyPr>
            <a:ls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9F1D1D"/>
                  </a:solidFill>
                  <a:effectLst/>
                  <a:uLnTx/>
                  <a:uFillTx/>
                  <a:latin typeface="Calibri"/>
                  <a:ea typeface="Calibri"/>
                  <a:cs typeface="Calibri"/>
                </a:rPr>
                <a:t>finish</a:t>
              </a:r>
              <a:endParaRPr kumimoji="0" sz="1100" b="1" i="0" u="none" strike="noStrike" kern="1200" cap="none" spc="0" normalizeH="0" baseline="0" noProof="0" dirty="0">
                <a:ln>
                  <a:noFill/>
                </a:ln>
                <a:solidFill>
                  <a:srgbClr val="9F1D1D"/>
                </a:solidFill>
                <a:effectLst/>
                <a:uLnTx/>
                <a:uFillTx/>
                <a:latin typeface="Calibri"/>
                <a:ea typeface="Calibri"/>
                <a:cs typeface="Calibri"/>
              </a:endParaRPr>
            </a:p>
          </p:txBody>
        </p:sp>
        <p:sp>
          <p:nvSpPr>
            <p:cNvPr id="9" name="鏂囨湰妗?328"/>
            <p:cNvSpPr/>
            <p:nvPr/>
          </p:nvSpPr>
          <p:spPr>
            <a:xfrm>
              <a:off x="5558790" y="3202718"/>
              <a:ext cx="616744" cy="216000"/>
            </a:xfrm>
            <a:prstGeom prst="roundRect">
              <a:avLst>
                <a:gd name="adj" fmla="val 39816"/>
              </a:avLst>
            </a:prstGeom>
            <a:solidFill>
              <a:srgbClr val="FCE7E7"/>
            </a:solidFill>
            <a:ln w="9525">
              <a:solidFill>
                <a:srgbClr val="E36A6A"/>
              </a:solidFill>
            </a:ln>
            <a:effectLst>
              <a:outerShdw blurRad="38100" dist="19050" dir="5400000" algn="tl" rotWithShape="0">
                <a:srgbClr val="9F1D1D">
                  <a:alpha val="14000"/>
                </a:srgbClr>
              </a:outerShdw>
            </a:effectLst>
          </p:spPr>
          <p:txBody>
            <a:bodyPr wrap="none" lIns="63500" tIns="25400" rIns="63500" bIns="25400" anchor="ctr">
              <a:spAutoFit/>
            </a:bodyPr>
            <a:ls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9F1D1D"/>
                  </a:solidFill>
                  <a:effectLst/>
                  <a:uLnTx/>
                  <a:uFillTx/>
                  <a:latin typeface="Calibri"/>
                  <a:ea typeface="Calibri"/>
                  <a:cs typeface="Calibri"/>
                </a:rPr>
                <a:t>finish</a:t>
              </a:r>
              <a:endParaRPr kumimoji="0" sz="1100" b="1" i="0" u="none" strike="noStrike" kern="1200" cap="none" spc="0" normalizeH="0" baseline="0" noProof="0" dirty="0">
                <a:ln>
                  <a:noFill/>
                </a:ln>
                <a:solidFill>
                  <a:srgbClr val="9F1D1D"/>
                </a:solidFill>
                <a:effectLst/>
                <a:uLnTx/>
                <a:uFillTx/>
                <a:latin typeface="Calibri"/>
                <a:ea typeface="Calibri"/>
                <a:cs typeface="Calibri"/>
              </a:endParaRPr>
            </a:p>
          </p:txBody>
        </p:sp>
        <p:sp>
          <p:nvSpPr>
            <p:cNvPr id="30" name="文本框 29"/>
            <p:cNvSpPr txBox="1"/>
            <p:nvPr/>
          </p:nvSpPr>
          <p:spPr>
            <a:xfrm>
              <a:off x="5091719" y="4664710"/>
              <a:ext cx="530916" cy="369332"/>
            </a:xfrm>
            <a:prstGeom prst="rect">
              <a:avLst/>
            </a:prstGeom>
            <a:no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70C0"/>
                  </a:solidFill>
                  <a:effectLst/>
                  <a:uLnTx/>
                  <a:uFillTx/>
                  <a:latin typeface="Calibri"/>
                  <a:ea typeface="Calibri"/>
                  <a:cs typeface="Calibri"/>
                </a:rPr>
                <a:t>T+1</a:t>
              </a:r>
            </a:p>
          </p:txBody>
        </p:sp>
        <p:sp>
          <p:nvSpPr>
            <p:cNvPr id="4" name="文本框 325"/>
            <p:cNvSpPr/>
            <p:nvPr/>
          </p:nvSpPr>
          <p:spPr>
            <a:xfrm>
              <a:off x="4060190" y="4979640"/>
              <a:ext cx="2506345" cy="1093470"/>
            </a:xfrm>
            <a:prstGeom prst="rect">
              <a:avLst/>
            </a:prstGeom>
            <a:noFill/>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Calibri"/>
                  <a:ea typeface="Calibri"/>
                  <a:cs typeface="Calibri"/>
                </a:rPr>
                <a:t>req7 finish</a:t>
              </a:r>
            </a:p>
            <a:p>
              <a:pPr marL="0" marR="0" lvl="0" indent="0" algn="ctr" defTabSz="91440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prstClr val="black"/>
                  </a:solidFill>
                  <a:effectLst/>
                  <a:uLnTx/>
                  <a:uFillTx/>
                  <a:latin typeface="Calibri"/>
                  <a:ea typeface="Calibri"/>
                  <a:cs typeface="Calibri"/>
                </a:rPr>
                <a:t>req</a:t>
              </a:r>
              <a:r>
                <a:rPr kumimoji="0" lang="en-US" sz="1400" b="0" i="0" u="none" strike="noStrike" kern="1200" cap="none" spc="0" normalizeH="0" baseline="0" noProof="0" dirty="0">
                  <a:ln>
                    <a:noFill/>
                  </a:ln>
                  <a:solidFill>
                    <a:prstClr val="black"/>
                  </a:solidFill>
                  <a:effectLst/>
                  <a:uLnTx/>
                  <a:uFillTx/>
                  <a:latin typeface="Calibri"/>
                  <a:ea typeface="Calibri"/>
                  <a:cs typeface="Calibri"/>
                </a:rPr>
                <a:t>8</a:t>
              </a:r>
              <a:r>
                <a:rPr kumimoji="0" sz="1400" b="0" i="0" u="none" strike="noStrike" kern="1200" cap="none" spc="0" normalizeH="0" baseline="0" noProof="0" dirty="0">
                  <a:ln>
                    <a:noFill/>
                  </a:ln>
                  <a:solidFill>
                    <a:prstClr val="black"/>
                  </a:solidFill>
                  <a:effectLst/>
                  <a:uLnTx/>
                  <a:uFillTx/>
                  <a:latin typeface="Calibri"/>
                  <a:ea typeface="Calibri"/>
                  <a:cs typeface="Calibri"/>
                </a:rPr>
                <a:t> finish</a:t>
              </a:r>
            </a:p>
            <a:p>
              <a:pPr marL="0" marR="0" lvl="0" indent="0" algn="ctr" defTabSz="91440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prstClr val="black"/>
                  </a:solidFill>
                  <a:effectLst/>
                  <a:uLnTx/>
                  <a:uFillTx/>
                  <a:latin typeface="Calibri"/>
                  <a:ea typeface="Calibri"/>
                  <a:cs typeface="Calibri"/>
                </a:rPr>
                <a:t>req1</a:t>
              </a:r>
              <a:r>
                <a:rPr kumimoji="0" lang="en-US" sz="1400" b="0" i="0" u="none" strike="noStrike" kern="1200" cap="none" spc="0" normalizeH="0" baseline="0" noProof="0" dirty="0">
                  <a:ln>
                    <a:noFill/>
                  </a:ln>
                  <a:solidFill>
                    <a:prstClr val="black"/>
                  </a:solidFill>
                  <a:effectLst/>
                  <a:uLnTx/>
                  <a:uFillTx/>
                  <a:latin typeface="Calibri"/>
                  <a:ea typeface="Calibri"/>
                  <a:cs typeface="Calibri"/>
                </a:rPr>
                <a:t>0</a:t>
              </a:r>
              <a:r>
                <a:rPr kumimoji="0" sz="1400" b="0" i="0" u="none" strike="noStrike" kern="1200" cap="none" spc="0" normalizeH="0" baseline="0" noProof="0" dirty="0">
                  <a:ln>
                    <a:noFill/>
                  </a:ln>
                  <a:solidFill>
                    <a:prstClr val="black"/>
                  </a:solidFill>
                  <a:effectLst/>
                  <a:uLnTx/>
                  <a:uFillTx/>
                  <a:latin typeface="Calibri"/>
                  <a:ea typeface="Calibri"/>
                  <a:cs typeface="Calibri"/>
                </a:rPr>
                <a:t> finish</a:t>
              </a:r>
            </a:p>
            <a:p>
              <a:pPr marL="0" marR="0" lvl="0" indent="0" algn="ctr" defTabSz="91440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0AD47"/>
                  </a:solidFill>
                  <a:effectLst/>
                  <a:uLnTx/>
                  <a:uFillTx/>
                  <a:latin typeface="Calibri"/>
                  <a:ea typeface="Calibri"/>
                  <a:cs typeface="Calibri"/>
                  <a:sym typeface="+mn-ea"/>
                </a:rPr>
                <a:t>schedule req11 to instance3</a:t>
              </a:r>
              <a:endParaRPr kumimoji="0" sz="1400" b="0" i="0" u="none" strike="noStrike" kern="1200" cap="none" spc="0" normalizeH="0" baseline="0" noProof="0" dirty="0">
                <a:ln>
                  <a:noFill/>
                </a:ln>
                <a:solidFill>
                  <a:prstClr val="black"/>
                </a:solidFill>
                <a:effectLst/>
                <a:uLnTx/>
                <a:uFillTx/>
                <a:latin typeface="Calibri"/>
                <a:ea typeface="Calibri"/>
                <a:cs typeface="Calibri"/>
              </a:endParaRPr>
            </a:p>
          </p:txBody>
        </p:sp>
      </p:grpSp>
      <p:sp>
        <p:nvSpPr>
          <p:cNvPr id="17" name="文本框 307"/>
          <p:cNvSpPr/>
          <p:nvPr/>
        </p:nvSpPr>
        <p:spPr>
          <a:xfrm>
            <a:off x="2921635" y="1038860"/>
            <a:ext cx="2785110" cy="39878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lumMod val="50000"/>
                  </a:prstClr>
                </a:solidFill>
                <a:effectLst/>
                <a:uLnTx/>
                <a:uFillTx/>
                <a:latin typeface="Calibri"/>
                <a:ea typeface="Calibri"/>
                <a:cs typeface="Calibri"/>
              </a:rPr>
              <a:t>request per second</a:t>
            </a:r>
            <a:r>
              <a:rPr kumimoji="0" sz="2000" b="1" i="0" u="none" strike="noStrike" kern="1200" cap="none" spc="0" normalizeH="0" baseline="0" noProof="0" dirty="0">
                <a:ln>
                  <a:noFill/>
                </a:ln>
                <a:solidFill>
                  <a:prstClr val="white">
                    <a:lumMod val="50000"/>
                  </a:prstClr>
                </a:solidFill>
                <a:effectLst/>
                <a:uLnTx/>
                <a:uFillTx/>
                <a:latin typeface="Calibri"/>
                <a:ea typeface="Calibri"/>
                <a:cs typeface="Calibri"/>
              </a:rPr>
              <a:t>:1</a:t>
            </a:r>
            <a:r>
              <a:rPr kumimoji="0" sz="2000" b="1" i="0" u="none" strike="noStrike" kern="1200" cap="none" spc="0" normalizeH="0" baseline="0" noProof="0" dirty="0">
                <a:ln>
                  <a:noFill/>
                </a:ln>
                <a:solidFill>
                  <a:srgbClr val="0070C0"/>
                </a:solidFill>
                <a:effectLst/>
                <a:uLnTx/>
                <a:uFillTx/>
                <a:latin typeface="Calibri"/>
                <a:ea typeface="Calibri"/>
                <a:cs typeface="Calibri"/>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28650" y="1381125"/>
            <a:ext cx="4953000" cy="2333625"/>
          </a:xfrm>
          <a:prstGeom prst="rect">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17" name="图片 17"/>
          <p:cNvPicPr>
            <a:picLocks noChangeAspect="1"/>
          </p:cNvPicPr>
          <p:nvPr/>
        </p:nvPicPr>
        <p:blipFill>
          <a:blip r:embed="rId3"/>
          <a:stretch>
            <a:fillRect/>
          </a:stretch>
        </p:blipFill>
        <p:spPr>
          <a:xfrm>
            <a:off x="685800" y="1465898"/>
            <a:ext cx="4838700" cy="1935480"/>
          </a:xfrm>
          <a:prstGeom prst="rect">
            <a:avLst/>
          </a:prstGeom>
        </p:spPr>
      </p:pic>
      <p:sp>
        <p:nvSpPr>
          <p:cNvPr id="3" name="矩形 2"/>
          <p:cNvSpPr/>
          <p:nvPr/>
        </p:nvSpPr>
        <p:spPr>
          <a:xfrm>
            <a:off x="742950" y="3427907"/>
            <a:ext cx="4724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Round-robin scheduling: per-instance TPOT diverges</a:t>
            </a:r>
          </a:p>
        </p:txBody>
      </p:sp>
      <p:sp>
        <p:nvSpPr>
          <p:cNvPr id="19" name="矩形 18"/>
          <p:cNvSpPr/>
          <p:nvPr/>
        </p:nvSpPr>
        <p:spPr>
          <a:xfrm>
            <a:off x="5962650" y="1381125"/>
            <a:ext cx="4953000" cy="2333625"/>
          </a:xfrm>
          <a:prstGeom prst="rect">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20" name="图片 20"/>
          <p:cNvPicPr>
            <a:picLocks noChangeAspect="1"/>
          </p:cNvPicPr>
          <p:nvPr/>
        </p:nvPicPr>
        <p:blipFill>
          <a:blip r:embed="rId4"/>
          <a:stretch>
            <a:fillRect/>
          </a:stretch>
        </p:blipFill>
        <p:spPr>
          <a:xfrm>
            <a:off x="6019800" y="1465898"/>
            <a:ext cx="4838700" cy="1935480"/>
          </a:xfrm>
          <a:prstGeom prst="rect">
            <a:avLst/>
          </a:prstGeom>
        </p:spPr>
      </p:pic>
      <p:sp>
        <p:nvSpPr>
          <p:cNvPr id="10" name="矩形 9"/>
          <p:cNvSpPr/>
          <p:nvPr/>
        </p:nvSpPr>
        <p:spPr>
          <a:xfrm>
            <a:off x="6076950" y="3427768"/>
            <a:ext cx="4724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Current-load balancing: still drifts as sequences evolve</a:t>
            </a:r>
          </a:p>
        </p:txBody>
      </p:sp>
      <p:grpSp>
        <p:nvGrpSpPr>
          <p:cNvPr id="2" name="组合 1"/>
          <p:cNvGrpSpPr/>
          <p:nvPr/>
        </p:nvGrpSpPr>
        <p:grpSpPr>
          <a:xfrm>
            <a:off x="552449" y="4485005"/>
            <a:ext cx="3348179" cy="1381124"/>
            <a:chOff x="552449" y="4095750"/>
            <a:chExt cx="3348179" cy="1381124"/>
          </a:xfrm>
        </p:grpSpPr>
        <p:sp>
          <p:nvSpPr>
            <p:cNvPr id="22" name="矩形 21"/>
            <p:cNvSpPr/>
            <p:nvPr/>
          </p:nvSpPr>
          <p:spPr>
            <a:xfrm>
              <a:off x="552449" y="4095750"/>
              <a:ext cx="3348179" cy="1381124"/>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3" name="椭圆 22"/>
            <p:cNvSpPr/>
            <p:nvPr/>
          </p:nvSpPr>
          <p:spPr>
            <a:xfrm>
              <a:off x="666750" y="4210050"/>
              <a:ext cx="295275" cy="295275"/>
            </a:xfrm>
            <a:prstGeom prst="ellipse">
              <a:avLst/>
            </a:prstGeom>
            <a:solidFill>
              <a:srgbClr val="4F1556"/>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4" name="矩形 23"/>
            <p:cNvSpPr/>
            <p:nvPr/>
          </p:nvSpPr>
          <p:spPr>
            <a:xfrm>
              <a:off x="666750" y="4257675"/>
              <a:ext cx="295275"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ctr" defTabSz="914400" eaLnBrk="1" fontAlgn="auto" latinLnBrk="0" hangingPunct="1">
                <a:lnSpc>
                  <a:spcPct val="100000"/>
                </a:lnSpc>
                <a:spcBef>
                  <a:spcPts val="0"/>
                </a:spcBef>
                <a:spcAft>
                  <a:spcPts val="0"/>
                </a:spcAft>
                <a:buClrTx/>
                <a:buSzTx/>
                <a:buFontTx/>
                <a:buNone/>
                <a:tabLst/>
                <a:defRPr sz="1155" b="1">
                  <a:solidFill>
                    <a:srgbClr val="FFFFFF"/>
                  </a:solidFill>
                  <a:latin typeface="Arial" panose="020B0604020202090204"/>
                  <a:ea typeface="Arial" panose="020B0604020202090204"/>
                  <a:cs typeface="Arial" panose="020B0604020202090204"/>
                </a:defRPr>
              </a:pPr>
              <a:r>
                <a:rPr kumimoji="0" sz="1155"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1</a:t>
              </a:r>
            </a:p>
          </p:txBody>
        </p:sp>
        <p:sp>
          <p:nvSpPr>
            <p:cNvPr id="25" name="矩形 24"/>
            <p:cNvSpPr/>
            <p:nvPr/>
          </p:nvSpPr>
          <p:spPr>
            <a:xfrm>
              <a:off x="1076325" y="4267200"/>
              <a:ext cx="2381250" cy="238125"/>
            </a:xfrm>
            <a:prstGeom prst="rect">
              <a:avLst/>
            </a:prstGeom>
            <a:solidFill>
              <a:srgbClr val="000000">
                <a:alpha val="0"/>
              </a:srgbClr>
            </a:solidFill>
            <a:ln w="0">
              <a:solidFill>
                <a:srgbClr val="000000">
                  <a:alpha val="0"/>
                </a:srgbClr>
              </a:solidFill>
              <a:prstDash val="solid"/>
            </a:ln>
          </p:spPr>
          <p:txBody>
            <a:bodyPr lIns="0" tIns="0" rIns="0" bIns="0" anchor="t">
              <a:normAutofit lnSpcReduction="10000"/>
            </a:bodyPr>
            <a:lstStyle/>
            <a:p>
              <a:pPr marL="0" marR="0" lvl="0" indent="0" algn="l" defTabSz="914400" eaLnBrk="1" fontAlgn="auto" latinLnBrk="0" hangingPunct="1">
                <a:lnSpc>
                  <a:spcPct val="100000"/>
                </a:lnSpc>
                <a:spcBef>
                  <a:spcPts val="0"/>
                </a:spcBef>
                <a:spcAft>
                  <a:spcPts val="0"/>
                </a:spcAft>
                <a:buClrTx/>
                <a:buSzTx/>
                <a:buFontTx/>
                <a:buNone/>
                <a:tabLst/>
                <a:defRPr sz="1320"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KV-cache OOM</a:t>
              </a:r>
            </a:p>
          </p:txBody>
        </p:sp>
        <p:sp>
          <p:nvSpPr>
            <p:cNvPr id="26" name="矩形 25"/>
            <p:cNvSpPr/>
            <p:nvPr/>
          </p:nvSpPr>
          <p:spPr>
            <a:xfrm>
              <a:off x="1076324" y="4505325"/>
              <a:ext cx="2824303" cy="738664"/>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Long outputs pile up, trigger OOM, and cause cascading </a:t>
              </a:r>
              <a:r>
                <a:rPr kumimoji="0" sz="1600" b="0" i="0" u="none" strike="noStrike" kern="1200" cap="none" spc="0" normalizeH="0" baseline="0" noProof="0" dirty="0" err="1">
                  <a:ln>
                    <a:noFill/>
                  </a:ln>
                  <a:solidFill>
                    <a:srgbClr val="5D6878"/>
                  </a:solidFill>
                  <a:effectLst/>
                  <a:uLnTx/>
                  <a:uFillTx/>
                  <a:latin typeface="Arial" panose="020B0604020202090204"/>
                  <a:ea typeface="Arial" panose="020B0604020202090204"/>
                  <a:cs typeface="Arial" panose="020B0604020202090204"/>
                </a:rPr>
                <a:t>recomputation</a:t>
              </a: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a:t>
              </a:r>
            </a:p>
          </p:txBody>
        </p:sp>
      </p:grpSp>
      <p:grpSp>
        <p:nvGrpSpPr>
          <p:cNvPr id="4" name="组合 3"/>
          <p:cNvGrpSpPr/>
          <p:nvPr/>
        </p:nvGrpSpPr>
        <p:grpSpPr>
          <a:xfrm>
            <a:off x="4267198" y="4485004"/>
            <a:ext cx="3348182" cy="1381125"/>
            <a:chOff x="4267200" y="4095749"/>
            <a:chExt cx="3348182" cy="1381125"/>
          </a:xfrm>
        </p:grpSpPr>
        <p:sp>
          <p:nvSpPr>
            <p:cNvPr id="27" name="矩形 26"/>
            <p:cNvSpPr/>
            <p:nvPr/>
          </p:nvSpPr>
          <p:spPr>
            <a:xfrm>
              <a:off x="4267200" y="4095749"/>
              <a:ext cx="3348182" cy="1381125"/>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8" name="椭圆 27"/>
            <p:cNvSpPr/>
            <p:nvPr/>
          </p:nvSpPr>
          <p:spPr>
            <a:xfrm>
              <a:off x="4381500" y="4210050"/>
              <a:ext cx="295275" cy="295275"/>
            </a:xfrm>
            <a:prstGeom prst="ellipse">
              <a:avLst/>
            </a:prstGeom>
            <a:solidFill>
              <a:srgbClr val="4F1556"/>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9" name="矩形 28"/>
            <p:cNvSpPr/>
            <p:nvPr/>
          </p:nvSpPr>
          <p:spPr>
            <a:xfrm>
              <a:off x="4381500" y="4257675"/>
              <a:ext cx="295275"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ctr" defTabSz="914400" eaLnBrk="1" fontAlgn="auto" latinLnBrk="0" hangingPunct="1">
                <a:lnSpc>
                  <a:spcPct val="100000"/>
                </a:lnSpc>
                <a:spcBef>
                  <a:spcPts val="0"/>
                </a:spcBef>
                <a:spcAft>
                  <a:spcPts val="0"/>
                </a:spcAft>
                <a:buClrTx/>
                <a:buSzTx/>
                <a:buFontTx/>
                <a:buNone/>
                <a:tabLst/>
                <a:defRPr sz="1155" b="1">
                  <a:solidFill>
                    <a:srgbClr val="FFFFFF"/>
                  </a:solidFill>
                  <a:latin typeface="Arial" panose="020B0604020202090204"/>
                  <a:ea typeface="Arial" panose="020B0604020202090204"/>
                  <a:cs typeface="Arial" panose="020B0604020202090204"/>
                </a:defRPr>
              </a:pPr>
              <a:r>
                <a:rPr kumimoji="0" sz="1155"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2</a:t>
              </a:r>
            </a:p>
          </p:txBody>
        </p:sp>
        <p:sp>
          <p:nvSpPr>
            <p:cNvPr id="30" name="矩形 29"/>
            <p:cNvSpPr/>
            <p:nvPr/>
          </p:nvSpPr>
          <p:spPr>
            <a:xfrm>
              <a:off x="4791075" y="4257675"/>
              <a:ext cx="2381250" cy="238125"/>
            </a:xfrm>
            <a:prstGeom prst="rect">
              <a:avLst/>
            </a:prstGeom>
            <a:solidFill>
              <a:srgbClr val="000000">
                <a:alpha val="0"/>
              </a:srgbClr>
            </a:solidFill>
            <a:ln w="0">
              <a:solidFill>
                <a:srgbClr val="000000">
                  <a:alpha val="0"/>
                </a:srgbClr>
              </a:solidFill>
              <a:prstDash val="solid"/>
            </a:ln>
          </p:spPr>
          <p:txBody>
            <a:bodyPr lIns="0" tIns="0" rIns="0" bIns="0" anchor="t">
              <a:normAutofit lnSpcReduction="10000"/>
            </a:bodyPr>
            <a:lstStyle/>
            <a:p>
              <a:pPr marL="0" marR="0" lvl="0" indent="0" algn="l" defTabSz="914400" eaLnBrk="1" fontAlgn="auto" latinLnBrk="0" hangingPunct="1">
                <a:lnSpc>
                  <a:spcPct val="100000"/>
                </a:lnSpc>
                <a:spcBef>
                  <a:spcPts val="0"/>
                </a:spcBef>
                <a:spcAft>
                  <a:spcPts val="0"/>
                </a:spcAft>
                <a:buClrTx/>
                <a:buSzTx/>
                <a:buFontTx/>
                <a:buNone/>
                <a:tabLst/>
                <a:defRPr sz="1320"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SLO violations</a:t>
              </a:r>
            </a:p>
          </p:txBody>
        </p:sp>
        <p:sp>
          <p:nvSpPr>
            <p:cNvPr id="31" name="矩形 30"/>
            <p:cNvSpPr/>
            <p:nvPr/>
          </p:nvSpPr>
          <p:spPr>
            <a:xfrm>
              <a:off x="4791074" y="4505325"/>
              <a:ext cx="2724153" cy="738664"/>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Saturated instances create tail-latency spikes as outputs grow.</a:t>
              </a:r>
            </a:p>
          </p:txBody>
        </p:sp>
      </p:grpSp>
      <p:grpSp>
        <p:nvGrpSpPr>
          <p:cNvPr id="5" name="组合 4"/>
          <p:cNvGrpSpPr/>
          <p:nvPr/>
        </p:nvGrpSpPr>
        <p:grpSpPr>
          <a:xfrm>
            <a:off x="7981950" y="4485004"/>
            <a:ext cx="3348182" cy="1381125"/>
            <a:chOff x="7981950" y="4095749"/>
            <a:chExt cx="3348182" cy="1381125"/>
          </a:xfrm>
        </p:grpSpPr>
        <p:sp>
          <p:nvSpPr>
            <p:cNvPr id="32" name="矩形 31"/>
            <p:cNvSpPr/>
            <p:nvPr/>
          </p:nvSpPr>
          <p:spPr>
            <a:xfrm>
              <a:off x="7981950" y="4095749"/>
              <a:ext cx="3348182" cy="1381125"/>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3" name="椭圆 32"/>
            <p:cNvSpPr/>
            <p:nvPr/>
          </p:nvSpPr>
          <p:spPr>
            <a:xfrm>
              <a:off x="8096250" y="4210050"/>
              <a:ext cx="295275" cy="295275"/>
            </a:xfrm>
            <a:prstGeom prst="ellipse">
              <a:avLst/>
            </a:prstGeom>
            <a:solidFill>
              <a:srgbClr val="4F1556"/>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4" name="矩形 33"/>
            <p:cNvSpPr/>
            <p:nvPr/>
          </p:nvSpPr>
          <p:spPr>
            <a:xfrm>
              <a:off x="8096250" y="4257675"/>
              <a:ext cx="295275"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ctr" defTabSz="914400" eaLnBrk="1" fontAlgn="auto" latinLnBrk="0" hangingPunct="1">
                <a:lnSpc>
                  <a:spcPct val="100000"/>
                </a:lnSpc>
                <a:spcBef>
                  <a:spcPts val="0"/>
                </a:spcBef>
                <a:spcAft>
                  <a:spcPts val="0"/>
                </a:spcAft>
                <a:buClrTx/>
                <a:buSzTx/>
                <a:buFontTx/>
                <a:buNone/>
                <a:tabLst/>
                <a:defRPr sz="1155" b="1">
                  <a:solidFill>
                    <a:srgbClr val="FFFFFF"/>
                  </a:solidFill>
                  <a:latin typeface="Arial" panose="020B0604020202090204"/>
                  <a:ea typeface="Arial" panose="020B0604020202090204"/>
                  <a:cs typeface="Arial" panose="020B0604020202090204"/>
                </a:defRPr>
              </a:pPr>
              <a:r>
                <a:rPr kumimoji="0" sz="1155"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3</a:t>
              </a:r>
            </a:p>
          </p:txBody>
        </p:sp>
        <p:sp>
          <p:nvSpPr>
            <p:cNvPr id="35" name="矩形 34"/>
            <p:cNvSpPr/>
            <p:nvPr/>
          </p:nvSpPr>
          <p:spPr>
            <a:xfrm>
              <a:off x="8505825" y="4267200"/>
              <a:ext cx="2381250" cy="238125"/>
            </a:xfrm>
            <a:prstGeom prst="rect">
              <a:avLst/>
            </a:prstGeom>
            <a:solidFill>
              <a:srgbClr val="000000">
                <a:alpha val="0"/>
              </a:srgbClr>
            </a:solidFill>
            <a:ln w="0">
              <a:solidFill>
                <a:srgbClr val="000000">
                  <a:alpha val="0"/>
                </a:srgbClr>
              </a:solidFill>
              <a:prstDash val="solid"/>
            </a:ln>
          </p:spPr>
          <p:txBody>
            <a:bodyPr lIns="0" tIns="0" rIns="0" bIns="0" anchor="t">
              <a:normAutofit lnSpcReduction="10000"/>
            </a:bodyPr>
            <a:lstStyle/>
            <a:p>
              <a:pPr marL="0" marR="0" lvl="0" indent="0" algn="l" defTabSz="914400" eaLnBrk="1" fontAlgn="auto" latinLnBrk="0" hangingPunct="1">
                <a:lnSpc>
                  <a:spcPct val="100000"/>
                </a:lnSpc>
                <a:spcBef>
                  <a:spcPts val="0"/>
                </a:spcBef>
                <a:spcAft>
                  <a:spcPts val="0"/>
                </a:spcAft>
                <a:buClrTx/>
                <a:buSzTx/>
                <a:buFontTx/>
                <a:buNone/>
                <a:tabLst/>
                <a:defRPr sz="1320"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Missing runtime control</a:t>
              </a:r>
            </a:p>
          </p:txBody>
        </p:sp>
        <p:sp>
          <p:nvSpPr>
            <p:cNvPr id="36" name="矩形 35"/>
            <p:cNvSpPr/>
            <p:nvPr/>
          </p:nvSpPr>
          <p:spPr>
            <a:xfrm>
              <a:off x="8505825" y="4505325"/>
              <a:ext cx="2609850" cy="492443"/>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PD schedulers assign once and miss future decode load.</a:t>
              </a:r>
            </a:p>
          </p:txBody>
        </p:sp>
      </p:grpSp>
      <p:sp>
        <p:nvSpPr>
          <p:cNvPr id="41"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2"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OBSERVATION</a:t>
            </a:r>
          </a:p>
        </p:txBody>
      </p:sp>
      <p:sp>
        <p:nvSpPr>
          <p:cNvPr id="44"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5"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6"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47" name="图片 10"/>
          <p:cNvPicPr>
            <a:picLocks noChangeAspect="1"/>
          </p:cNvPicPr>
          <p:nvPr/>
        </p:nvPicPr>
        <p:blipFill>
          <a:blip r:embed="rId5"/>
          <a:stretch>
            <a:fillRect/>
          </a:stretch>
        </p:blipFill>
        <p:spPr>
          <a:xfrm>
            <a:off x="9639300" y="354718"/>
            <a:ext cx="1571625" cy="481189"/>
          </a:xfrm>
          <a:prstGeom prst="rect">
            <a:avLst/>
          </a:prstGeom>
        </p:spPr>
      </p:pic>
      <p:sp>
        <p:nvSpPr>
          <p:cNvPr id="59"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43</a:t>
            </a:r>
          </a:p>
        </p:txBody>
      </p:sp>
      <p:sp>
        <p:nvSpPr>
          <p:cNvPr id="309" name="文本框 308"/>
          <p:cNvSpPr/>
          <p:nvPr/>
        </p:nvSpPr>
        <p:spPr>
          <a:xfrm>
            <a:off x="1583690" y="3843020"/>
            <a:ext cx="8353425" cy="39878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srgbClr val="7030A0"/>
                </a:solidFill>
                <a:effectLst/>
                <a:uLnTx/>
                <a:uFillTx/>
                <a:latin typeface="Calibri"/>
                <a:ea typeface="Calibri"/>
                <a:cs typeface="Calibri"/>
              </a:rPr>
              <a:t>Decode-step latency is </a:t>
            </a:r>
            <a:r>
              <a:rPr kumimoji="0" lang="en-US" altLang="zh-CN" sz="1600" b="1" i="1" u="none" strike="noStrike" kern="1200" cap="none" spc="0" normalizeH="0" baseline="0" noProof="0" dirty="0">
                <a:ln>
                  <a:noFill/>
                </a:ln>
                <a:solidFill>
                  <a:srgbClr val="7030A0"/>
                </a:solidFill>
                <a:effectLst/>
                <a:uLnTx/>
                <a:uFillTx/>
                <a:latin typeface="Calibri"/>
                <a:ea typeface="Calibri"/>
                <a:cs typeface="Calibri"/>
              </a:rPr>
              <a:t>roughly proportional to the kvcache usage of the instance.</a:t>
            </a:r>
            <a:r>
              <a:rPr kumimoji="0" lang="en-US" sz="2000" b="1" i="1" u="none" strike="noStrike" kern="1200" cap="none" spc="0" normalizeH="0" baseline="0" noProof="0" dirty="0">
                <a:ln>
                  <a:noFill/>
                </a:ln>
                <a:solidFill>
                  <a:srgbClr val="7030A0"/>
                </a:solidFill>
                <a:effectLst/>
                <a:uLnTx/>
                <a:uFillTx/>
                <a:latin typeface="Calibri"/>
                <a:ea typeface="Calibri"/>
                <a:cs typeface="Calibri"/>
              </a:rPr>
              <a:t> </a:t>
            </a:r>
            <a:endParaRPr kumimoji="0" sz="2000" b="1" i="1" u="none" strike="noStrike" kern="1200" cap="none" spc="0" normalizeH="0" baseline="0" noProof="0" dirty="0">
              <a:ln>
                <a:noFill/>
              </a:ln>
              <a:solidFill>
                <a:srgbClr val="7030A0"/>
              </a:solidFill>
              <a:effectLst/>
              <a:uLnTx/>
              <a:uFillTx/>
              <a:latin typeface="Calibri"/>
              <a:ea typeface="Calibri"/>
              <a:cs typeface="Calibri"/>
            </a:endParaRPr>
          </a:p>
        </p:txBody>
      </p:sp>
      <p:sp>
        <p:nvSpPr>
          <p:cNvPr id="6" name="slide-title"/>
          <p:cNvSpPr/>
          <p:nvPr/>
        </p:nvSpPr>
        <p:spPr>
          <a:xfrm>
            <a:off x="552450" y="580073"/>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lang="en-US" altLang="zh-CN" sz="2850" b="1" i="0" u="none" strike="noStrike" kern="1200" cap="none" spc="0" normalizeH="0" baseline="0" noProof="0" dirty="0">
                <a:ln>
                  <a:noFill/>
                </a:ln>
                <a:solidFill>
                  <a:srgbClr val="17131F"/>
                </a:solidFill>
                <a:effectLst/>
                <a:uLnTx/>
                <a:uFillTx/>
                <a:ea typeface="PingFang SC" panose="020B0400000000000000" charset="-122"/>
              </a:rPr>
              <a:t>Imbalance workload in decode phase.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2"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RESEARCH PROBLEM</a:t>
            </a:r>
          </a:p>
        </p:txBody>
      </p:sp>
      <p:sp>
        <p:nvSpPr>
          <p:cNvPr id="33" name="slide-title"/>
          <p:cNvSpPr/>
          <p:nvPr/>
        </p:nvSpPr>
        <p:spPr>
          <a:xfrm>
            <a:off x="552450" y="495300"/>
            <a:ext cx="8763000" cy="495300"/>
          </a:xfrm>
          <a:prstGeom prst="rect">
            <a:avLst/>
          </a:prstGeom>
        </p:spPr>
        <p:txBody>
          <a:bodyPr wrap="square" lIns="64008" tIns="32004" rIns="64008" bIns="32004"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lang="en-GB" altLang="zh-CN" sz="2800" b="1" i="0" u="none" strike="noStrike" kern="1200" cap="none" spc="0" normalizeH="0" baseline="0" noProof="0" dirty="0">
                <a:ln>
                  <a:noFill/>
                </a:ln>
                <a:solidFill>
                  <a:srgbClr val="17131F"/>
                </a:solidFill>
                <a:effectLst/>
                <a:uLnTx/>
                <a:uFillTx/>
                <a:ea typeface="PingFang SC" panose="020B0400000000000000" charset="-122"/>
              </a:rPr>
              <a:t>Decode rescheduling needs foresight.</a:t>
            </a:r>
          </a:p>
        </p:txBody>
      </p:sp>
      <p:sp>
        <p:nvSpPr>
          <p:cNvPr id="34"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5"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6"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37" name="图片 10"/>
          <p:cNvPicPr>
            <a:picLocks noChangeAspect="1"/>
          </p:cNvPicPr>
          <p:nvPr/>
        </p:nvPicPr>
        <p:blipFill>
          <a:blip r:embed="rId3"/>
          <a:stretch>
            <a:fillRect/>
          </a:stretch>
        </p:blipFill>
        <p:spPr>
          <a:xfrm>
            <a:off x="9639300" y="354718"/>
            <a:ext cx="1571625" cy="481189"/>
          </a:xfrm>
          <a:prstGeom prst="rect">
            <a:avLst/>
          </a:prstGeom>
        </p:spPr>
      </p:pic>
      <p:sp>
        <p:nvSpPr>
          <p:cNvPr id="43"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44</a:t>
            </a: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grpSp>
        <p:nvGrpSpPr>
          <p:cNvPr id="6" name="组合 5"/>
          <p:cNvGrpSpPr/>
          <p:nvPr/>
        </p:nvGrpSpPr>
        <p:grpSpPr>
          <a:xfrm>
            <a:off x="1181100" y="2600351"/>
            <a:ext cx="10200822" cy="1983056"/>
            <a:chOff x="822960" y="2600351"/>
            <a:chExt cx="10200822" cy="1983056"/>
          </a:xfrm>
        </p:grpSpPr>
        <p:sp>
          <p:nvSpPr>
            <p:cNvPr id="45" name="Rounded Rectangle 44"/>
            <p:cNvSpPr/>
            <p:nvPr/>
          </p:nvSpPr>
          <p:spPr>
            <a:xfrm>
              <a:off x="822960" y="2673503"/>
              <a:ext cx="2971800" cy="1170432"/>
            </a:xfrm>
            <a:prstGeom prst="roundRect">
              <a:avLst/>
            </a:prstGeom>
            <a:solidFill>
              <a:srgbClr val="E8E0F0"/>
            </a:solidFill>
            <a:ln w="12700">
              <a:solidFill>
                <a:srgbClr val="2D1B69"/>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2D1B69"/>
                  </a:solidFill>
                  <a:effectLst/>
                  <a:uLnTx/>
                  <a:uFillTx/>
                  <a:latin typeface="Aptos"/>
                  <a:ea typeface="Calibri"/>
                  <a:cs typeface="Calibri"/>
                </a:rPr>
                <a:t>C1: Predict
remaining length online</a:t>
              </a:r>
            </a:p>
          </p:txBody>
        </p:sp>
        <p:sp>
          <p:nvSpPr>
            <p:cNvPr id="47" name="Rounded Rectangle 46"/>
            <p:cNvSpPr/>
            <p:nvPr/>
          </p:nvSpPr>
          <p:spPr>
            <a:xfrm>
              <a:off x="7360920" y="2673503"/>
              <a:ext cx="2971800" cy="1170432"/>
            </a:xfrm>
            <a:prstGeom prst="roundRect">
              <a:avLst/>
            </a:prstGeom>
            <a:solidFill>
              <a:srgbClr val="F5E6C8"/>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B8860B"/>
                  </a:solidFill>
                  <a:effectLst/>
                  <a:uLnTx/>
                  <a:uFillTx/>
                  <a:latin typeface="Aptos"/>
                  <a:ea typeface="Calibri"/>
                  <a:cs typeface="Calibri"/>
                </a:rPr>
                <a:t>C2: Migrate
what / when / where</a:t>
              </a:r>
            </a:p>
          </p:txBody>
        </p:sp>
        <p:sp>
          <p:nvSpPr>
            <p:cNvPr id="49" name="Diamond 48"/>
            <p:cNvSpPr/>
            <p:nvPr/>
          </p:nvSpPr>
          <p:spPr>
            <a:xfrm>
              <a:off x="4251960" y="2600351"/>
              <a:ext cx="2606040" cy="1353312"/>
            </a:xfrm>
            <a:prstGeom prst="diamond">
              <a:avLst/>
            </a:prstGeom>
            <a:solidFill>
              <a:srgbClr val="2D1B69"/>
            </a:solidFill>
            <a:ln w="25400">
              <a:solidFill>
                <a:srgbClr val="B8860B"/>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FFFFFF"/>
                  </a:solidFill>
                  <a:effectLst/>
                  <a:uLnTx/>
                  <a:uFillTx/>
                  <a:latin typeface="Aptos"/>
                  <a:ea typeface="Calibri"/>
                  <a:cs typeface="Calibri"/>
                </a:rPr>
                <a:t>STAR</a:t>
              </a:r>
            </a:p>
          </p:txBody>
        </p:sp>
        <p:sp>
          <p:nvSpPr>
            <p:cNvPr id="50" name="TextBox 49"/>
            <p:cNvSpPr txBox="1"/>
            <p:nvPr/>
          </p:nvSpPr>
          <p:spPr>
            <a:xfrm>
              <a:off x="4160520" y="4009060"/>
              <a:ext cx="2788920" cy="557076"/>
            </a:xfrm>
            <a:prstGeom prst="rect">
              <a:avLst/>
            </a:prstGeom>
            <a:noFill/>
          </p:spPr>
          <p:txBody>
            <a:bodyPr wrap="square" lIns="64008" tIns="32004" rIns="64008" bIns="32004"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2D1B69"/>
                  </a:solidFill>
                  <a:effectLst/>
                  <a:uLnTx/>
                  <a:uFillTx/>
                  <a:latin typeface="Aptos"/>
                  <a:ea typeface="Calibri"/>
                  <a:cs typeface="Calibri"/>
                </a:rPr>
                <a:t>foresight  </a:t>
              </a:r>
              <a:endParaRPr kumimoji="0" lang="en-US" sz="1600" b="1" i="0" u="none" strike="noStrike" kern="1200" cap="none" spc="0" normalizeH="0" baseline="0" noProof="0" dirty="0">
                <a:ln>
                  <a:noFill/>
                </a:ln>
                <a:solidFill>
                  <a:srgbClr val="2D1B69"/>
                </a:solidFill>
                <a:effectLst/>
                <a:uLnTx/>
                <a:uFillTx/>
                <a:latin typeface="Aptos"/>
                <a:ea typeface="Calibri"/>
                <a:cs typeface="Calibri"/>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2D1B69"/>
                  </a:solidFill>
                  <a:effectLst/>
                  <a:uLnTx/>
                  <a:uFillTx/>
                  <a:latin typeface="Aptos"/>
                  <a:ea typeface="Calibri"/>
                  <a:cs typeface="Calibri"/>
                </a:rPr>
                <a:t>safe migration</a:t>
              </a:r>
            </a:p>
          </p:txBody>
        </p:sp>
        <p:cxnSp>
          <p:nvCxnSpPr>
            <p:cNvPr id="51" name="Connector 50"/>
            <p:cNvCxnSpPr/>
            <p:nvPr/>
          </p:nvCxnSpPr>
          <p:spPr>
            <a:xfrm>
              <a:off x="3794760" y="3258719"/>
              <a:ext cx="502920" cy="0"/>
            </a:xfrm>
            <a:prstGeom prst="line">
              <a:avLst/>
            </a:prstGeom>
            <a:ln w="31750">
              <a:solidFill>
                <a:srgbClr val="2D1B6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858000" y="3258719"/>
              <a:ext cx="502920" cy="0"/>
            </a:xfrm>
            <a:prstGeom prst="line">
              <a:avLst/>
            </a:prstGeom>
            <a:ln w="31750">
              <a:solidFill>
                <a:srgbClr val="B8860B"/>
              </a:solidFill>
            </a:ln>
          </p:spPr>
          <p:style>
            <a:lnRef idx="2">
              <a:schemeClr val="accent1"/>
            </a:lnRef>
            <a:fillRef idx="0">
              <a:schemeClr val="accent1"/>
            </a:fillRef>
            <a:effectRef idx="1">
              <a:schemeClr val="accent1"/>
            </a:effectRef>
            <a:fontRef idx="minor">
              <a:schemeClr val="tx1"/>
            </a:fontRef>
          </p:style>
        </p:cxnSp>
        <p:sp>
          <p:nvSpPr>
            <p:cNvPr id="8" name="矩形 7"/>
            <p:cNvSpPr/>
            <p:nvPr/>
          </p:nvSpPr>
          <p:spPr>
            <a:xfrm>
              <a:off x="868680" y="3954757"/>
              <a:ext cx="3291840" cy="6286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Prompt-only predictors are intrusive, weak for long context, or too costly.</a:t>
              </a:r>
            </a:p>
          </p:txBody>
        </p:sp>
        <p:sp>
          <p:nvSpPr>
            <p:cNvPr id="9" name="矩形 8"/>
            <p:cNvSpPr/>
            <p:nvPr/>
          </p:nvSpPr>
          <p:spPr>
            <a:xfrm>
              <a:off x="7360920" y="4039388"/>
              <a:ext cx="3662862" cy="492443"/>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Migration must reduce future imbalance </a:t>
              </a:r>
              <a:endParaRPr kumimoji="0" lang="en-US"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endParaRPr>
            </a:p>
            <a:p>
              <a:pPr marL="0" marR="0" lvl="0" indent="0" algn="l" defTabSz="914400" eaLnBrk="1" fontAlgn="auto" latinLnBrk="0" hangingPunct="1">
                <a:lnSpc>
                  <a:spcPct val="100000"/>
                </a:lnSpc>
                <a:spcBef>
                  <a:spcPts val="0"/>
                </a:spcBef>
                <a:spcAft>
                  <a:spcPts val="0"/>
                </a:spcAft>
                <a:buClrTx/>
                <a:buSzTx/>
                <a:buFontTx/>
                <a:buNone/>
                <a:tabLst/>
                <a:defRPr sz="955"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without causing OOM.</a:t>
              </a:r>
            </a:p>
          </p:txBody>
        </p:sp>
      </p:grpSp>
      <p:grpSp>
        <p:nvGrpSpPr>
          <p:cNvPr id="7" name="组合 6"/>
          <p:cNvGrpSpPr/>
          <p:nvPr/>
        </p:nvGrpSpPr>
        <p:grpSpPr>
          <a:xfrm>
            <a:off x="1363504" y="5075302"/>
            <a:ext cx="9464992" cy="919401"/>
            <a:chOff x="960120" y="5075302"/>
            <a:chExt cx="9464992" cy="919401"/>
          </a:xfrm>
        </p:grpSpPr>
        <p:sp>
          <p:nvSpPr>
            <p:cNvPr id="53" name="Rounded Rectangle 52"/>
            <p:cNvSpPr/>
            <p:nvPr/>
          </p:nvSpPr>
          <p:spPr>
            <a:xfrm>
              <a:off x="3247072" y="5205819"/>
              <a:ext cx="7178040" cy="658368"/>
            </a:xfrm>
            <a:prstGeom prst="round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23232D"/>
                  </a:solidFill>
                  <a:effectLst/>
                  <a:uLnTx/>
                  <a:uFillTx/>
                  <a:latin typeface="Aptos"/>
                  <a:ea typeface="Calibri"/>
                  <a:cs typeface="Calibri"/>
                </a:rPr>
                <a:t>Prediction only matters when it becomes a safe migration decision.</a:t>
              </a:r>
            </a:p>
          </p:txBody>
        </p:sp>
        <p:sp>
          <p:nvSpPr>
            <p:cNvPr id="10" name="文本框 9"/>
            <p:cNvSpPr txBox="1"/>
            <p:nvPr/>
          </p:nvSpPr>
          <p:spPr>
            <a:xfrm>
              <a:off x="960120" y="5075302"/>
              <a:ext cx="1796612" cy="919401"/>
            </a:xfrm>
            <a:prstGeom prst="roundRect">
              <a:avLst>
                <a:gd name="adj" fmla="val 23526"/>
              </a:avLst>
            </a:prstGeom>
            <a:solidFill>
              <a:srgbClr val="F7F2F9"/>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zh-CN" sz="2000" b="1" i="0" u="none" strike="noStrike" kern="1200" cap="none" spc="0" normalizeH="0" baseline="0" noProof="0" dirty="0">
                  <a:ln>
                    <a:noFill/>
                  </a:ln>
                  <a:solidFill>
                    <a:srgbClr val="4E1456"/>
                  </a:solidFill>
                  <a:effectLst/>
                  <a:uLnTx/>
                  <a:uFillTx/>
                  <a:latin typeface="Arial" panose="020B0604020202090204"/>
                  <a:ea typeface="Arial" panose="020B0604020202090204"/>
                  <a:cs typeface="Arial" panose="020B0604020202090204"/>
                </a:rPr>
                <a:t>Design</a:t>
              </a:r>
              <a:r>
                <a:rPr kumimoji="0" lang="en-GB" altLang="zh-CN" sz="2400" b="1" i="0" u="none" strike="noStrike" kern="1200" cap="none" spc="0" normalizeH="0" baseline="0" noProof="0" dirty="0">
                  <a:ln>
                    <a:noFill/>
                  </a:ln>
                  <a:solidFill>
                    <a:srgbClr val="4E1456"/>
                  </a:solidFill>
                  <a:effectLst/>
                  <a:uLnTx/>
                  <a:uFillTx/>
                  <a:latin typeface="Arial" panose="020B0604020202090204"/>
                  <a:ea typeface="Arial" panose="020B0604020202090204"/>
                  <a:cs typeface="Arial" panose="020B0604020202090204"/>
                </a:rPr>
                <a:t> </a:t>
              </a:r>
              <a:r>
                <a:rPr kumimoji="0" lang="en-GB" altLang="zh-CN" sz="2000" b="1" i="0" u="none" strike="noStrike" kern="1200" cap="none" spc="0" normalizeH="0" baseline="0" noProof="0" dirty="0">
                  <a:ln>
                    <a:noFill/>
                  </a:ln>
                  <a:solidFill>
                    <a:srgbClr val="4E1456"/>
                  </a:solidFill>
                  <a:effectLst/>
                  <a:uLnTx/>
                  <a:uFillTx/>
                  <a:latin typeface="Arial" panose="020B0604020202090204"/>
                  <a:ea typeface="Arial" panose="020B0604020202090204"/>
                  <a:cs typeface="Arial" panose="020B0604020202090204"/>
                </a:rPr>
                <a:t>principle</a:t>
              </a:r>
              <a:endParaRPr kumimoji="0" lang="zh-CN" altLang="en-US" sz="2400" b="0" i="0" u="none" strike="noStrike" kern="1200" cap="none" spc="0" normalizeH="0" baseline="0" noProof="0" dirty="0">
                <a:ln>
                  <a:noFill/>
                </a:ln>
                <a:solidFill>
                  <a:srgbClr val="4E1456"/>
                </a:solidFill>
                <a:effectLst/>
                <a:uLnTx/>
                <a:uFillTx/>
                <a:latin typeface="Calibri"/>
                <a:cs typeface="Calibri"/>
              </a:endParaRPr>
            </a:p>
          </p:txBody>
        </p:sp>
      </p:grpSp>
      <p:grpSp>
        <p:nvGrpSpPr>
          <p:cNvPr id="5" name="组合 4"/>
          <p:cNvGrpSpPr/>
          <p:nvPr/>
        </p:nvGrpSpPr>
        <p:grpSpPr>
          <a:xfrm>
            <a:off x="1181100" y="1388282"/>
            <a:ext cx="9829800" cy="895350"/>
            <a:chOff x="781050" y="1469345"/>
            <a:chExt cx="9829800" cy="895350"/>
          </a:xfrm>
        </p:grpSpPr>
        <p:sp>
          <p:nvSpPr>
            <p:cNvPr id="3" name="矩形 2"/>
            <p:cNvSpPr/>
            <p:nvPr/>
          </p:nvSpPr>
          <p:spPr>
            <a:xfrm>
              <a:off x="781050" y="1469345"/>
              <a:ext cx="9829800" cy="895350"/>
            </a:xfrm>
            <a:prstGeom prst="rect">
              <a:avLst/>
            </a:prstGeom>
            <a:solidFill>
              <a:srgbClr val="F7F2F8"/>
            </a:solidFill>
            <a:ln w="9525">
              <a:solidFill>
                <a:srgbClr val="D8C7DE"/>
              </a:solidFill>
              <a:prstDash val="soli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 name="矩形 3"/>
            <p:cNvSpPr/>
            <p:nvPr/>
          </p:nvSpPr>
          <p:spPr>
            <a:xfrm>
              <a:off x="1136913" y="1904165"/>
              <a:ext cx="9118074" cy="307777"/>
            </a:xfrm>
            <a:prstGeom prst="rect">
              <a:avLst/>
            </a:prstGeom>
            <a:solidFill>
              <a:srgbClr val="000000">
                <a:alpha val="0"/>
              </a:srgbClr>
            </a:solidFill>
            <a:ln w="0">
              <a:solidFill>
                <a:srgbClr val="000000">
                  <a:alpha val="0"/>
                </a:srgbClr>
              </a:solidFill>
              <a:prstDash val="solid"/>
            </a:ln>
          </p:spPr>
          <p:txBody>
            <a:bodyPr wrap="none" lIns="0" tIns="0" rIns="0" bIns="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sz="1650" b="1">
                  <a:solidFill>
                    <a:srgbClr val="1F3154"/>
                  </a:solidFill>
                  <a:latin typeface="Arial" panose="020B0604020202090204"/>
                  <a:ea typeface="Arial" panose="020B0604020202090204"/>
                  <a:cs typeface="Arial" panose="020B0604020202090204"/>
                </a:defRPr>
              </a:pPr>
              <a:r>
                <a:rPr kumimoji="0" sz="20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Keep decode load balanced with timely, low-cost, memory-safe migrations.</a:t>
              </a:r>
            </a:p>
          </p:txBody>
        </p:sp>
        <p:sp>
          <p:nvSpPr>
            <p:cNvPr id="2" name="矩形 1"/>
            <p:cNvSpPr/>
            <p:nvPr/>
          </p:nvSpPr>
          <p:spPr>
            <a:xfrm>
              <a:off x="5354511" y="1514294"/>
              <a:ext cx="682879" cy="369332"/>
            </a:xfrm>
            <a:prstGeom prst="rect">
              <a:avLst/>
            </a:prstGeom>
            <a:solidFill>
              <a:srgbClr val="46745B">
                <a:alpha val="0"/>
              </a:srgbClr>
            </a:solidFill>
            <a:ln w="0">
              <a:solidFill>
                <a:srgbClr val="000000">
                  <a:alpha val="0"/>
                </a:srgbClr>
              </a:solidFill>
              <a:prstDash val="solid"/>
            </a:ln>
          </p:spPr>
          <p:txBody>
            <a:bodyPr wrap="non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815" b="1">
                  <a:solidFill>
                    <a:srgbClr val="1F3154"/>
                  </a:solidFill>
                  <a:latin typeface="Arial" panose="020B0604020202090204"/>
                  <a:ea typeface="Arial" panose="020B0604020202090204"/>
                  <a:cs typeface="Arial" panose="020B0604020202090204"/>
                </a:defRPr>
              </a:pPr>
              <a:r>
                <a:rPr kumimoji="0" sz="2400" b="1" i="0" u="none" strike="noStrike" kern="1200" cap="none" spc="0" normalizeH="0" baseline="0" noProof="0" dirty="0">
                  <a:ln>
                    <a:noFill/>
                  </a:ln>
                  <a:solidFill>
                    <a:srgbClr val="A5A5A5">
                      <a:lumMod val="50000"/>
                    </a:srgbClr>
                  </a:solidFill>
                  <a:effectLst/>
                  <a:uLnTx/>
                  <a:uFillTx/>
                  <a:latin typeface="Arial" panose="020B0604020202090204"/>
                  <a:ea typeface="Arial" panose="020B0604020202090204"/>
                  <a:cs typeface="Arial" panose="020B0604020202090204"/>
                </a:rPr>
                <a:t>Goal</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9639300" y="354711"/>
            <a:ext cx="1571625" cy="481203"/>
          </a:xfrm>
          <a:prstGeom prst="rect">
            <a:avLst/>
          </a:prstGeom>
        </p:spPr>
      </p:pic>
      <p:sp>
        <p:nvSpPr>
          <p:cNvPr id="4"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 name="section-1-card"/>
          <p:cNvSpPr/>
          <p:nvPr/>
        </p:nvSpPr>
        <p:spPr>
          <a:xfrm>
            <a:off x="781050" y="15049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 name="section-1-accent"/>
          <p:cNvSpPr/>
          <p:nvPr/>
        </p:nvSpPr>
        <p:spPr>
          <a:xfrm>
            <a:off x="781050" y="15049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 name="section-1-index"/>
          <p:cNvSpPr/>
          <p:nvPr/>
        </p:nvSpPr>
        <p:spPr>
          <a:xfrm>
            <a:off x="1085850" y="17049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01</a:t>
            </a:r>
          </a:p>
        </p:txBody>
      </p:sp>
      <p:sp>
        <p:nvSpPr>
          <p:cNvPr id="8" name="section-1-title"/>
          <p:cNvSpPr/>
          <p:nvPr/>
        </p:nvSpPr>
        <p:spPr>
          <a:xfrm>
            <a:off x="1771650" y="16859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Motivation</a:t>
            </a:r>
          </a:p>
        </p:txBody>
      </p:sp>
      <p:sp>
        <p:nvSpPr>
          <p:cNvPr id="9" name="section-1-description"/>
          <p:cNvSpPr/>
          <p:nvPr/>
        </p:nvSpPr>
        <p:spPr>
          <a:xfrm>
            <a:off x="4768091" y="1734264"/>
            <a:ext cx="4306820"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Why does long-output serving break static handoff?</a:t>
            </a:r>
          </a:p>
        </p:txBody>
      </p:sp>
      <p:sp>
        <p:nvSpPr>
          <p:cNvPr id="10" name="section-2-card"/>
          <p:cNvSpPr/>
          <p:nvPr/>
        </p:nvSpPr>
        <p:spPr>
          <a:xfrm>
            <a:off x="781050" y="2419350"/>
            <a:ext cx="9886950" cy="742950"/>
          </a:xfrm>
          <a:prstGeom prst="rect">
            <a:avLst/>
          </a:prstGeom>
          <a:solidFill>
            <a:srgbClr val="4B1D78"/>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1" name="section-2-accent"/>
          <p:cNvSpPr/>
          <p:nvPr/>
        </p:nvSpPr>
        <p:spPr>
          <a:xfrm>
            <a:off x="781050" y="2419350"/>
            <a:ext cx="76200" cy="74295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2" name="section-2-index"/>
          <p:cNvSpPr/>
          <p:nvPr/>
        </p:nvSpPr>
        <p:spPr>
          <a:xfrm>
            <a:off x="1085850" y="26193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FFFFFF"/>
                </a:solidFill>
                <a:latin typeface="Calibri"/>
                <a:ea typeface="Calibri"/>
                <a:cs typeface="Calibri"/>
              </a:defRPr>
            </a:pPr>
            <a:r>
              <a:rPr kumimoji="0" sz="1725" b="1" i="0" u="none" strike="noStrike" kern="1200" cap="none" spc="0" normalizeH="0" baseline="0" noProof="0" dirty="0">
                <a:ln>
                  <a:noFill/>
                </a:ln>
                <a:solidFill>
                  <a:srgbClr val="FFFFFF"/>
                </a:solidFill>
                <a:effectLst/>
                <a:uLnTx/>
                <a:uFillTx/>
                <a:latin typeface="Calibri"/>
                <a:ea typeface="Calibri"/>
                <a:cs typeface="Calibri"/>
              </a:rPr>
              <a:t>02</a:t>
            </a:r>
          </a:p>
        </p:txBody>
      </p:sp>
      <p:sp>
        <p:nvSpPr>
          <p:cNvPr id="13" name="section-2-title"/>
          <p:cNvSpPr/>
          <p:nvPr/>
        </p:nvSpPr>
        <p:spPr>
          <a:xfrm>
            <a:off x="1771650" y="26003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FFFFFF"/>
                </a:solidFill>
                <a:latin typeface="Calibri"/>
                <a:ea typeface="Calibri"/>
                <a:cs typeface="Calibri"/>
              </a:defRPr>
            </a:pPr>
            <a:r>
              <a:rPr kumimoji="0" sz="1950" b="1" i="0" u="none" strike="noStrike" kern="1200" cap="none" spc="0" normalizeH="0" baseline="0" noProof="0" dirty="0">
                <a:ln>
                  <a:noFill/>
                </a:ln>
                <a:solidFill>
                  <a:srgbClr val="FFFFFF"/>
                </a:solidFill>
                <a:effectLst/>
                <a:uLnTx/>
                <a:uFillTx/>
                <a:latin typeface="Calibri"/>
                <a:ea typeface="Calibri"/>
                <a:cs typeface="Calibri"/>
              </a:rPr>
              <a:t>Design</a:t>
            </a:r>
          </a:p>
        </p:txBody>
      </p:sp>
      <p:sp>
        <p:nvSpPr>
          <p:cNvPr id="14" name="section-2-description"/>
          <p:cNvSpPr/>
          <p:nvPr/>
        </p:nvSpPr>
        <p:spPr>
          <a:xfrm>
            <a:off x="4794412" y="2648664"/>
            <a:ext cx="4254178"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FFFFFF"/>
                </a:solidFill>
                <a:latin typeface="Calibri"/>
                <a:ea typeface="Calibri"/>
                <a:cs typeface="Calibri"/>
              </a:defRPr>
            </a:pPr>
            <a:r>
              <a:rPr kumimoji="0" sz="1600" b="0" i="0" u="none" strike="noStrike" kern="1200" cap="none" spc="0" normalizeH="0" baseline="0" noProof="0" dirty="0">
                <a:ln>
                  <a:noFill/>
                </a:ln>
                <a:solidFill>
                  <a:srgbClr val="FFFFFF"/>
                </a:solidFill>
                <a:effectLst/>
                <a:uLnTx/>
                <a:uFillTx/>
                <a:latin typeface="Calibri"/>
                <a:ea typeface="Calibri"/>
                <a:cs typeface="Calibri"/>
              </a:rPr>
              <a:t>How can STAR predict and rebalance decode work?</a:t>
            </a:r>
          </a:p>
        </p:txBody>
      </p:sp>
      <p:sp>
        <p:nvSpPr>
          <p:cNvPr id="15" name="section-3-card"/>
          <p:cNvSpPr/>
          <p:nvPr/>
        </p:nvSpPr>
        <p:spPr>
          <a:xfrm>
            <a:off x="781050" y="33337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6" name="section-3-accent"/>
          <p:cNvSpPr/>
          <p:nvPr/>
        </p:nvSpPr>
        <p:spPr>
          <a:xfrm>
            <a:off x="781050" y="33337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7" name="section-3-index"/>
          <p:cNvSpPr/>
          <p:nvPr/>
        </p:nvSpPr>
        <p:spPr>
          <a:xfrm>
            <a:off x="1085850" y="35337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03</a:t>
            </a:r>
          </a:p>
        </p:txBody>
      </p:sp>
      <p:sp>
        <p:nvSpPr>
          <p:cNvPr id="18" name="section-3-title"/>
          <p:cNvSpPr/>
          <p:nvPr/>
        </p:nvSpPr>
        <p:spPr>
          <a:xfrm>
            <a:off x="1771650" y="35147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Evaluation</a:t>
            </a:r>
          </a:p>
        </p:txBody>
      </p:sp>
      <p:sp>
        <p:nvSpPr>
          <p:cNvPr id="19" name="section-3-description"/>
          <p:cNvSpPr/>
          <p:nvPr/>
        </p:nvSpPr>
        <p:spPr>
          <a:xfrm>
            <a:off x="4673642" y="3563064"/>
            <a:ext cx="4495718"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Does STAR improve goodput, tail TPOT, and reliability?</a:t>
            </a:r>
          </a:p>
        </p:txBody>
      </p:sp>
      <p:sp>
        <p:nvSpPr>
          <p:cNvPr id="20" name="section-4-card"/>
          <p:cNvSpPr/>
          <p:nvPr/>
        </p:nvSpPr>
        <p:spPr>
          <a:xfrm>
            <a:off x="781050" y="42481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1" name="section-4-accent"/>
          <p:cNvSpPr/>
          <p:nvPr/>
        </p:nvSpPr>
        <p:spPr>
          <a:xfrm>
            <a:off x="781050" y="42481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2" name="section-4-index"/>
          <p:cNvSpPr/>
          <p:nvPr/>
        </p:nvSpPr>
        <p:spPr>
          <a:xfrm>
            <a:off x="1085850" y="44481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04</a:t>
            </a:r>
          </a:p>
        </p:txBody>
      </p:sp>
      <p:sp>
        <p:nvSpPr>
          <p:cNvPr id="23" name="section-4-title"/>
          <p:cNvSpPr/>
          <p:nvPr/>
        </p:nvSpPr>
        <p:spPr>
          <a:xfrm>
            <a:off x="1771650" y="44291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Takeaways</a:t>
            </a:r>
          </a:p>
        </p:txBody>
      </p:sp>
      <p:sp>
        <p:nvSpPr>
          <p:cNvPr id="24" name="section-4-description"/>
          <p:cNvSpPr/>
          <p:nvPr/>
        </p:nvSpPr>
        <p:spPr>
          <a:xfrm>
            <a:off x="4751805" y="4477464"/>
            <a:ext cx="4339393"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What should serving systems remember from STAR?</a:t>
            </a:r>
          </a:p>
        </p:txBody>
      </p:sp>
      <p:sp>
        <p:nvSpPr>
          <p:cNvPr id="25" name="current-section-panel"/>
          <p:cNvSpPr/>
          <p:nvPr/>
        </p:nvSpPr>
        <p:spPr>
          <a:xfrm>
            <a:off x="781050" y="5410200"/>
            <a:ext cx="9886950" cy="609600"/>
          </a:xfrm>
          <a:prstGeom prst="rect">
            <a:avLst/>
          </a:prstGeom>
          <a:solidFill>
            <a:srgbClr val="F8F6FA"/>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6" name="current-section-label"/>
          <p:cNvSpPr/>
          <p:nvPr/>
        </p:nvSpPr>
        <p:spPr>
          <a:xfrm>
            <a:off x="1047750" y="5581650"/>
            <a:ext cx="2143125" cy="28575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Calibri"/>
                <a:ea typeface="Calibri"/>
                <a:cs typeface="Calibri"/>
              </a:defRPr>
            </a:pPr>
            <a:r>
              <a:rPr kumimoji="0" sz="1600" b="1" i="0" u="none" strike="noStrike" kern="1200" cap="none" spc="0" normalizeH="0" baseline="0" noProof="0" dirty="0">
                <a:ln>
                  <a:noFill/>
                </a:ln>
                <a:solidFill>
                  <a:srgbClr val="4B1D78"/>
                </a:solidFill>
                <a:effectLst/>
                <a:uLnTx/>
                <a:uFillTx/>
                <a:latin typeface="Calibri"/>
                <a:ea typeface="Calibri"/>
                <a:cs typeface="Calibri"/>
              </a:rPr>
              <a:t>CURRENT SESSION</a:t>
            </a:r>
          </a:p>
        </p:txBody>
      </p:sp>
      <p:sp>
        <p:nvSpPr>
          <p:cNvPr id="27" name="current-section-summary"/>
          <p:cNvSpPr/>
          <p:nvPr/>
        </p:nvSpPr>
        <p:spPr>
          <a:xfrm>
            <a:off x="4318000" y="5597567"/>
            <a:ext cx="5207003" cy="253916"/>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650" b="1">
                <a:solidFill>
                  <a:srgbClr val="17131F"/>
                </a:solidFill>
                <a:latin typeface="Calibri"/>
                <a:ea typeface="Calibri"/>
                <a:cs typeface="Calibri"/>
              </a:defRPr>
            </a:pPr>
            <a:r>
              <a:rPr kumimoji="0" sz="1650" b="1" i="0" u="none" strike="noStrike" kern="1200" cap="none" spc="0" normalizeH="0" baseline="0" noProof="0" dirty="0">
                <a:ln>
                  <a:noFill/>
                </a:ln>
                <a:solidFill>
                  <a:srgbClr val="17131F"/>
                </a:solidFill>
                <a:effectLst/>
                <a:uLnTx/>
                <a:uFillTx/>
                <a:latin typeface="Calibri"/>
                <a:ea typeface="Calibri"/>
                <a:cs typeface="Calibri"/>
              </a:rPr>
              <a:t>How does STAR turn prediction into safe decode migration?</a:t>
            </a:r>
          </a:p>
        </p:txBody>
      </p:sp>
      <p:sp>
        <p:nvSpPr>
          <p:cNvPr id="28"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9"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sp>
        <p:nvSpPr>
          <p:cNvPr id="30"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45</a:t>
            </a: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sp>
        <p:nvSpPr>
          <p:cNvPr id="31" name="slide-title"/>
          <p:cNvSpPr/>
          <p:nvPr/>
        </p:nvSpPr>
        <p:spPr>
          <a:xfrm>
            <a:off x="552450" y="554935"/>
            <a:ext cx="1368965" cy="530915"/>
          </a:xfrm>
          <a:prstGeom prst="rect">
            <a:avLst/>
          </a:prstGeom>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3450" b="1">
                <a:solidFill>
                  <a:srgbClr val="17131F"/>
                </a:solidFill>
                <a:latin typeface="&quot;PingFang SC&quot;, Calibri"/>
                <a:ea typeface="&quot;PingFang SC&quot;, Calibri"/>
                <a:cs typeface="&quot;PingFang SC&quot;, Calibri"/>
              </a:defRPr>
            </a:pPr>
            <a:r>
              <a:rPr kumimoji="0" sz="3450" b="1" i="0" u="none" strike="noStrike" kern="1200" cap="none" spc="0" normalizeH="0" baseline="0" noProof="0" dirty="0">
                <a:ln>
                  <a:noFill/>
                </a:ln>
                <a:solidFill>
                  <a:srgbClr val="17131F"/>
                </a:solidFill>
                <a:effectLst/>
                <a:uLnTx/>
                <a:uFillTx/>
                <a:latin typeface="&quot;PingFang SC&quot;, Calibri"/>
              </a:rPr>
              <a:t>Outline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7"/>
          <p:cNvPicPr>
            <a:picLocks noChangeAspect="1"/>
          </p:cNvPicPr>
          <p:nvPr/>
        </p:nvPicPr>
        <p:blipFill>
          <a:blip r:embed="rId3"/>
          <a:stretch>
            <a:fillRect/>
          </a:stretch>
        </p:blipFill>
        <p:spPr>
          <a:xfrm>
            <a:off x="556260" y="1945640"/>
            <a:ext cx="6351170" cy="2343150"/>
          </a:xfrm>
          <a:prstGeom prst="rect">
            <a:avLst/>
          </a:prstGeom>
        </p:spPr>
      </p:pic>
      <p:sp>
        <p:nvSpPr>
          <p:cNvPr id="3" name="矩形 2"/>
          <p:cNvSpPr/>
          <p:nvPr/>
        </p:nvSpPr>
        <p:spPr>
          <a:xfrm>
            <a:off x="560020" y="4345940"/>
            <a:ext cx="6343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07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Runtime predictor: last-token final-layer hidden state -&gt; 4-layer MLP</a:t>
            </a:r>
          </a:p>
        </p:txBody>
      </p:sp>
      <p:sp>
        <p:nvSpPr>
          <p:cNvPr id="19" name="矩形 18"/>
          <p:cNvSpPr/>
          <p:nvPr/>
        </p:nvSpPr>
        <p:spPr>
          <a:xfrm>
            <a:off x="7239091" y="2193219"/>
            <a:ext cx="1164167" cy="409575"/>
          </a:xfrm>
          <a:prstGeom prst="rect">
            <a:avLst/>
          </a:prstGeom>
          <a:solidFill>
            <a:srgbClr val="4F1556"/>
          </a:solidFill>
          <a:ln w="5715">
            <a:solidFill>
              <a:srgbClr val="FFFFFF"/>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0" name="矩形 19"/>
          <p:cNvSpPr/>
          <p:nvPr/>
        </p:nvSpPr>
        <p:spPr>
          <a:xfrm>
            <a:off x="7305766" y="2250369"/>
            <a:ext cx="1030817" cy="29527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1">
                <a:solidFill>
                  <a:srgbClr val="FFFFFF"/>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Choice</a:t>
            </a:r>
          </a:p>
        </p:txBody>
      </p:sp>
      <p:sp>
        <p:nvSpPr>
          <p:cNvPr id="21" name="矩形 20"/>
          <p:cNvSpPr/>
          <p:nvPr/>
        </p:nvSpPr>
        <p:spPr>
          <a:xfrm>
            <a:off x="8403258" y="2193219"/>
            <a:ext cx="3028950" cy="409575"/>
          </a:xfrm>
          <a:prstGeom prst="rect">
            <a:avLst/>
          </a:prstGeom>
          <a:solidFill>
            <a:srgbClr val="4F1556"/>
          </a:solidFill>
          <a:ln w="5715">
            <a:solidFill>
              <a:srgbClr val="FFFFFF"/>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2" name="矩形 21"/>
          <p:cNvSpPr/>
          <p:nvPr/>
        </p:nvSpPr>
        <p:spPr>
          <a:xfrm>
            <a:off x="8469933" y="2250369"/>
            <a:ext cx="2824860" cy="29527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1">
                <a:solidFill>
                  <a:srgbClr val="FFFFFF"/>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Rationale</a:t>
            </a:r>
          </a:p>
        </p:txBody>
      </p:sp>
      <p:sp>
        <p:nvSpPr>
          <p:cNvPr id="23" name="矩形 22"/>
          <p:cNvSpPr/>
          <p:nvPr/>
        </p:nvSpPr>
        <p:spPr>
          <a:xfrm>
            <a:off x="7239091" y="2602794"/>
            <a:ext cx="1164167" cy="409575"/>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4" name="矩形 23"/>
          <p:cNvSpPr/>
          <p:nvPr/>
        </p:nvSpPr>
        <p:spPr>
          <a:xfrm>
            <a:off x="7305766" y="2650419"/>
            <a:ext cx="1030817" cy="31432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Hidden state</a:t>
            </a:r>
          </a:p>
        </p:txBody>
      </p:sp>
      <p:sp>
        <p:nvSpPr>
          <p:cNvPr id="25" name="矩形 24"/>
          <p:cNvSpPr/>
          <p:nvPr/>
        </p:nvSpPr>
        <p:spPr>
          <a:xfrm>
            <a:off x="8403258" y="2602794"/>
            <a:ext cx="3028950" cy="409575"/>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6" name="矩形 25"/>
          <p:cNvSpPr/>
          <p:nvPr/>
        </p:nvSpPr>
        <p:spPr>
          <a:xfrm>
            <a:off x="8469933" y="2650419"/>
            <a:ext cx="2824860" cy="31432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Integrated semantic context</a:t>
            </a:r>
          </a:p>
        </p:txBody>
      </p:sp>
      <p:sp>
        <p:nvSpPr>
          <p:cNvPr id="27" name="矩形 26"/>
          <p:cNvSpPr/>
          <p:nvPr/>
        </p:nvSpPr>
        <p:spPr>
          <a:xfrm>
            <a:off x="7239091" y="3012369"/>
            <a:ext cx="1164167" cy="409575"/>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8" name="矩形 27"/>
          <p:cNvSpPr/>
          <p:nvPr/>
        </p:nvSpPr>
        <p:spPr>
          <a:xfrm>
            <a:off x="7305766" y="3059994"/>
            <a:ext cx="1030817" cy="31432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Final layer</a:t>
            </a:r>
          </a:p>
        </p:txBody>
      </p:sp>
      <p:sp>
        <p:nvSpPr>
          <p:cNvPr id="29" name="矩形 28"/>
          <p:cNvSpPr/>
          <p:nvPr/>
        </p:nvSpPr>
        <p:spPr>
          <a:xfrm>
            <a:off x="8403258" y="3012369"/>
            <a:ext cx="3028950" cy="409575"/>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0" name="矩形 29"/>
          <p:cNvSpPr/>
          <p:nvPr/>
        </p:nvSpPr>
        <p:spPr>
          <a:xfrm>
            <a:off x="8469933" y="3059994"/>
            <a:ext cx="2824860" cy="31432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Abstract task trajectory</a:t>
            </a:r>
          </a:p>
        </p:txBody>
      </p:sp>
      <p:sp>
        <p:nvSpPr>
          <p:cNvPr id="31" name="矩形 30"/>
          <p:cNvSpPr/>
          <p:nvPr/>
        </p:nvSpPr>
        <p:spPr>
          <a:xfrm>
            <a:off x="7239091" y="3421944"/>
            <a:ext cx="1164167" cy="409575"/>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2" name="矩形 31"/>
          <p:cNvSpPr/>
          <p:nvPr/>
        </p:nvSpPr>
        <p:spPr>
          <a:xfrm>
            <a:off x="7305766" y="3469569"/>
            <a:ext cx="1030817" cy="31432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Last token</a:t>
            </a:r>
          </a:p>
        </p:txBody>
      </p:sp>
      <p:sp>
        <p:nvSpPr>
          <p:cNvPr id="33" name="矩形 32"/>
          <p:cNvSpPr/>
          <p:nvPr/>
        </p:nvSpPr>
        <p:spPr>
          <a:xfrm>
            <a:off x="8403258" y="3421944"/>
            <a:ext cx="3028950" cy="409575"/>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4" name="矩形 33"/>
          <p:cNvSpPr/>
          <p:nvPr/>
        </p:nvSpPr>
        <p:spPr>
          <a:xfrm>
            <a:off x="8469933" y="3469569"/>
            <a:ext cx="2824860" cy="31432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Fixed size; already available</a:t>
            </a:r>
          </a:p>
        </p:txBody>
      </p:sp>
      <p:sp>
        <p:nvSpPr>
          <p:cNvPr id="35" name="矩形 34"/>
          <p:cNvSpPr/>
          <p:nvPr/>
        </p:nvSpPr>
        <p:spPr>
          <a:xfrm>
            <a:off x="7239091" y="3831519"/>
            <a:ext cx="1164167" cy="409575"/>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6" name="矩形 35"/>
          <p:cNvSpPr/>
          <p:nvPr/>
        </p:nvSpPr>
        <p:spPr>
          <a:xfrm>
            <a:off x="7305766" y="3879144"/>
            <a:ext cx="1030817" cy="31432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Continuous</a:t>
            </a:r>
          </a:p>
        </p:txBody>
      </p:sp>
      <p:sp>
        <p:nvSpPr>
          <p:cNvPr id="37" name="矩形 36"/>
          <p:cNvSpPr/>
          <p:nvPr/>
        </p:nvSpPr>
        <p:spPr>
          <a:xfrm>
            <a:off x="8403258" y="3831519"/>
            <a:ext cx="3028950" cy="409575"/>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8" name="矩形 37"/>
          <p:cNvSpPr/>
          <p:nvPr/>
        </p:nvSpPr>
        <p:spPr>
          <a:xfrm>
            <a:off x="8469721" y="3879144"/>
            <a:ext cx="2927230" cy="314325"/>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Prediction improves during decode</a:t>
            </a:r>
          </a:p>
        </p:txBody>
      </p:sp>
      <p:sp>
        <p:nvSpPr>
          <p:cNvPr id="39" name="矩形 38"/>
          <p:cNvSpPr/>
          <p:nvPr/>
        </p:nvSpPr>
        <p:spPr>
          <a:xfrm>
            <a:off x="800100" y="4772025"/>
            <a:ext cx="26670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l" defTabSz="914400" eaLnBrk="1" fontAlgn="auto" latinLnBrk="0" hangingPunct="1">
              <a:lnSpc>
                <a:spcPct val="100000"/>
              </a:lnSpc>
              <a:spcBef>
                <a:spcPts val="0"/>
              </a:spcBef>
              <a:spcAft>
                <a:spcPts val="0"/>
              </a:spcAft>
              <a:buClrTx/>
              <a:buSzTx/>
              <a:buFontTx/>
              <a:buNone/>
              <a:tabLst/>
              <a:defRPr sz="1650" b="1">
                <a:solidFill>
                  <a:srgbClr val="1F3154"/>
                </a:solidFill>
                <a:latin typeface="Arial" panose="020B0604020202090204"/>
                <a:ea typeface="Arial" panose="020B0604020202090204"/>
                <a:cs typeface="Arial" panose="020B0604020202090204"/>
              </a:defRPr>
            </a:pPr>
            <a:r>
              <a:rPr kumimoji="0" sz="165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Why not prior predictors?</a:t>
            </a:r>
          </a:p>
        </p:txBody>
      </p:sp>
      <p:sp>
        <p:nvSpPr>
          <p:cNvPr id="40" name="矩形 39"/>
          <p:cNvSpPr/>
          <p:nvPr/>
        </p:nvSpPr>
        <p:spPr>
          <a:xfrm>
            <a:off x="800100" y="5153024"/>
            <a:ext cx="3028950" cy="1019175"/>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1" name="椭圆 40"/>
          <p:cNvSpPr/>
          <p:nvPr/>
        </p:nvSpPr>
        <p:spPr>
          <a:xfrm>
            <a:off x="914400" y="5267325"/>
            <a:ext cx="295275" cy="295275"/>
          </a:xfrm>
          <a:prstGeom prst="ellipse">
            <a:avLst/>
          </a:prstGeom>
          <a:solidFill>
            <a:srgbClr val="4F1556"/>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2" name="矩形 41"/>
          <p:cNvSpPr/>
          <p:nvPr/>
        </p:nvSpPr>
        <p:spPr>
          <a:xfrm>
            <a:off x="914400" y="5314950"/>
            <a:ext cx="295275"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ctr" defTabSz="914400" eaLnBrk="1" fontAlgn="auto" latinLnBrk="0" hangingPunct="1">
              <a:lnSpc>
                <a:spcPct val="100000"/>
              </a:lnSpc>
              <a:spcBef>
                <a:spcPts val="0"/>
              </a:spcBef>
              <a:spcAft>
                <a:spcPts val="0"/>
              </a:spcAft>
              <a:buClrTx/>
              <a:buSzTx/>
              <a:buFontTx/>
              <a:buNone/>
              <a:tabLst/>
              <a:defRPr sz="1155" b="1">
                <a:solidFill>
                  <a:srgbClr val="FFFFFF"/>
                </a:solidFill>
                <a:latin typeface="Arial" panose="020B0604020202090204"/>
                <a:ea typeface="Arial" panose="020B0604020202090204"/>
                <a:cs typeface="Arial" panose="020B0604020202090204"/>
              </a:defRPr>
            </a:pPr>
            <a:r>
              <a:rPr kumimoji="0" sz="1155"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1</a:t>
            </a:r>
          </a:p>
        </p:txBody>
      </p:sp>
      <p:sp>
        <p:nvSpPr>
          <p:cNvPr id="43" name="矩形 42"/>
          <p:cNvSpPr/>
          <p:nvPr/>
        </p:nvSpPr>
        <p:spPr>
          <a:xfrm>
            <a:off x="1323975" y="5312003"/>
            <a:ext cx="2117567"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320"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Prompt-based prediction</a:t>
            </a:r>
          </a:p>
        </p:txBody>
      </p:sp>
      <p:sp>
        <p:nvSpPr>
          <p:cNvPr id="44" name="矩形 43"/>
          <p:cNvSpPr/>
          <p:nvPr/>
        </p:nvSpPr>
        <p:spPr>
          <a:xfrm>
            <a:off x="1209675" y="5639872"/>
            <a:ext cx="2619374" cy="369332"/>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Requires user prompt modification and may change model behavior.</a:t>
            </a:r>
          </a:p>
        </p:txBody>
      </p:sp>
      <p:sp>
        <p:nvSpPr>
          <p:cNvPr id="45" name="矩形 44"/>
          <p:cNvSpPr/>
          <p:nvPr/>
        </p:nvSpPr>
        <p:spPr>
          <a:xfrm>
            <a:off x="4210050" y="5153025"/>
            <a:ext cx="3028950" cy="1019174"/>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6" name="椭圆 45"/>
          <p:cNvSpPr/>
          <p:nvPr/>
        </p:nvSpPr>
        <p:spPr>
          <a:xfrm>
            <a:off x="4324350" y="5267325"/>
            <a:ext cx="295275" cy="295275"/>
          </a:xfrm>
          <a:prstGeom prst="ellipse">
            <a:avLst/>
          </a:prstGeom>
          <a:solidFill>
            <a:srgbClr val="4F1556"/>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7" name="矩形 46"/>
          <p:cNvSpPr/>
          <p:nvPr/>
        </p:nvSpPr>
        <p:spPr>
          <a:xfrm>
            <a:off x="4324350" y="5314950"/>
            <a:ext cx="295275"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ctr" defTabSz="914400" eaLnBrk="1" fontAlgn="auto" latinLnBrk="0" hangingPunct="1">
              <a:lnSpc>
                <a:spcPct val="100000"/>
              </a:lnSpc>
              <a:spcBef>
                <a:spcPts val="0"/>
              </a:spcBef>
              <a:spcAft>
                <a:spcPts val="0"/>
              </a:spcAft>
              <a:buClrTx/>
              <a:buSzTx/>
              <a:buFontTx/>
              <a:buNone/>
              <a:tabLst/>
              <a:defRPr sz="1155" b="1">
                <a:solidFill>
                  <a:srgbClr val="FFFFFF"/>
                </a:solidFill>
                <a:latin typeface="Arial" panose="020B0604020202090204"/>
                <a:ea typeface="Arial" panose="020B0604020202090204"/>
                <a:cs typeface="Arial" panose="020B0604020202090204"/>
              </a:defRPr>
            </a:pPr>
            <a:r>
              <a:rPr kumimoji="0" sz="1155"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2</a:t>
            </a:r>
          </a:p>
        </p:txBody>
      </p:sp>
      <p:sp>
        <p:nvSpPr>
          <p:cNvPr id="48" name="矩形 47"/>
          <p:cNvSpPr/>
          <p:nvPr/>
        </p:nvSpPr>
        <p:spPr>
          <a:xfrm>
            <a:off x="4733925" y="5312003"/>
            <a:ext cx="1433085"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320"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Auxiliary models</a:t>
            </a:r>
          </a:p>
        </p:txBody>
      </p:sp>
      <p:sp>
        <p:nvSpPr>
          <p:cNvPr id="49" name="矩形 48"/>
          <p:cNvSpPr/>
          <p:nvPr/>
        </p:nvSpPr>
        <p:spPr>
          <a:xfrm>
            <a:off x="4619625" y="5639872"/>
            <a:ext cx="2619374" cy="369332"/>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Use weaker context representations and degrade on long-output requests.</a:t>
            </a:r>
          </a:p>
        </p:txBody>
      </p:sp>
      <p:sp>
        <p:nvSpPr>
          <p:cNvPr id="58"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9"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COMPONENT 1</a:t>
            </a:r>
          </a:p>
        </p:txBody>
      </p:sp>
      <p:sp>
        <p:nvSpPr>
          <p:cNvPr id="60" name="slide-title"/>
          <p:cNvSpPr/>
          <p:nvPr/>
        </p:nvSpPr>
        <p:spPr>
          <a:xfrm>
            <a:off x="552450" y="561975"/>
            <a:ext cx="5487143" cy="438582"/>
          </a:xfrm>
          <a:prstGeom prst="rect">
            <a:avLst/>
          </a:prstGeom>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dirty="0">
                <a:ln>
                  <a:noFill/>
                </a:ln>
                <a:solidFill>
                  <a:srgbClr val="17131F"/>
                </a:solidFill>
                <a:effectLst/>
                <a:uLnTx/>
                <a:uFillTx/>
                <a:ea typeface="PingFang SC" panose="020B0400000000000000" charset="-122"/>
              </a:rPr>
              <a:t>Hidden states predict output length.</a:t>
            </a:r>
          </a:p>
        </p:txBody>
      </p:sp>
      <p:sp>
        <p:nvSpPr>
          <p:cNvPr id="61"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2"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3"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64" name="图片 10"/>
          <p:cNvPicPr>
            <a:picLocks noChangeAspect="1"/>
          </p:cNvPicPr>
          <p:nvPr/>
        </p:nvPicPr>
        <p:blipFill>
          <a:blip r:embed="rId4"/>
          <a:stretch>
            <a:fillRect/>
          </a:stretch>
        </p:blipFill>
        <p:spPr>
          <a:xfrm>
            <a:off x="9639300" y="354718"/>
            <a:ext cx="1571625" cy="481189"/>
          </a:xfrm>
          <a:prstGeom prst="rect">
            <a:avLst/>
          </a:prstGeom>
        </p:spPr>
      </p:pic>
      <p:sp>
        <p:nvSpPr>
          <p:cNvPr id="73"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altLang="zh-CN"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46</a:t>
            </a: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sp>
        <p:nvSpPr>
          <p:cNvPr id="16" name="矩形 15"/>
          <p:cNvSpPr/>
          <p:nvPr/>
        </p:nvSpPr>
        <p:spPr>
          <a:xfrm>
            <a:off x="617170" y="1888490"/>
            <a:ext cx="6286500" cy="2686050"/>
          </a:xfrm>
          <a:prstGeom prst="rect">
            <a:avLst/>
          </a:prstGeom>
          <a:no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09" name="文本框 308"/>
          <p:cNvSpPr/>
          <p:nvPr/>
        </p:nvSpPr>
        <p:spPr>
          <a:xfrm>
            <a:off x="407670" y="1177290"/>
            <a:ext cx="5312410" cy="398780"/>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srgbClr val="7030A0"/>
                </a:solidFill>
                <a:effectLst/>
                <a:uLnTx/>
                <a:uFillTx/>
                <a:latin typeface="Calibri"/>
                <a:ea typeface="Calibri"/>
                <a:cs typeface="Calibri"/>
              </a:rPr>
              <a:t>Eagle</a:t>
            </a:r>
            <a:r>
              <a:rPr kumimoji="0" lang="en-US" sz="1200" b="1" i="1" u="none" strike="noStrike" kern="1200" cap="none" spc="0" normalizeH="0" baseline="30000" noProof="0" dirty="0">
                <a:ln>
                  <a:noFill/>
                </a:ln>
                <a:solidFill>
                  <a:srgbClr val="7030A0"/>
                </a:solidFill>
                <a:effectLst/>
                <a:uLnTx/>
                <a:uFillTx/>
                <a:latin typeface="Calibri"/>
                <a:ea typeface="Calibri"/>
                <a:cs typeface="Calibri"/>
              </a:rPr>
              <a:t>[1]</a:t>
            </a:r>
            <a:r>
              <a:rPr kumimoji="0" lang="en-US" altLang="zh-CN" sz="1600" b="1" i="1" u="none" strike="noStrike" kern="1200" cap="none" spc="0" normalizeH="0" baseline="0" noProof="0" dirty="0">
                <a:ln>
                  <a:noFill/>
                </a:ln>
                <a:solidFill>
                  <a:srgbClr val="7030A0"/>
                </a:solidFill>
                <a:effectLst/>
                <a:uLnTx/>
                <a:uFillTx/>
                <a:latin typeface="Calibri"/>
                <a:ea typeface="Calibri"/>
                <a:cs typeface="Calibri"/>
              </a:rPr>
              <a:t> use hidden states to do speculative decoding.</a:t>
            </a:r>
            <a:r>
              <a:rPr kumimoji="0" lang="en-US" sz="2000" b="1" i="1" u="none" strike="noStrike" kern="1200" cap="none" spc="0" normalizeH="0" baseline="0" noProof="0" dirty="0">
                <a:ln>
                  <a:noFill/>
                </a:ln>
                <a:solidFill>
                  <a:srgbClr val="7030A0"/>
                </a:solidFill>
                <a:effectLst/>
                <a:uLnTx/>
                <a:uFillTx/>
                <a:latin typeface="Calibri"/>
                <a:ea typeface="Calibri"/>
                <a:cs typeface="Calibri"/>
              </a:rPr>
              <a:t> </a:t>
            </a:r>
            <a:endParaRPr kumimoji="0" sz="2000" b="1" i="1" u="none" strike="noStrike" kern="1200" cap="none" spc="0" normalizeH="0" baseline="0" noProof="0" dirty="0">
              <a:ln>
                <a:noFill/>
              </a:ln>
              <a:solidFill>
                <a:srgbClr val="7030A0"/>
              </a:solidFill>
              <a:effectLst/>
              <a:uLnTx/>
              <a:uFillTx/>
              <a:latin typeface="Calibri"/>
              <a:ea typeface="Calibri"/>
              <a:cs typeface="Calibri"/>
            </a:endParaRPr>
          </a:p>
        </p:txBody>
      </p:sp>
      <p:sp>
        <p:nvSpPr>
          <p:cNvPr id="2" name="文本框 308"/>
          <p:cNvSpPr/>
          <p:nvPr/>
        </p:nvSpPr>
        <p:spPr>
          <a:xfrm>
            <a:off x="6266180" y="1221105"/>
            <a:ext cx="5711190" cy="337185"/>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600" b="1" i="1" u="none" strike="noStrike" kern="1200" cap="none" spc="0" normalizeH="0" baseline="0" noProof="0" dirty="0">
                <a:ln>
                  <a:noFill/>
                </a:ln>
                <a:solidFill>
                  <a:prstClr val="black">
                    <a:lumMod val="85000"/>
                    <a:lumOff val="15000"/>
                  </a:prstClr>
                </a:solidFill>
                <a:effectLst/>
                <a:uLnTx/>
                <a:uFillTx/>
                <a:latin typeface="Calibri"/>
                <a:ea typeface="Calibri"/>
                <a:cs typeface="Calibri"/>
              </a:rPr>
              <a:t>Our idea:</a:t>
            </a:r>
            <a:r>
              <a:rPr kumimoji="0" lang="en-US" altLang="zh-CN" sz="1600" b="1" i="1" u="none" strike="noStrike" kern="1200" cap="none" spc="0" normalizeH="0" baseline="0" noProof="0" dirty="0">
                <a:ln>
                  <a:noFill/>
                </a:ln>
                <a:solidFill>
                  <a:srgbClr val="7030A0"/>
                </a:solidFill>
                <a:effectLst/>
                <a:uLnTx/>
                <a:uFillTx/>
                <a:latin typeface="Calibri"/>
                <a:ea typeface="Calibri"/>
                <a:cs typeface="Calibri"/>
              </a:rPr>
              <a:t> use hidden states to predictit output length.</a:t>
            </a:r>
            <a:endParaRPr kumimoji="0" sz="2000" b="1" i="1" u="none" strike="noStrike" kern="1200" cap="none" spc="0" normalizeH="0" baseline="0" noProof="0" dirty="0">
              <a:ln>
                <a:noFill/>
              </a:ln>
              <a:solidFill>
                <a:srgbClr val="7030A0"/>
              </a:solidFill>
              <a:effectLst/>
              <a:uLnTx/>
              <a:uFillTx/>
              <a:latin typeface="Calibri"/>
              <a:ea typeface="Calibri"/>
              <a:cs typeface="Calibri"/>
            </a:endParaRPr>
          </a:p>
        </p:txBody>
      </p:sp>
      <p:sp>
        <p:nvSpPr>
          <p:cNvPr id="4" name="右箭头 3"/>
          <p:cNvSpPr/>
          <p:nvPr/>
        </p:nvSpPr>
        <p:spPr>
          <a:xfrm>
            <a:off x="5720080" y="1352550"/>
            <a:ext cx="519430" cy="12065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cs typeface="Calibri"/>
            </a:endParaRPr>
          </a:p>
        </p:txBody>
      </p:sp>
      <p:sp>
        <p:nvSpPr>
          <p:cNvPr id="5" name="文本框 4"/>
          <p:cNvSpPr txBox="1"/>
          <p:nvPr/>
        </p:nvSpPr>
        <p:spPr>
          <a:xfrm>
            <a:off x="476885" y="6172200"/>
            <a:ext cx="10353675" cy="245110"/>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lumMod val="50000"/>
                  </a:prstClr>
                </a:solidFill>
                <a:effectLst/>
                <a:uLnTx/>
                <a:uFillTx/>
                <a:latin typeface="Calibri"/>
                <a:ea typeface="Calibri"/>
                <a:cs typeface="Calibri"/>
              </a:rPr>
              <a:t>[1] Yuhui Li, Fangyun Wei, Chao Zhang, and Hongyang Zhang. 2025. EAGLE: Speculative Sampling Requires Rethinking Feature Uncertainty.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p:cNvSpPr/>
          <p:nvPr/>
        </p:nvSpPr>
        <p:spPr>
          <a:xfrm>
            <a:off x="666750" y="1909763"/>
            <a:ext cx="1571625" cy="1181100"/>
          </a:xfrm>
          <a:prstGeom prst="rect">
            <a:avLst/>
          </a:prstGeom>
          <a:solidFill>
            <a:srgbClr val="F7F3FA"/>
          </a:solidFill>
          <a:ln w="11430">
            <a:solidFill>
              <a:srgbClr val="D9CBE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7" name="矩形 56"/>
          <p:cNvSpPr/>
          <p:nvPr/>
        </p:nvSpPr>
        <p:spPr>
          <a:xfrm>
            <a:off x="838200" y="2033588"/>
            <a:ext cx="1228725" cy="3429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ctr" defTabSz="914400" eaLnBrk="1" fontAlgn="auto" latinLnBrk="0" hangingPunct="1">
              <a:lnSpc>
                <a:spcPct val="100000"/>
              </a:lnSpc>
              <a:spcBef>
                <a:spcPts val="0"/>
              </a:spcBef>
              <a:spcAft>
                <a:spcPts val="0"/>
              </a:spcAft>
              <a:buClrTx/>
              <a:buSzTx/>
              <a:buFontTx/>
              <a:buNone/>
              <a:tabLst/>
              <a:defRPr sz="2230" b="1">
                <a:solidFill>
                  <a:srgbClr val="4F1556"/>
                </a:solidFill>
                <a:latin typeface="Arial" panose="020B0604020202090204"/>
                <a:ea typeface="Arial" panose="020B0604020202090204"/>
                <a:cs typeface="Arial" panose="020B0604020202090204"/>
              </a:defRPr>
            </a:pPr>
            <a:r>
              <a:rPr kumimoji="0" sz="223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49.4%</a:t>
            </a:r>
          </a:p>
        </p:txBody>
      </p:sp>
      <p:sp>
        <p:nvSpPr>
          <p:cNvPr id="58" name="矩形 57"/>
          <p:cNvSpPr/>
          <p:nvPr/>
        </p:nvSpPr>
        <p:spPr>
          <a:xfrm>
            <a:off x="838200" y="2414588"/>
            <a:ext cx="1228725" cy="190500"/>
          </a:xfrm>
          <a:prstGeom prst="rect">
            <a:avLst/>
          </a:prstGeom>
          <a:solidFill>
            <a:srgbClr val="000000">
              <a:alpha val="0"/>
            </a:srgbClr>
          </a:solidFill>
          <a:ln w="0">
            <a:solidFill>
              <a:srgbClr val="000000">
                <a:alpha val="0"/>
              </a:srgbClr>
            </a:solidFill>
            <a:prstDash val="solid"/>
          </a:ln>
        </p:spPr>
        <p:txBody>
          <a:bodyPr lIns="0" tIns="0" rIns="0" bIns="0" anchor="t">
            <a:normAutofit fontScale="92500"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lower MAE</a:t>
            </a:r>
          </a:p>
        </p:txBody>
      </p:sp>
      <p:sp>
        <p:nvSpPr>
          <p:cNvPr id="59" name="矩形 58"/>
          <p:cNvSpPr/>
          <p:nvPr/>
        </p:nvSpPr>
        <p:spPr>
          <a:xfrm>
            <a:off x="728662" y="2681288"/>
            <a:ext cx="14478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526075"/>
                </a:solidFill>
                <a:effectLst/>
                <a:uLnTx/>
                <a:uFillTx/>
                <a:latin typeface="Arial" panose="020B0604020202090204"/>
                <a:ea typeface="Arial" panose="020B0604020202090204"/>
                <a:cs typeface="Arial" panose="020B0604020202090204"/>
              </a:rPr>
              <a:t>Compared with the best auxiliary-model baseline</a:t>
            </a:r>
          </a:p>
        </p:txBody>
      </p:sp>
      <p:sp>
        <p:nvSpPr>
          <p:cNvPr id="60" name="矩形 59"/>
          <p:cNvSpPr/>
          <p:nvPr/>
        </p:nvSpPr>
        <p:spPr>
          <a:xfrm>
            <a:off x="2428875" y="1909763"/>
            <a:ext cx="1571625" cy="1181100"/>
          </a:xfrm>
          <a:prstGeom prst="rect">
            <a:avLst/>
          </a:prstGeom>
          <a:solidFill>
            <a:srgbClr val="F7F3FA"/>
          </a:solidFill>
          <a:ln w="11430">
            <a:solidFill>
              <a:srgbClr val="D9CBE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1" name="矩形 60"/>
          <p:cNvSpPr/>
          <p:nvPr/>
        </p:nvSpPr>
        <p:spPr>
          <a:xfrm>
            <a:off x="2600325" y="2033588"/>
            <a:ext cx="1228725" cy="3429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ctr" defTabSz="914400" eaLnBrk="1" fontAlgn="auto" latinLnBrk="0" hangingPunct="1">
              <a:lnSpc>
                <a:spcPct val="100000"/>
              </a:lnSpc>
              <a:spcBef>
                <a:spcPts val="0"/>
              </a:spcBef>
              <a:spcAft>
                <a:spcPts val="0"/>
              </a:spcAft>
              <a:buClrTx/>
              <a:buSzTx/>
              <a:buFontTx/>
              <a:buNone/>
              <a:tabLst/>
              <a:defRPr sz="2230" b="1">
                <a:solidFill>
                  <a:srgbClr val="47745B"/>
                </a:solidFill>
                <a:latin typeface="Arial" panose="020B0604020202090204"/>
                <a:ea typeface="Arial" panose="020B0604020202090204"/>
                <a:cs typeface="Arial" panose="020B0604020202090204"/>
              </a:defRPr>
            </a:pPr>
            <a:r>
              <a:rPr kumimoji="0" sz="2230" b="1" i="0" u="none" strike="noStrike" kern="1200" cap="none" spc="0" normalizeH="0" baseline="0" noProof="0" dirty="0">
                <a:ln>
                  <a:noFill/>
                </a:ln>
                <a:solidFill>
                  <a:srgbClr val="47745B"/>
                </a:solidFill>
                <a:effectLst/>
                <a:uLnTx/>
                <a:uFillTx/>
                <a:latin typeface="Arial" panose="020B0604020202090204"/>
                <a:ea typeface="Arial" panose="020B0604020202090204"/>
                <a:cs typeface="Arial" panose="020B0604020202090204"/>
              </a:rPr>
              <a:t>96.3%</a:t>
            </a:r>
          </a:p>
        </p:txBody>
      </p:sp>
      <p:sp>
        <p:nvSpPr>
          <p:cNvPr id="62" name="矩形 61"/>
          <p:cNvSpPr/>
          <p:nvPr/>
        </p:nvSpPr>
        <p:spPr>
          <a:xfrm>
            <a:off x="2600325" y="2414588"/>
            <a:ext cx="1228725" cy="190500"/>
          </a:xfrm>
          <a:prstGeom prst="rect">
            <a:avLst/>
          </a:prstGeom>
          <a:solidFill>
            <a:srgbClr val="000000">
              <a:alpha val="0"/>
            </a:srgbClr>
          </a:solidFill>
          <a:ln w="0">
            <a:solidFill>
              <a:srgbClr val="000000">
                <a:alpha val="0"/>
              </a:srgbClr>
            </a:solidFill>
            <a:prstDash val="solid"/>
          </a:ln>
        </p:spPr>
        <p:txBody>
          <a:bodyPr lIns="0" tIns="0" rIns="0" bIns="0" anchor="t">
            <a:normAutofit fontScale="92500"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lower latency</a:t>
            </a:r>
          </a:p>
        </p:txBody>
      </p:sp>
      <p:sp>
        <p:nvSpPr>
          <p:cNvPr id="63" name="矩形 62"/>
          <p:cNvSpPr/>
          <p:nvPr/>
        </p:nvSpPr>
        <p:spPr>
          <a:xfrm>
            <a:off x="2581275" y="2681288"/>
            <a:ext cx="1266825" cy="3429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526075"/>
                </a:solidFill>
                <a:effectLst/>
                <a:uLnTx/>
                <a:uFillTx/>
                <a:latin typeface="Arial" panose="020B0604020202090204"/>
                <a:ea typeface="Arial" panose="020B0604020202090204"/>
                <a:cs typeface="Arial" panose="020B0604020202090204"/>
              </a:rPr>
              <a:t>Low overhead for online </a:t>
            </a:r>
            <a:r>
              <a:rPr kumimoji="0" sz="1050" b="0" i="0" u="none" strike="noStrike" kern="1200" cap="none" spc="0" normalizeH="0" baseline="0" noProof="0" dirty="0" err="1">
                <a:ln>
                  <a:noFill/>
                </a:ln>
                <a:solidFill>
                  <a:srgbClr val="526075"/>
                </a:solidFill>
                <a:effectLst/>
                <a:uLnTx/>
                <a:uFillTx/>
                <a:latin typeface="Arial" panose="020B0604020202090204"/>
                <a:ea typeface="Arial" panose="020B0604020202090204"/>
                <a:cs typeface="Arial" panose="020B0604020202090204"/>
              </a:rPr>
              <a:t>reprediction</a:t>
            </a:r>
            <a:endParaRPr kumimoji="0" sz="1050" b="0" i="0" u="none" strike="noStrike" kern="1200" cap="none" spc="0" normalizeH="0" baseline="0" noProof="0" dirty="0">
              <a:ln>
                <a:noFill/>
              </a:ln>
              <a:solidFill>
                <a:srgbClr val="526075"/>
              </a:solidFill>
              <a:effectLst/>
              <a:uLnTx/>
              <a:uFillTx/>
              <a:latin typeface="Arial" panose="020B0604020202090204"/>
              <a:ea typeface="Arial" panose="020B0604020202090204"/>
              <a:cs typeface="Arial" panose="020B0604020202090204"/>
            </a:endParaRPr>
          </a:p>
        </p:txBody>
      </p:sp>
      <p:sp>
        <p:nvSpPr>
          <p:cNvPr id="64" name="矩形 63"/>
          <p:cNvSpPr/>
          <p:nvPr/>
        </p:nvSpPr>
        <p:spPr>
          <a:xfrm>
            <a:off x="4191000" y="1909763"/>
            <a:ext cx="1571625" cy="1181100"/>
          </a:xfrm>
          <a:prstGeom prst="rect">
            <a:avLst/>
          </a:prstGeom>
          <a:solidFill>
            <a:srgbClr val="F7F3FA"/>
          </a:solidFill>
          <a:ln w="11430">
            <a:solidFill>
              <a:srgbClr val="D9CBE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5" name="矩形 64"/>
          <p:cNvSpPr/>
          <p:nvPr/>
        </p:nvSpPr>
        <p:spPr>
          <a:xfrm>
            <a:off x="4362450" y="2033588"/>
            <a:ext cx="1228725" cy="3429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ctr" defTabSz="914400" eaLnBrk="1" fontAlgn="auto" latinLnBrk="0" hangingPunct="1">
              <a:lnSpc>
                <a:spcPct val="100000"/>
              </a:lnSpc>
              <a:spcBef>
                <a:spcPts val="0"/>
              </a:spcBef>
              <a:spcAft>
                <a:spcPts val="0"/>
              </a:spcAft>
              <a:buClrTx/>
              <a:buSzTx/>
              <a:buFontTx/>
              <a:buNone/>
              <a:tabLst/>
              <a:defRPr sz="2230" b="1">
                <a:solidFill>
                  <a:srgbClr val="B8954E"/>
                </a:solidFill>
                <a:latin typeface="Arial" panose="020B0604020202090204"/>
                <a:ea typeface="Arial" panose="020B0604020202090204"/>
                <a:cs typeface="Arial" panose="020B0604020202090204"/>
              </a:defRPr>
            </a:pPr>
            <a:r>
              <a:rPr kumimoji="0" sz="2230" b="1" i="0" u="none" strike="noStrike" kern="1200" cap="none" spc="0" normalizeH="0" baseline="0" noProof="0" dirty="0">
                <a:ln>
                  <a:noFill/>
                </a:ln>
                <a:solidFill>
                  <a:srgbClr val="B8954E"/>
                </a:solidFill>
                <a:effectLst/>
                <a:uLnTx/>
                <a:uFillTx/>
                <a:latin typeface="Arial" panose="020B0604020202090204"/>
                <a:ea typeface="Arial" panose="020B0604020202090204"/>
                <a:cs typeface="Arial" panose="020B0604020202090204"/>
              </a:rPr>
              <a:t>93.3%</a:t>
            </a:r>
          </a:p>
        </p:txBody>
      </p:sp>
      <p:sp>
        <p:nvSpPr>
          <p:cNvPr id="66" name="矩形 65"/>
          <p:cNvSpPr/>
          <p:nvPr/>
        </p:nvSpPr>
        <p:spPr>
          <a:xfrm>
            <a:off x="4362450" y="2414588"/>
            <a:ext cx="1228725" cy="190500"/>
          </a:xfrm>
          <a:prstGeom prst="rect">
            <a:avLst/>
          </a:prstGeom>
          <a:solidFill>
            <a:srgbClr val="000000">
              <a:alpha val="0"/>
            </a:srgbClr>
          </a:solidFill>
          <a:ln w="0">
            <a:solidFill>
              <a:srgbClr val="000000">
                <a:alpha val="0"/>
              </a:srgbClr>
            </a:solidFill>
            <a:prstDash val="solid"/>
          </a:ln>
        </p:spPr>
        <p:txBody>
          <a:bodyPr lIns="0" tIns="0" rIns="0" bIns="0" anchor="t">
            <a:normAutofit fontScale="92500"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fewer params</a:t>
            </a:r>
          </a:p>
        </p:txBody>
      </p:sp>
      <p:sp>
        <p:nvSpPr>
          <p:cNvPr id="67" name="矩形 66"/>
          <p:cNvSpPr/>
          <p:nvPr/>
        </p:nvSpPr>
        <p:spPr>
          <a:xfrm>
            <a:off x="4343400" y="2681288"/>
            <a:ext cx="1266825" cy="3429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526075"/>
                </a:solidFill>
                <a:effectLst/>
                <a:uLnTx/>
                <a:uFillTx/>
                <a:latin typeface="Arial" panose="020B0604020202090204"/>
                <a:ea typeface="Arial" panose="020B0604020202090204"/>
                <a:cs typeface="Arial" panose="020B0604020202090204"/>
              </a:rPr>
              <a:t>Only 8.4M predictor parameters</a:t>
            </a:r>
          </a:p>
        </p:txBody>
      </p:sp>
      <p:sp>
        <p:nvSpPr>
          <p:cNvPr id="68" name="矩形 67"/>
          <p:cNvSpPr/>
          <p:nvPr/>
        </p:nvSpPr>
        <p:spPr>
          <a:xfrm>
            <a:off x="6191250" y="1381125"/>
            <a:ext cx="4838700" cy="2933697"/>
          </a:xfrm>
          <a:prstGeom prst="rect">
            <a:avLst/>
          </a:prstGeom>
          <a:solidFill>
            <a:srgbClr val="FFFFFF"/>
          </a:solidFill>
          <a:ln w="9525">
            <a:solidFill>
              <a:srgbClr val="E2DCEB"/>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69" name="图片 69"/>
          <p:cNvPicPr>
            <a:picLocks noChangeAspect="1"/>
          </p:cNvPicPr>
          <p:nvPr/>
        </p:nvPicPr>
        <p:blipFill>
          <a:blip r:embed="rId3"/>
          <a:stretch>
            <a:fillRect/>
          </a:stretch>
        </p:blipFill>
        <p:spPr>
          <a:xfrm>
            <a:off x="6381750" y="1790700"/>
            <a:ext cx="4333875" cy="2171700"/>
          </a:xfrm>
          <a:prstGeom prst="rect">
            <a:avLst/>
          </a:prstGeom>
        </p:spPr>
      </p:pic>
      <p:sp>
        <p:nvSpPr>
          <p:cNvPr id="3" name="矩形 2"/>
          <p:cNvSpPr/>
          <p:nvPr/>
        </p:nvSpPr>
        <p:spPr>
          <a:xfrm>
            <a:off x="6381749" y="3955344"/>
            <a:ext cx="4333875" cy="2095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526075"/>
                </a:solidFill>
                <a:effectLst/>
                <a:uLnTx/>
                <a:uFillTx/>
                <a:latin typeface="Arial" panose="020B0604020202090204"/>
                <a:ea typeface="Arial" panose="020B0604020202090204"/>
                <a:cs typeface="Arial" panose="020B0604020202090204"/>
              </a:rPr>
              <a:t>Continuous prediction improves as generated context accumulates</a:t>
            </a:r>
          </a:p>
        </p:txBody>
      </p:sp>
      <p:sp>
        <p:nvSpPr>
          <p:cNvPr id="71" name="矩形 70"/>
          <p:cNvSpPr/>
          <p:nvPr/>
        </p:nvSpPr>
        <p:spPr>
          <a:xfrm>
            <a:off x="6381750" y="4552950"/>
            <a:ext cx="4333875" cy="6667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914400" eaLnBrk="1" fontAlgn="auto" latinLnBrk="0" hangingPunct="1">
              <a:lnSpc>
                <a:spcPct val="100000"/>
              </a:lnSpc>
              <a:spcBef>
                <a:spcPts val="0"/>
              </a:spcBef>
              <a:spcAft>
                <a:spcPts val="0"/>
              </a:spcAft>
              <a:buClrTx/>
              <a:buSzTx/>
              <a:buFontTx/>
              <a:buNone/>
              <a:tabLst/>
              <a:defRPr sz="1400" b="1">
                <a:solidFill>
                  <a:srgbClr val="1F3154"/>
                </a:solidFill>
                <a:latin typeface="Arial" panose="020B0604020202090204"/>
                <a:ea typeface="Arial" panose="020B0604020202090204"/>
                <a:cs typeface="Arial" panose="020B0604020202090204"/>
              </a:defRPr>
            </a:pPr>
            <a:r>
              <a:rPr kumimoji="0" sz="1650" b="1" i="0" u="none" strike="noStrike" kern="1200" cap="none" spc="0" normalizeH="0" baseline="0" noProof="0" dirty="0">
                <a:ln>
                  <a:noFill/>
                </a:ln>
                <a:solidFill>
                  <a:srgbClr val="21324F"/>
                </a:solidFill>
                <a:effectLst/>
                <a:uLnTx/>
                <a:uFillTx/>
                <a:latin typeface="Arial" panose="020B0604020202090204"/>
                <a:ea typeface="Arial" panose="020B0604020202090204"/>
                <a:cs typeface="Arial" panose="020B0604020202090204"/>
              </a:rPr>
              <a:t>For 30-32K outputs, STAR's MAE keeps dropping as generation proceeds.</a:t>
            </a:r>
          </a:p>
        </p:txBody>
      </p:sp>
      <p:pic>
        <p:nvPicPr>
          <p:cNvPr id="72" name="内容占位符 9"/>
          <p:cNvPicPr>
            <a:picLocks noChangeAspect="1"/>
          </p:cNvPicPr>
          <p:nvPr/>
        </p:nvPicPr>
        <p:blipFill>
          <a:blip r:embed="rId4"/>
          <a:stretch>
            <a:fillRect/>
          </a:stretch>
        </p:blipFill>
        <p:spPr>
          <a:xfrm>
            <a:off x="666750" y="3305175"/>
            <a:ext cx="5286375" cy="1809750"/>
          </a:xfrm>
          <a:prstGeom prst="rect">
            <a:avLst/>
          </a:prstGeom>
        </p:spPr>
      </p:pic>
      <p:sp>
        <p:nvSpPr>
          <p:cNvPr id="76"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7"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PREDICTION RESULTS</a:t>
            </a:r>
          </a:p>
        </p:txBody>
      </p:sp>
      <p:sp>
        <p:nvSpPr>
          <p:cNvPr id="78" name="slide-title"/>
          <p:cNvSpPr/>
          <p:nvPr/>
        </p:nvSpPr>
        <p:spPr>
          <a:xfrm>
            <a:off x="552450" y="568643"/>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lang="en-GB" altLang="zh-CN" sz="2800" b="1" i="0" u="none" strike="noStrike" kern="1200" cap="none" spc="0" normalizeH="0" baseline="0" noProof="0" dirty="0">
                <a:ln>
                  <a:noFill/>
                </a:ln>
                <a:solidFill>
                  <a:srgbClr val="17131F"/>
                </a:solidFill>
                <a:effectLst/>
                <a:uLnTx/>
                <a:uFillTx/>
                <a:ea typeface="PingFang SC" panose="020B0400000000000000" charset="-122"/>
              </a:rPr>
              <a:t>LLM-native prediction is accurate and cheap.</a:t>
            </a:r>
          </a:p>
        </p:txBody>
      </p:sp>
      <p:sp>
        <p:nvSpPr>
          <p:cNvPr id="79"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80"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81"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82" name="图片 10"/>
          <p:cNvPicPr>
            <a:picLocks noChangeAspect="1"/>
          </p:cNvPicPr>
          <p:nvPr/>
        </p:nvPicPr>
        <p:blipFill>
          <a:blip r:embed="rId5"/>
          <a:stretch>
            <a:fillRect/>
          </a:stretch>
        </p:blipFill>
        <p:spPr>
          <a:xfrm>
            <a:off x="9639300" y="354718"/>
            <a:ext cx="1571625" cy="481189"/>
          </a:xfrm>
          <a:prstGeom prst="rect">
            <a:avLst/>
          </a:prstGeom>
        </p:spPr>
      </p:pic>
      <p:sp>
        <p:nvSpPr>
          <p:cNvPr id="94" name="footer-page-number"/>
          <p:cNvSpPr/>
          <p:nvPr/>
        </p:nvSpPr>
        <p:spPr>
          <a:xfrm>
            <a:off x="10843573"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47</a:t>
            </a:r>
          </a:p>
        </p:txBody>
      </p:sp>
      <p:sp>
        <p:nvSpPr>
          <p:cNvPr id="17" name="文本框 307"/>
          <p:cNvSpPr/>
          <p:nvPr/>
        </p:nvSpPr>
        <p:spPr>
          <a:xfrm>
            <a:off x="5953125" y="5219700"/>
            <a:ext cx="5647055" cy="829945"/>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lumMod val="95000"/>
                    <a:lumOff val="5000"/>
                  </a:prstClr>
                </a:solidFill>
                <a:effectLst/>
                <a:uLnTx/>
                <a:uFillTx/>
                <a:latin typeface="Calibri"/>
                <a:ea typeface="Calibri"/>
                <a:cs typeface="Calibri"/>
              </a:rPr>
              <a:t>At the beginning of generation, the prediction error is large, but we can smooth it out. When the request is about to be completed, the prediction is very accurate.</a:t>
            </a:r>
            <a:r>
              <a:rPr kumimoji="0" sz="1600" b="1" i="0" u="none" strike="noStrike" kern="1200" cap="none" spc="0" normalizeH="0" baseline="0" noProof="0" dirty="0">
                <a:ln>
                  <a:noFill/>
                </a:ln>
                <a:solidFill>
                  <a:prstClr val="black">
                    <a:lumMod val="95000"/>
                    <a:lumOff val="5000"/>
                  </a:prstClr>
                </a:solidFill>
                <a:effectLst/>
                <a:uLnTx/>
                <a:uFillTx/>
                <a:latin typeface="Calibri"/>
                <a:ea typeface="Calibri"/>
                <a:cs typeface="Calibri"/>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544002" y="1733552"/>
            <a:ext cx="3542895" cy="2047398"/>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6" name="矩形 15"/>
          <p:cNvSpPr/>
          <p:nvPr/>
        </p:nvSpPr>
        <p:spPr>
          <a:xfrm>
            <a:off x="484594" y="1381125"/>
            <a:ext cx="6724650" cy="2672714"/>
          </a:xfrm>
          <a:prstGeom prst="rect">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17" name="图片 17"/>
          <p:cNvPicPr>
            <a:picLocks noChangeAspect="1"/>
          </p:cNvPicPr>
          <p:nvPr/>
        </p:nvPicPr>
        <p:blipFill>
          <a:blip r:embed="rId3"/>
          <a:stretch>
            <a:fillRect/>
          </a:stretch>
        </p:blipFill>
        <p:spPr>
          <a:xfrm>
            <a:off x="619125" y="1438275"/>
            <a:ext cx="6398437" cy="2438400"/>
          </a:xfrm>
          <a:prstGeom prst="rect">
            <a:avLst/>
          </a:prstGeom>
        </p:spPr>
      </p:pic>
      <p:sp>
        <p:nvSpPr>
          <p:cNvPr id="3" name="矩形 2"/>
          <p:cNvSpPr/>
          <p:nvPr/>
        </p:nvSpPr>
        <p:spPr>
          <a:xfrm>
            <a:off x="313144" y="3675925"/>
            <a:ext cx="7010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Decode rescheduling workflow</a:t>
            </a:r>
          </a:p>
        </p:txBody>
      </p:sp>
      <p:sp>
        <p:nvSpPr>
          <p:cNvPr id="19" name="矩形 18"/>
          <p:cNvSpPr/>
          <p:nvPr/>
        </p:nvSpPr>
        <p:spPr>
          <a:xfrm>
            <a:off x="8709514" y="1911910"/>
            <a:ext cx="1211870" cy="323165"/>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650" b="1">
                <a:solidFill>
                  <a:srgbClr val="1F3154"/>
                </a:solidFill>
                <a:latin typeface="Arial" panose="020B0604020202090204"/>
                <a:ea typeface="Arial" panose="020B0604020202090204"/>
                <a:cs typeface="Arial" panose="020B0604020202090204"/>
              </a:defRPr>
            </a:pPr>
            <a:r>
              <a:rPr kumimoji="0" sz="21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Objective</a:t>
            </a:r>
          </a:p>
        </p:txBody>
      </p:sp>
      <p:sp>
        <p:nvSpPr>
          <p:cNvPr id="21" name="矩形 20"/>
          <p:cNvSpPr/>
          <p:nvPr/>
        </p:nvSpPr>
        <p:spPr>
          <a:xfrm>
            <a:off x="7544002" y="2415064"/>
            <a:ext cx="3542895" cy="762000"/>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tabLst/>
              <a:defRPr sz="1735" b="1">
                <a:solidFill>
                  <a:srgbClr val="4F1556"/>
                </a:solidFill>
                <a:latin typeface="Arial" panose="020B0604020202090204"/>
                <a:ea typeface="Arial" panose="020B0604020202090204"/>
                <a:cs typeface="Arial" panose="020B0604020202090204"/>
              </a:defRPr>
            </a:pPr>
            <a:r>
              <a:rPr kumimoji="0" lang="en-GB" sz="180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M</a:t>
            </a:r>
            <a:r>
              <a:rPr kumimoji="0" sz="1800" b="1" i="0" u="none" strike="noStrike" kern="1200" cap="none" spc="0" normalizeH="0" baseline="0" noProof="0" dirty="0" err="1">
                <a:ln>
                  <a:noFill/>
                </a:ln>
                <a:solidFill>
                  <a:srgbClr val="4F1556"/>
                </a:solidFill>
                <a:effectLst/>
                <a:uLnTx/>
                <a:uFillTx/>
                <a:latin typeface="Arial" panose="020B0604020202090204"/>
                <a:ea typeface="Arial" panose="020B0604020202090204"/>
                <a:cs typeface="Arial" panose="020B0604020202090204"/>
              </a:rPr>
              <a:t>inimize</a:t>
            </a:r>
            <a:r>
              <a:rPr kumimoji="0" lang="en-US" sz="1800" b="1" i="0" u="none" strike="noStrike" kern="1200" cap="none" spc="0" normalizeH="0" baseline="0" noProof="0" dirty="0" err="1">
                <a:ln>
                  <a:noFill/>
                </a:ln>
                <a:solidFill>
                  <a:srgbClr val="4F1556"/>
                </a:solidFill>
                <a:effectLst/>
                <a:uLnTx/>
                <a:uFillTx/>
                <a:latin typeface="Arial" panose="020B0604020202090204"/>
                <a:ea typeface="Arial" panose="020B0604020202090204"/>
                <a:cs typeface="Arial" panose="020B0604020202090204"/>
              </a:rPr>
              <a:t> </a:t>
            </a:r>
            <a:r>
              <a:rPr kumimoji="0" lang="en-GB" sz="180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time-weighted variance</a:t>
            </a:r>
          </a:p>
          <a:p>
            <a:pPr marL="0" marR="0" lvl="0" indent="0" algn="ctr" defTabSz="914400" eaLnBrk="1" fontAlgn="auto" latinLnBrk="0" hangingPunct="1">
              <a:lnSpc>
                <a:spcPct val="100000"/>
              </a:lnSpc>
              <a:spcBef>
                <a:spcPts val="0"/>
              </a:spcBef>
              <a:spcAft>
                <a:spcPts val="0"/>
              </a:spcAft>
              <a:buClrTx/>
              <a:buSzTx/>
              <a:buFontTx/>
              <a:buNone/>
              <a:tabLst/>
              <a:defRPr sz="1735" b="1">
                <a:solidFill>
                  <a:srgbClr val="4F1556"/>
                </a:solidFill>
                <a:latin typeface="Arial" panose="020B0604020202090204"/>
                <a:ea typeface="Arial" panose="020B0604020202090204"/>
                <a:cs typeface="Arial" panose="020B0604020202090204"/>
              </a:defRPr>
            </a:pPr>
            <a:r>
              <a:rPr kumimoji="0" sz="180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of token loads</a:t>
            </a:r>
            <a:endParaRPr kumimoji="0" lang="en-US" altLang="zh-CN" sz="180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endParaRPr>
          </a:p>
        </p:txBody>
      </p:sp>
      <p:sp>
        <p:nvSpPr>
          <p:cNvPr id="22" name="矩形 21"/>
          <p:cNvSpPr/>
          <p:nvPr/>
        </p:nvSpPr>
        <p:spPr>
          <a:xfrm>
            <a:off x="7756475" y="3283744"/>
            <a:ext cx="3117949" cy="4762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ctr"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Combines current load with predicted remaining work.</a:t>
            </a:r>
          </a:p>
        </p:txBody>
      </p:sp>
      <p:sp>
        <p:nvSpPr>
          <p:cNvPr id="41"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2"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COMPONENT 2</a:t>
            </a:r>
          </a:p>
        </p:txBody>
      </p:sp>
      <p:sp>
        <p:nvSpPr>
          <p:cNvPr id="43" name="slide-title"/>
          <p:cNvSpPr/>
          <p:nvPr/>
        </p:nvSpPr>
        <p:spPr>
          <a:xfrm>
            <a:off x="552450" y="552450"/>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dirty="0">
                <a:ln>
                  <a:noFill/>
                </a:ln>
                <a:solidFill>
                  <a:srgbClr val="17131F"/>
                </a:solidFill>
                <a:effectLst/>
                <a:uLnTx/>
                <a:uFillTx/>
                <a:ea typeface="PingFang SC" panose="020B0400000000000000" charset="-122"/>
              </a:rPr>
              <a:t>Rescheduling balances predicted load.</a:t>
            </a:r>
          </a:p>
        </p:txBody>
      </p:sp>
      <p:sp>
        <p:nvSpPr>
          <p:cNvPr id="44" name="header-rule"/>
          <p:cNvSpPr/>
          <p:nvPr/>
        </p:nvSpPr>
        <p:spPr>
          <a:xfrm>
            <a:off x="46444"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5"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6"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47" name="图片 10"/>
          <p:cNvPicPr>
            <a:picLocks noChangeAspect="1"/>
          </p:cNvPicPr>
          <p:nvPr/>
        </p:nvPicPr>
        <p:blipFill>
          <a:blip r:embed="rId4"/>
          <a:stretch>
            <a:fillRect/>
          </a:stretch>
        </p:blipFill>
        <p:spPr>
          <a:xfrm>
            <a:off x="9639300" y="354718"/>
            <a:ext cx="1571625" cy="481189"/>
          </a:xfrm>
          <a:prstGeom prst="rect">
            <a:avLst/>
          </a:prstGeom>
        </p:spPr>
      </p:pic>
      <p:sp>
        <p:nvSpPr>
          <p:cNvPr id="56"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48</a:t>
            </a:r>
          </a:p>
        </p:txBody>
      </p:sp>
      <p:sp>
        <p:nvSpPr>
          <p:cNvPr id="4" name="Rounded Rectangle 56"/>
          <p:cNvSpPr/>
          <p:nvPr/>
        </p:nvSpPr>
        <p:spPr>
          <a:xfrm>
            <a:off x="1628386" y="4930394"/>
            <a:ext cx="2148840" cy="621792"/>
          </a:xfrm>
          <a:prstGeom prst="round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endParaRPr>
          </a:p>
        </p:txBody>
      </p:sp>
      <p:sp>
        <p:nvSpPr>
          <p:cNvPr id="5" name="Oval 57"/>
          <p:cNvSpPr/>
          <p:nvPr/>
        </p:nvSpPr>
        <p:spPr>
          <a:xfrm>
            <a:off x="1756402" y="5058410"/>
            <a:ext cx="347472" cy="347472"/>
          </a:xfrm>
          <a:prstGeom prst="ellipse">
            <a:avLst/>
          </a:prstGeom>
          <a:solidFill>
            <a:srgbClr val="2D1B69"/>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ptos"/>
                <a:ea typeface="Calibri"/>
                <a:cs typeface="Calibri"/>
              </a:rPr>
              <a:t>1</a:t>
            </a:r>
          </a:p>
        </p:txBody>
      </p:sp>
      <p:sp>
        <p:nvSpPr>
          <p:cNvPr id="6" name="TextBox 58"/>
          <p:cNvSpPr txBox="1"/>
          <p:nvPr/>
        </p:nvSpPr>
        <p:spPr>
          <a:xfrm>
            <a:off x="2158738" y="4958180"/>
            <a:ext cx="1481328" cy="557076"/>
          </a:xfrm>
          <a:prstGeom prst="rect">
            <a:avLst/>
          </a:prstGeom>
          <a:noFill/>
        </p:spPr>
        <p:txBody>
          <a:bodyPr wrap="square" lIns="64008" tIns="32004" rIns="64008" bIns="32004"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23232D"/>
                </a:solidFill>
                <a:effectLst/>
                <a:uLnTx/>
                <a:uFillTx/>
                <a:latin typeface="Aptos"/>
                <a:ea typeface="Calibri"/>
                <a:cs typeface="Calibri"/>
              </a:rPr>
              <a:t>Classify
instances</a:t>
            </a:r>
          </a:p>
        </p:txBody>
      </p:sp>
      <p:cxnSp>
        <p:nvCxnSpPr>
          <p:cNvPr id="7" name="Connector 59"/>
          <p:cNvCxnSpPr>
            <a:stCxn id="4" idx="3"/>
            <a:endCxn id="8" idx="1"/>
          </p:cNvCxnSpPr>
          <p:nvPr/>
        </p:nvCxnSpPr>
        <p:spPr>
          <a:xfrm>
            <a:off x="3777226" y="5241290"/>
            <a:ext cx="914400" cy="0"/>
          </a:xfrm>
          <a:prstGeom prst="line">
            <a:avLst/>
          </a:prstGeom>
          <a:ln w="25400">
            <a:solidFill>
              <a:srgbClr val="2D1B69"/>
            </a:solidFill>
          </a:ln>
        </p:spPr>
        <p:style>
          <a:lnRef idx="2">
            <a:schemeClr val="accent1"/>
          </a:lnRef>
          <a:fillRef idx="0">
            <a:schemeClr val="accent1"/>
          </a:fillRef>
          <a:effectRef idx="1">
            <a:schemeClr val="accent1"/>
          </a:effectRef>
          <a:fontRef idx="minor">
            <a:schemeClr val="tx1"/>
          </a:fontRef>
        </p:style>
      </p:cxnSp>
      <p:sp>
        <p:nvSpPr>
          <p:cNvPr id="8" name="Rounded Rectangle 60"/>
          <p:cNvSpPr/>
          <p:nvPr/>
        </p:nvSpPr>
        <p:spPr>
          <a:xfrm>
            <a:off x="4691626" y="4930394"/>
            <a:ext cx="2148840" cy="621792"/>
          </a:xfrm>
          <a:prstGeom prst="round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endParaRPr>
          </a:p>
        </p:txBody>
      </p:sp>
      <p:sp>
        <p:nvSpPr>
          <p:cNvPr id="9" name="Oval 61"/>
          <p:cNvSpPr/>
          <p:nvPr/>
        </p:nvSpPr>
        <p:spPr>
          <a:xfrm>
            <a:off x="4819642" y="5058410"/>
            <a:ext cx="347472" cy="347472"/>
          </a:xfrm>
          <a:prstGeom prst="ellipse">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ptos"/>
                <a:ea typeface="Calibri"/>
                <a:cs typeface="Calibri"/>
              </a:rPr>
              <a:t>2</a:t>
            </a:r>
          </a:p>
        </p:txBody>
      </p:sp>
      <p:sp>
        <p:nvSpPr>
          <p:cNvPr id="10" name="TextBox 62"/>
          <p:cNvSpPr txBox="1"/>
          <p:nvPr/>
        </p:nvSpPr>
        <p:spPr>
          <a:xfrm>
            <a:off x="5221978" y="4958180"/>
            <a:ext cx="1481328" cy="557076"/>
          </a:xfrm>
          <a:prstGeom prst="rect">
            <a:avLst/>
          </a:prstGeom>
          <a:noFill/>
        </p:spPr>
        <p:txBody>
          <a:bodyPr wrap="square" lIns="64008" tIns="32004" rIns="64008" bIns="32004"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23232D"/>
                </a:solidFill>
                <a:effectLst/>
                <a:uLnTx/>
                <a:uFillTx/>
                <a:latin typeface="Aptos"/>
                <a:ea typeface="Calibri"/>
                <a:cs typeface="Calibri"/>
              </a:rPr>
              <a:t>Enumerate
candidates</a:t>
            </a:r>
          </a:p>
        </p:txBody>
      </p:sp>
      <p:cxnSp>
        <p:nvCxnSpPr>
          <p:cNvPr id="11" name="Connector 63"/>
          <p:cNvCxnSpPr>
            <a:stCxn id="8" idx="3"/>
            <a:endCxn id="12" idx="1"/>
          </p:cNvCxnSpPr>
          <p:nvPr/>
        </p:nvCxnSpPr>
        <p:spPr>
          <a:xfrm>
            <a:off x="6840466" y="5241290"/>
            <a:ext cx="914400" cy="0"/>
          </a:xfrm>
          <a:prstGeom prst="line">
            <a:avLst/>
          </a:prstGeom>
          <a:ln w="25400">
            <a:solidFill>
              <a:srgbClr val="2D1B69"/>
            </a:solidFill>
          </a:ln>
        </p:spPr>
        <p:style>
          <a:lnRef idx="2">
            <a:schemeClr val="accent1"/>
          </a:lnRef>
          <a:fillRef idx="0">
            <a:schemeClr val="accent1"/>
          </a:fillRef>
          <a:effectRef idx="1">
            <a:schemeClr val="accent1"/>
          </a:effectRef>
          <a:fontRef idx="minor">
            <a:schemeClr val="tx1"/>
          </a:fontRef>
        </p:style>
      </p:cxnSp>
      <p:sp>
        <p:nvSpPr>
          <p:cNvPr id="12" name="Rounded Rectangle 64"/>
          <p:cNvSpPr/>
          <p:nvPr/>
        </p:nvSpPr>
        <p:spPr>
          <a:xfrm>
            <a:off x="7754866" y="4930394"/>
            <a:ext cx="2148840" cy="621792"/>
          </a:xfrm>
          <a:prstGeom prst="round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endParaRPr>
          </a:p>
        </p:txBody>
      </p:sp>
      <p:sp>
        <p:nvSpPr>
          <p:cNvPr id="13" name="Oval 65"/>
          <p:cNvSpPr/>
          <p:nvPr/>
        </p:nvSpPr>
        <p:spPr>
          <a:xfrm>
            <a:off x="7882882" y="5058410"/>
            <a:ext cx="347472" cy="347472"/>
          </a:xfrm>
          <a:prstGeom prst="ellipse">
            <a:avLst/>
          </a:prstGeom>
          <a:solidFill>
            <a:srgbClr val="2D1B69"/>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ptos"/>
                <a:ea typeface="Calibri"/>
                <a:cs typeface="Calibri"/>
              </a:rPr>
              <a:t>3</a:t>
            </a:r>
          </a:p>
        </p:txBody>
      </p:sp>
      <p:sp>
        <p:nvSpPr>
          <p:cNvPr id="14" name="TextBox 66"/>
          <p:cNvSpPr txBox="1"/>
          <p:nvPr/>
        </p:nvSpPr>
        <p:spPr>
          <a:xfrm>
            <a:off x="8285218" y="4958180"/>
            <a:ext cx="1481328" cy="557076"/>
          </a:xfrm>
          <a:prstGeom prst="rect">
            <a:avLst/>
          </a:prstGeom>
          <a:noFill/>
        </p:spPr>
        <p:txBody>
          <a:bodyPr wrap="square" lIns="64008" tIns="32004" rIns="64008" bIns="32004"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23232D"/>
                </a:solidFill>
                <a:effectLst/>
                <a:uLnTx/>
                <a:uFillTx/>
                <a:latin typeface="Aptos"/>
                <a:ea typeface="Calibri"/>
                <a:cs typeface="Calibri"/>
              </a:rPr>
              <a:t>Select best
migration</a:t>
            </a:r>
          </a:p>
        </p:txBody>
      </p:sp>
      <p:sp>
        <p:nvSpPr>
          <p:cNvPr id="15" name="矩形 14"/>
          <p:cNvSpPr/>
          <p:nvPr/>
        </p:nvSpPr>
        <p:spPr>
          <a:xfrm>
            <a:off x="1756402" y="5595620"/>
            <a:ext cx="2640997" cy="5905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Find overloaded and underloaded instances</a:t>
            </a:r>
          </a:p>
        </p:txBody>
      </p:sp>
      <p:sp>
        <p:nvSpPr>
          <p:cNvPr id="18" name="矩形 17"/>
          <p:cNvSpPr/>
          <p:nvPr/>
        </p:nvSpPr>
        <p:spPr>
          <a:xfrm>
            <a:off x="4816232" y="5652770"/>
            <a:ext cx="2209586" cy="4762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Filter migrations that still pay off after transfer cost.</a:t>
            </a:r>
          </a:p>
        </p:txBody>
      </p:sp>
      <p:sp>
        <p:nvSpPr>
          <p:cNvPr id="38" name="矩形 37"/>
          <p:cNvSpPr/>
          <p:nvPr/>
        </p:nvSpPr>
        <p:spPr>
          <a:xfrm>
            <a:off x="7882882" y="5595620"/>
            <a:ext cx="2460220" cy="5905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5D6878"/>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Choose the migration with the largest variance reduction.</a:t>
            </a:r>
          </a:p>
        </p:txBody>
      </p:sp>
      <p:sp>
        <p:nvSpPr>
          <p:cNvPr id="2" name="矩形 1"/>
          <p:cNvSpPr/>
          <p:nvPr/>
        </p:nvSpPr>
        <p:spPr>
          <a:xfrm>
            <a:off x="903605" y="4036060"/>
            <a:ext cx="10184130" cy="762000"/>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tabLst/>
              <a:defRPr sz="1735" b="1">
                <a:solidFill>
                  <a:srgbClr val="4F1556"/>
                </a:solidFill>
                <a:latin typeface="Arial" panose="020B0604020202090204"/>
                <a:ea typeface="Arial" panose="020B0604020202090204"/>
                <a:cs typeface="Arial" panose="020B0604020202090204"/>
              </a:defRPr>
            </a:pPr>
            <a:r>
              <a:rPr kumimoji="0" lang="en-US" altLang="zh-CN" sz="180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Simulate future load based on current load and prediction information, </a:t>
            </a:r>
          </a:p>
          <a:p>
            <a:pPr marL="0" marR="0" lvl="0" indent="0" algn="ctr" defTabSz="914400" eaLnBrk="1" fontAlgn="auto" latinLnBrk="0" hangingPunct="1">
              <a:lnSpc>
                <a:spcPct val="100000"/>
              </a:lnSpc>
              <a:spcBef>
                <a:spcPts val="0"/>
              </a:spcBef>
              <a:spcAft>
                <a:spcPts val="0"/>
              </a:spcAft>
              <a:buClrTx/>
              <a:buSzTx/>
              <a:buFontTx/>
              <a:buNone/>
              <a:tabLst/>
              <a:defRPr sz="1735" b="1">
                <a:solidFill>
                  <a:srgbClr val="4F1556"/>
                </a:solidFill>
                <a:latin typeface="Arial" panose="020B0604020202090204"/>
                <a:ea typeface="Arial" panose="020B0604020202090204"/>
                <a:cs typeface="Arial" panose="020B0604020202090204"/>
              </a:defRPr>
            </a:pPr>
            <a:r>
              <a:rPr kumimoji="0" lang="en-US" altLang="zh-CN" sz="180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aiming to achieve the most balanced load in the future.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52"/>
          <p:cNvSpPr/>
          <p:nvPr/>
        </p:nvSpPr>
        <p:spPr>
          <a:xfrm>
            <a:off x="1600311" y="5577240"/>
            <a:ext cx="9018070" cy="777170"/>
          </a:xfrm>
          <a:prstGeom prst="round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dirty="0">
              <a:ln>
                <a:noFill/>
              </a:ln>
              <a:solidFill>
                <a:srgbClr val="23232D"/>
              </a:solidFill>
              <a:effectLst/>
              <a:uLnTx/>
              <a:uFillTx/>
              <a:latin typeface="Aptos"/>
              <a:ea typeface="Calibri"/>
              <a:cs typeface="Calibri"/>
            </a:endParaRPr>
          </a:p>
        </p:txBody>
      </p:sp>
      <p:sp>
        <p:nvSpPr>
          <p:cNvPr id="16" name="圆角矩形 15"/>
          <p:cNvSpPr/>
          <p:nvPr/>
        </p:nvSpPr>
        <p:spPr>
          <a:xfrm>
            <a:off x="2340610" y="1264126"/>
            <a:ext cx="6762750" cy="3767138"/>
          </a:xfrm>
          <a:prstGeom prst="roundRect">
            <a:avLst>
              <a:gd name="adj" fmla="val 6806"/>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17" name="图片 17"/>
          <p:cNvPicPr>
            <a:picLocks noChangeAspect="1"/>
          </p:cNvPicPr>
          <p:nvPr/>
        </p:nvPicPr>
        <p:blipFill>
          <a:blip r:embed="rId3"/>
          <a:stretch>
            <a:fillRect/>
          </a:stretch>
        </p:blipFill>
        <p:spPr>
          <a:xfrm>
            <a:off x="2549446" y="1321276"/>
            <a:ext cx="6322219" cy="3371850"/>
          </a:xfrm>
          <a:prstGeom prst="rect">
            <a:avLst/>
          </a:prstGeom>
        </p:spPr>
      </p:pic>
      <p:sp>
        <p:nvSpPr>
          <p:cNvPr id="3" name="矩形 2"/>
          <p:cNvSpPr/>
          <p:nvPr/>
        </p:nvSpPr>
        <p:spPr>
          <a:xfrm>
            <a:off x="3713933" y="4750276"/>
            <a:ext cx="3997056"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600" b="0" i="1"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STAR on top of PD-disaggregated inference</a:t>
            </a:r>
          </a:p>
        </p:txBody>
      </p:sp>
      <p:grpSp>
        <p:nvGrpSpPr>
          <p:cNvPr id="2" name="组合 1"/>
          <p:cNvGrpSpPr/>
          <p:nvPr/>
        </p:nvGrpSpPr>
        <p:grpSpPr>
          <a:xfrm>
            <a:off x="9218295" y="1441450"/>
            <a:ext cx="2879090" cy="917575"/>
            <a:chOff x="7726702" y="1838086"/>
            <a:chExt cx="3103245" cy="917725"/>
          </a:xfrm>
        </p:grpSpPr>
        <p:sp>
          <p:nvSpPr>
            <p:cNvPr id="19" name="矩形 18"/>
            <p:cNvSpPr/>
            <p:nvPr/>
          </p:nvSpPr>
          <p:spPr>
            <a:xfrm>
              <a:off x="7726702" y="1838086"/>
              <a:ext cx="3084934" cy="917725"/>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1" name="矩形 20"/>
            <p:cNvSpPr/>
            <p:nvPr/>
          </p:nvSpPr>
          <p:spPr>
            <a:xfrm>
              <a:off x="7949829" y="1949229"/>
              <a:ext cx="2756235" cy="245785"/>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lang="en-US" sz="1600" b="1" i="0" u="none" strike="noStrike" kern="1200" cap="none" spc="0" normalizeH="0" baseline="0" noProof="0" dirty="0">
                  <a:ln>
                    <a:noFill/>
                  </a:ln>
                  <a:solidFill>
                    <a:srgbClr val="4E1456"/>
                  </a:solidFill>
                  <a:effectLst/>
                  <a:uLnTx/>
                  <a:uFillTx/>
                  <a:latin typeface="Arial" panose="020B0604020202090204"/>
                  <a:ea typeface="Arial" panose="020B0604020202090204"/>
                  <a:cs typeface="Arial" panose="020B0604020202090204"/>
                </a:rPr>
                <a:t>1.C</a:t>
              </a:r>
              <a:r>
                <a:rPr kumimoji="0" sz="1600" b="1" i="0" u="none" strike="noStrike" kern="1200" cap="none" spc="0" normalizeH="0" baseline="0" noProof="0" dirty="0">
                  <a:ln>
                    <a:noFill/>
                  </a:ln>
                  <a:solidFill>
                    <a:srgbClr val="4E1456"/>
                  </a:solidFill>
                  <a:effectLst/>
                  <a:uLnTx/>
                  <a:uFillTx/>
                  <a:latin typeface="Arial" panose="020B0604020202090204"/>
                  <a:ea typeface="Arial" panose="020B0604020202090204"/>
                  <a:cs typeface="Arial" panose="020B0604020202090204"/>
                </a:rPr>
                <a:t>ontinuous </a:t>
              </a:r>
              <a:r>
                <a:rPr kumimoji="0" lang="en-US" sz="1600" b="1" i="0" u="none" strike="noStrike" kern="1200" cap="none" spc="0" normalizeH="0" baseline="0" noProof="0" dirty="0">
                  <a:ln>
                    <a:noFill/>
                  </a:ln>
                  <a:solidFill>
                    <a:srgbClr val="4E1456"/>
                  </a:solidFill>
                  <a:effectLst/>
                  <a:uLnTx/>
                  <a:uFillTx/>
                  <a:latin typeface="Arial" panose="020B0604020202090204"/>
                  <a:ea typeface="Arial" panose="020B0604020202090204"/>
                  <a:cs typeface="Arial" panose="020B0604020202090204"/>
                </a:rPr>
                <a:t>P</a:t>
              </a:r>
              <a:r>
                <a:rPr kumimoji="0" sz="1600" b="1" i="0" u="none" strike="noStrike" kern="1200" cap="none" spc="0" normalizeH="0" baseline="0" noProof="0" dirty="0">
                  <a:ln>
                    <a:noFill/>
                  </a:ln>
                  <a:solidFill>
                    <a:srgbClr val="4E1456"/>
                  </a:solidFill>
                  <a:effectLst/>
                  <a:uLnTx/>
                  <a:uFillTx/>
                  <a:latin typeface="Arial" panose="020B0604020202090204"/>
                  <a:ea typeface="Arial" panose="020B0604020202090204"/>
                  <a:cs typeface="Arial" panose="020B0604020202090204"/>
                </a:rPr>
                <a:t>rediction</a:t>
              </a:r>
            </a:p>
          </p:txBody>
        </p:sp>
        <p:sp>
          <p:nvSpPr>
            <p:cNvPr id="22" name="矩形 21"/>
            <p:cNvSpPr/>
            <p:nvPr/>
          </p:nvSpPr>
          <p:spPr>
            <a:xfrm>
              <a:off x="7831421" y="2233121"/>
              <a:ext cx="2998526" cy="496016"/>
            </a:xfrm>
            <a:prstGeom prst="rect">
              <a:avLst/>
            </a:prstGeom>
            <a:solidFill>
              <a:srgbClr val="000000">
                <a:alpha val="0"/>
              </a:srgbClr>
            </a:solidFill>
            <a:ln w="0">
              <a:solidFill>
                <a:srgbClr val="000000">
                  <a:alpha val="0"/>
                </a:srgbClr>
              </a:solidFill>
              <a:prstDash val="solid"/>
            </a:ln>
          </p:spPr>
          <p:txBody>
            <a:bodyPr wrap="square"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Estimate each active request's remaining output length during decode.</a:t>
              </a:r>
            </a:p>
          </p:txBody>
        </p:sp>
      </p:grpSp>
      <p:grpSp>
        <p:nvGrpSpPr>
          <p:cNvPr id="4" name="组合 3"/>
          <p:cNvGrpSpPr/>
          <p:nvPr/>
        </p:nvGrpSpPr>
        <p:grpSpPr>
          <a:xfrm>
            <a:off x="9476105" y="3697605"/>
            <a:ext cx="2226310" cy="1475105"/>
            <a:chOff x="7726702" y="2981086"/>
            <a:chExt cx="3084830" cy="1156970"/>
          </a:xfrm>
        </p:grpSpPr>
        <p:sp>
          <p:nvSpPr>
            <p:cNvPr id="23" name="矩形 22"/>
            <p:cNvSpPr/>
            <p:nvPr/>
          </p:nvSpPr>
          <p:spPr>
            <a:xfrm>
              <a:off x="7726702" y="2981086"/>
              <a:ext cx="3084830" cy="1156970"/>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5" name="矩形 24"/>
            <p:cNvSpPr/>
            <p:nvPr/>
          </p:nvSpPr>
          <p:spPr>
            <a:xfrm>
              <a:off x="7949642" y="3092176"/>
              <a:ext cx="2617197" cy="168839"/>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lang="en-US" sz="1400" b="1" i="0" u="none" strike="noStrike" kern="1200" cap="none" spc="0" normalizeH="0" baseline="0" noProof="0" dirty="0">
                  <a:ln>
                    <a:noFill/>
                  </a:ln>
                  <a:solidFill>
                    <a:prstClr val="white">
                      <a:lumMod val="50000"/>
                    </a:prstClr>
                  </a:solidFill>
                  <a:effectLst/>
                  <a:uLnTx/>
                  <a:uFillTx/>
                  <a:latin typeface="Arial" panose="020B0604020202090204"/>
                  <a:ea typeface="Arial" panose="020B0604020202090204"/>
                  <a:cs typeface="Arial" panose="020B0604020202090204"/>
                </a:rPr>
                <a:t>Other optimizations.</a:t>
              </a:r>
              <a:endParaRPr kumimoji="0" sz="1400" b="1" i="0" u="none" strike="noStrike" kern="1200" cap="none" spc="0" normalizeH="0" baseline="0" noProof="0" dirty="0">
                <a:ln>
                  <a:noFill/>
                </a:ln>
                <a:solidFill>
                  <a:prstClr val="white">
                    <a:lumMod val="50000"/>
                  </a:prstClr>
                </a:solidFill>
                <a:effectLst/>
                <a:uLnTx/>
                <a:uFillTx/>
                <a:latin typeface="Arial" panose="020B0604020202090204"/>
                <a:ea typeface="Arial" panose="020B0604020202090204"/>
                <a:cs typeface="Arial" panose="020B0604020202090204"/>
              </a:endParaRPr>
            </a:p>
          </p:txBody>
        </p:sp>
        <p:sp>
          <p:nvSpPr>
            <p:cNvPr id="26" name="矩形 25"/>
            <p:cNvSpPr/>
            <p:nvPr/>
          </p:nvSpPr>
          <p:spPr>
            <a:xfrm>
              <a:off x="7931133" y="3287243"/>
              <a:ext cx="2880000" cy="724165"/>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Workers report current tokens, </a:t>
              </a:r>
              <a:r>
                <a:rPr kumimoji="0" lang="en-US"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pre-computed </a:t>
              </a:r>
              <a:r>
                <a:rPr kumimoji="0"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future-load summaries, and memory pressure</a:t>
              </a:r>
              <a:r>
                <a:rPr kumimoji="0" lang="en-US"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 </a:t>
              </a:r>
              <a:r>
                <a:rPr kumimoji="0" lang="en-US" altLang="zh-CN"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to reduce time complexity of the scheduler.</a:t>
              </a:r>
            </a:p>
          </p:txBody>
        </p:sp>
      </p:grpSp>
      <p:grpSp>
        <p:nvGrpSpPr>
          <p:cNvPr id="5" name="组合 4"/>
          <p:cNvGrpSpPr/>
          <p:nvPr/>
        </p:nvGrpSpPr>
        <p:grpSpPr>
          <a:xfrm>
            <a:off x="95578" y="4603631"/>
            <a:ext cx="3103222" cy="917725"/>
            <a:chOff x="7726702" y="4124086"/>
            <a:chExt cx="3103222" cy="917725"/>
          </a:xfrm>
        </p:grpSpPr>
        <p:sp>
          <p:nvSpPr>
            <p:cNvPr id="27" name="矩形 26"/>
            <p:cNvSpPr/>
            <p:nvPr/>
          </p:nvSpPr>
          <p:spPr>
            <a:xfrm>
              <a:off x="7726702" y="4124086"/>
              <a:ext cx="3084934" cy="917725"/>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9" name="矩形 28"/>
            <p:cNvSpPr/>
            <p:nvPr/>
          </p:nvSpPr>
          <p:spPr>
            <a:xfrm>
              <a:off x="7949925" y="4235164"/>
              <a:ext cx="1873885" cy="245745"/>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lang="en-US" sz="1600" b="1" i="0" u="none" strike="noStrike" kern="1200" cap="none" spc="0" normalizeH="0" baseline="0" noProof="0" dirty="0">
                  <a:ln>
                    <a:noFill/>
                  </a:ln>
                  <a:solidFill>
                    <a:srgbClr val="46745B"/>
                  </a:solidFill>
                  <a:effectLst/>
                  <a:uLnTx/>
                  <a:uFillTx/>
                  <a:latin typeface="Arial" panose="020B0604020202090204"/>
                  <a:ea typeface="Arial" panose="020B0604020202090204"/>
                  <a:cs typeface="Arial" panose="020B0604020202090204"/>
                </a:rPr>
                <a:t>2.D</a:t>
              </a:r>
              <a:r>
                <a:rPr kumimoji="0" sz="1600" b="1" i="0" u="none" strike="noStrike" kern="1200" cap="none" spc="0" normalizeH="0" baseline="0" noProof="0" dirty="0">
                  <a:ln>
                    <a:noFill/>
                  </a:ln>
                  <a:solidFill>
                    <a:srgbClr val="46745B"/>
                  </a:solidFill>
                  <a:effectLst/>
                  <a:uLnTx/>
                  <a:uFillTx/>
                  <a:latin typeface="Arial" panose="020B0604020202090204"/>
                  <a:ea typeface="Arial" panose="020B0604020202090204"/>
                  <a:cs typeface="Arial" panose="020B0604020202090204"/>
                </a:rPr>
                <a:t>ecode </a:t>
              </a:r>
              <a:r>
                <a:rPr kumimoji="0" lang="en-US" sz="1600" b="1" i="0" u="none" strike="noStrike" kern="1200" cap="none" spc="0" normalizeH="0" baseline="0" noProof="0" dirty="0">
                  <a:ln>
                    <a:noFill/>
                  </a:ln>
                  <a:solidFill>
                    <a:srgbClr val="46745B"/>
                  </a:solidFill>
                  <a:effectLst/>
                  <a:uLnTx/>
                  <a:uFillTx/>
                  <a:latin typeface="Arial" panose="020B0604020202090204"/>
                  <a:ea typeface="Arial" panose="020B0604020202090204"/>
                  <a:cs typeface="Arial" panose="020B0604020202090204"/>
                </a:rPr>
                <a:t>M</a:t>
              </a:r>
              <a:r>
                <a:rPr kumimoji="0" sz="1600" b="1" i="0" u="none" strike="noStrike" kern="1200" cap="none" spc="0" normalizeH="0" baseline="0" noProof="0" dirty="0">
                  <a:ln>
                    <a:noFill/>
                  </a:ln>
                  <a:solidFill>
                    <a:srgbClr val="46745B"/>
                  </a:solidFill>
                  <a:effectLst/>
                  <a:uLnTx/>
                  <a:uFillTx/>
                  <a:latin typeface="Arial" panose="020B0604020202090204"/>
                  <a:ea typeface="Arial" panose="020B0604020202090204"/>
                  <a:cs typeface="Arial" panose="020B0604020202090204"/>
                </a:rPr>
                <a:t>igration</a:t>
              </a:r>
            </a:p>
          </p:txBody>
        </p:sp>
        <p:sp>
          <p:nvSpPr>
            <p:cNvPr id="30" name="矩形 29"/>
            <p:cNvSpPr/>
            <p:nvPr/>
          </p:nvSpPr>
          <p:spPr>
            <a:xfrm>
              <a:off x="7949924" y="4519373"/>
              <a:ext cx="2880000" cy="369332"/>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Move selected requests from overloaded to underloaded instances.</a:t>
              </a:r>
            </a:p>
          </p:txBody>
        </p:sp>
      </p:grpSp>
      <p:sp>
        <p:nvSpPr>
          <p:cNvPr id="31" name="矩形 30"/>
          <p:cNvSpPr/>
          <p:nvPr/>
        </p:nvSpPr>
        <p:spPr>
          <a:xfrm>
            <a:off x="1762194" y="5781159"/>
            <a:ext cx="8694304" cy="369332"/>
          </a:xfrm>
          <a:prstGeom prst="rect">
            <a:avLst/>
          </a:prstGeom>
          <a:solidFill>
            <a:srgbClr val="000000">
              <a:alpha val="0"/>
            </a:srgbClr>
          </a:solidFill>
          <a:ln w="0">
            <a:solidFill>
              <a:srgbClr val="000000">
                <a:alpha val="0"/>
              </a:srgbClr>
            </a:solidFill>
            <a:prstDash val="solid"/>
          </a:ln>
        </p:spPr>
        <p:txBody>
          <a:bodyPr wrap="none" lIns="0" tIns="0" rIns="0" bIns="0" anchor="ctr" anchorCtr="1">
            <a:spAutoFit/>
          </a:bodyPr>
          <a:lstStyle/>
          <a:p>
            <a:pPr marL="0" marR="0" lvl="0" indent="0" algn="ctr" defTabSz="914400" eaLnBrk="1" fontAlgn="auto" latinLnBrk="0" hangingPunct="1">
              <a:lnSpc>
                <a:spcPct val="100000"/>
              </a:lnSpc>
              <a:spcBef>
                <a:spcPts val="0"/>
              </a:spcBef>
              <a:spcAft>
                <a:spcPts val="0"/>
              </a:spcAft>
              <a:buClrTx/>
              <a:buSzTx/>
              <a:buFontTx/>
              <a:buNone/>
              <a:tabLst/>
              <a:defRPr sz="1570" b="1">
                <a:solidFill>
                  <a:srgbClr val="1F3154"/>
                </a:solidFill>
                <a:latin typeface="Arial" panose="020B0604020202090204"/>
                <a:ea typeface="Arial" panose="020B0604020202090204"/>
                <a:cs typeface="Arial" panose="020B0604020202090204"/>
              </a:defRPr>
            </a:pPr>
            <a:r>
              <a:rPr kumimoji="0" sz="2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STAR migrates based on predicted remaining decode work.</a:t>
            </a:r>
          </a:p>
        </p:txBody>
      </p:sp>
      <p:sp>
        <p:nvSpPr>
          <p:cNvPr id="35"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6"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OVERVIEW</a:t>
            </a:r>
          </a:p>
        </p:txBody>
      </p:sp>
      <p:sp>
        <p:nvSpPr>
          <p:cNvPr id="37" name="slide-title"/>
          <p:cNvSpPr/>
          <p:nvPr/>
        </p:nvSpPr>
        <p:spPr>
          <a:xfrm>
            <a:off x="552450" y="552450"/>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dirty="0">
                <a:ln>
                  <a:noFill/>
                </a:ln>
                <a:solidFill>
                  <a:srgbClr val="17131F"/>
                </a:solidFill>
                <a:effectLst/>
                <a:uLnTx/>
                <a:uFillTx/>
                <a:ea typeface="PingFang SC" panose="020B0400000000000000" charset="-122"/>
              </a:rPr>
              <a:t>STAR unifies prediction and migration.</a:t>
            </a:r>
          </a:p>
        </p:txBody>
      </p:sp>
      <p:sp>
        <p:nvSpPr>
          <p:cNvPr id="38"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9"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0"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41" name="图片 10"/>
          <p:cNvPicPr>
            <a:picLocks noChangeAspect="1"/>
          </p:cNvPicPr>
          <p:nvPr/>
        </p:nvPicPr>
        <p:blipFill>
          <a:blip r:embed="rId4"/>
          <a:stretch>
            <a:fillRect/>
          </a:stretch>
        </p:blipFill>
        <p:spPr>
          <a:xfrm>
            <a:off x="9639300" y="354718"/>
            <a:ext cx="1571625" cy="481189"/>
          </a:xfrm>
          <a:prstGeom prst="rect">
            <a:avLst/>
          </a:prstGeom>
        </p:spPr>
      </p:pic>
      <p:sp>
        <p:nvSpPr>
          <p:cNvPr id="50"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sz="1050" b="0" i="0" u="none" strike="noStrike" kern="1200" cap="none" spc="0" normalizeH="0" baseline="0" noProof="0" dirty="0">
                <a:ln>
                  <a:noFill/>
                </a:ln>
                <a:solidFill>
                  <a:srgbClr val="7A7387"/>
                </a:solidFill>
                <a:effectLst/>
                <a:uLnTx/>
                <a:uFillTx/>
                <a:latin typeface="Arial" panose="020B0604020202090204"/>
                <a:cs typeface="Arial" panose="020B0604020202090204"/>
              </a:rPr>
              <a:t>49</a:t>
            </a:r>
          </a:p>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sp>
        <p:nvSpPr>
          <p:cNvPr id="7" name="右箭头 6"/>
          <p:cNvSpPr/>
          <p:nvPr/>
        </p:nvSpPr>
        <p:spPr>
          <a:xfrm>
            <a:off x="8801100" y="1852930"/>
            <a:ext cx="417195" cy="147955"/>
          </a:xfrm>
          <a:prstGeom prst="rightArrow">
            <a:avLst/>
          </a:prstGeom>
          <a:solidFill>
            <a:srgbClr val="7030A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cs typeface="Calibri"/>
            </a:endParaRPr>
          </a:p>
        </p:txBody>
      </p:sp>
      <p:sp>
        <p:nvSpPr>
          <p:cNvPr id="9" name="左箭头 8"/>
          <p:cNvSpPr/>
          <p:nvPr/>
        </p:nvSpPr>
        <p:spPr>
          <a:xfrm rot="18780000">
            <a:off x="2585085" y="4324350"/>
            <a:ext cx="1097915" cy="76200"/>
          </a:xfrm>
          <a:prstGeom prst="leftArrow">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9639300" y="354711"/>
            <a:ext cx="1571625" cy="481203"/>
          </a:xfrm>
          <a:prstGeom prst="rect">
            <a:avLst/>
          </a:prstGeom>
        </p:spPr>
      </p:pic>
      <p:sp>
        <p:nvSpPr>
          <p:cNvPr id="4"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 name="section-1-card"/>
          <p:cNvSpPr/>
          <p:nvPr/>
        </p:nvSpPr>
        <p:spPr>
          <a:xfrm>
            <a:off x="781050" y="15049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 name="section-1-accent"/>
          <p:cNvSpPr/>
          <p:nvPr/>
        </p:nvSpPr>
        <p:spPr>
          <a:xfrm>
            <a:off x="781050" y="15049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 name="section-1-index"/>
          <p:cNvSpPr/>
          <p:nvPr/>
        </p:nvSpPr>
        <p:spPr>
          <a:xfrm>
            <a:off x="1085850" y="17049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01</a:t>
            </a:r>
          </a:p>
        </p:txBody>
      </p:sp>
      <p:sp>
        <p:nvSpPr>
          <p:cNvPr id="8" name="section-1-title"/>
          <p:cNvSpPr/>
          <p:nvPr/>
        </p:nvSpPr>
        <p:spPr>
          <a:xfrm>
            <a:off x="1771650" y="16859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Motivation</a:t>
            </a:r>
          </a:p>
        </p:txBody>
      </p:sp>
      <p:sp>
        <p:nvSpPr>
          <p:cNvPr id="9" name="section-1-description"/>
          <p:cNvSpPr/>
          <p:nvPr/>
        </p:nvSpPr>
        <p:spPr>
          <a:xfrm>
            <a:off x="4813694" y="1734264"/>
            <a:ext cx="4306820"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Why does long-output serving break static handoff?</a:t>
            </a:r>
          </a:p>
        </p:txBody>
      </p:sp>
      <p:sp>
        <p:nvSpPr>
          <p:cNvPr id="10" name="section-2-card"/>
          <p:cNvSpPr/>
          <p:nvPr/>
        </p:nvSpPr>
        <p:spPr>
          <a:xfrm>
            <a:off x="781050" y="24193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1" name="section-2-accent"/>
          <p:cNvSpPr/>
          <p:nvPr/>
        </p:nvSpPr>
        <p:spPr>
          <a:xfrm>
            <a:off x="781050" y="24193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2" name="section-2-index"/>
          <p:cNvSpPr/>
          <p:nvPr/>
        </p:nvSpPr>
        <p:spPr>
          <a:xfrm>
            <a:off x="1085850" y="26193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02</a:t>
            </a:r>
          </a:p>
        </p:txBody>
      </p:sp>
      <p:sp>
        <p:nvSpPr>
          <p:cNvPr id="13" name="section-2-title"/>
          <p:cNvSpPr/>
          <p:nvPr/>
        </p:nvSpPr>
        <p:spPr>
          <a:xfrm>
            <a:off x="1771650" y="26003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Design</a:t>
            </a:r>
          </a:p>
        </p:txBody>
      </p:sp>
      <p:sp>
        <p:nvSpPr>
          <p:cNvPr id="14" name="section-2-description"/>
          <p:cNvSpPr/>
          <p:nvPr/>
        </p:nvSpPr>
        <p:spPr>
          <a:xfrm>
            <a:off x="4840015" y="2648664"/>
            <a:ext cx="4254178"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How can STAR predict and rebalance decode work?</a:t>
            </a:r>
          </a:p>
        </p:txBody>
      </p:sp>
      <p:sp>
        <p:nvSpPr>
          <p:cNvPr id="15" name="section-3-card"/>
          <p:cNvSpPr/>
          <p:nvPr/>
        </p:nvSpPr>
        <p:spPr>
          <a:xfrm>
            <a:off x="781050" y="3333750"/>
            <a:ext cx="9886950" cy="742950"/>
          </a:xfrm>
          <a:prstGeom prst="rect">
            <a:avLst/>
          </a:prstGeom>
          <a:solidFill>
            <a:srgbClr val="4B1D78"/>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6" name="section-3-accent"/>
          <p:cNvSpPr/>
          <p:nvPr/>
        </p:nvSpPr>
        <p:spPr>
          <a:xfrm>
            <a:off x="781050" y="3333750"/>
            <a:ext cx="76200" cy="74295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7" name="section-3-index"/>
          <p:cNvSpPr/>
          <p:nvPr/>
        </p:nvSpPr>
        <p:spPr>
          <a:xfrm>
            <a:off x="1085850" y="35337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FFFFFF"/>
                </a:solidFill>
                <a:latin typeface="Calibri"/>
                <a:ea typeface="Calibri"/>
                <a:cs typeface="Calibri"/>
              </a:defRPr>
            </a:pPr>
            <a:r>
              <a:rPr kumimoji="0" sz="1725" b="1" i="0" u="none" strike="noStrike" kern="1200" cap="none" spc="0" normalizeH="0" baseline="0" noProof="0" dirty="0">
                <a:ln>
                  <a:noFill/>
                </a:ln>
                <a:solidFill>
                  <a:srgbClr val="FFFFFF"/>
                </a:solidFill>
                <a:effectLst/>
                <a:uLnTx/>
                <a:uFillTx/>
                <a:latin typeface="Calibri"/>
                <a:ea typeface="Calibri"/>
                <a:cs typeface="Calibri"/>
              </a:rPr>
              <a:t>03</a:t>
            </a:r>
          </a:p>
        </p:txBody>
      </p:sp>
      <p:sp>
        <p:nvSpPr>
          <p:cNvPr id="18" name="section-3-title"/>
          <p:cNvSpPr/>
          <p:nvPr/>
        </p:nvSpPr>
        <p:spPr>
          <a:xfrm>
            <a:off x="1771650" y="35147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FFFFFF"/>
                </a:solidFill>
                <a:latin typeface="Calibri"/>
                <a:ea typeface="Calibri"/>
                <a:cs typeface="Calibri"/>
              </a:defRPr>
            </a:pPr>
            <a:r>
              <a:rPr kumimoji="0" sz="1950" b="1" i="0" u="none" strike="noStrike" kern="1200" cap="none" spc="0" normalizeH="0" baseline="0" noProof="0" dirty="0">
                <a:ln>
                  <a:noFill/>
                </a:ln>
                <a:solidFill>
                  <a:srgbClr val="FFFFFF"/>
                </a:solidFill>
                <a:effectLst/>
                <a:uLnTx/>
                <a:uFillTx/>
                <a:latin typeface="Calibri"/>
                <a:ea typeface="Calibri"/>
                <a:cs typeface="Calibri"/>
              </a:rPr>
              <a:t>Evaluation</a:t>
            </a:r>
          </a:p>
        </p:txBody>
      </p:sp>
      <p:sp>
        <p:nvSpPr>
          <p:cNvPr id="19" name="section-3-description"/>
          <p:cNvSpPr/>
          <p:nvPr/>
        </p:nvSpPr>
        <p:spPr>
          <a:xfrm>
            <a:off x="4719245" y="3563064"/>
            <a:ext cx="4495718"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FFFFFF"/>
                </a:solidFill>
                <a:latin typeface="Calibri"/>
                <a:ea typeface="Calibri"/>
                <a:cs typeface="Calibri"/>
              </a:defRPr>
            </a:pPr>
            <a:r>
              <a:rPr kumimoji="0" sz="1600" b="0" i="0" u="none" strike="noStrike" kern="1200" cap="none" spc="0" normalizeH="0" baseline="0" noProof="0" dirty="0">
                <a:ln>
                  <a:noFill/>
                </a:ln>
                <a:solidFill>
                  <a:srgbClr val="FFFFFF"/>
                </a:solidFill>
                <a:effectLst/>
                <a:uLnTx/>
                <a:uFillTx/>
                <a:latin typeface="Calibri"/>
                <a:ea typeface="Calibri"/>
                <a:cs typeface="Calibri"/>
              </a:rPr>
              <a:t>Does STAR improve goodput, tail TPOT, and reliability?</a:t>
            </a:r>
          </a:p>
        </p:txBody>
      </p:sp>
      <p:sp>
        <p:nvSpPr>
          <p:cNvPr id="20" name="section-4-card"/>
          <p:cNvSpPr/>
          <p:nvPr/>
        </p:nvSpPr>
        <p:spPr>
          <a:xfrm>
            <a:off x="781050" y="42481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1" name="section-4-accent"/>
          <p:cNvSpPr/>
          <p:nvPr/>
        </p:nvSpPr>
        <p:spPr>
          <a:xfrm>
            <a:off x="781050" y="42481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2" name="section-4-index"/>
          <p:cNvSpPr/>
          <p:nvPr/>
        </p:nvSpPr>
        <p:spPr>
          <a:xfrm>
            <a:off x="1085850" y="44481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04</a:t>
            </a:r>
          </a:p>
        </p:txBody>
      </p:sp>
      <p:sp>
        <p:nvSpPr>
          <p:cNvPr id="23" name="section-4-title"/>
          <p:cNvSpPr/>
          <p:nvPr/>
        </p:nvSpPr>
        <p:spPr>
          <a:xfrm>
            <a:off x="1771650" y="44291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Takeaways</a:t>
            </a:r>
          </a:p>
        </p:txBody>
      </p:sp>
      <p:sp>
        <p:nvSpPr>
          <p:cNvPr id="24" name="section-4-description"/>
          <p:cNvSpPr/>
          <p:nvPr/>
        </p:nvSpPr>
        <p:spPr>
          <a:xfrm>
            <a:off x="4797408" y="4477464"/>
            <a:ext cx="4339393"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What should serving systems remember from STAR?</a:t>
            </a:r>
          </a:p>
        </p:txBody>
      </p:sp>
      <p:sp>
        <p:nvSpPr>
          <p:cNvPr id="25" name="current-section-panel"/>
          <p:cNvSpPr/>
          <p:nvPr/>
        </p:nvSpPr>
        <p:spPr>
          <a:xfrm>
            <a:off x="781050" y="5410200"/>
            <a:ext cx="9886950" cy="609600"/>
          </a:xfrm>
          <a:prstGeom prst="rect">
            <a:avLst/>
          </a:prstGeom>
          <a:solidFill>
            <a:srgbClr val="F8F6FA"/>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6" name="current-section-label"/>
          <p:cNvSpPr/>
          <p:nvPr/>
        </p:nvSpPr>
        <p:spPr>
          <a:xfrm>
            <a:off x="1047750" y="5572125"/>
            <a:ext cx="2143125" cy="28575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Calibri"/>
                <a:ea typeface="Calibri"/>
                <a:cs typeface="Calibri"/>
              </a:defRPr>
            </a:pPr>
            <a:r>
              <a:rPr kumimoji="0" sz="1600" b="1" i="0" u="none" strike="noStrike" kern="1200" cap="none" spc="0" normalizeH="0" baseline="0" noProof="0" dirty="0">
                <a:ln>
                  <a:noFill/>
                </a:ln>
                <a:solidFill>
                  <a:srgbClr val="4B1D78"/>
                </a:solidFill>
                <a:effectLst/>
                <a:uLnTx/>
                <a:uFillTx/>
                <a:latin typeface="Calibri"/>
                <a:ea typeface="Calibri"/>
                <a:cs typeface="Calibri"/>
              </a:rPr>
              <a:t>CURRENT SESSION</a:t>
            </a:r>
          </a:p>
        </p:txBody>
      </p:sp>
      <p:sp>
        <p:nvSpPr>
          <p:cNvPr id="27" name="current-section-summary"/>
          <p:cNvSpPr/>
          <p:nvPr/>
        </p:nvSpPr>
        <p:spPr>
          <a:xfrm>
            <a:off x="4504795" y="5588042"/>
            <a:ext cx="4924618" cy="253916"/>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650" b="1">
                <a:solidFill>
                  <a:srgbClr val="17131F"/>
                </a:solidFill>
                <a:latin typeface="Calibri"/>
                <a:ea typeface="Calibri"/>
                <a:cs typeface="Calibri"/>
              </a:defRPr>
            </a:pPr>
            <a:r>
              <a:rPr kumimoji="0" sz="1650" b="1" i="0" u="none" strike="noStrike" kern="1200" cap="none" spc="0" normalizeH="0" baseline="0" noProof="0" dirty="0">
                <a:ln>
                  <a:noFill/>
                </a:ln>
                <a:solidFill>
                  <a:srgbClr val="17131F"/>
                </a:solidFill>
                <a:effectLst/>
                <a:uLnTx/>
                <a:uFillTx/>
                <a:latin typeface="Calibri"/>
                <a:ea typeface="Calibri"/>
                <a:cs typeface="Calibri"/>
              </a:rPr>
              <a:t>Does prediction-driven rescheduling pay off end to end?</a:t>
            </a:r>
          </a:p>
        </p:txBody>
      </p:sp>
      <p:sp>
        <p:nvSpPr>
          <p:cNvPr id="28"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9"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sp>
        <p:nvSpPr>
          <p:cNvPr id="31" name="footer-page-number"/>
          <p:cNvSpPr/>
          <p:nvPr/>
        </p:nvSpPr>
        <p:spPr>
          <a:xfrm>
            <a:off x="10829925" y="6477000"/>
            <a:ext cx="381000" cy="161583"/>
          </a:xfrm>
          <a:prstGeom prst="rect">
            <a:avLst/>
          </a:prstGeom>
        </p:spPr>
        <p:txBody>
          <a:bodyPr lIns="0" tIns="0" rIns="0" bIns="0" anchor="t">
            <a:spAutoFit/>
          </a:bodyPr>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sz="1050" b="0" i="0" u="none" strike="noStrike" kern="1200" cap="none" spc="0" normalizeH="0" baseline="0" noProof="0" dirty="0">
                <a:ln>
                  <a:noFill/>
                </a:ln>
                <a:solidFill>
                  <a:srgbClr val="7A7387"/>
                </a:solidFill>
                <a:effectLst/>
                <a:uLnTx/>
                <a:uFillTx/>
                <a:latin typeface="Arial" panose="020B0604020202090204"/>
                <a:cs typeface="Arial" panose="020B0604020202090204"/>
              </a:rPr>
              <a:t>50</a:t>
            </a: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sp>
        <p:nvSpPr>
          <p:cNvPr id="32" name="slide-title"/>
          <p:cNvSpPr/>
          <p:nvPr/>
        </p:nvSpPr>
        <p:spPr>
          <a:xfrm>
            <a:off x="552450" y="554935"/>
            <a:ext cx="1368965" cy="530915"/>
          </a:xfrm>
          <a:prstGeom prst="rect">
            <a:avLst/>
          </a:prstGeom>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3450" b="1">
                <a:solidFill>
                  <a:srgbClr val="17131F"/>
                </a:solidFill>
                <a:latin typeface="&quot;PingFang SC&quot;, Calibri"/>
                <a:ea typeface="&quot;PingFang SC&quot;, Calibri"/>
                <a:cs typeface="&quot;PingFang SC&quot;, Calibri"/>
              </a:defRPr>
            </a:pPr>
            <a:r>
              <a:rPr kumimoji="0" sz="3450" b="1" i="0" u="none" strike="noStrike" kern="1200" cap="none" spc="0" normalizeH="0" baseline="0" noProof="0" dirty="0">
                <a:ln>
                  <a:noFill/>
                </a:ln>
                <a:solidFill>
                  <a:srgbClr val="17131F"/>
                </a:solidFill>
                <a:effectLst/>
                <a:uLnTx/>
                <a:uFillTx/>
                <a:latin typeface="&quot;PingFang SC&quot;, Calibri"/>
              </a:rPr>
              <a:t>Outline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52"/>
          <p:cNvSpPr/>
          <p:nvPr/>
        </p:nvSpPr>
        <p:spPr>
          <a:xfrm>
            <a:off x="3752850" y="4707288"/>
            <a:ext cx="7750906" cy="605724"/>
          </a:xfrm>
          <a:prstGeom prst="round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dirty="0">
              <a:ln>
                <a:noFill/>
              </a:ln>
              <a:solidFill>
                <a:srgbClr val="23232D"/>
              </a:solidFill>
              <a:effectLst/>
              <a:uLnTx/>
              <a:uFillTx/>
              <a:latin typeface="Aptos"/>
              <a:ea typeface="Calibri"/>
              <a:cs typeface="Calibri"/>
            </a:endParaRPr>
          </a:p>
        </p:txBody>
      </p:sp>
      <p:sp>
        <p:nvSpPr>
          <p:cNvPr id="16" name="矩形 15"/>
          <p:cNvSpPr/>
          <p:nvPr/>
        </p:nvSpPr>
        <p:spPr>
          <a:xfrm>
            <a:off x="781050" y="1428750"/>
            <a:ext cx="26670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l" defTabSz="914400" eaLnBrk="1" fontAlgn="auto" latinLnBrk="0" hangingPunct="1">
              <a:lnSpc>
                <a:spcPct val="100000"/>
              </a:lnSpc>
              <a:spcBef>
                <a:spcPts val="0"/>
              </a:spcBef>
              <a:spcAft>
                <a:spcPts val="0"/>
              </a:spcAft>
              <a:buClrTx/>
              <a:buSzTx/>
              <a:buFontTx/>
              <a:buNone/>
              <a:tabLst/>
              <a:defRPr sz="1735" b="1">
                <a:solidFill>
                  <a:srgbClr val="1F3154"/>
                </a:solidFill>
                <a:latin typeface="Arial" panose="020B0604020202090204"/>
                <a:ea typeface="Arial" panose="020B0604020202090204"/>
                <a:cs typeface="Arial" panose="020B0604020202090204"/>
              </a:defRPr>
            </a:pPr>
            <a:r>
              <a:rPr kumimoji="0" sz="1735"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Measured outcomes</a:t>
            </a:r>
          </a:p>
        </p:txBody>
      </p:sp>
      <p:sp>
        <p:nvSpPr>
          <p:cNvPr id="17" name="矩形 16"/>
          <p:cNvSpPr/>
          <p:nvPr/>
        </p:nvSpPr>
        <p:spPr>
          <a:xfrm>
            <a:off x="800100" y="1828800"/>
            <a:ext cx="2667000" cy="1009650"/>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8" name="矩形 17"/>
          <p:cNvSpPr/>
          <p:nvPr/>
        </p:nvSpPr>
        <p:spPr>
          <a:xfrm>
            <a:off x="800100" y="1828800"/>
            <a:ext cx="66675" cy="1009650"/>
          </a:xfrm>
          <a:prstGeom prst="rect">
            <a:avLst/>
          </a:prstGeom>
          <a:solidFill>
            <a:srgbClr val="4F1556"/>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9" name="矩形 18"/>
          <p:cNvSpPr/>
          <p:nvPr/>
        </p:nvSpPr>
        <p:spPr>
          <a:xfrm>
            <a:off x="1009650" y="1981200"/>
            <a:ext cx="2152650" cy="1524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l" defTabSz="914400" eaLnBrk="1" fontAlgn="auto" latinLnBrk="0" hangingPunct="1">
              <a:lnSpc>
                <a:spcPct val="100000"/>
              </a:lnSpc>
              <a:spcBef>
                <a:spcPts val="0"/>
              </a:spcBef>
              <a:spcAft>
                <a:spcPts val="0"/>
              </a:spcAft>
              <a:buClrTx/>
              <a:buSzTx/>
              <a:buFontTx/>
              <a:buNone/>
              <a:tabLst/>
              <a:defRPr sz="870" b="1">
                <a:solidFill>
                  <a:srgbClr val="4F1556"/>
                </a:solidFill>
                <a:latin typeface="Arial" panose="020B0604020202090204"/>
                <a:ea typeface="Arial" panose="020B0604020202090204"/>
                <a:cs typeface="Arial" panose="020B0604020202090204"/>
              </a:defRPr>
            </a:pPr>
            <a:r>
              <a:rPr kumimoji="0" sz="100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METRIC</a:t>
            </a:r>
          </a:p>
        </p:txBody>
      </p:sp>
      <p:sp>
        <p:nvSpPr>
          <p:cNvPr id="20" name="矩形 19"/>
          <p:cNvSpPr/>
          <p:nvPr/>
        </p:nvSpPr>
        <p:spPr>
          <a:xfrm>
            <a:off x="1009650" y="2190750"/>
            <a:ext cx="215265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l" defTabSz="914400" eaLnBrk="1" fontAlgn="auto" latinLnBrk="0" hangingPunct="1">
              <a:lnSpc>
                <a:spcPct val="100000"/>
              </a:lnSpc>
              <a:spcBef>
                <a:spcPts val="0"/>
              </a:spcBef>
              <a:spcAft>
                <a:spcPts val="0"/>
              </a:spcAft>
              <a:buClrTx/>
              <a:buSzTx/>
              <a:buFontTx/>
              <a:buNone/>
              <a:tabLst/>
              <a:defRPr sz="1485"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Goodput</a:t>
            </a:r>
          </a:p>
        </p:txBody>
      </p:sp>
      <p:sp>
        <p:nvSpPr>
          <p:cNvPr id="21" name="矩形 20"/>
          <p:cNvSpPr/>
          <p:nvPr/>
        </p:nvSpPr>
        <p:spPr>
          <a:xfrm>
            <a:off x="1009649" y="2505075"/>
            <a:ext cx="2428875" cy="1524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5D6878"/>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Request throughput that satisfy the SLO.</a:t>
            </a:r>
          </a:p>
        </p:txBody>
      </p:sp>
      <p:sp>
        <p:nvSpPr>
          <p:cNvPr id="22" name="矩形 21"/>
          <p:cNvSpPr/>
          <p:nvPr/>
        </p:nvSpPr>
        <p:spPr>
          <a:xfrm>
            <a:off x="800100" y="3105150"/>
            <a:ext cx="2647950" cy="1009650"/>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3" name="矩形 22"/>
          <p:cNvSpPr/>
          <p:nvPr/>
        </p:nvSpPr>
        <p:spPr>
          <a:xfrm>
            <a:off x="800100" y="3105150"/>
            <a:ext cx="66675" cy="1009650"/>
          </a:xfrm>
          <a:prstGeom prst="rect">
            <a:avLst/>
          </a:prstGeom>
          <a:solidFill>
            <a:srgbClr val="B8954E"/>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4" name="矩形 23"/>
          <p:cNvSpPr/>
          <p:nvPr/>
        </p:nvSpPr>
        <p:spPr>
          <a:xfrm>
            <a:off x="1009650" y="3257550"/>
            <a:ext cx="2152650" cy="1524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l" defTabSz="914400" eaLnBrk="1" fontAlgn="auto" latinLnBrk="0" hangingPunct="1">
              <a:lnSpc>
                <a:spcPct val="100000"/>
              </a:lnSpc>
              <a:spcBef>
                <a:spcPts val="0"/>
              </a:spcBef>
              <a:spcAft>
                <a:spcPts val="0"/>
              </a:spcAft>
              <a:buClrTx/>
              <a:buSzTx/>
              <a:buFontTx/>
              <a:buNone/>
              <a:tabLst/>
              <a:defRPr sz="870" b="1">
                <a:solidFill>
                  <a:srgbClr val="B8954E"/>
                </a:solidFill>
                <a:latin typeface="Arial" panose="020B0604020202090204"/>
                <a:ea typeface="Arial" panose="020B0604020202090204"/>
                <a:cs typeface="Arial" panose="020B0604020202090204"/>
              </a:defRPr>
            </a:pPr>
            <a:r>
              <a:rPr kumimoji="0" sz="1000" b="1" i="0" u="none" strike="noStrike" kern="1200" cap="none" spc="0" normalizeH="0" baseline="0" noProof="0" dirty="0">
                <a:ln>
                  <a:noFill/>
                </a:ln>
                <a:solidFill>
                  <a:srgbClr val="B8954E"/>
                </a:solidFill>
                <a:effectLst/>
                <a:uLnTx/>
                <a:uFillTx/>
                <a:latin typeface="Arial" panose="020B0604020202090204"/>
                <a:ea typeface="Arial" panose="020B0604020202090204"/>
                <a:cs typeface="Arial" panose="020B0604020202090204"/>
              </a:rPr>
              <a:t>METRIC</a:t>
            </a:r>
          </a:p>
        </p:txBody>
      </p:sp>
      <p:sp>
        <p:nvSpPr>
          <p:cNvPr id="25" name="矩形 24"/>
          <p:cNvSpPr/>
          <p:nvPr/>
        </p:nvSpPr>
        <p:spPr>
          <a:xfrm>
            <a:off x="1009650" y="3467100"/>
            <a:ext cx="215265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l" defTabSz="914400" eaLnBrk="1" fontAlgn="auto" latinLnBrk="0" hangingPunct="1">
              <a:lnSpc>
                <a:spcPct val="100000"/>
              </a:lnSpc>
              <a:spcBef>
                <a:spcPts val="0"/>
              </a:spcBef>
              <a:spcAft>
                <a:spcPts val="0"/>
              </a:spcAft>
              <a:buClrTx/>
              <a:buSzTx/>
              <a:buFontTx/>
              <a:buNone/>
              <a:tabLst/>
              <a:defRPr sz="1485"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P99 TPOT</a:t>
            </a:r>
          </a:p>
        </p:txBody>
      </p:sp>
      <p:sp>
        <p:nvSpPr>
          <p:cNvPr id="26" name="矩形 25"/>
          <p:cNvSpPr/>
          <p:nvPr/>
        </p:nvSpPr>
        <p:spPr>
          <a:xfrm>
            <a:off x="1009650" y="3790950"/>
            <a:ext cx="2279015" cy="2095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5D6878"/>
                </a:solidFill>
                <a:latin typeface="Arial" panose="020B0604020202090204"/>
                <a:ea typeface="Arial" panose="020B0604020202090204"/>
                <a:cs typeface="Arial" panose="020B0604020202090204"/>
              </a:defRPr>
            </a:pPr>
            <a:r>
              <a:rPr kumimoji="0" sz="9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Tail latency of decode, where imbalance most directly appears.</a:t>
            </a:r>
          </a:p>
        </p:txBody>
      </p:sp>
      <p:sp>
        <p:nvSpPr>
          <p:cNvPr id="27" name="矩形 26"/>
          <p:cNvSpPr/>
          <p:nvPr/>
        </p:nvSpPr>
        <p:spPr>
          <a:xfrm>
            <a:off x="800100" y="4381500"/>
            <a:ext cx="2638424" cy="1009650"/>
          </a:xfrm>
          <a:prstGeom prst="rect">
            <a:avLst/>
          </a:prstGeom>
          <a:solidFill>
            <a:srgbClr val="FFFFFF"/>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8" name="矩形 27"/>
          <p:cNvSpPr/>
          <p:nvPr/>
        </p:nvSpPr>
        <p:spPr>
          <a:xfrm>
            <a:off x="800100" y="4381500"/>
            <a:ext cx="66675" cy="1009650"/>
          </a:xfrm>
          <a:prstGeom prst="rect">
            <a:avLst/>
          </a:prstGeom>
          <a:solidFill>
            <a:srgbClr val="47745B"/>
          </a:solidFill>
          <a:ln w="0">
            <a:solidFill>
              <a:srgbClr val="000000">
                <a:alpha val="0"/>
              </a:srgbClr>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9" name="矩形 28"/>
          <p:cNvSpPr/>
          <p:nvPr/>
        </p:nvSpPr>
        <p:spPr>
          <a:xfrm>
            <a:off x="1009650" y="4533900"/>
            <a:ext cx="2152650" cy="1524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l" defTabSz="914400" eaLnBrk="1" fontAlgn="auto" latinLnBrk="0" hangingPunct="1">
              <a:lnSpc>
                <a:spcPct val="100000"/>
              </a:lnSpc>
              <a:spcBef>
                <a:spcPts val="0"/>
              </a:spcBef>
              <a:spcAft>
                <a:spcPts val="0"/>
              </a:spcAft>
              <a:buClrTx/>
              <a:buSzTx/>
              <a:buFontTx/>
              <a:buNone/>
              <a:tabLst/>
              <a:defRPr sz="870" b="1">
                <a:solidFill>
                  <a:srgbClr val="47745B"/>
                </a:solidFill>
                <a:latin typeface="Arial" panose="020B0604020202090204"/>
                <a:ea typeface="Arial" panose="020B0604020202090204"/>
                <a:cs typeface="Arial" panose="020B0604020202090204"/>
              </a:defRPr>
            </a:pPr>
            <a:r>
              <a:rPr kumimoji="0" sz="1000" b="1" i="0" u="none" strike="noStrike" kern="1200" cap="none" spc="0" normalizeH="0" baseline="0" noProof="0" dirty="0">
                <a:ln>
                  <a:noFill/>
                </a:ln>
                <a:solidFill>
                  <a:srgbClr val="47745B"/>
                </a:solidFill>
                <a:effectLst/>
                <a:uLnTx/>
                <a:uFillTx/>
                <a:latin typeface="Arial" panose="020B0604020202090204"/>
                <a:ea typeface="Arial" panose="020B0604020202090204"/>
                <a:cs typeface="Arial" panose="020B0604020202090204"/>
              </a:rPr>
              <a:t>METRIC</a:t>
            </a:r>
          </a:p>
        </p:txBody>
      </p:sp>
      <p:sp>
        <p:nvSpPr>
          <p:cNvPr id="30" name="矩形 29"/>
          <p:cNvSpPr/>
          <p:nvPr/>
        </p:nvSpPr>
        <p:spPr>
          <a:xfrm>
            <a:off x="1009650" y="4743450"/>
            <a:ext cx="215265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marL="0" marR="0" lvl="0" indent="0" algn="l" defTabSz="914400" eaLnBrk="1" fontAlgn="auto" latinLnBrk="0" hangingPunct="1">
              <a:lnSpc>
                <a:spcPct val="100000"/>
              </a:lnSpc>
              <a:spcBef>
                <a:spcPts val="0"/>
              </a:spcBef>
              <a:spcAft>
                <a:spcPts val="0"/>
              </a:spcAft>
              <a:buClrTx/>
              <a:buSzTx/>
              <a:buFontTx/>
              <a:buNone/>
              <a:tabLst/>
              <a:defRPr sz="1485"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OOM behavior</a:t>
            </a:r>
          </a:p>
        </p:txBody>
      </p:sp>
      <p:sp>
        <p:nvSpPr>
          <p:cNvPr id="31" name="矩形 30"/>
          <p:cNvSpPr/>
          <p:nvPr/>
        </p:nvSpPr>
        <p:spPr>
          <a:xfrm>
            <a:off x="1009650" y="5067300"/>
            <a:ext cx="2361565" cy="2667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955" b="0">
                <a:solidFill>
                  <a:srgbClr val="5D6878"/>
                </a:solidFill>
                <a:latin typeface="Arial" panose="020B0604020202090204"/>
                <a:ea typeface="Arial" panose="020B0604020202090204"/>
                <a:cs typeface="Arial" panose="020B0604020202090204"/>
              </a:defRPr>
            </a:pPr>
            <a:r>
              <a:rPr kumimoji="0" sz="9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KV-cache saturation trace under long outputs.</a:t>
            </a:r>
          </a:p>
        </p:txBody>
      </p:sp>
      <p:sp>
        <p:nvSpPr>
          <p:cNvPr id="32" name="矩形 31"/>
          <p:cNvSpPr/>
          <p:nvPr/>
        </p:nvSpPr>
        <p:spPr>
          <a:xfrm>
            <a:off x="3981450" y="1524000"/>
            <a:ext cx="1438088" cy="457200"/>
          </a:xfrm>
          <a:prstGeom prst="rect">
            <a:avLst/>
          </a:prstGeom>
          <a:solidFill>
            <a:srgbClr val="4F1556"/>
          </a:solidFill>
          <a:ln w="5715">
            <a:solidFill>
              <a:srgbClr val="FFFFFF"/>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3" name="矩形 32"/>
          <p:cNvSpPr/>
          <p:nvPr/>
        </p:nvSpPr>
        <p:spPr>
          <a:xfrm>
            <a:off x="4048125" y="1581150"/>
            <a:ext cx="1304738" cy="3429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1">
                <a:solidFill>
                  <a:srgbClr val="FFFFFF"/>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Setting</a:t>
            </a:r>
          </a:p>
        </p:txBody>
      </p:sp>
      <p:sp>
        <p:nvSpPr>
          <p:cNvPr id="34" name="矩形 33"/>
          <p:cNvSpPr/>
          <p:nvPr/>
        </p:nvSpPr>
        <p:spPr>
          <a:xfrm>
            <a:off x="5419538" y="1524000"/>
            <a:ext cx="2614706" cy="457200"/>
          </a:xfrm>
          <a:prstGeom prst="rect">
            <a:avLst/>
          </a:prstGeom>
          <a:solidFill>
            <a:srgbClr val="4F1556"/>
          </a:solidFill>
          <a:ln w="5715">
            <a:solidFill>
              <a:srgbClr val="FFFFFF"/>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5" name="矩形 34"/>
          <p:cNvSpPr/>
          <p:nvPr/>
        </p:nvSpPr>
        <p:spPr>
          <a:xfrm>
            <a:off x="5486213" y="1581150"/>
            <a:ext cx="2481356" cy="3429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1">
                <a:solidFill>
                  <a:srgbClr val="FFFFFF"/>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Small cluster</a:t>
            </a:r>
          </a:p>
        </p:txBody>
      </p:sp>
      <p:sp>
        <p:nvSpPr>
          <p:cNvPr id="36" name="矩形 35"/>
          <p:cNvSpPr/>
          <p:nvPr/>
        </p:nvSpPr>
        <p:spPr>
          <a:xfrm>
            <a:off x="8034244" y="1524000"/>
            <a:ext cx="2614706" cy="457200"/>
          </a:xfrm>
          <a:prstGeom prst="rect">
            <a:avLst/>
          </a:prstGeom>
          <a:solidFill>
            <a:srgbClr val="4F1556"/>
          </a:solidFill>
          <a:ln w="5715">
            <a:solidFill>
              <a:srgbClr val="FFFFFF"/>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7" name="矩形 36"/>
          <p:cNvSpPr/>
          <p:nvPr/>
        </p:nvSpPr>
        <p:spPr>
          <a:xfrm>
            <a:off x="8100919" y="1581150"/>
            <a:ext cx="2481356" cy="34290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1">
                <a:solidFill>
                  <a:srgbClr val="FFFFFF"/>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FFFFFF"/>
                </a:solidFill>
                <a:effectLst/>
                <a:uLnTx/>
                <a:uFillTx/>
                <a:latin typeface="Arial" panose="020B0604020202090204"/>
                <a:ea typeface="Arial" panose="020B0604020202090204"/>
                <a:cs typeface="Arial" panose="020B0604020202090204"/>
              </a:rPr>
              <a:t>Large cluster</a:t>
            </a:r>
          </a:p>
        </p:txBody>
      </p:sp>
      <p:sp>
        <p:nvSpPr>
          <p:cNvPr id="38" name="矩形 37"/>
          <p:cNvSpPr/>
          <p:nvPr/>
        </p:nvSpPr>
        <p:spPr>
          <a:xfrm>
            <a:off x="3981450" y="1981200"/>
            <a:ext cx="1438088" cy="4572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9" name="矩形 38"/>
          <p:cNvSpPr/>
          <p:nvPr/>
        </p:nvSpPr>
        <p:spPr>
          <a:xfrm>
            <a:off x="4048125" y="2028825"/>
            <a:ext cx="1304738"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GPU</a:t>
            </a:r>
          </a:p>
        </p:txBody>
      </p:sp>
      <p:sp>
        <p:nvSpPr>
          <p:cNvPr id="40" name="矩形 39"/>
          <p:cNvSpPr/>
          <p:nvPr/>
        </p:nvSpPr>
        <p:spPr>
          <a:xfrm>
            <a:off x="5419538" y="1981200"/>
            <a:ext cx="2614706" cy="4572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1" name="矩形 40"/>
          <p:cNvSpPr/>
          <p:nvPr/>
        </p:nvSpPr>
        <p:spPr>
          <a:xfrm>
            <a:off x="5486213" y="2028825"/>
            <a:ext cx="2481356"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4x RTX 4090D</a:t>
            </a:r>
          </a:p>
        </p:txBody>
      </p:sp>
      <p:sp>
        <p:nvSpPr>
          <p:cNvPr id="42" name="矩形 41"/>
          <p:cNvSpPr/>
          <p:nvPr/>
        </p:nvSpPr>
        <p:spPr>
          <a:xfrm>
            <a:off x="8034244" y="1981200"/>
            <a:ext cx="2614706" cy="4572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3" name="矩形 42"/>
          <p:cNvSpPr/>
          <p:nvPr/>
        </p:nvSpPr>
        <p:spPr>
          <a:xfrm>
            <a:off x="8100919" y="2028825"/>
            <a:ext cx="2481356"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8x H800</a:t>
            </a:r>
          </a:p>
        </p:txBody>
      </p:sp>
      <p:sp>
        <p:nvSpPr>
          <p:cNvPr id="44" name="矩形 43"/>
          <p:cNvSpPr/>
          <p:nvPr/>
        </p:nvSpPr>
        <p:spPr>
          <a:xfrm>
            <a:off x="3981450" y="2438400"/>
            <a:ext cx="1438088" cy="457200"/>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5" name="矩形 44"/>
          <p:cNvSpPr/>
          <p:nvPr/>
        </p:nvSpPr>
        <p:spPr>
          <a:xfrm>
            <a:off x="4048125" y="2486025"/>
            <a:ext cx="1304738"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Breakdown</a:t>
            </a:r>
          </a:p>
        </p:txBody>
      </p:sp>
      <p:sp>
        <p:nvSpPr>
          <p:cNvPr id="46" name="矩形 45"/>
          <p:cNvSpPr/>
          <p:nvPr/>
        </p:nvSpPr>
        <p:spPr>
          <a:xfrm>
            <a:off x="5419538" y="2438400"/>
            <a:ext cx="2614706" cy="457200"/>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7" name="矩形 46"/>
          <p:cNvSpPr/>
          <p:nvPr/>
        </p:nvSpPr>
        <p:spPr>
          <a:xfrm>
            <a:off x="5486213" y="2486025"/>
            <a:ext cx="2481356"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1P + 3D</a:t>
            </a:r>
          </a:p>
        </p:txBody>
      </p:sp>
      <p:sp>
        <p:nvSpPr>
          <p:cNvPr id="48" name="矩形 47"/>
          <p:cNvSpPr/>
          <p:nvPr/>
        </p:nvSpPr>
        <p:spPr>
          <a:xfrm>
            <a:off x="8034244" y="2438400"/>
            <a:ext cx="2614706" cy="457200"/>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9" name="矩形 48"/>
          <p:cNvSpPr/>
          <p:nvPr/>
        </p:nvSpPr>
        <p:spPr>
          <a:xfrm>
            <a:off x="8100919" y="2486025"/>
            <a:ext cx="2481356"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2P + 6D</a:t>
            </a:r>
          </a:p>
        </p:txBody>
      </p:sp>
      <p:sp>
        <p:nvSpPr>
          <p:cNvPr id="50" name="矩形 49"/>
          <p:cNvSpPr/>
          <p:nvPr/>
        </p:nvSpPr>
        <p:spPr>
          <a:xfrm>
            <a:off x="3981450" y="2895600"/>
            <a:ext cx="1438088" cy="4572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1" name="矩形 50"/>
          <p:cNvSpPr/>
          <p:nvPr/>
        </p:nvSpPr>
        <p:spPr>
          <a:xfrm>
            <a:off x="4048125" y="2943225"/>
            <a:ext cx="1304738"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Models</a:t>
            </a:r>
          </a:p>
        </p:txBody>
      </p:sp>
      <p:sp>
        <p:nvSpPr>
          <p:cNvPr id="52" name="矩形 51"/>
          <p:cNvSpPr/>
          <p:nvPr/>
        </p:nvSpPr>
        <p:spPr>
          <a:xfrm>
            <a:off x="5419538" y="2895600"/>
            <a:ext cx="2614706" cy="4572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3" name="矩形 52"/>
          <p:cNvSpPr/>
          <p:nvPr/>
        </p:nvSpPr>
        <p:spPr>
          <a:xfrm>
            <a:off x="5486213" y="2943225"/>
            <a:ext cx="2481356"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DeepSeek-R1-Distill-Qwen-7B</a:t>
            </a:r>
          </a:p>
        </p:txBody>
      </p:sp>
      <p:sp>
        <p:nvSpPr>
          <p:cNvPr id="54" name="矩形 53"/>
          <p:cNvSpPr/>
          <p:nvPr/>
        </p:nvSpPr>
        <p:spPr>
          <a:xfrm>
            <a:off x="8034244" y="2895600"/>
            <a:ext cx="2614706" cy="4572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5" name="矩形 54"/>
          <p:cNvSpPr/>
          <p:nvPr/>
        </p:nvSpPr>
        <p:spPr>
          <a:xfrm>
            <a:off x="8100919" y="2943225"/>
            <a:ext cx="2481356"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7B + Qwen3-14B</a:t>
            </a:r>
          </a:p>
        </p:txBody>
      </p:sp>
      <p:sp>
        <p:nvSpPr>
          <p:cNvPr id="56" name="矩形 55"/>
          <p:cNvSpPr/>
          <p:nvPr/>
        </p:nvSpPr>
        <p:spPr>
          <a:xfrm>
            <a:off x="3981450" y="3352800"/>
            <a:ext cx="1438088" cy="457200"/>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7" name="矩形 56"/>
          <p:cNvSpPr/>
          <p:nvPr/>
        </p:nvSpPr>
        <p:spPr>
          <a:xfrm>
            <a:off x="4048125" y="3400425"/>
            <a:ext cx="1304738"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Baseline</a:t>
            </a:r>
            <a:r>
              <a:rPr kumimoji="0" lang="en-US"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s</a:t>
            </a:r>
          </a:p>
        </p:txBody>
      </p:sp>
      <p:sp>
        <p:nvSpPr>
          <p:cNvPr id="58" name="矩形 57"/>
          <p:cNvSpPr/>
          <p:nvPr/>
        </p:nvSpPr>
        <p:spPr>
          <a:xfrm>
            <a:off x="5419725" y="3352800"/>
            <a:ext cx="5229225" cy="457200"/>
          </a:xfrm>
          <a:prstGeom prst="rect">
            <a:avLst/>
          </a:prstGeom>
          <a:solidFill>
            <a:srgbClr val="FFFFFF"/>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9" name="矩形 58"/>
          <p:cNvSpPr/>
          <p:nvPr/>
        </p:nvSpPr>
        <p:spPr>
          <a:xfrm>
            <a:off x="5486400" y="3395980"/>
            <a:ext cx="4975860" cy="361950"/>
          </a:xfrm>
          <a:prstGeom prst="rect">
            <a:avLst/>
          </a:prstGeom>
          <a:solidFill>
            <a:srgbClr val="000000">
              <a:alpha val="0"/>
            </a:srgbClr>
          </a:solidFill>
          <a:ln w="0">
            <a:solidFill>
              <a:srgbClr val="000000">
                <a:alpha val="0"/>
              </a:srgbClr>
            </a:solidFill>
            <a:prstDash val="solid"/>
          </a:ln>
        </p:spPr>
        <p:txBody>
          <a:bodyPr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035" b="1">
                <a:solidFill>
                  <a:srgbClr val="1F3154"/>
                </a:solidFill>
                <a:latin typeface="Arial" panose="020B0604020202090204"/>
                <a:ea typeface="Arial" panose="020B0604020202090204"/>
                <a:cs typeface="Arial" panose="020B0604020202090204"/>
              </a:defRPr>
            </a:pPr>
            <a:r>
              <a:rPr kumimoji="0" sz="1200" b="1" i="0" u="none" strike="noStrike" kern="1200" cap="none" spc="0" normalizeH="0" baseline="0" noProof="0" dirty="0" err="1">
                <a:ln>
                  <a:noFill/>
                </a:ln>
                <a:solidFill>
                  <a:srgbClr val="1F3154"/>
                </a:solidFill>
                <a:effectLst/>
                <a:uLnTx/>
                <a:uFillTx/>
                <a:latin typeface="Arial" panose="020B0604020202090204"/>
                <a:ea typeface="Arial" panose="020B0604020202090204"/>
                <a:cs typeface="Arial" panose="020B0604020202090204"/>
              </a:rPr>
              <a:t>vLLM</a:t>
            </a:r>
            <a:r>
              <a:rPr kumimoji="0" lang="en-US" sz="1200" b="1" i="0" u="none" strike="noStrike" kern="1200" cap="none" spc="0" normalizeH="0" baseline="0" noProof="0" dirty="0" err="1">
                <a:ln>
                  <a:noFill/>
                </a:ln>
                <a:solidFill>
                  <a:srgbClr val="1F3154"/>
                </a:solidFill>
                <a:effectLst/>
                <a:uLnTx/>
                <a:uFillTx/>
                <a:latin typeface="Arial" panose="020B0604020202090204"/>
                <a:ea typeface="Arial" panose="020B0604020202090204"/>
                <a:cs typeface="Arial" panose="020B0604020202090204"/>
              </a:rPr>
              <a:t>(</a:t>
            </a:r>
            <a:r>
              <a:rPr kumimoji="0" lang="en-US" altLang="zh-CN" sz="1200" b="1" i="0" u="none" strike="noStrike" kern="1200" cap="none" spc="0" normalizeH="0" baseline="0" noProof="0" dirty="0" err="1">
                <a:ln>
                  <a:noFill/>
                </a:ln>
                <a:solidFill>
                  <a:srgbClr val="1F3154"/>
                </a:solidFill>
                <a:effectLst/>
                <a:uLnTx/>
                <a:uFillTx/>
                <a:latin typeface="Arial" panose="020B0604020202090204"/>
                <a:ea typeface="Arial" panose="020B0604020202090204"/>
                <a:cs typeface="Arial" panose="020B0604020202090204"/>
              </a:rPr>
              <a:t>industry-standard serving framework);</a:t>
            </a:r>
          </a:p>
          <a:p>
            <a:pPr marL="0" marR="0" lvl="0" indent="0" algn="l" defTabSz="914400" eaLnBrk="1" fontAlgn="auto" latinLnBrk="0" hangingPunct="1">
              <a:lnSpc>
                <a:spcPct val="100000"/>
              </a:lnSpc>
              <a:spcBef>
                <a:spcPts val="0"/>
              </a:spcBef>
              <a:spcAft>
                <a:spcPts val="0"/>
              </a:spcAft>
              <a:buClrTx/>
              <a:buSzTx/>
              <a:buFontTx/>
              <a:buNone/>
              <a:tabLst/>
              <a:defRPr sz="1035" b="1">
                <a:solidFill>
                  <a:srgbClr val="1F3154"/>
                </a:solidFill>
                <a:latin typeface="Arial" panose="020B0604020202090204"/>
                <a:ea typeface="Arial" panose="020B0604020202090204"/>
                <a:cs typeface="Arial" panose="020B0604020202090204"/>
              </a:defRPr>
            </a:pPr>
            <a:r>
              <a:rPr kumimoji="0" lang="en-US" sz="1200" b="1" i="0" u="none" strike="noStrike" kern="1200" cap="none" spc="0" normalizeH="0" baseline="0" noProof="0" dirty="0" err="1">
                <a:ln>
                  <a:noFill/>
                </a:ln>
                <a:solidFill>
                  <a:srgbClr val="1F3154"/>
                </a:solidFill>
                <a:effectLst/>
                <a:uLnTx/>
                <a:uFillTx/>
                <a:latin typeface="Arial" panose="020B0604020202090204"/>
                <a:cs typeface="Arial" panose="020B0604020202090204"/>
                <a:sym typeface="+mn-ea"/>
              </a:rPr>
              <a:t>STAR w/o prediction; STAR w/ prediction; STAR Oracle</a:t>
            </a:r>
            <a:endParaRPr kumimoji="0" lang="en-US" altLang="zh-CN" sz="1200" b="1" i="0" u="none" strike="noStrike" kern="1200" cap="none" spc="0" normalizeH="0" baseline="0" noProof="0" dirty="0" err="1">
              <a:ln>
                <a:noFill/>
              </a:ln>
              <a:solidFill>
                <a:srgbClr val="1F3154"/>
              </a:solidFill>
              <a:effectLst/>
              <a:uLnTx/>
              <a:uFillTx/>
              <a:latin typeface="Arial" panose="020B0604020202090204"/>
              <a:ea typeface="Arial" panose="020B0604020202090204"/>
              <a:cs typeface="Arial" panose="020B0604020202090204"/>
            </a:endParaRPr>
          </a:p>
        </p:txBody>
      </p:sp>
      <p:sp>
        <p:nvSpPr>
          <p:cNvPr id="62" name="矩形 61"/>
          <p:cNvSpPr/>
          <p:nvPr/>
        </p:nvSpPr>
        <p:spPr>
          <a:xfrm>
            <a:off x="3981450" y="3810000"/>
            <a:ext cx="1438088" cy="4572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3" name="矩形 62"/>
          <p:cNvSpPr/>
          <p:nvPr/>
        </p:nvSpPr>
        <p:spPr>
          <a:xfrm>
            <a:off x="4048125" y="3857625"/>
            <a:ext cx="1304738"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SLO</a:t>
            </a:r>
          </a:p>
        </p:txBody>
      </p:sp>
      <p:sp>
        <p:nvSpPr>
          <p:cNvPr id="64" name="矩形 63"/>
          <p:cNvSpPr/>
          <p:nvPr/>
        </p:nvSpPr>
        <p:spPr>
          <a:xfrm>
            <a:off x="5419538" y="3810000"/>
            <a:ext cx="2614706" cy="4572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5" name="矩形 64"/>
          <p:cNvSpPr/>
          <p:nvPr/>
        </p:nvSpPr>
        <p:spPr>
          <a:xfrm>
            <a:off x="5486213" y="3857625"/>
            <a:ext cx="2481356" cy="361950"/>
          </a:xfrm>
          <a:prstGeom prst="rect">
            <a:avLst/>
          </a:prstGeom>
          <a:solidFill>
            <a:srgbClr val="000000">
              <a:alpha val="0"/>
            </a:srgbClr>
          </a:solidFill>
          <a:ln w="0">
            <a:solidFill>
              <a:srgbClr val="000000">
                <a:alpha val="0"/>
              </a:srgbClr>
            </a:solidFill>
            <a:prstDash val="solid"/>
          </a:ln>
        </p:spPr>
        <p:txBody>
          <a:bodyPr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TTFT &lt; 1s, TPOT &lt; 25ms</a:t>
            </a:r>
          </a:p>
        </p:txBody>
      </p:sp>
      <p:sp>
        <p:nvSpPr>
          <p:cNvPr id="66" name="矩形 65"/>
          <p:cNvSpPr/>
          <p:nvPr/>
        </p:nvSpPr>
        <p:spPr>
          <a:xfrm>
            <a:off x="8034244" y="3810000"/>
            <a:ext cx="2614706" cy="457200"/>
          </a:xfrm>
          <a:prstGeom prst="rect">
            <a:avLst/>
          </a:prstGeom>
          <a:solidFill>
            <a:srgbClr val="FBF8FC"/>
          </a:solidFill>
          <a:ln w="6668">
            <a:solidFill>
              <a:srgbClr val="E8DDE9"/>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7" name="矩形 66"/>
          <p:cNvSpPr/>
          <p:nvPr/>
        </p:nvSpPr>
        <p:spPr>
          <a:xfrm>
            <a:off x="8100919" y="3857625"/>
            <a:ext cx="2481356" cy="361950"/>
          </a:xfrm>
          <a:prstGeom prst="rect">
            <a:avLst/>
          </a:prstGeom>
          <a:solidFill>
            <a:srgbClr val="000000">
              <a:alpha val="0"/>
            </a:srgbClr>
          </a:solidFill>
          <a:ln w="0">
            <a:solidFill>
              <a:srgbClr val="000000">
                <a:alpha val="0"/>
              </a:srgbClr>
            </a:solidFill>
            <a:prstDash val="solid"/>
          </a:ln>
        </p:spPr>
        <p:txBody>
          <a:bodyPr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1035" b="0">
                <a:solidFill>
                  <a:srgbClr val="1F3154"/>
                </a:solidFill>
                <a:latin typeface="Arial" panose="020B0604020202090204"/>
                <a:ea typeface="Arial" panose="020B0604020202090204"/>
                <a:cs typeface="Arial" panose="020B0604020202090204"/>
              </a:defRPr>
            </a:pPr>
            <a:r>
              <a:rPr kumimoji="0" sz="1400" b="0"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TTFT &lt; 1s, TPOT &lt; 50ms</a:t>
            </a:r>
          </a:p>
        </p:txBody>
      </p:sp>
      <p:sp>
        <p:nvSpPr>
          <p:cNvPr id="68" name="矩形 67"/>
          <p:cNvSpPr/>
          <p:nvPr/>
        </p:nvSpPr>
        <p:spPr>
          <a:xfrm>
            <a:off x="3926168" y="4817807"/>
            <a:ext cx="7404271" cy="307777"/>
          </a:xfrm>
          <a:prstGeom prst="rect">
            <a:avLst/>
          </a:prstGeom>
          <a:solidFill>
            <a:srgbClr val="000000">
              <a:alpha val="0"/>
            </a:srgbClr>
          </a:solidFill>
          <a:ln w="0">
            <a:solidFill>
              <a:srgbClr val="000000">
                <a:alpha val="0"/>
              </a:srgbClr>
            </a:solidFill>
            <a:prstDash val="solid"/>
          </a:ln>
        </p:spPr>
        <p:txBody>
          <a:bodyPr wrap="none" lIns="0" tIns="0" rIns="0" bIns="0" anchor="ctr" anchorCtr="1">
            <a:spAutoFit/>
          </a:bodyPr>
          <a:lstStyle/>
          <a:p>
            <a:pPr marL="0" marR="0" lvl="0" indent="0" algn="ctr" defTabSz="914400" eaLnBrk="1" fontAlgn="auto" latinLnBrk="0" hangingPunct="1">
              <a:lnSpc>
                <a:spcPct val="100000"/>
              </a:lnSpc>
              <a:spcBef>
                <a:spcPts val="0"/>
              </a:spcBef>
              <a:spcAft>
                <a:spcPts val="0"/>
              </a:spcAft>
              <a:buClrTx/>
              <a:buSzTx/>
              <a:buFontTx/>
              <a:buNone/>
              <a:tabLst/>
              <a:defRPr sz="1400" b="1">
                <a:solidFill>
                  <a:srgbClr val="1F3154"/>
                </a:solidFill>
                <a:latin typeface="Arial" panose="020B0604020202090204"/>
                <a:ea typeface="Arial" panose="020B0604020202090204"/>
                <a:cs typeface="Arial" panose="020B0604020202090204"/>
              </a:defRPr>
            </a:pPr>
            <a:r>
              <a:rPr kumimoji="0" sz="20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Baselines isolate runtime rescheduling and prediction gains.</a:t>
            </a:r>
          </a:p>
        </p:txBody>
      </p:sp>
      <p:sp>
        <p:nvSpPr>
          <p:cNvPr id="69"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0"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EVALUATION SETUP</a:t>
            </a:r>
          </a:p>
        </p:txBody>
      </p:sp>
      <p:sp>
        <p:nvSpPr>
          <p:cNvPr id="71" name="slide-title"/>
          <p:cNvSpPr/>
          <p:nvPr/>
        </p:nvSpPr>
        <p:spPr>
          <a:xfrm>
            <a:off x="552450" y="566738"/>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dirty="0">
                <a:ln>
                  <a:noFill/>
                </a:ln>
                <a:solidFill>
                  <a:srgbClr val="17131F"/>
                </a:solidFill>
                <a:effectLst/>
                <a:uLnTx/>
                <a:uFillTx/>
                <a:ea typeface="PingFang SC" panose="020B0400000000000000" charset="-122"/>
              </a:rPr>
              <a:t>Setup isolates rescheduling and prediction.</a:t>
            </a:r>
          </a:p>
        </p:txBody>
      </p:sp>
      <p:sp>
        <p:nvSpPr>
          <p:cNvPr id="72"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3"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4"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75" name="图片 10"/>
          <p:cNvPicPr>
            <a:picLocks noChangeAspect="1"/>
          </p:cNvPicPr>
          <p:nvPr/>
        </p:nvPicPr>
        <p:blipFill>
          <a:blip r:embed="rId3"/>
          <a:stretch>
            <a:fillRect/>
          </a:stretch>
        </p:blipFill>
        <p:spPr>
          <a:xfrm>
            <a:off x="9639300" y="354718"/>
            <a:ext cx="1571625" cy="481189"/>
          </a:xfrm>
          <a:prstGeom prst="rect">
            <a:avLst/>
          </a:prstGeom>
        </p:spPr>
      </p:pic>
      <p:sp>
        <p:nvSpPr>
          <p:cNvPr id="81"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552450" y="1352550"/>
            <a:ext cx="5048250" cy="3143250"/>
          </a:xfrm>
          <a:prstGeom prst="rect">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17" name="图片 17"/>
          <p:cNvPicPr>
            <a:picLocks noChangeAspect="1"/>
          </p:cNvPicPr>
          <p:nvPr/>
        </p:nvPicPr>
        <p:blipFill>
          <a:blip r:embed="rId3"/>
          <a:stretch>
            <a:fillRect/>
          </a:stretch>
        </p:blipFill>
        <p:spPr>
          <a:xfrm>
            <a:off x="653468" y="1409700"/>
            <a:ext cx="4846214" cy="2800350"/>
          </a:xfrm>
          <a:prstGeom prst="rect">
            <a:avLst/>
          </a:prstGeom>
        </p:spPr>
      </p:pic>
      <p:sp>
        <p:nvSpPr>
          <p:cNvPr id="3" name="矩形 2"/>
          <p:cNvSpPr/>
          <p:nvPr/>
        </p:nvSpPr>
        <p:spPr>
          <a:xfrm>
            <a:off x="755650" y="4267200"/>
            <a:ext cx="4819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07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Goodput on </a:t>
            </a:r>
            <a:r>
              <a:rPr kumimoji="0" sz="1070" b="0" i="0" u="none" strike="noStrike" kern="1200" cap="none" spc="0" normalizeH="0" baseline="0" noProof="0" dirty="0" err="1">
                <a:ln>
                  <a:noFill/>
                </a:ln>
                <a:solidFill>
                  <a:srgbClr val="5D6878"/>
                </a:solidFill>
                <a:effectLst/>
                <a:uLnTx/>
                <a:uFillTx/>
                <a:latin typeface="Arial" panose="020B0604020202090204"/>
                <a:ea typeface="Arial" panose="020B0604020202090204"/>
                <a:cs typeface="Arial" panose="020B0604020202090204"/>
              </a:rPr>
              <a:t>ShareGPT</a:t>
            </a:r>
            <a:r>
              <a:rPr kumimoji="0" sz="107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 </a:t>
            </a:r>
            <a:r>
              <a:rPr kumimoji="0" lang="en-US" sz="107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8 * </a:t>
            </a:r>
            <a:r>
              <a:rPr kumimoji="0" sz="107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H800</a:t>
            </a:r>
          </a:p>
        </p:txBody>
      </p:sp>
      <p:sp>
        <p:nvSpPr>
          <p:cNvPr id="19" name="矩形 18"/>
          <p:cNvSpPr/>
          <p:nvPr/>
        </p:nvSpPr>
        <p:spPr>
          <a:xfrm>
            <a:off x="5962650" y="1352550"/>
            <a:ext cx="5048250" cy="3143250"/>
          </a:xfrm>
          <a:prstGeom prst="rect">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20" name="图片 20"/>
          <p:cNvPicPr>
            <a:picLocks noChangeAspect="1"/>
          </p:cNvPicPr>
          <p:nvPr/>
        </p:nvPicPr>
        <p:blipFill>
          <a:blip r:embed="rId4"/>
          <a:stretch>
            <a:fillRect/>
          </a:stretch>
        </p:blipFill>
        <p:spPr>
          <a:xfrm>
            <a:off x="6169030" y="1409700"/>
            <a:ext cx="4635491" cy="2800350"/>
          </a:xfrm>
          <a:prstGeom prst="rect">
            <a:avLst/>
          </a:prstGeom>
        </p:spPr>
      </p:pic>
      <p:sp>
        <p:nvSpPr>
          <p:cNvPr id="10" name="矩形 9"/>
          <p:cNvSpPr/>
          <p:nvPr/>
        </p:nvSpPr>
        <p:spPr>
          <a:xfrm>
            <a:off x="6201410" y="4267200"/>
            <a:ext cx="48196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07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P99 TPOT </a:t>
            </a:r>
            <a:r>
              <a:rPr kumimoji="0" sz="1070" b="0" i="0" u="none" strike="noStrike" kern="1200" cap="none" spc="0" normalizeH="0" baseline="0" noProof="0" dirty="0">
                <a:ln>
                  <a:noFill/>
                </a:ln>
                <a:solidFill>
                  <a:srgbClr val="5D6878"/>
                </a:solidFill>
                <a:effectLst/>
                <a:uLnTx/>
                <a:uFillTx/>
                <a:latin typeface="Arial" panose="020B0604020202090204"/>
                <a:cs typeface="Arial" panose="020B0604020202090204"/>
              </a:rPr>
              <a:t>on </a:t>
            </a:r>
            <a:r>
              <a:rPr kumimoji="0" sz="1070" b="0" i="0" u="none" strike="noStrike" kern="1200" cap="none" spc="0" normalizeH="0" baseline="0" noProof="0" dirty="0" err="1">
                <a:ln>
                  <a:noFill/>
                </a:ln>
                <a:solidFill>
                  <a:srgbClr val="5D6878"/>
                </a:solidFill>
                <a:effectLst/>
                <a:uLnTx/>
                <a:uFillTx/>
                <a:latin typeface="Arial" panose="020B0604020202090204"/>
                <a:cs typeface="Arial" panose="020B0604020202090204"/>
              </a:rPr>
              <a:t>ShareGPT</a:t>
            </a:r>
            <a:r>
              <a:rPr kumimoji="0" sz="1070" b="0" i="0" u="none" strike="noStrike" kern="1200" cap="none" spc="0" normalizeH="0" baseline="0" noProof="0" dirty="0">
                <a:ln>
                  <a:noFill/>
                </a:ln>
                <a:solidFill>
                  <a:srgbClr val="5D6878"/>
                </a:solidFill>
                <a:effectLst/>
                <a:uLnTx/>
                <a:uFillTx/>
                <a:latin typeface="Arial" panose="020B0604020202090204"/>
                <a:cs typeface="Arial" panose="020B0604020202090204"/>
              </a:rPr>
              <a:t>, </a:t>
            </a:r>
            <a:r>
              <a:rPr kumimoji="0" lang="en-US" sz="1070" b="0" i="0" u="none" strike="noStrike" kern="1200" cap="none" spc="0" normalizeH="0" baseline="0" noProof="0" dirty="0">
                <a:ln>
                  <a:noFill/>
                </a:ln>
                <a:solidFill>
                  <a:srgbClr val="5D6878"/>
                </a:solidFill>
                <a:effectLst/>
                <a:uLnTx/>
                <a:uFillTx/>
                <a:latin typeface="Arial" panose="020B0604020202090204"/>
                <a:cs typeface="Arial" panose="020B0604020202090204"/>
              </a:rPr>
              <a:t>8 * </a:t>
            </a:r>
            <a:r>
              <a:rPr kumimoji="0" sz="1070" b="0" i="0" u="none" strike="noStrike" kern="1200" cap="none" spc="0" normalizeH="0" baseline="0" noProof="0" dirty="0">
                <a:ln>
                  <a:noFill/>
                </a:ln>
                <a:solidFill>
                  <a:srgbClr val="5D6878"/>
                </a:solidFill>
                <a:effectLst/>
                <a:uLnTx/>
                <a:uFillTx/>
                <a:latin typeface="Arial" panose="020B0604020202090204"/>
                <a:cs typeface="Arial" panose="020B0604020202090204"/>
              </a:rPr>
              <a:t>H800</a:t>
            </a:r>
          </a:p>
        </p:txBody>
      </p:sp>
      <p:sp>
        <p:nvSpPr>
          <p:cNvPr id="22" name="矩形 21"/>
          <p:cNvSpPr/>
          <p:nvPr/>
        </p:nvSpPr>
        <p:spPr>
          <a:xfrm>
            <a:off x="1776758" y="4776787"/>
            <a:ext cx="2381250" cy="1002665"/>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3" name="矩形 22"/>
          <p:cNvSpPr/>
          <p:nvPr/>
        </p:nvSpPr>
        <p:spPr>
          <a:xfrm>
            <a:off x="2609914" y="4872037"/>
            <a:ext cx="732155" cy="342900"/>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2230" b="1">
                <a:solidFill>
                  <a:srgbClr val="4F1556"/>
                </a:solidFill>
                <a:latin typeface="Arial" panose="020B0604020202090204"/>
                <a:ea typeface="Arial" panose="020B0604020202090204"/>
                <a:cs typeface="Arial" panose="020B0604020202090204"/>
              </a:defRPr>
            </a:pPr>
            <a:r>
              <a:rPr kumimoji="0" lang="en-US" sz="223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a:t>
            </a:r>
            <a:r>
              <a:rPr kumimoji="0" sz="223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53</a:t>
            </a:r>
            <a:r>
              <a:rPr kumimoji="0" lang="en-US" sz="2230" b="1" i="0" u="none" strike="noStrike" kern="1200" cap="none" spc="0" normalizeH="0" baseline="0" noProof="0" dirty="0">
                <a:ln>
                  <a:noFill/>
                </a:ln>
                <a:solidFill>
                  <a:srgbClr val="4F1556"/>
                </a:solidFill>
                <a:effectLst/>
                <a:uLnTx/>
                <a:uFillTx/>
                <a:latin typeface="Arial" panose="020B0604020202090204"/>
                <a:ea typeface="Arial" panose="020B0604020202090204"/>
                <a:cs typeface="Arial" panose="020B0604020202090204"/>
              </a:rPr>
              <a:t>%</a:t>
            </a:r>
          </a:p>
        </p:txBody>
      </p:sp>
      <p:sp>
        <p:nvSpPr>
          <p:cNvPr id="24" name="矩形 23"/>
          <p:cNvSpPr/>
          <p:nvPr/>
        </p:nvSpPr>
        <p:spPr>
          <a:xfrm>
            <a:off x="2138631" y="5224462"/>
            <a:ext cx="1657505"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goodput over </a:t>
            </a:r>
            <a:r>
              <a:rPr kumimoji="0" sz="1400" b="1" i="0" u="none" strike="noStrike" kern="1200" cap="none" spc="0" normalizeH="0" baseline="0" noProof="0" dirty="0" err="1">
                <a:ln>
                  <a:noFill/>
                </a:ln>
                <a:solidFill>
                  <a:srgbClr val="1F3154"/>
                </a:solidFill>
                <a:effectLst/>
                <a:uLnTx/>
                <a:uFillTx/>
                <a:latin typeface="Arial" panose="020B0604020202090204"/>
                <a:ea typeface="Arial" panose="020B0604020202090204"/>
                <a:cs typeface="Arial" panose="020B0604020202090204"/>
              </a:rPr>
              <a:t>vLLM</a:t>
            </a:r>
            <a:endPar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endParaRPr>
          </a:p>
        </p:txBody>
      </p:sp>
      <p:sp>
        <p:nvSpPr>
          <p:cNvPr id="25" name="矩形 24"/>
          <p:cNvSpPr/>
          <p:nvPr/>
        </p:nvSpPr>
        <p:spPr>
          <a:xfrm>
            <a:off x="2145844" y="5510212"/>
            <a:ext cx="1643079" cy="153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0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At 0.20 req/s in H800 cluster.</a:t>
            </a:r>
          </a:p>
        </p:txBody>
      </p:sp>
      <p:sp>
        <p:nvSpPr>
          <p:cNvPr id="26" name="矩形 25"/>
          <p:cNvSpPr/>
          <p:nvPr/>
        </p:nvSpPr>
        <p:spPr>
          <a:xfrm>
            <a:off x="4653337" y="4776787"/>
            <a:ext cx="2381250" cy="1002665"/>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7" name="矩形 26"/>
          <p:cNvSpPr/>
          <p:nvPr/>
        </p:nvSpPr>
        <p:spPr>
          <a:xfrm>
            <a:off x="5482357" y="4872037"/>
            <a:ext cx="723211" cy="34317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2230" b="1">
                <a:solidFill>
                  <a:srgbClr val="B8954E"/>
                </a:solidFill>
                <a:latin typeface="Arial" panose="020B0604020202090204"/>
                <a:ea typeface="Arial" panose="020B0604020202090204"/>
                <a:cs typeface="Arial" panose="020B0604020202090204"/>
              </a:defRPr>
            </a:pPr>
            <a:r>
              <a:rPr kumimoji="0" sz="2230" b="1" i="0" u="none" strike="noStrike" kern="1200" cap="none" spc="0" normalizeH="0" baseline="0" noProof="0" dirty="0">
                <a:ln>
                  <a:noFill/>
                </a:ln>
                <a:solidFill>
                  <a:srgbClr val="B8954E"/>
                </a:solidFill>
                <a:effectLst/>
                <a:uLnTx/>
                <a:uFillTx/>
                <a:latin typeface="Arial" panose="020B0604020202090204"/>
                <a:ea typeface="Arial" panose="020B0604020202090204"/>
                <a:cs typeface="Arial" panose="020B0604020202090204"/>
              </a:rPr>
              <a:t>+11%</a:t>
            </a:r>
          </a:p>
        </p:txBody>
      </p:sp>
      <p:sp>
        <p:nvSpPr>
          <p:cNvPr id="28" name="矩形 27"/>
          <p:cNvSpPr/>
          <p:nvPr/>
        </p:nvSpPr>
        <p:spPr>
          <a:xfrm>
            <a:off x="4948685" y="5224462"/>
            <a:ext cx="1790555"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extra from prediction</a:t>
            </a:r>
          </a:p>
        </p:txBody>
      </p:sp>
      <p:sp>
        <p:nvSpPr>
          <p:cNvPr id="29" name="矩形 28"/>
          <p:cNvSpPr/>
          <p:nvPr/>
        </p:nvSpPr>
        <p:spPr>
          <a:xfrm>
            <a:off x="4786687" y="5512117"/>
            <a:ext cx="2114550" cy="153888"/>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0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Over rescheduling without prediction.</a:t>
            </a:r>
          </a:p>
        </p:txBody>
      </p:sp>
      <p:sp>
        <p:nvSpPr>
          <p:cNvPr id="30" name="矩形 29"/>
          <p:cNvSpPr/>
          <p:nvPr/>
        </p:nvSpPr>
        <p:spPr>
          <a:xfrm>
            <a:off x="7529916" y="4776787"/>
            <a:ext cx="2381250" cy="1002665"/>
          </a:xfrm>
          <a:prstGeom prst="rect">
            <a:avLst/>
          </a:prstGeom>
          <a:solidFill>
            <a:srgbClr val="F7F2F8"/>
          </a:solidFill>
          <a:ln w="9525">
            <a:solidFill>
              <a:srgbClr val="D8C7DE"/>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1" name="矩形 30"/>
          <p:cNvSpPr/>
          <p:nvPr/>
        </p:nvSpPr>
        <p:spPr>
          <a:xfrm>
            <a:off x="8387117" y="4872037"/>
            <a:ext cx="666849" cy="34317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2230" b="1">
                <a:solidFill>
                  <a:srgbClr val="47745B"/>
                </a:solidFill>
                <a:latin typeface="Arial" panose="020B0604020202090204"/>
                <a:ea typeface="Arial" panose="020B0604020202090204"/>
                <a:cs typeface="Arial" panose="020B0604020202090204"/>
              </a:defRPr>
            </a:pPr>
            <a:r>
              <a:rPr kumimoji="0" lang="en-US" altLang="zh-CN" sz="2230" b="1" i="0" u="none" strike="noStrike" kern="1200" cap="none" spc="0" normalizeH="0" baseline="0" noProof="0" dirty="0">
                <a:ln>
                  <a:noFill/>
                </a:ln>
                <a:solidFill>
                  <a:srgbClr val="47745B"/>
                </a:solidFill>
                <a:effectLst/>
                <a:uLnTx/>
                <a:uFillTx/>
                <a:latin typeface="Arial" panose="020B0604020202090204"/>
                <a:ea typeface="Arial" panose="020B0604020202090204"/>
                <a:cs typeface="Arial" panose="020B0604020202090204"/>
              </a:rPr>
              <a:t>-</a:t>
            </a:r>
            <a:r>
              <a:rPr kumimoji="0" sz="2230" b="1" i="0" u="none" strike="noStrike" kern="1200" cap="none" spc="0" normalizeH="0" baseline="0" noProof="0" dirty="0">
                <a:ln>
                  <a:noFill/>
                </a:ln>
                <a:solidFill>
                  <a:srgbClr val="47745B"/>
                </a:solidFill>
                <a:effectLst/>
                <a:uLnTx/>
                <a:uFillTx/>
                <a:latin typeface="Arial" panose="020B0604020202090204"/>
                <a:ea typeface="Arial" panose="020B0604020202090204"/>
                <a:cs typeface="Arial" panose="020B0604020202090204"/>
              </a:rPr>
              <a:t>33%</a:t>
            </a:r>
          </a:p>
        </p:txBody>
      </p:sp>
      <p:sp>
        <p:nvSpPr>
          <p:cNvPr id="32" name="矩形 31"/>
          <p:cNvSpPr/>
          <p:nvPr/>
        </p:nvSpPr>
        <p:spPr>
          <a:xfrm>
            <a:off x="7865339" y="5224462"/>
            <a:ext cx="1710405" cy="215444"/>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120" b="1">
                <a:solidFill>
                  <a:srgbClr val="1F3154"/>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P99 TPOT reduction</a:t>
            </a:r>
          </a:p>
        </p:txBody>
      </p:sp>
      <p:sp>
        <p:nvSpPr>
          <p:cNvPr id="33" name="矩形 32"/>
          <p:cNvSpPr/>
          <p:nvPr/>
        </p:nvSpPr>
        <p:spPr>
          <a:xfrm>
            <a:off x="7702634" y="5510847"/>
            <a:ext cx="2035814" cy="138499"/>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9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H800 setting shown: 39.6ms -&gt; 26.5ms.</a:t>
            </a:r>
          </a:p>
        </p:txBody>
      </p:sp>
      <p:sp>
        <p:nvSpPr>
          <p:cNvPr id="38"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39"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END-TO-END RESULTS</a:t>
            </a:r>
          </a:p>
        </p:txBody>
      </p:sp>
      <p:sp>
        <p:nvSpPr>
          <p:cNvPr id="40" name="slide-title"/>
          <p:cNvSpPr/>
          <p:nvPr/>
        </p:nvSpPr>
        <p:spPr>
          <a:xfrm>
            <a:off x="552450" y="551498"/>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dirty="0">
                <a:ln>
                  <a:noFill/>
                </a:ln>
                <a:solidFill>
                  <a:srgbClr val="17131F"/>
                </a:solidFill>
                <a:effectLst/>
                <a:uLnTx/>
                <a:uFillTx/>
                <a:ea typeface="PingFang SC" panose="020B0400000000000000" charset="-122"/>
              </a:rPr>
              <a:t>STAR boosts goodput and cuts tail TPOT.</a:t>
            </a:r>
          </a:p>
        </p:txBody>
      </p:sp>
      <p:sp>
        <p:nvSpPr>
          <p:cNvPr id="41"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2"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3"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44" name="图片 10"/>
          <p:cNvPicPr>
            <a:picLocks noChangeAspect="1"/>
          </p:cNvPicPr>
          <p:nvPr/>
        </p:nvPicPr>
        <p:blipFill>
          <a:blip r:embed="rId5"/>
          <a:stretch>
            <a:fillRect/>
          </a:stretch>
        </p:blipFill>
        <p:spPr>
          <a:xfrm>
            <a:off x="9639300" y="354718"/>
            <a:ext cx="1571625" cy="481189"/>
          </a:xfrm>
          <a:prstGeom prst="rect">
            <a:avLst/>
          </a:prstGeom>
        </p:spPr>
      </p:pic>
      <p:sp>
        <p:nvSpPr>
          <p:cNvPr id="56"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sz="1050" b="0" i="0" u="none" strike="noStrike" kern="1200" cap="none" spc="0" normalizeH="0" baseline="0" noProof="0" dirty="0">
                <a:ln>
                  <a:noFill/>
                </a:ln>
                <a:solidFill>
                  <a:srgbClr val="7A7387"/>
                </a:solidFill>
                <a:effectLst/>
                <a:uLnTx/>
                <a:uFillTx/>
                <a:latin typeface="Arial" panose="020B0604020202090204"/>
                <a:cs typeface="Arial" panose="020B0604020202090204"/>
              </a:rPr>
              <a:t>52</a:t>
            </a: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pic>
        <p:nvPicPr>
          <p:cNvPr id="2" name="图片 1"/>
          <p:cNvPicPr>
            <a:picLocks noChangeAspect="1"/>
          </p:cNvPicPr>
          <p:nvPr/>
        </p:nvPicPr>
        <p:blipFill>
          <a:blip r:embed="rId6"/>
          <a:stretch>
            <a:fillRect/>
          </a:stretch>
        </p:blipFill>
        <p:spPr>
          <a:xfrm>
            <a:off x="1325245" y="1492250"/>
            <a:ext cx="1508760" cy="610235"/>
          </a:xfrm>
          <a:prstGeom prst="rect">
            <a:avLst/>
          </a:prstGeom>
        </p:spPr>
      </p:pic>
      <p:pic>
        <p:nvPicPr>
          <p:cNvPr id="4" name="图片 3"/>
          <p:cNvPicPr>
            <a:picLocks noChangeAspect="1"/>
          </p:cNvPicPr>
          <p:nvPr/>
        </p:nvPicPr>
        <p:blipFill>
          <a:blip r:embed="rId7"/>
          <a:stretch>
            <a:fillRect/>
          </a:stretch>
        </p:blipFill>
        <p:spPr>
          <a:xfrm>
            <a:off x="6677025" y="1536700"/>
            <a:ext cx="1423670" cy="5041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73"/>
          <p:cNvSpPr/>
          <p:nvPr/>
        </p:nvSpPr>
        <p:spPr>
          <a:xfrm>
            <a:off x="5634851" y="4682370"/>
            <a:ext cx="5274154" cy="716773"/>
          </a:xfrm>
          <a:prstGeom prst="roundRect">
            <a:avLst>
              <a:gd name="adj" fmla="val 31624"/>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200" b="1" i="0" u="none" strike="noStrike" kern="1200" cap="none" spc="0" normalizeH="0" baseline="0" noProof="0" dirty="0">
              <a:ln>
                <a:noFill/>
              </a:ln>
              <a:solidFill>
                <a:srgbClr val="2D1B69"/>
              </a:solidFill>
              <a:effectLst/>
              <a:uLnTx/>
              <a:uFillTx/>
              <a:latin typeface="Aptos"/>
              <a:ea typeface="Calibri"/>
              <a:cs typeface="Calibri"/>
            </a:endParaRPr>
          </a:p>
        </p:txBody>
      </p:sp>
      <p:sp>
        <p:nvSpPr>
          <p:cNvPr id="3" name="矩形 2"/>
          <p:cNvSpPr/>
          <p:nvPr/>
        </p:nvSpPr>
        <p:spPr>
          <a:xfrm>
            <a:off x="704850" y="5900023"/>
            <a:ext cx="4101636" cy="246221"/>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6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KV-cache usage and OOM events over time</a:t>
            </a:r>
          </a:p>
        </p:txBody>
      </p:sp>
      <p:sp>
        <p:nvSpPr>
          <p:cNvPr id="47"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8"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RELIABILITY</a:t>
            </a:r>
          </a:p>
        </p:txBody>
      </p:sp>
      <p:sp>
        <p:nvSpPr>
          <p:cNvPr id="49" name="slide-title"/>
          <p:cNvSpPr/>
          <p:nvPr/>
        </p:nvSpPr>
        <p:spPr>
          <a:xfrm>
            <a:off x="552450" y="561975"/>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dirty="0">
                <a:ln>
                  <a:noFill/>
                </a:ln>
                <a:solidFill>
                  <a:srgbClr val="17131F"/>
                </a:solidFill>
                <a:effectLst/>
                <a:uLnTx/>
                <a:uFillTx/>
                <a:ea typeface="PingFang SC" panose="020B0400000000000000" charset="-122"/>
              </a:rPr>
              <a:t>Foresight prevents KV-cache cascades.</a:t>
            </a:r>
          </a:p>
        </p:txBody>
      </p:sp>
      <p:sp>
        <p:nvSpPr>
          <p:cNvPr id="50"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1"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2"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53" name="图片 10"/>
          <p:cNvPicPr>
            <a:picLocks noChangeAspect="1"/>
          </p:cNvPicPr>
          <p:nvPr/>
        </p:nvPicPr>
        <p:blipFill>
          <a:blip r:embed="rId3"/>
          <a:stretch>
            <a:fillRect/>
          </a:stretch>
        </p:blipFill>
        <p:spPr>
          <a:xfrm>
            <a:off x="9639300" y="354718"/>
            <a:ext cx="1571625" cy="481189"/>
          </a:xfrm>
          <a:prstGeom prst="rect">
            <a:avLst/>
          </a:prstGeom>
        </p:spPr>
      </p:pic>
      <p:sp>
        <p:nvSpPr>
          <p:cNvPr id="62"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altLang="zh-CN" sz="1050" b="0" i="0" u="none" strike="noStrike" kern="1200" cap="none" spc="0" normalizeH="0" baseline="0" noProof="0" dirty="0">
                <a:ln>
                  <a:noFill/>
                </a:ln>
                <a:solidFill>
                  <a:srgbClr val="7A7387"/>
                </a:solidFill>
                <a:effectLst/>
                <a:uLnTx/>
                <a:uFillTx/>
                <a:latin typeface="Arial" panose="020B0604020202090204"/>
                <a:cs typeface="Arial" panose="020B0604020202090204"/>
              </a:rPr>
              <a:t>53</a:t>
            </a:r>
          </a:p>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sp>
        <p:nvSpPr>
          <p:cNvPr id="43" name="矩形 42"/>
          <p:cNvSpPr/>
          <p:nvPr/>
        </p:nvSpPr>
        <p:spPr>
          <a:xfrm>
            <a:off x="5769928" y="4729996"/>
            <a:ext cx="4838569" cy="615553"/>
          </a:xfrm>
          <a:prstGeom prst="rect">
            <a:avLst/>
          </a:prstGeom>
          <a:solidFill>
            <a:srgbClr val="000000">
              <a:alpha val="0"/>
            </a:srgbClr>
          </a:solidFill>
          <a:ln w="0">
            <a:solidFill>
              <a:srgbClr val="000000">
                <a:alpha val="0"/>
              </a:srgbClr>
            </a:solidFill>
            <a:prstDash val="solid"/>
          </a:ln>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200" b="1">
                <a:solidFill>
                  <a:srgbClr val="1F3154"/>
                </a:solidFill>
                <a:latin typeface="Arial" panose="020B0604020202090204"/>
                <a:ea typeface="Arial" panose="020B0604020202090204"/>
                <a:cs typeface="Arial" panose="020B0604020202090204"/>
              </a:defRPr>
            </a:pPr>
            <a:r>
              <a:rPr kumimoji="0" sz="20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Avoiding OOM prevents </a:t>
            </a:r>
            <a:r>
              <a:rPr kumimoji="0" sz="2000" b="1" i="0" u="none" strike="noStrike" kern="1200" cap="none" spc="0" normalizeH="0" baseline="0" noProof="0" dirty="0" err="1">
                <a:ln>
                  <a:noFill/>
                </a:ln>
                <a:solidFill>
                  <a:srgbClr val="1F3154"/>
                </a:solidFill>
                <a:effectLst/>
                <a:uLnTx/>
                <a:uFillTx/>
                <a:latin typeface="Arial" panose="020B0604020202090204"/>
                <a:ea typeface="Arial" panose="020B0604020202090204"/>
                <a:cs typeface="Arial" panose="020B0604020202090204"/>
              </a:rPr>
              <a:t>recomputation</a:t>
            </a:r>
            <a:r>
              <a:rPr kumimoji="0" sz="20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 tail spikes, and cascading instability.</a:t>
            </a:r>
          </a:p>
        </p:txBody>
      </p:sp>
      <p:sp>
        <p:nvSpPr>
          <p:cNvPr id="5" name="Rounded Rectangle 72"/>
          <p:cNvSpPr/>
          <p:nvPr/>
        </p:nvSpPr>
        <p:spPr>
          <a:xfrm>
            <a:off x="5769928" y="3912811"/>
            <a:ext cx="2266314" cy="594360"/>
          </a:xfrm>
          <a:prstGeom prst="roundRect">
            <a:avLst>
              <a:gd name="adj" fmla="val 29488"/>
            </a:avLst>
          </a:prstGeom>
          <a:solidFill>
            <a:srgbClr val="F5E6C8"/>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B8860B"/>
                </a:solidFill>
                <a:effectLst/>
                <a:uLnTx/>
                <a:uFillTx/>
                <a:latin typeface="Aptos"/>
                <a:ea typeface="Calibri"/>
                <a:cs typeface="Calibri"/>
              </a:rPr>
              <a:t>Less OOMs</a:t>
            </a:r>
          </a:p>
        </p:txBody>
      </p:sp>
      <p:sp>
        <p:nvSpPr>
          <p:cNvPr id="6" name="Rounded Rectangle 73"/>
          <p:cNvSpPr/>
          <p:nvPr/>
        </p:nvSpPr>
        <p:spPr>
          <a:xfrm>
            <a:off x="8431213" y="3910966"/>
            <a:ext cx="2296160" cy="594360"/>
          </a:xfrm>
          <a:prstGeom prst="roundRect">
            <a:avLst>
              <a:gd name="adj" fmla="val 31624"/>
            </a:avLst>
          </a:prstGeom>
          <a:solidFill>
            <a:srgbClr val="E8E0F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2D1B69"/>
                </a:solidFill>
                <a:effectLst/>
                <a:uLnTx/>
                <a:uFillTx/>
                <a:latin typeface="Aptos"/>
                <a:ea typeface="Calibri"/>
                <a:cs typeface="Calibri"/>
              </a:rPr>
              <a:t>Less </a:t>
            </a:r>
            <a:r>
              <a:rPr kumimoji="0" sz="2200" b="1" i="0" u="none" strike="noStrike" kern="1200" cap="none" spc="0" normalizeH="0" baseline="0" noProof="0" dirty="0" err="1">
                <a:ln>
                  <a:noFill/>
                </a:ln>
                <a:solidFill>
                  <a:srgbClr val="2D1B69"/>
                </a:solidFill>
                <a:effectLst/>
                <a:uLnTx/>
                <a:uFillTx/>
                <a:latin typeface="Aptos"/>
                <a:ea typeface="Calibri"/>
                <a:cs typeface="Calibri"/>
              </a:rPr>
              <a:t>rescheds</a:t>
            </a:r>
            <a:endParaRPr kumimoji="0" sz="2200" b="1" i="0" u="none" strike="noStrike" kern="1200" cap="none" spc="0" normalizeH="0" baseline="0" noProof="0" dirty="0">
              <a:ln>
                <a:noFill/>
              </a:ln>
              <a:solidFill>
                <a:srgbClr val="2D1B69"/>
              </a:solidFill>
              <a:effectLst/>
              <a:uLnTx/>
              <a:uFillTx/>
              <a:latin typeface="Aptos"/>
              <a:ea typeface="Calibri"/>
              <a:cs typeface="Calibri"/>
            </a:endParaRPr>
          </a:p>
        </p:txBody>
      </p:sp>
      <p:grpSp>
        <p:nvGrpSpPr>
          <p:cNvPr id="7" name="组合 6"/>
          <p:cNvGrpSpPr/>
          <p:nvPr/>
        </p:nvGrpSpPr>
        <p:grpSpPr>
          <a:xfrm>
            <a:off x="5429250" y="1417320"/>
            <a:ext cx="5856605" cy="2319655"/>
            <a:chOff x="1447800" y="1417320"/>
            <a:chExt cx="5856605" cy="2148839"/>
          </a:xfrm>
        </p:grpSpPr>
        <p:sp>
          <p:nvSpPr>
            <p:cNvPr id="8" name="Rectangle 62"/>
            <p:cNvSpPr/>
            <p:nvPr/>
          </p:nvSpPr>
          <p:spPr>
            <a:xfrm>
              <a:off x="1447800" y="1417320"/>
              <a:ext cx="1569719" cy="429768"/>
            </a:xfrm>
            <a:prstGeom prst="rect">
              <a:avLst/>
            </a:prstGeom>
            <a:solidFill>
              <a:srgbClr val="2D1B6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FFFFFF"/>
                  </a:solidFill>
                  <a:effectLst/>
                  <a:uLnTx/>
                  <a:uFillTx/>
                  <a:latin typeface="Aptos"/>
                  <a:ea typeface="Calibri"/>
                  <a:cs typeface="Calibri"/>
                </a:rPr>
                <a:t>System</a:t>
              </a:r>
            </a:p>
          </p:txBody>
        </p:sp>
        <p:sp>
          <p:nvSpPr>
            <p:cNvPr id="9" name="Rectangle 63"/>
            <p:cNvSpPr/>
            <p:nvPr/>
          </p:nvSpPr>
          <p:spPr>
            <a:xfrm>
              <a:off x="3017520" y="1417320"/>
              <a:ext cx="4286250" cy="430003"/>
            </a:xfrm>
            <a:prstGeom prst="rect">
              <a:avLst/>
            </a:prstGeom>
            <a:solidFill>
              <a:srgbClr val="2D1B6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FFFFFF"/>
                  </a:solidFill>
                  <a:effectLst/>
                  <a:uLnTx/>
                  <a:uFillTx/>
                  <a:latin typeface="Aptos"/>
                  <a:ea typeface="Calibri"/>
                  <a:cs typeface="Calibri"/>
                </a:rPr>
                <a:t>Runtime behavior</a:t>
              </a:r>
            </a:p>
          </p:txBody>
        </p:sp>
        <p:sp>
          <p:nvSpPr>
            <p:cNvPr id="11" name="Rectangle 64"/>
            <p:cNvSpPr/>
            <p:nvPr/>
          </p:nvSpPr>
          <p:spPr>
            <a:xfrm>
              <a:off x="1447800" y="1847088"/>
              <a:ext cx="1569719" cy="429768"/>
            </a:xfrm>
            <a:prstGeom prst="rect">
              <a:avLst/>
            </a:prstGeom>
            <a:solidFill>
              <a:srgbClr val="FFFFFF"/>
            </a:solidFill>
            <a:ln w="12700">
              <a:solidFill>
                <a:srgbClr val="DADAE2"/>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err="1">
                  <a:ln>
                    <a:noFill/>
                  </a:ln>
                  <a:solidFill>
                    <a:srgbClr val="23232D"/>
                  </a:solidFill>
                  <a:effectLst/>
                  <a:uLnTx/>
                  <a:uFillTx/>
                  <a:latin typeface="Aptos"/>
                  <a:ea typeface="Calibri"/>
                  <a:cs typeface="Calibri"/>
                </a:rPr>
                <a:t>vLLM</a:t>
              </a:r>
              <a:endParaRPr kumimoji="0" sz="1800" b="1" i="0" u="none" strike="noStrike" kern="1200" cap="none" spc="0" normalizeH="0" baseline="0" noProof="0" dirty="0">
                <a:ln>
                  <a:noFill/>
                </a:ln>
                <a:solidFill>
                  <a:srgbClr val="23232D"/>
                </a:solidFill>
                <a:effectLst/>
                <a:uLnTx/>
                <a:uFillTx/>
                <a:latin typeface="Aptos"/>
                <a:ea typeface="Calibri"/>
                <a:cs typeface="Calibri"/>
              </a:endParaRPr>
            </a:p>
          </p:txBody>
        </p:sp>
        <p:sp>
          <p:nvSpPr>
            <p:cNvPr id="12" name="Rectangle 65"/>
            <p:cNvSpPr/>
            <p:nvPr/>
          </p:nvSpPr>
          <p:spPr>
            <a:xfrm>
              <a:off x="3017520" y="1847323"/>
              <a:ext cx="4285615" cy="430003"/>
            </a:xfrm>
            <a:prstGeom prst="rect">
              <a:avLst/>
            </a:prstGeom>
            <a:solidFill>
              <a:srgbClr val="FFFFFF"/>
            </a:solidFill>
            <a:ln w="12700">
              <a:solidFill>
                <a:srgbClr val="DADAE2"/>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dirty="0">
                  <a:ln>
                    <a:noFill/>
                  </a:ln>
                  <a:solidFill>
                    <a:srgbClr val="23232D"/>
                  </a:solidFill>
                  <a:effectLst/>
                  <a:uLnTx/>
                  <a:uFillTx/>
                  <a:latin typeface="Aptos"/>
                  <a:ea typeface="Calibri"/>
                  <a:cs typeface="Calibri"/>
                </a:rPr>
                <a:t>Many OOM events; cascading </a:t>
              </a:r>
              <a:r>
                <a:rPr kumimoji="0" sz="1600" b="0" i="0" u="none" strike="noStrike" kern="1200" cap="none" spc="0" normalizeH="0" baseline="0" noProof="0" dirty="0" err="1">
                  <a:ln>
                    <a:noFill/>
                  </a:ln>
                  <a:solidFill>
                    <a:srgbClr val="23232D"/>
                  </a:solidFill>
                  <a:effectLst/>
                  <a:uLnTx/>
                  <a:uFillTx/>
                  <a:latin typeface="Aptos"/>
                  <a:ea typeface="Calibri"/>
                  <a:cs typeface="Calibri"/>
                </a:rPr>
                <a:t>recomputation</a:t>
              </a:r>
              <a:endParaRPr kumimoji="0" sz="1600" b="0" i="0" u="none" strike="noStrike" kern="1200" cap="none" spc="0" normalizeH="0" baseline="0" noProof="0" dirty="0">
                <a:ln>
                  <a:noFill/>
                </a:ln>
                <a:solidFill>
                  <a:srgbClr val="23232D"/>
                </a:solidFill>
                <a:effectLst/>
                <a:uLnTx/>
                <a:uFillTx/>
                <a:latin typeface="Aptos"/>
                <a:ea typeface="Calibri"/>
                <a:cs typeface="Calibri"/>
              </a:endParaRPr>
            </a:p>
          </p:txBody>
        </p:sp>
        <p:sp>
          <p:nvSpPr>
            <p:cNvPr id="13" name="Rectangle 66"/>
            <p:cNvSpPr/>
            <p:nvPr/>
          </p:nvSpPr>
          <p:spPr>
            <a:xfrm>
              <a:off x="1447800" y="2276856"/>
              <a:ext cx="1569719" cy="429768"/>
            </a:xfrm>
            <a:prstGeom prst="rect">
              <a:avLst/>
            </a:prstGeom>
            <a:solidFill>
              <a:srgbClr val="F5F5F8"/>
            </a:solidFill>
            <a:ln w="12700">
              <a:solidFill>
                <a:srgbClr val="DADAE2"/>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sz="1600" b="1" i="0" u="none" strike="noStrike" kern="1200" cap="none" spc="0" normalizeH="0" baseline="0" noProof="0" dirty="0">
                  <a:ln>
                    <a:noFill/>
                  </a:ln>
                  <a:solidFill>
                    <a:srgbClr val="23232D"/>
                  </a:solidFill>
                  <a:effectLst/>
                  <a:uLnTx/>
                  <a:uFillTx/>
                  <a:latin typeface="Aptos"/>
                  <a:ea typeface="Calibri"/>
                  <a:cs typeface="Calibri"/>
                </a:rPr>
                <a:t>STAR w/o pred.</a:t>
              </a:r>
            </a:p>
          </p:txBody>
        </p:sp>
        <p:sp>
          <p:nvSpPr>
            <p:cNvPr id="14" name="Rectangle 67"/>
            <p:cNvSpPr/>
            <p:nvPr/>
          </p:nvSpPr>
          <p:spPr>
            <a:xfrm>
              <a:off x="3017520" y="2276738"/>
              <a:ext cx="4285615" cy="430003"/>
            </a:xfrm>
            <a:prstGeom prst="rect">
              <a:avLst/>
            </a:prstGeom>
            <a:solidFill>
              <a:srgbClr val="F5F5F8"/>
            </a:solidFill>
            <a:ln w="12700">
              <a:solidFill>
                <a:srgbClr val="DADAE2"/>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srgbClr val="23232D"/>
                  </a:solidFill>
                  <a:effectLst/>
                  <a:uLnTx/>
                  <a:uFillTx/>
                  <a:latin typeface="Aptos"/>
                  <a:ea typeface="Calibri"/>
                  <a:cs typeface="Calibri"/>
                </a:rPr>
                <a:t>Fewer OOMs after migration</a:t>
              </a:r>
            </a:p>
          </p:txBody>
        </p:sp>
        <p:sp>
          <p:nvSpPr>
            <p:cNvPr id="15" name="Rectangle 68"/>
            <p:cNvSpPr/>
            <p:nvPr/>
          </p:nvSpPr>
          <p:spPr>
            <a:xfrm>
              <a:off x="1447800" y="2706624"/>
              <a:ext cx="1569719" cy="429768"/>
            </a:xfrm>
            <a:prstGeom prst="rect">
              <a:avLst/>
            </a:prstGeom>
            <a:solidFill>
              <a:srgbClr val="E8E0F0"/>
            </a:solidFill>
            <a:ln w="12700">
              <a:solidFill>
                <a:srgbClr val="DADAE2"/>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sz="1800" b="1" i="0" u="none" strike="noStrike" kern="1200" cap="none" spc="0" normalizeH="0" baseline="0" noProof="0" dirty="0">
                  <a:ln>
                    <a:noFill/>
                  </a:ln>
                  <a:solidFill>
                    <a:srgbClr val="2D1B69"/>
                  </a:solidFill>
                  <a:effectLst/>
                  <a:uLnTx/>
                  <a:uFillTx/>
                  <a:latin typeface="Aptos"/>
                  <a:ea typeface="Calibri"/>
                  <a:cs typeface="Calibri"/>
                </a:rPr>
                <a:t>STAR w/ pred.</a:t>
              </a:r>
            </a:p>
          </p:txBody>
        </p:sp>
        <p:sp>
          <p:nvSpPr>
            <p:cNvPr id="16" name="Rectangle 69"/>
            <p:cNvSpPr/>
            <p:nvPr/>
          </p:nvSpPr>
          <p:spPr>
            <a:xfrm>
              <a:off x="3017520" y="2706153"/>
              <a:ext cx="4286885" cy="430003"/>
            </a:xfrm>
            <a:prstGeom prst="rect">
              <a:avLst/>
            </a:prstGeom>
            <a:solidFill>
              <a:srgbClr val="E8E0F0"/>
            </a:solidFill>
            <a:ln w="12700">
              <a:solidFill>
                <a:srgbClr val="DADAE2"/>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2D1B69"/>
                  </a:solidFill>
                  <a:effectLst/>
                  <a:uLnTx/>
                  <a:uFillTx/>
                  <a:latin typeface="Aptos"/>
                  <a:ea typeface="Calibri"/>
                  <a:cs typeface="Calibri"/>
                </a:rPr>
                <a:t>Zero OOM; migrates before threshold</a:t>
              </a:r>
            </a:p>
          </p:txBody>
        </p:sp>
        <p:sp>
          <p:nvSpPr>
            <p:cNvPr id="17" name="Rectangle 70"/>
            <p:cNvSpPr/>
            <p:nvPr/>
          </p:nvSpPr>
          <p:spPr>
            <a:xfrm>
              <a:off x="1447800" y="3136391"/>
              <a:ext cx="1569719" cy="429768"/>
            </a:xfrm>
            <a:prstGeom prst="rect">
              <a:avLst/>
            </a:prstGeom>
            <a:solidFill>
              <a:srgbClr val="F5F5F8"/>
            </a:solidFill>
            <a:ln w="12700">
              <a:solidFill>
                <a:srgbClr val="DADAE2"/>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23232D"/>
                  </a:solidFill>
                  <a:effectLst/>
                  <a:uLnTx/>
                  <a:uFillTx/>
                  <a:latin typeface="Aptos"/>
                  <a:ea typeface="Calibri"/>
                  <a:cs typeface="Calibri"/>
                </a:rPr>
                <a:t>Oracle</a:t>
              </a:r>
            </a:p>
          </p:txBody>
        </p:sp>
        <p:sp>
          <p:nvSpPr>
            <p:cNvPr id="18" name="Rectangle 71"/>
            <p:cNvSpPr/>
            <p:nvPr/>
          </p:nvSpPr>
          <p:spPr>
            <a:xfrm>
              <a:off x="3017520" y="3136156"/>
              <a:ext cx="4286250" cy="430003"/>
            </a:xfrm>
            <a:prstGeom prst="rect">
              <a:avLst/>
            </a:prstGeom>
            <a:solidFill>
              <a:srgbClr val="F5F5F8"/>
            </a:solidFill>
            <a:ln w="12700">
              <a:solidFill>
                <a:srgbClr val="DADAE2"/>
              </a:solid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srgbClr val="23232D"/>
                  </a:solidFill>
                  <a:effectLst/>
                  <a:uLnTx/>
                  <a:uFillTx/>
                  <a:latin typeface="Aptos"/>
                  <a:ea typeface="Calibri"/>
                  <a:cs typeface="Calibri"/>
                </a:rPr>
                <a:t>Upper-bound behavior</a:t>
              </a:r>
              <a:endParaRPr kumimoji="0" lang="en-US" sz="1800" b="0" i="0" u="none" strike="noStrike" kern="1200" cap="none" spc="0" normalizeH="0" baseline="0" noProof="0" dirty="0">
                <a:ln>
                  <a:noFill/>
                </a:ln>
                <a:solidFill>
                  <a:srgbClr val="23232D"/>
                </a:solidFill>
                <a:effectLst/>
                <a:uLnTx/>
                <a:uFillTx/>
                <a:latin typeface="Aptos"/>
                <a:ea typeface="Calibri"/>
                <a:cs typeface="Calibri"/>
              </a:endParaRPr>
            </a:p>
          </p:txBody>
        </p:sp>
      </p:grpSp>
      <p:pic>
        <p:nvPicPr>
          <p:cNvPr id="10" name="图片 9"/>
          <p:cNvPicPr>
            <a:picLocks noChangeAspect="1"/>
          </p:cNvPicPr>
          <p:nvPr/>
        </p:nvPicPr>
        <p:blipFill>
          <a:blip r:embed="rId4"/>
          <a:stretch>
            <a:fillRect/>
          </a:stretch>
        </p:blipFill>
        <p:spPr>
          <a:xfrm>
            <a:off x="619125" y="1074420"/>
            <a:ext cx="4188460" cy="4846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19201" y="1165225"/>
            <a:ext cx="3306996" cy="246221"/>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570" b="1">
                <a:solidFill>
                  <a:srgbClr val="1F3154"/>
                </a:solidFill>
                <a:latin typeface="Arial" panose="020B0604020202090204"/>
                <a:ea typeface="Arial" panose="020B0604020202090204"/>
                <a:cs typeface="Arial" panose="020B0604020202090204"/>
              </a:defRPr>
            </a:pPr>
            <a:r>
              <a:rPr kumimoji="0" sz="1600" b="1" i="0" u="none" strike="noStrike" kern="1200" cap="none" spc="0" normalizeH="0" baseline="0" noProof="0" dirty="0">
                <a:ln>
                  <a:noFill/>
                </a:ln>
                <a:solidFill>
                  <a:srgbClr val="7030A0"/>
                </a:solidFill>
                <a:effectLst/>
                <a:uLnTx/>
                <a:uFillTx/>
                <a:latin typeface="Arial" panose="020B0604020202090204"/>
                <a:ea typeface="Arial" panose="020B0604020202090204"/>
                <a:cs typeface="Arial" panose="020B0604020202090204"/>
              </a:rPr>
              <a:t>Large-scale simulation </a:t>
            </a:r>
            <a:r>
              <a:rPr kumimoji="0" sz="1570" b="1" i="0" u="none" strike="noStrike" kern="1200" cap="none" spc="0" normalizeH="0" baseline="0" noProof="0" dirty="0">
                <a:ln>
                  <a:noFill/>
                </a:ln>
                <a:solidFill>
                  <a:srgbClr val="7030A0"/>
                </a:solidFill>
                <a:effectLst/>
                <a:uLnTx/>
                <a:uFillTx/>
                <a:latin typeface="Arial" panose="020B0604020202090204"/>
                <a:ea typeface="Arial" panose="020B0604020202090204"/>
                <a:cs typeface="Arial" panose="020B0604020202090204"/>
              </a:rPr>
              <a:t>snapshots</a:t>
            </a:r>
          </a:p>
        </p:txBody>
      </p:sp>
      <p:sp>
        <p:nvSpPr>
          <p:cNvPr id="17" name="矩形 16"/>
          <p:cNvSpPr/>
          <p:nvPr/>
        </p:nvSpPr>
        <p:spPr>
          <a:xfrm>
            <a:off x="7448550" y="1504950"/>
            <a:ext cx="3333750" cy="2000250"/>
          </a:xfrm>
          <a:prstGeom prst="rect">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18" name="图片 18"/>
          <p:cNvPicPr>
            <a:picLocks noChangeAspect="1"/>
          </p:cNvPicPr>
          <p:nvPr/>
        </p:nvPicPr>
        <p:blipFill>
          <a:blip r:embed="rId3"/>
          <a:stretch>
            <a:fillRect/>
          </a:stretch>
        </p:blipFill>
        <p:spPr>
          <a:xfrm>
            <a:off x="7556843" y="1562100"/>
            <a:ext cx="3117164" cy="1657350"/>
          </a:xfrm>
          <a:prstGeom prst="rect">
            <a:avLst/>
          </a:prstGeom>
        </p:spPr>
      </p:pic>
      <p:sp>
        <p:nvSpPr>
          <p:cNvPr id="3" name="矩形 2"/>
          <p:cNvSpPr/>
          <p:nvPr/>
        </p:nvSpPr>
        <p:spPr>
          <a:xfrm>
            <a:off x="7562850" y="3276600"/>
            <a:ext cx="3105150" cy="1714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256 total instances (64P + 192D)</a:t>
            </a:r>
          </a:p>
        </p:txBody>
      </p:sp>
      <p:sp>
        <p:nvSpPr>
          <p:cNvPr id="20" name="矩形 19"/>
          <p:cNvSpPr/>
          <p:nvPr/>
        </p:nvSpPr>
        <p:spPr>
          <a:xfrm>
            <a:off x="704850" y="1504950"/>
            <a:ext cx="3333750" cy="2000250"/>
          </a:xfrm>
          <a:prstGeom prst="rect">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21" name="图片 21"/>
          <p:cNvPicPr>
            <a:picLocks noChangeAspect="1"/>
          </p:cNvPicPr>
          <p:nvPr/>
        </p:nvPicPr>
        <p:blipFill>
          <a:blip r:embed="rId4"/>
          <a:stretch>
            <a:fillRect/>
          </a:stretch>
        </p:blipFill>
        <p:spPr>
          <a:xfrm>
            <a:off x="813143" y="1562100"/>
            <a:ext cx="3117164" cy="1657350"/>
          </a:xfrm>
          <a:prstGeom prst="rect">
            <a:avLst/>
          </a:prstGeom>
        </p:spPr>
      </p:pic>
      <p:sp>
        <p:nvSpPr>
          <p:cNvPr id="10" name="矩形 9"/>
          <p:cNvSpPr/>
          <p:nvPr/>
        </p:nvSpPr>
        <p:spPr>
          <a:xfrm>
            <a:off x="819150" y="3276600"/>
            <a:ext cx="3105150" cy="1714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8 total instances (2P + 6D)</a:t>
            </a:r>
          </a:p>
        </p:txBody>
      </p:sp>
      <p:sp>
        <p:nvSpPr>
          <p:cNvPr id="23" name="矩形 22"/>
          <p:cNvSpPr/>
          <p:nvPr/>
        </p:nvSpPr>
        <p:spPr>
          <a:xfrm>
            <a:off x="4076700" y="1504950"/>
            <a:ext cx="3333750" cy="2000250"/>
          </a:xfrm>
          <a:prstGeom prst="rect">
            <a:avLst/>
          </a:prstGeom>
          <a:solidFill>
            <a:srgbClr val="FFFFFF"/>
          </a:solidFill>
          <a:ln w="7620">
            <a:solidFill>
              <a:srgbClr val="DED5E4"/>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pic>
        <p:nvPicPr>
          <p:cNvPr id="24" name="图片 24"/>
          <p:cNvPicPr>
            <a:picLocks noChangeAspect="1"/>
          </p:cNvPicPr>
          <p:nvPr/>
        </p:nvPicPr>
        <p:blipFill>
          <a:blip r:embed="rId5"/>
          <a:stretch>
            <a:fillRect/>
          </a:stretch>
        </p:blipFill>
        <p:spPr>
          <a:xfrm>
            <a:off x="4184993" y="1562100"/>
            <a:ext cx="3117164" cy="1657350"/>
          </a:xfrm>
          <a:prstGeom prst="rect">
            <a:avLst/>
          </a:prstGeom>
        </p:spPr>
      </p:pic>
      <p:sp>
        <p:nvSpPr>
          <p:cNvPr id="2" name="矩形 17"/>
          <p:cNvSpPr/>
          <p:nvPr/>
        </p:nvSpPr>
        <p:spPr>
          <a:xfrm>
            <a:off x="4191000" y="3276600"/>
            <a:ext cx="3105150" cy="1714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870" b="0">
                <a:solidFill>
                  <a:srgbClr val="5D6878"/>
                </a:solidFill>
                <a:latin typeface="Arial" panose="020B0604020202090204"/>
                <a:ea typeface="Arial" panose="020B0604020202090204"/>
                <a:cs typeface="Arial" panose="020B0604020202090204"/>
              </a:defRPr>
            </a:pPr>
            <a:r>
              <a:rPr kumimoji="0" sz="1200" b="0"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64 total instances (16P + 48D)</a:t>
            </a:r>
          </a:p>
        </p:txBody>
      </p:sp>
      <p:sp>
        <p:nvSpPr>
          <p:cNvPr id="26" name="矩形 25"/>
          <p:cNvSpPr/>
          <p:nvPr/>
        </p:nvSpPr>
        <p:spPr>
          <a:xfrm>
            <a:off x="1295400" y="3600450"/>
            <a:ext cx="8858250" cy="2857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sz="1155" b="1">
                <a:solidFill>
                  <a:srgbClr val="5D6878"/>
                </a:solidFill>
                <a:latin typeface="Arial" panose="020B0604020202090204"/>
                <a:ea typeface="Arial" panose="020B0604020202090204"/>
                <a:cs typeface="Arial" panose="020B0604020202090204"/>
              </a:defRPr>
            </a:pPr>
            <a:r>
              <a:rPr kumimoji="0" sz="1400" b="1" i="0" u="none" strike="noStrike" kern="1200" cap="none" spc="0" normalizeH="0" baseline="0" noProof="0" dirty="0">
                <a:ln>
                  <a:noFill/>
                </a:ln>
                <a:solidFill>
                  <a:srgbClr val="5D6878"/>
                </a:solidFill>
                <a:effectLst/>
                <a:uLnTx/>
                <a:uFillTx/>
                <a:latin typeface="Arial" panose="020B0604020202090204"/>
                <a:ea typeface="Arial" panose="020B0604020202090204"/>
                <a:cs typeface="Arial" panose="020B0604020202090204"/>
              </a:rPr>
              <a:t>Scale: 8-256 instances, 2P+6D to 64P+192D, 25Gbps KV transfer.</a:t>
            </a:r>
          </a:p>
        </p:txBody>
      </p:sp>
      <p:sp>
        <p:nvSpPr>
          <p:cNvPr id="40" name="矩形 39"/>
          <p:cNvSpPr/>
          <p:nvPr/>
        </p:nvSpPr>
        <p:spPr>
          <a:xfrm>
            <a:off x="1541897" y="3803387"/>
            <a:ext cx="8117607" cy="307777"/>
          </a:xfrm>
          <a:prstGeom prst="rect">
            <a:avLst/>
          </a:prstGeom>
          <a:solidFill>
            <a:srgbClr val="000000">
              <a:alpha val="0"/>
            </a:srgbClr>
          </a:solidFill>
          <a:ln w="0">
            <a:solidFill>
              <a:srgbClr val="000000">
                <a:alpha val="0"/>
              </a:srgbClr>
            </a:solidFill>
            <a:prstDash val="solid"/>
          </a:ln>
        </p:spPr>
        <p:txBody>
          <a:bodyPr wrap="non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400" b="1">
                <a:solidFill>
                  <a:srgbClr val="1F3154"/>
                </a:solidFill>
                <a:latin typeface="Arial" panose="020B0604020202090204"/>
                <a:ea typeface="Arial" panose="020B0604020202090204"/>
                <a:cs typeface="Arial" panose="020B0604020202090204"/>
              </a:defRPr>
            </a:pPr>
            <a:r>
              <a:rPr kumimoji="0" sz="2000" b="1" i="0" u="none" strike="noStrike" kern="1200" cap="none" spc="0" normalizeH="0" baseline="0" noProof="0" dirty="0">
                <a:ln>
                  <a:noFill/>
                </a:ln>
                <a:solidFill>
                  <a:srgbClr val="1F3154"/>
                </a:solidFill>
                <a:effectLst/>
                <a:uLnTx/>
                <a:uFillTx/>
                <a:latin typeface="Arial" panose="020B0604020202090204"/>
                <a:ea typeface="Arial" panose="020B0604020202090204"/>
                <a:cs typeface="Arial" panose="020B0604020202090204"/>
              </a:rPr>
              <a:t>Rescheduling reduces imbalance; prediction stays close to oracle.</a:t>
            </a:r>
          </a:p>
        </p:txBody>
      </p:sp>
      <p:pic>
        <p:nvPicPr>
          <p:cNvPr id="41" name="内容占位符 20"/>
          <p:cNvPicPr>
            <a:picLocks noChangeAspect="1"/>
          </p:cNvPicPr>
          <p:nvPr/>
        </p:nvPicPr>
        <p:blipFill>
          <a:blip r:embed="rId6"/>
          <a:stretch>
            <a:fillRect/>
          </a:stretch>
        </p:blipFill>
        <p:spPr>
          <a:xfrm>
            <a:off x="619125" y="4466590"/>
            <a:ext cx="4890135" cy="1783080"/>
          </a:xfrm>
          <a:prstGeom prst="rect">
            <a:avLst/>
          </a:prstGeom>
        </p:spPr>
      </p:pic>
      <p:sp>
        <p:nvSpPr>
          <p:cNvPr id="47"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8" name="section-label"/>
          <p:cNvSpPr/>
          <p:nvPr/>
        </p:nvSpPr>
        <p:spPr>
          <a:xfrm>
            <a:off x="704850" y="219075"/>
            <a:ext cx="3651885" cy="404495"/>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Arial"/>
                <a:ea typeface="&quot;PingFang SC&quot;, Arial"/>
                <a:cs typeface="&quot;PingFang SC&quot;, Arial"/>
              </a:defRPr>
            </a:pPr>
            <a:r>
              <a:rPr kumimoji="0" sz="1600" b="1" i="0" u="none" strike="noStrike" kern="1200" cap="none" spc="0" normalizeH="0" baseline="0" noProof="0" dirty="0">
                <a:ln>
                  <a:noFill/>
                </a:ln>
                <a:solidFill>
                  <a:srgbClr val="4B1D78"/>
                </a:solidFill>
                <a:effectLst/>
                <a:uLnTx/>
                <a:uFillTx/>
                <a:latin typeface="&quot;PingFang SC&quot;, Arial"/>
              </a:rPr>
              <a:t>SCALABILITY AND ROBUSTNESS</a:t>
            </a:r>
          </a:p>
        </p:txBody>
      </p:sp>
      <p:sp>
        <p:nvSpPr>
          <p:cNvPr id="49" name="slide-title"/>
          <p:cNvSpPr/>
          <p:nvPr/>
        </p:nvSpPr>
        <p:spPr>
          <a:xfrm>
            <a:off x="552450" y="565126"/>
            <a:ext cx="8763000" cy="4953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PingFang SC" panose="020B0400000000000000" charset="-122"/>
                <a:ea typeface="PingFang SC" panose="020B0400000000000000" charset="-122"/>
                <a:cs typeface="PingFang SC" panose="020B0400000000000000" charset="-122"/>
              </a:defRPr>
            </a:pPr>
            <a:r>
              <a:rPr kumimoji="0" sz="2850" b="1" i="0" u="none" strike="noStrike" kern="1200" cap="none" spc="0" normalizeH="0" baseline="0" noProof="0" dirty="0">
                <a:ln>
                  <a:noFill/>
                </a:ln>
                <a:solidFill>
                  <a:srgbClr val="17131F"/>
                </a:solidFill>
                <a:effectLst/>
                <a:uLnTx/>
                <a:uFillTx/>
                <a:ea typeface="PingFang SC" panose="020B0400000000000000" charset="-122"/>
              </a:rPr>
              <a:t>STAR scales under coarser prediction.</a:t>
            </a:r>
          </a:p>
        </p:txBody>
      </p:sp>
      <p:sp>
        <p:nvSpPr>
          <p:cNvPr id="50"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1"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2"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pic>
        <p:nvPicPr>
          <p:cNvPr id="53" name="图片 10"/>
          <p:cNvPicPr>
            <a:picLocks noChangeAspect="1"/>
          </p:cNvPicPr>
          <p:nvPr/>
        </p:nvPicPr>
        <p:blipFill>
          <a:blip r:embed="rId7"/>
          <a:stretch>
            <a:fillRect/>
          </a:stretch>
        </p:blipFill>
        <p:spPr>
          <a:xfrm>
            <a:off x="9639300" y="354718"/>
            <a:ext cx="1571625" cy="481189"/>
          </a:xfrm>
          <a:prstGeom prst="rect">
            <a:avLst/>
          </a:prstGeom>
        </p:spPr>
      </p:pic>
      <p:sp>
        <p:nvSpPr>
          <p:cNvPr id="71"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sz="1050" b="0" i="0" u="none" strike="noStrike" kern="1200" cap="none" spc="0" normalizeH="0" baseline="0" noProof="0" dirty="0">
                <a:ln>
                  <a:noFill/>
                </a:ln>
                <a:solidFill>
                  <a:srgbClr val="7A7387"/>
                </a:solidFill>
                <a:effectLst/>
                <a:uLnTx/>
                <a:uFillTx/>
                <a:latin typeface="Arial" panose="020B0604020202090204"/>
                <a:cs typeface="Arial" panose="020B0604020202090204"/>
              </a:rPr>
              <a:t>54</a:t>
            </a: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sp>
        <p:nvSpPr>
          <p:cNvPr id="7" name="矩形 6"/>
          <p:cNvSpPr/>
          <p:nvPr/>
        </p:nvSpPr>
        <p:spPr>
          <a:xfrm>
            <a:off x="704850" y="4185285"/>
            <a:ext cx="2814955" cy="306705"/>
          </a:xfrm>
          <a:prstGeom prst="rect">
            <a:avLst/>
          </a:prstGeom>
          <a:solidFill>
            <a:srgbClr val="000000">
              <a:alpha val="0"/>
            </a:srgbClr>
          </a:solidFill>
          <a:ln w="0">
            <a:solidFill>
              <a:srgbClr val="000000">
                <a:alpha val="0"/>
              </a:srgbClr>
            </a:solidFill>
            <a:prstDash val="solid"/>
          </a:ln>
        </p:spPr>
        <p:txBody>
          <a:bodyPr wrap="none"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1400" b="1">
                <a:solidFill>
                  <a:srgbClr val="1F3154"/>
                </a:solidFill>
                <a:latin typeface="Arial" panose="020B0604020202090204"/>
                <a:ea typeface="Arial" panose="020B0604020202090204"/>
                <a:cs typeface="Arial" panose="020B0604020202090204"/>
              </a:defRPr>
            </a:pPr>
            <a:r>
              <a:rPr kumimoji="0" lang="en-US" altLang="zh-CN" sz="1600" b="1" i="0" u="none" strike="noStrike" kern="1200" cap="none" spc="0" normalizeH="0" baseline="0" noProof="0" dirty="0">
                <a:ln>
                  <a:noFill/>
                </a:ln>
                <a:solidFill>
                  <a:srgbClr val="7030A0"/>
                </a:solidFill>
                <a:effectLst/>
                <a:uLnTx/>
                <a:uFillTx/>
                <a:latin typeface="Arial" panose="020B0604020202090204"/>
                <a:ea typeface="Arial" panose="020B0604020202090204"/>
                <a:cs typeface="Arial" panose="020B0604020202090204"/>
              </a:rPr>
              <a:t>Prediction robustness</a:t>
            </a:r>
            <a:endParaRPr kumimoji="0" lang="en-US" altLang="zh-CN" sz="1400" b="1" i="0" u="none" strike="noStrike" kern="1200" cap="none" spc="0" normalizeH="0" baseline="0" noProof="0" dirty="0">
              <a:ln>
                <a:noFill/>
              </a:ln>
              <a:solidFill>
                <a:prstClr val="black">
                  <a:lumMod val="85000"/>
                  <a:lumOff val="15000"/>
                </a:prstClr>
              </a:solidFill>
              <a:effectLst/>
              <a:uLnTx/>
              <a:uFillTx/>
              <a:latin typeface="Arial" panose="020B0604020202090204"/>
              <a:ea typeface="Arial" panose="020B0604020202090204"/>
              <a:cs typeface="Arial" panose="020B0604020202090204"/>
            </a:endParaRPr>
          </a:p>
        </p:txBody>
      </p:sp>
      <p:sp>
        <p:nvSpPr>
          <p:cNvPr id="4" name="文本框 3"/>
          <p:cNvSpPr txBox="1"/>
          <p:nvPr/>
        </p:nvSpPr>
        <p:spPr>
          <a:xfrm>
            <a:off x="5571490" y="4834890"/>
            <a:ext cx="6356985" cy="1047115"/>
          </a:xfrm>
          <a:prstGeom prst="rect">
            <a:avLst/>
          </a:prstGeom>
          <a:noFill/>
        </p:spPr>
        <p:txBody>
          <a:bodyPr wrap="square" rtlCol="0">
            <a:noAutofit/>
          </a:bodyPr>
          <a:lstStyle/>
          <a:p>
            <a:pPr marL="0" marR="0" lvl="0" indent="0" algn="l" defTabSz="914400" eaLnBrk="1" fontAlgn="auto" latinLnBrk="0" hangingPunct="1">
              <a:lnSpc>
                <a:spcPct val="110000"/>
              </a:lnSpc>
              <a:spcBef>
                <a:spcPts val="0"/>
              </a:spcBef>
              <a:spcAft>
                <a:spcPts val="0"/>
              </a:spcAft>
              <a:buClrTx/>
              <a:buSzTx/>
              <a:buFontTx/>
              <a:buNone/>
              <a:tabLst/>
              <a:defRPr sz="1400" b="1">
                <a:solidFill>
                  <a:srgbClr val="1F3154"/>
                </a:solidFill>
                <a:latin typeface="Arial" panose="020B0604020202090204"/>
                <a:ea typeface="Arial" panose="020B0604020202090204"/>
                <a:cs typeface="Arial" panose="020B0604020202090204"/>
              </a:defRPr>
            </a:pPr>
            <a:r>
              <a:rPr kumimoji="0" lang="en-US" altLang="zh-CN" sz="1800" b="1" i="0" u="none" strike="noStrike" kern="1200" cap="none" spc="0" normalizeH="0" baseline="0" noProof="0" dirty="0">
                <a:ln>
                  <a:noFill/>
                </a:ln>
                <a:solidFill>
                  <a:prstClr val="black">
                    <a:lumMod val="85000"/>
                    <a:lumOff val="15000"/>
                  </a:prstClr>
                </a:solidFill>
                <a:effectLst/>
                <a:uLnTx/>
                <a:uFillTx/>
                <a:latin typeface="Arial" panose="020B0604020202090204"/>
                <a:ea typeface="Arial" panose="020B0604020202090204"/>
                <a:cs typeface="Arial" panose="020B0604020202090204"/>
                <a:sym typeface="+mn-ea"/>
              </a:rPr>
              <a:t>STAR does not require exact token-count regression </a:t>
            </a:r>
          </a:p>
          <a:p>
            <a:pPr marL="0" marR="0" lvl="0" indent="0" algn="l" defTabSz="914400" eaLnBrk="1" fontAlgn="auto" latinLnBrk="0" hangingPunct="1">
              <a:lnSpc>
                <a:spcPct val="110000"/>
              </a:lnSpc>
              <a:spcBef>
                <a:spcPts val="0"/>
              </a:spcBef>
              <a:spcAft>
                <a:spcPts val="0"/>
              </a:spcAft>
              <a:buClrTx/>
              <a:buSzTx/>
              <a:buFontTx/>
              <a:buNone/>
              <a:tabLst/>
              <a:defRPr sz="1400" b="1">
                <a:solidFill>
                  <a:srgbClr val="1F3154"/>
                </a:solidFill>
                <a:latin typeface="Arial" panose="020B0604020202090204"/>
                <a:ea typeface="Arial" panose="020B0604020202090204"/>
                <a:cs typeface="Arial" panose="020B0604020202090204"/>
              </a:defRPr>
            </a:pPr>
            <a:r>
              <a:rPr kumimoji="0" lang="en-US" altLang="zh-CN" sz="1800" b="1" i="0" u="none" strike="noStrike" kern="1200" cap="none" spc="0" normalizeH="0" baseline="0" noProof="0" dirty="0">
                <a:ln>
                  <a:noFill/>
                </a:ln>
                <a:solidFill>
                  <a:prstClr val="black">
                    <a:lumMod val="85000"/>
                    <a:lumOff val="15000"/>
                  </a:prstClr>
                </a:solidFill>
                <a:effectLst/>
                <a:uLnTx/>
                <a:uFillTx/>
                <a:latin typeface="Arial" panose="020B0604020202090204"/>
                <a:ea typeface="Arial" panose="020B0604020202090204"/>
                <a:cs typeface="Arial" panose="020B0604020202090204"/>
                <a:sym typeface="+mn-ea"/>
              </a:rPr>
              <a:t>but does require sufficient granularity.</a:t>
            </a:r>
            <a:endParaRPr kumimoji="0" lang="en-US" altLang="zh-CN" sz="1800" b="1" i="0" u="none" strike="noStrike" kern="1200" cap="none" spc="0" normalizeH="0" baseline="0" noProof="0" dirty="0">
              <a:ln>
                <a:noFill/>
              </a:ln>
              <a:solidFill>
                <a:prstClr val="black">
                  <a:lumMod val="85000"/>
                  <a:lumOff val="15000"/>
                </a:prstClr>
              </a:solidFill>
              <a:effectLst/>
              <a:uLnTx/>
              <a:uFillTx/>
              <a:latin typeface="Arial" panose="020B0604020202090204"/>
              <a:ea typeface="Arial" panose="020B0604020202090204"/>
              <a:cs typeface="Arial" panose="020B0604020202090204"/>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black">
                  <a:lumMod val="85000"/>
                  <a:lumOff val="15000"/>
                </a:prstClr>
              </a:solidFill>
              <a:effectLst/>
              <a:uLnTx/>
              <a:uFillTx/>
              <a:latin typeface="Arial" panose="020B0604020202090204"/>
              <a:ea typeface="Arial" panose="020B0604020202090204"/>
              <a:cs typeface="Arial" panose="020B0604020202090204"/>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p:nvPr/>
        </p:nvSpPr>
        <p:spPr>
          <a:xfrm>
            <a:off x="552450" y="554935"/>
            <a:ext cx="1368965" cy="530915"/>
          </a:xfrm>
          <a:prstGeom prst="rect">
            <a:avLst/>
          </a:prstGeom>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3450" b="1">
                <a:solidFill>
                  <a:srgbClr val="17131F"/>
                </a:solidFill>
                <a:latin typeface="&quot;PingFang SC&quot;, Calibri"/>
                <a:ea typeface="&quot;PingFang SC&quot;, Calibri"/>
                <a:cs typeface="&quot;PingFang SC&quot;, Calibri"/>
              </a:defRPr>
            </a:pPr>
            <a:r>
              <a:rPr kumimoji="0" sz="3450" b="1" i="0" u="none" strike="noStrike" kern="1200" cap="none" spc="0" normalizeH="0" baseline="0" noProof="0" dirty="0">
                <a:ln>
                  <a:noFill/>
                </a:ln>
                <a:solidFill>
                  <a:srgbClr val="17131F"/>
                </a:solidFill>
                <a:effectLst/>
                <a:uLnTx/>
                <a:uFillTx/>
                <a:latin typeface="&quot;PingFang SC&quot;, Calibri"/>
              </a:rPr>
              <a:t>Outline</a:t>
            </a:r>
          </a:p>
        </p:txBody>
      </p:sp>
      <p:pic>
        <p:nvPicPr>
          <p:cNvPr id="3" name="图片 2"/>
          <p:cNvPicPr>
            <a:picLocks noChangeAspect="1"/>
          </p:cNvPicPr>
          <p:nvPr/>
        </p:nvPicPr>
        <p:blipFill>
          <a:blip r:embed="rId3"/>
          <a:stretch>
            <a:fillRect/>
          </a:stretch>
        </p:blipFill>
        <p:spPr>
          <a:xfrm>
            <a:off x="9639300" y="354711"/>
            <a:ext cx="1571625" cy="481203"/>
          </a:xfrm>
          <a:prstGeom prst="rect">
            <a:avLst/>
          </a:prstGeom>
        </p:spPr>
      </p:pic>
      <p:sp>
        <p:nvSpPr>
          <p:cNvPr id="4"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5" name="section-1-card"/>
          <p:cNvSpPr/>
          <p:nvPr/>
        </p:nvSpPr>
        <p:spPr>
          <a:xfrm>
            <a:off x="781050" y="15049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 name="section-1-accent"/>
          <p:cNvSpPr/>
          <p:nvPr/>
        </p:nvSpPr>
        <p:spPr>
          <a:xfrm>
            <a:off x="781050" y="15049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 name="section-1-index"/>
          <p:cNvSpPr/>
          <p:nvPr/>
        </p:nvSpPr>
        <p:spPr>
          <a:xfrm>
            <a:off x="1085850" y="17049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01</a:t>
            </a:r>
          </a:p>
        </p:txBody>
      </p:sp>
      <p:sp>
        <p:nvSpPr>
          <p:cNvPr id="8" name="section-1-title"/>
          <p:cNvSpPr/>
          <p:nvPr/>
        </p:nvSpPr>
        <p:spPr>
          <a:xfrm>
            <a:off x="1771650" y="16859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Motivation</a:t>
            </a:r>
          </a:p>
        </p:txBody>
      </p:sp>
      <p:sp>
        <p:nvSpPr>
          <p:cNvPr id="9" name="section-1-description"/>
          <p:cNvSpPr/>
          <p:nvPr/>
        </p:nvSpPr>
        <p:spPr>
          <a:xfrm>
            <a:off x="4523574" y="1734264"/>
            <a:ext cx="4306820"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Why does long-output serving break static handoff?</a:t>
            </a:r>
          </a:p>
        </p:txBody>
      </p:sp>
      <p:sp>
        <p:nvSpPr>
          <p:cNvPr id="10" name="section-2-card"/>
          <p:cNvSpPr/>
          <p:nvPr/>
        </p:nvSpPr>
        <p:spPr>
          <a:xfrm>
            <a:off x="781050" y="24193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1" name="section-2-accent"/>
          <p:cNvSpPr/>
          <p:nvPr/>
        </p:nvSpPr>
        <p:spPr>
          <a:xfrm>
            <a:off x="781050" y="24193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2" name="section-2-index"/>
          <p:cNvSpPr/>
          <p:nvPr/>
        </p:nvSpPr>
        <p:spPr>
          <a:xfrm>
            <a:off x="1085850" y="26193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02</a:t>
            </a:r>
          </a:p>
        </p:txBody>
      </p:sp>
      <p:sp>
        <p:nvSpPr>
          <p:cNvPr id="13" name="section-2-title"/>
          <p:cNvSpPr/>
          <p:nvPr/>
        </p:nvSpPr>
        <p:spPr>
          <a:xfrm>
            <a:off x="1771650" y="26003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Design</a:t>
            </a:r>
          </a:p>
        </p:txBody>
      </p:sp>
      <p:sp>
        <p:nvSpPr>
          <p:cNvPr id="14" name="section-2-description"/>
          <p:cNvSpPr/>
          <p:nvPr/>
        </p:nvSpPr>
        <p:spPr>
          <a:xfrm>
            <a:off x="4549895" y="2648664"/>
            <a:ext cx="4254178"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How can STAR predict and rebalance decode work?</a:t>
            </a:r>
          </a:p>
        </p:txBody>
      </p:sp>
      <p:sp>
        <p:nvSpPr>
          <p:cNvPr id="15" name="section-3-card"/>
          <p:cNvSpPr/>
          <p:nvPr/>
        </p:nvSpPr>
        <p:spPr>
          <a:xfrm>
            <a:off x="781050" y="3333750"/>
            <a:ext cx="9886950" cy="742950"/>
          </a:xfrm>
          <a:prstGeom prst="rect">
            <a:avLst/>
          </a:prstGeom>
          <a:solidFill>
            <a:srgbClr val="FFFFFF"/>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6" name="section-3-accent"/>
          <p:cNvSpPr/>
          <p:nvPr/>
        </p:nvSpPr>
        <p:spPr>
          <a:xfrm>
            <a:off x="781050" y="3333750"/>
            <a:ext cx="76200" cy="742950"/>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7" name="section-3-index"/>
          <p:cNvSpPr/>
          <p:nvPr/>
        </p:nvSpPr>
        <p:spPr>
          <a:xfrm>
            <a:off x="1085850" y="35337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1725" b="1" i="0" u="none" strike="noStrike" kern="1200" cap="none" spc="0" normalizeH="0" baseline="0" noProof="0" dirty="0">
                <a:ln>
                  <a:noFill/>
                </a:ln>
                <a:solidFill>
                  <a:srgbClr val="4B1D78"/>
                </a:solidFill>
                <a:effectLst/>
                <a:uLnTx/>
                <a:uFillTx/>
                <a:latin typeface="Calibri"/>
                <a:ea typeface="Calibri"/>
                <a:cs typeface="Calibri"/>
              </a:rPr>
              <a:t>03</a:t>
            </a:r>
          </a:p>
        </p:txBody>
      </p:sp>
      <p:sp>
        <p:nvSpPr>
          <p:cNvPr id="18" name="section-3-title"/>
          <p:cNvSpPr/>
          <p:nvPr/>
        </p:nvSpPr>
        <p:spPr>
          <a:xfrm>
            <a:off x="1771650" y="35147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17131F"/>
                </a:solidFill>
                <a:latin typeface="Calibri"/>
                <a:ea typeface="Calibri"/>
                <a:cs typeface="Calibri"/>
              </a:defRPr>
            </a:pPr>
            <a:r>
              <a:rPr kumimoji="0" sz="1950" b="1" i="0" u="none" strike="noStrike" kern="1200" cap="none" spc="0" normalizeH="0" baseline="0" noProof="0" dirty="0">
                <a:ln>
                  <a:noFill/>
                </a:ln>
                <a:solidFill>
                  <a:srgbClr val="17131F"/>
                </a:solidFill>
                <a:effectLst/>
                <a:uLnTx/>
                <a:uFillTx/>
                <a:latin typeface="Calibri"/>
                <a:ea typeface="Calibri"/>
                <a:cs typeface="Calibri"/>
              </a:rPr>
              <a:t>Evaluation</a:t>
            </a:r>
          </a:p>
        </p:txBody>
      </p:sp>
      <p:sp>
        <p:nvSpPr>
          <p:cNvPr id="19" name="section-3-description"/>
          <p:cNvSpPr/>
          <p:nvPr/>
        </p:nvSpPr>
        <p:spPr>
          <a:xfrm>
            <a:off x="4429125" y="3563064"/>
            <a:ext cx="4495718"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Does STAR improve goodput, tail TPOT, and reliability?</a:t>
            </a:r>
          </a:p>
        </p:txBody>
      </p:sp>
      <p:sp>
        <p:nvSpPr>
          <p:cNvPr id="20" name="section-4-card"/>
          <p:cNvSpPr/>
          <p:nvPr/>
        </p:nvSpPr>
        <p:spPr>
          <a:xfrm>
            <a:off x="781050" y="4248150"/>
            <a:ext cx="9886950" cy="742950"/>
          </a:xfrm>
          <a:prstGeom prst="rect">
            <a:avLst/>
          </a:prstGeom>
          <a:solidFill>
            <a:srgbClr val="4B1D78"/>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1" name="section-4-accent"/>
          <p:cNvSpPr/>
          <p:nvPr/>
        </p:nvSpPr>
        <p:spPr>
          <a:xfrm>
            <a:off x="781050" y="4248150"/>
            <a:ext cx="76200" cy="74295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2" name="section-4-index"/>
          <p:cNvSpPr/>
          <p:nvPr/>
        </p:nvSpPr>
        <p:spPr>
          <a:xfrm>
            <a:off x="1085850" y="4448175"/>
            <a:ext cx="51435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FFFFFF"/>
                </a:solidFill>
                <a:latin typeface="Calibri"/>
                <a:ea typeface="Calibri"/>
                <a:cs typeface="Calibri"/>
              </a:defRPr>
            </a:pPr>
            <a:r>
              <a:rPr kumimoji="0" sz="1725" b="1" i="0" u="none" strike="noStrike" kern="1200" cap="none" spc="0" normalizeH="0" baseline="0" noProof="0" dirty="0">
                <a:ln>
                  <a:noFill/>
                </a:ln>
                <a:solidFill>
                  <a:srgbClr val="FFFFFF"/>
                </a:solidFill>
                <a:effectLst/>
                <a:uLnTx/>
                <a:uFillTx/>
                <a:latin typeface="Calibri"/>
                <a:ea typeface="Calibri"/>
                <a:cs typeface="Calibri"/>
              </a:rPr>
              <a:t>04</a:t>
            </a:r>
          </a:p>
        </p:txBody>
      </p:sp>
      <p:sp>
        <p:nvSpPr>
          <p:cNvPr id="23" name="section-4-title"/>
          <p:cNvSpPr/>
          <p:nvPr/>
        </p:nvSpPr>
        <p:spPr>
          <a:xfrm>
            <a:off x="1771650" y="4429125"/>
            <a:ext cx="2476500" cy="34290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950" b="1">
                <a:solidFill>
                  <a:srgbClr val="FFFFFF"/>
                </a:solidFill>
                <a:latin typeface="Calibri"/>
                <a:ea typeface="Calibri"/>
                <a:cs typeface="Calibri"/>
              </a:defRPr>
            </a:pPr>
            <a:r>
              <a:rPr kumimoji="0" sz="1950" b="1" i="0" u="none" strike="noStrike" kern="1200" cap="none" spc="0" normalizeH="0" baseline="0" noProof="0" dirty="0">
                <a:ln>
                  <a:noFill/>
                </a:ln>
                <a:solidFill>
                  <a:srgbClr val="FFFFFF"/>
                </a:solidFill>
                <a:effectLst/>
                <a:uLnTx/>
                <a:uFillTx/>
                <a:latin typeface="Calibri"/>
                <a:ea typeface="Calibri"/>
                <a:cs typeface="Calibri"/>
              </a:rPr>
              <a:t>Takeaways</a:t>
            </a:r>
          </a:p>
        </p:txBody>
      </p:sp>
      <p:sp>
        <p:nvSpPr>
          <p:cNvPr id="24" name="section-4-description"/>
          <p:cNvSpPr/>
          <p:nvPr/>
        </p:nvSpPr>
        <p:spPr>
          <a:xfrm>
            <a:off x="4507288" y="4477464"/>
            <a:ext cx="4339393" cy="246221"/>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500">
                <a:solidFill>
                  <a:srgbClr val="FFFFFF"/>
                </a:solidFill>
                <a:latin typeface="Calibri"/>
                <a:ea typeface="Calibri"/>
                <a:cs typeface="Calibri"/>
              </a:defRPr>
            </a:pPr>
            <a:r>
              <a:rPr kumimoji="0" sz="1600" b="0" i="0" u="none" strike="noStrike" kern="1200" cap="none" spc="0" normalizeH="0" baseline="0" noProof="0" dirty="0">
                <a:ln>
                  <a:noFill/>
                </a:ln>
                <a:solidFill>
                  <a:srgbClr val="FFFFFF"/>
                </a:solidFill>
                <a:effectLst/>
                <a:uLnTx/>
                <a:uFillTx/>
                <a:latin typeface="Calibri"/>
                <a:ea typeface="Calibri"/>
                <a:cs typeface="Calibri"/>
              </a:rPr>
              <a:t>What should serving systems remember from STAR?</a:t>
            </a:r>
          </a:p>
        </p:txBody>
      </p:sp>
      <p:sp>
        <p:nvSpPr>
          <p:cNvPr id="25" name="current-section-panel"/>
          <p:cNvSpPr/>
          <p:nvPr/>
        </p:nvSpPr>
        <p:spPr>
          <a:xfrm>
            <a:off x="781050" y="5410200"/>
            <a:ext cx="9886950" cy="609600"/>
          </a:xfrm>
          <a:prstGeom prst="rect">
            <a:avLst/>
          </a:prstGeom>
          <a:solidFill>
            <a:srgbClr val="F8F6FA"/>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6" name="current-section-label"/>
          <p:cNvSpPr/>
          <p:nvPr/>
        </p:nvSpPr>
        <p:spPr>
          <a:xfrm>
            <a:off x="1047750" y="5581650"/>
            <a:ext cx="2143125" cy="285750"/>
          </a:xfrm>
          <a:prstGeom prst="rect">
            <a:avLst/>
          </a:prstGeom>
        </p:spPr>
        <p:txBody>
          <a:bodyPr wrap="non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Calibri"/>
                <a:ea typeface="Calibri"/>
                <a:cs typeface="Calibri"/>
              </a:defRPr>
            </a:pPr>
            <a:r>
              <a:rPr kumimoji="0" sz="1600" b="1" i="0" u="none" strike="noStrike" kern="1200" cap="none" spc="0" normalizeH="0" baseline="0" noProof="0" dirty="0">
                <a:ln>
                  <a:noFill/>
                </a:ln>
                <a:solidFill>
                  <a:srgbClr val="4B1D78"/>
                </a:solidFill>
                <a:effectLst/>
                <a:uLnTx/>
                <a:uFillTx/>
                <a:latin typeface="Calibri"/>
                <a:ea typeface="Calibri"/>
                <a:cs typeface="Calibri"/>
              </a:rPr>
              <a:t>CURRENT SESSION</a:t>
            </a:r>
          </a:p>
        </p:txBody>
      </p:sp>
      <p:sp>
        <p:nvSpPr>
          <p:cNvPr id="27" name="current-section-summary"/>
          <p:cNvSpPr/>
          <p:nvPr/>
        </p:nvSpPr>
        <p:spPr>
          <a:xfrm>
            <a:off x="5016337" y="5597567"/>
            <a:ext cx="3321294" cy="253916"/>
          </a:xfrm>
          <a:prstGeom prst="rect">
            <a:avLst/>
          </a:prstGeom>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sz="1650" b="1">
                <a:solidFill>
                  <a:srgbClr val="17131F"/>
                </a:solidFill>
                <a:latin typeface="Calibri"/>
                <a:ea typeface="Calibri"/>
                <a:cs typeface="Calibri"/>
              </a:defRPr>
            </a:pPr>
            <a:r>
              <a:rPr kumimoji="0" sz="1650" b="1" i="0" u="none" strike="noStrike" kern="1200" cap="none" spc="0" normalizeH="0" baseline="0" noProof="0" dirty="0">
                <a:ln>
                  <a:noFill/>
                </a:ln>
                <a:solidFill>
                  <a:srgbClr val="17131F"/>
                </a:solidFill>
                <a:effectLst/>
                <a:uLnTx/>
                <a:uFillTx/>
                <a:latin typeface="Calibri"/>
                <a:ea typeface="Calibri"/>
                <a:cs typeface="Calibri"/>
              </a:rPr>
              <a:t>What are the core lessons from STAR?</a:t>
            </a:r>
          </a:p>
        </p:txBody>
      </p:sp>
      <p:sp>
        <p:nvSpPr>
          <p:cNvPr id="28"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9"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sp>
        <p:nvSpPr>
          <p:cNvPr id="30"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sz="1050" b="0" i="0" u="none" strike="noStrike" kern="1200" cap="none" spc="0" normalizeH="0" baseline="0" noProof="0" dirty="0">
                <a:ln>
                  <a:noFill/>
                </a:ln>
                <a:solidFill>
                  <a:srgbClr val="7A7387"/>
                </a:solidFill>
                <a:effectLst/>
                <a:uLnTx/>
                <a:uFillTx/>
                <a:latin typeface="Arial" panose="020B0604020202090204"/>
                <a:cs typeface="Arial" panose="020B0604020202090204"/>
              </a:rPr>
              <a:t>55</a:t>
            </a: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header-accent-bar"/>
          <p:cNvSpPr/>
          <p:nvPr/>
        </p:nvSpPr>
        <p:spPr>
          <a:xfrm>
            <a:off x="552450" y="228600"/>
            <a:ext cx="66675" cy="266700"/>
          </a:xfrm>
          <a:prstGeom prst="rect">
            <a:avLst/>
          </a:prstGeom>
          <a:solidFill>
            <a:srgbClr val="C79A3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 name="section-label"/>
          <p:cNvSpPr/>
          <p:nvPr/>
        </p:nvSpPr>
        <p:spPr>
          <a:xfrm>
            <a:off x="704850" y="219075"/>
            <a:ext cx="30480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b="1">
                <a:solidFill>
                  <a:srgbClr val="4B1D78"/>
                </a:solidFill>
                <a:latin typeface="&quot;PingFang SC&quot;, Calibri"/>
                <a:ea typeface="&quot;PingFang SC&quot;, Calibri"/>
                <a:cs typeface="&quot;PingFang SC&quot;, Calibri"/>
              </a:defRPr>
            </a:pPr>
            <a:r>
              <a:rPr kumimoji="0" sz="1600" b="1" i="0" u="none" strike="noStrike" kern="1200" cap="none" spc="0" normalizeH="0" baseline="0" noProof="0" dirty="0">
                <a:ln>
                  <a:noFill/>
                </a:ln>
                <a:solidFill>
                  <a:srgbClr val="4B1D78"/>
                </a:solidFill>
                <a:effectLst/>
                <a:uLnTx/>
                <a:uFillTx/>
                <a:latin typeface="&quot;PingFang SC&quot;, Calibri"/>
              </a:rPr>
              <a:t>TAKEAWAYS</a:t>
            </a:r>
          </a:p>
        </p:txBody>
      </p:sp>
      <p:sp>
        <p:nvSpPr>
          <p:cNvPr id="3" name="slide-title"/>
          <p:cNvSpPr/>
          <p:nvPr/>
        </p:nvSpPr>
        <p:spPr>
          <a:xfrm>
            <a:off x="552450" y="584715"/>
            <a:ext cx="1621791" cy="438582"/>
          </a:xfrm>
          <a:prstGeom prst="rect">
            <a:avLst/>
          </a:prstGeom>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2850" b="1">
                <a:solidFill>
                  <a:srgbClr val="17131F"/>
                </a:solidFill>
                <a:latin typeface="&quot;PingFang SC&quot;, Calibri"/>
                <a:ea typeface="&quot;PingFang SC&quot;, Calibri"/>
                <a:cs typeface="&quot;PingFang SC&quot;, Calibri"/>
              </a:defRPr>
            </a:pPr>
            <a:r>
              <a:rPr kumimoji="0" sz="2850" b="1" i="0" u="none" strike="noStrike" kern="1200" cap="none" spc="0" normalizeH="0" baseline="0" noProof="0" dirty="0">
                <a:ln>
                  <a:noFill/>
                </a:ln>
                <a:solidFill>
                  <a:srgbClr val="17131F"/>
                </a:solidFill>
                <a:effectLst/>
                <a:uLnTx/>
                <a:uFillTx/>
                <a:latin typeface="&quot;PingFang SC&quot;, Calibri"/>
              </a:rPr>
              <a:t>Takeaways</a:t>
            </a:r>
          </a:p>
        </p:txBody>
      </p:sp>
      <p:pic>
        <p:nvPicPr>
          <p:cNvPr id="31" name="图片 3"/>
          <p:cNvPicPr>
            <a:picLocks noChangeAspect="1"/>
          </p:cNvPicPr>
          <p:nvPr/>
        </p:nvPicPr>
        <p:blipFill>
          <a:blip r:embed="rId3"/>
          <a:stretch>
            <a:fillRect/>
          </a:stretch>
        </p:blipFill>
        <p:spPr>
          <a:xfrm>
            <a:off x="9639300" y="354711"/>
            <a:ext cx="1571625" cy="481203"/>
          </a:xfrm>
          <a:prstGeom prst="rect">
            <a:avLst/>
          </a:prstGeom>
        </p:spPr>
      </p:pic>
      <p:sp>
        <p:nvSpPr>
          <p:cNvPr id="5" name="header-rule"/>
          <p:cNvSpPr/>
          <p:nvPr/>
        </p:nvSpPr>
        <p:spPr>
          <a:xfrm>
            <a:off x="552450" y="1057275"/>
            <a:ext cx="10658475" cy="14288"/>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6" name="takeaway-1-card"/>
          <p:cNvSpPr/>
          <p:nvPr/>
        </p:nvSpPr>
        <p:spPr>
          <a:xfrm>
            <a:off x="934584" y="1371600"/>
            <a:ext cx="3619500" cy="1352550"/>
          </a:xfrm>
          <a:prstGeom prst="rect">
            <a:avLst/>
          </a:prstGeom>
          <a:solidFill>
            <a:srgbClr val="E7EFFA"/>
          </a:solidFill>
          <a:ln w="11430">
            <a:solidFill>
              <a:srgbClr val="315E9B"/>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7" name="takeaway-1-accent"/>
          <p:cNvSpPr/>
          <p:nvPr/>
        </p:nvSpPr>
        <p:spPr>
          <a:xfrm>
            <a:off x="934584" y="1371599"/>
            <a:ext cx="66675" cy="1352549"/>
          </a:xfrm>
          <a:prstGeom prst="rect">
            <a:avLst/>
          </a:prstGeom>
          <a:solidFill>
            <a:srgbClr val="315E9B"/>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8" name="takeaway-1-index"/>
          <p:cNvSpPr/>
          <p:nvPr/>
        </p:nvSpPr>
        <p:spPr>
          <a:xfrm>
            <a:off x="1163185" y="1568232"/>
            <a:ext cx="259686" cy="307777"/>
          </a:xfrm>
          <a:prstGeom prst="rect">
            <a:avLst/>
          </a:prstGeom>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315E9B"/>
                </a:solidFill>
                <a:latin typeface="Calibri"/>
                <a:ea typeface="Calibri"/>
                <a:cs typeface="Calibri"/>
              </a:defRPr>
            </a:pPr>
            <a:r>
              <a:rPr kumimoji="0" sz="2000" b="1" i="0" u="none" strike="noStrike" kern="1200" cap="none" spc="0" normalizeH="0" baseline="0" noProof="0" dirty="0">
                <a:ln>
                  <a:noFill/>
                </a:ln>
                <a:solidFill>
                  <a:srgbClr val="315E9B"/>
                </a:solidFill>
                <a:effectLst/>
                <a:uLnTx/>
                <a:uFillTx/>
                <a:latin typeface="Calibri"/>
                <a:ea typeface="Calibri"/>
                <a:cs typeface="Calibri"/>
              </a:rPr>
              <a:t>01</a:t>
            </a:r>
          </a:p>
        </p:txBody>
      </p:sp>
      <p:sp>
        <p:nvSpPr>
          <p:cNvPr id="9" name="takeaway-1-title"/>
          <p:cNvSpPr/>
          <p:nvPr/>
        </p:nvSpPr>
        <p:spPr>
          <a:xfrm>
            <a:off x="1534659" y="1550670"/>
            <a:ext cx="2476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17131F"/>
                </a:solidFill>
                <a:latin typeface="Calibri"/>
                <a:ea typeface="Calibri"/>
                <a:cs typeface="Calibri"/>
              </a:defRPr>
            </a:pPr>
            <a:r>
              <a:rPr kumimoji="0" sz="2000" b="1" i="0" u="none" strike="noStrike" kern="1200" cap="none" spc="0" normalizeH="0" baseline="0" noProof="0" dirty="0">
                <a:ln>
                  <a:noFill/>
                </a:ln>
                <a:solidFill>
                  <a:srgbClr val="17131F"/>
                </a:solidFill>
                <a:effectLst/>
                <a:uLnTx/>
                <a:uFillTx/>
                <a:latin typeface="Calibri"/>
                <a:ea typeface="Calibri"/>
                <a:cs typeface="Calibri"/>
              </a:rPr>
              <a:t>Observation</a:t>
            </a:r>
          </a:p>
        </p:txBody>
      </p:sp>
      <p:sp>
        <p:nvSpPr>
          <p:cNvPr id="10" name="takeaway-1-body"/>
          <p:cNvSpPr/>
          <p:nvPr/>
        </p:nvSpPr>
        <p:spPr>
          <a:xfrm>
            <a:off x="1163185" y="1962150"/>
            <a:ext cx="3324224" cy="59055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275">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Long outputs shift the serving bottleneck from prefill to decode.</a:t>
            </a:r>
          </a:p>
        </p:txBody>
      </p:sp>
      <p:sp>
        <p:nvSpPr>
          <p:cNvPr id="11" name="takeaway-2-card"/>
          <p:cNvSpPr/>
          <p:nvPr/>
        </p:nvSpPr>
        <p:spPr>
          <a:xfrm>
            <a:off x="934584" y="3028950"/>
            <a:ext cx="3619500" cy="1352550"/>
          </a:xfrm>
          <a:prstGeom prst="rect">
            <a:avLst/>
          </a:prstGeom>
          <a:solidFill>
            <a:srgbClr val="F2ECF8"/>
          </a:solidFill>
          <a:ln w="11430">
            <a:solidFill>
              <a:srgbClr val="4B1D78"/>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2" name="takeaway-2-accent"/>
          <p:cNvSpPr/>
          <p:nvPr/>
        </p:nvSpPr>
        <p:spPr>
          <a:xfrm>
            <a:off x="934584" y="3028949"/>
            <a:ext cx="66675" cy="1352549"/>
          </a:xfrm>
          <a:prstGeom prst="rect">
            <a:avLst/>
          </a:prstGeom>
          <a:solidFill>
            <a:srgbClr val="4B1D78"/>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3" name="takeaway-2-index"/>
          <p:cNvSpPr/>
          <p:nvPr/>
        </p:nvSpPr>
        <p:spPr>
          <a:xfrm>
            <a:off x="1163185" y="3225582"/>
            <a:ext cx="259686" cy="307777"/>
          </a:xfrm>
          <a:prstGeom prst="rect">
            <a:avLst/>
          </a:prstGeom>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4B1D78"/>
                </a:solidFill>
                <a:latin typeface="Calibri"/>
                <a:ea typeface="Calibri"/>
                <a:cs typeface="Calibri"/>
              </a:defRPr>
            </a:pPr>
            <a:r>
              <a:rPr kumimoji="0" sz="2000" b="1" i="0" u="none" strike="noStrike" kern="1200" cap="none" spc="0" normalizeH="0" baseline="0" noProof="0" dirty="0">
                <a:ln>
                  <a:noFill/>
                </a:ln>
                <a:solidFill>
                  <a:srgbClr val="4B1D78"/>
                </a:solidFill>
                <a:effectLst/>
                <a:uLnTx/>
                <a:uFillTx/>
                <a:latin typeface="Calibri"/>
                <a:ea typeface="Calibri"/>
                <a:cs typeface="Calibri"/>
              </a:rPr>
              <a:t>02</a:t>
            </a:r>
          </a:p>
        </p:txBody>
      </p:sp>
      <p:sp>
        <p:nvSpPr>
          <p:cNvPr id="14" name="takeaway-2-title"/>
          <p:cNvSpPr/>
          <p:nvPr/>
        </p:nvSpPr>
        <p:spPr>
          <a:xfrm>
            <a:off x="1534659" y="3208020"/>
            <a:ext cx="2476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17131F"/>
                </a:solidFill>
                <a:latin typeface="Calibri"/>
                <a:ea typeface="Calibri"/>
                <a:cs typeface="Calibri"/>
              </a:defRPr>
            </a:pPr>
            <a:r>
              <a:rPr kumimoji="0" sz="2000" b="1" i="0" u="none" strike="noStrike" kern="1200" cap="none" spc="0" normalizeH="0" baseline="0" noProof="0" dirty="0">
                <a:ln>
                  <a:noFill/>
                </a:ln>
                <a:solidFill>
                  <a:srgbClr val="17131F"/>
                </a:solidFill>
                <a:effectLst/>
                <a:uLnTx/>
                <a:uFillTx/>
                <a:latin typeface="Calibri"/>
                <a:ea typeface="Calibri"/>
                <a:cs typeface="Calibri"/>
              </a:rPr>
              <a:t>Mechanism</a:t>
            </a:r>
          </a:p>
        </p:txBody>
      </p:sp>
      <p:sp>
        <p:nvSpPr>
          <p:cNvPr id="15" name="takeaway-2-body"/>
          <p:cNvSpPr/>
          <p:nvPr/>
        </p:nvSpPr>
        <p:spPr>
          <a:xfrm>
            <a:off x="1163185" y="3619500"/>
            <a:ext cx="3324224" cy="59055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275">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Hidden states cheaply predict remaining length.</a:t>
            </a:r>
          </a:p>
        </p:txBody>
      </p:sp>
      <p:sp>
        <p:nvSpPr>
          <p:cNvPr id="16" name="takeaway-3-card"/>
          <p:cNvSpPr/>
          <p:nvPr/>
        </p:nvSpPr>
        <p:spPr>
          <a:xfrm>
            <a:off x="934584" y="4686300"/>
            <a:ext cx="3619500" cy="1352550"/>
          </a:xfrm>
          <a:prstGeom prst="rect">
            <a:avLst/>
          </a:prstGeom>
          <a:solidFill>
            <a:srgbClr val="E5F3EC"/>
          </a:solidFill>
          <a:ln w="11430">
            <a:solidFill>
              <a:srgbClr val="2E8B57"/>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7" name="takeaway-3-accent"/>
          <p:cNvSpPr/>
          <p:nvPr/>
        </p:nvSpPr>
        <p:spPr>
          <a:xfrm>
            <a:off x="934584" y="4686299"/>
            <a:ext cx="66675" cy="1352549"/>
          </a:xfrm>
          <a:prstGeom prst="rect">
            <a:avLst/>
          </a:prstGeom>
          <a:solidFill>
            <a:srgbClr val="2E8B57"/>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8" name="takeaway-3-index"/>
          <p:cNvSpPr/>
          <p:nvPr/>
        </p:nvSpPr>
        <p:spPr>
          <a:xfrm>
            <a:off x="1163185" y="4882932"/>
            <a:ext cx="259686" cy="307777"/>
          </a:xfrm>
          <a:prstGeom prst="rect">
            <a:avLst/>
          </a:prstGeom>
        </p:spPr>
        <p:txBody>
          <a:bodyPr wrap="non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2E8B57"/>
                </a:solidFill>
                <a:latin typeface="Calibri"/>
                <a:ea typeface="Calibri"/>
                <a:cs typeface="Calibri"/>
              </a:defRPr>
            </a:pPr>
            <a:r>
              <a:rPr kumimoji="0" sz="2000" b="1" i="0" u="none" strike="noStrike" kern="1200" cap="none" spc="0" normalizeH="0" baseline="0" noProof="0" dirty="0">
                <a:ln>
                  <a:noFill/>
                </a:ln>
                <a:solidFill>
                  <a:srgbClr val="2E8B57"/>
                </a:solidFill>
                <a:effectLst/>
                <a:uLnTx/>
                <a:uFillTx/>
                <a:latin typeface="Calibri"/>
                <a:ea typeface="Calibri"/>
                <a:cs typeface="Calibri"/>
              </a:rPr>
              <a:t>03</a:t>
            </a:r>
          </a:p>
        </p:txBody>
      </p:sp>
      <p:sp>
        <p:nvSpPr>
          <p:cNvPr id="19" name="takeaway-3-title"/>
          <p:cNvSpPr/>
          <p:nvPr/>
        </p:nvSpPr>
        <p:spPr>
          <a:xfrm>
            <a:off x="1534659" y="4865370"/>
            <a:ext cx="2476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725" b="1">
                <a:solidFill>
                  <a:srgbClr val="17131F"/>
                </a:solidFill>
                <a:latin typeface="Calibri"/>
                <a:ea typeface="Calibri"/>
                <a:cs typeface="Calibri"/>
              </a:defRPr>
            </a:pPr>
            <a:r>
              <a:rPr kumimoji="0" sz="2000" b="1" i="0" u="none" strike="noStrike" kern="1200" cap="none" spc="0" normalizeH="0" baseline="0" noProof="0" dirty="0">
                <a:ln>
                  <a:noFill/>
                </a:ln>
                <a:solidFill>
                  <a:srgbClr val="17131F"/>
                </a:solidFill>
                <a:effectLst/>
                <a:uLnTx/>
                <a:uFillTx/>
                <a:latin typeface="Calibri"/>
                <a:ea typeface="Calibri"/>
                <a:cs typeface="Calibri"/>
              </a:rPr>
              <a:t>Impact</a:t>
            </a:r>
          </a:p>
        </p:txBody>
      </p:sp>
      <p:sp>
        <p:nvSpPr>
          <p:cNvPr id="20" name="takeaway-3-body"/>
          <p:cNvSpPr/>
          <p:nvPr/>
        </p:nvSpPr>
        <p:spPr>
          <a:xfrm>
            <a:off x="1163185" y="5276850"/>
            <a:ext cx="3324224" cy="59055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275">
                <a:solidFill>
                  <a:srgbClr val="4B4658"/>
                </a:solidFill>
                <a:latin typeface="Calibri"/>
                <a:ea typeface="Calibri"/>
                <a:cs typeface="Calibri"/>
              </a:defRPr>
            </a:pPr>
            <a:r>
              <a:rPr kumimoji="0" sz="1600" b="0" i="0" u="none" strike="noStrike" kern="1200" cap="none" spc="0" normalizeH="0" baseline="0" noProof="0" dirty="0">
                <a:ln>
                  <a:noFill/>
                </a:ln>
                <a:solidFill>
                  <a:srgbClr val="4B4658"/>
                </a:solidFill>
                <a:effectLst/>
                <a:uLnTx/>
                <a:uFillTx/>
                <a:latin typeface="Calibri"/>
                <a:ea typeface="Calibri"/>
                <a:cs typeface="Calibri"/>
              </a:rPr>
              <a:t>STAR improves goodput and tail TPOT while avoiding unsafe migrations.</a:t>
            </a:r>
          </a:p>
        </p:txBody>
      </p:sp>
      <p:sp>
        <p:nvSpPr>
          <p:cNvPr id="22" name="image-placeholder-area"/>
          <p:cNvSpPr/>
          <p:nvPr/>
        </p:nvSpPr>
        <p:spPr>
          <a:xfrm>
            <a:off x="4888230" y="1543050"/>
            <a:ext cx="6528435" cy="4134485"/>
          </a:xfrm>
          <a:prstGeom prst="rect">
            <a:avLst/>
          </a:prstGeom>
          <a:solidFill>
            <a:srgbClr val="F8F6FA"/>
          </a:solidFill>
          <a:ln w="11430">
            <a:solidFill>
              <a:srgbClr val="E6DDED"/>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3" name="key-figure-title"/>
          <p:cNvSpPr/>
          <p:nvPr/>
        </p:nvSpPr>
        <p:spPr>
          <a:xfrm>
            <a:off x="5382212" y="1733550"/>
            <a:ext cx="5466176" cy="353943"/>
          </a:xfrm>
          <a:prstGeom prst="rect">
            <a:avLst/>
          </a:prstGeom>
        </p:spPr>
        <p:txBody>
          <a:bodyPr wrap="non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800" b="1">
                <a:solidFill>
                  <a:srgbClr val="4B1D78"/>
                </a:solidFill>
                <a:latin typeface="Calibri"/>
                <a:ea typeface="Calibri"/>
                <a:cs typeface="Calibri"/>
              </a:defRPr>
            </a:pPr>
            <a:r>
              <a:rPr kumimoji="0" sz="2300" b="1" i="0" u="none" strike="noStrike" kern="1200" cap="none" spc="0" normalizeH="0" baseline="0" noProof="0" dirty="0">
                <a:ln>
                  <a:noFill/>
                </a:ln>
                <a:solidFill>
                  <a:srgbClr val="4B1D78"/>
                </a:solidFill>
                <a:effectLst/>
                <a:uLnTx/>
                <a:uFillTx/>
                <a:latin typeface="Calibri"/>
                <a:ea typeface="Calibri"/>
                <a:cs typeface="Calibri"/>
              </a:rPr>
              <a:t>STAR: prediction-driven decode rescheduling</a:t>
            </a:r>
          </a:p>
        </p:txBody>
      </p:sp>
      <p:pic>
        <p:nvPicPr>
          <p:cNvPr id="51" name="图片 17"/>
          <p:cNvPicPr>
            <a:picLocks noChangeAspect="1"/>
          </p:cNvPicPr>
          <p:nvPr/>
        </p:nvPicPr>
        <p:blipFill>
          <a:blip r:embed="rId4"/>
          <a:stretch>
            <a:fillRect/>
          </a:stretch>
        </p:blipFill>
        <p:spPr>
          <a:xfrm>
            <a:off x="5588000" y="2190750"/>
            <a:ext cx="5048250" cy="2695575"/>
          </a:xfrm>
          <a:prstGeom prst="rect">
            <a:avLst/>
          </a:prstGeom>
        </p:spPr>
      </p:pic>
      <p:sp>
        <p:nvSpPr>
          <p:cNvPr id="25" name="key-figure-caption"/>
          <p:cNvSpPr/>
          <p:nvPr/>
        </p:nvSpPr>
        <p:spPr>
          <a:xfrm>
            <a:off x="5566909" y="5086350"/>
            <a:ext cx="5090432" cy="246221"/>
          </a:xfrm>
          <a:prstGeom prst="rect">
            <a:avLst/>
          </a:prstGeom>
        </p:spPr>
        <p:txBody>
          <a:bodyPr wrap="non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sz="1200" b="1">
                <a:solidFill>
                  <a:srgbClr val="243550"/>
                </a:solidFill>
                <a:latin typeface="Calibri"/>
                <a:ea typeface="Calibri"/>
                <a:cs typeface="Calibri"/>
              </a:defRPr>
            </a:pPr>
            <a:r>
              <a:rPr kumimoji="0" sz="1600" b="1" i="0" u="none" strike="noStrike" kern="1200" cap="none" spc="0" normalizeH="0" baseline="0" noProof="0" dirty="0">
                <a:ln>
                  <a:noFill/>
                </a:ln>
                <a:solidFill>
                  <a:srgbClr val="243550"/>
                </a:solidFill>
                <a:effectLst/>
                <a:uLnTx/>
                <a:uFillTx/>
                <a:latin typeface="Calibri"/>
                <a:ea typeface="Calibri"/>
                <a:cs typeface="Calibri"/>
              </a:rPr>
              <a:t>Prediction turns runtime state into safe migration decisions.</a:t>
            </a:r>
          </a:p>
        </p:txBody>
      </p:sp>
      <p:sp>
        <p:nvSpPr>
          <p:cNvPr id="26" name="footer-rule"/>
          <p:cNvSpPr/>
          <p:nvPr/>
        </p:nvSpPr>
        <p:spPr>
          <a:xfrm>
            <a:off x="552450" y="6419850"/>
            <a:ext cx="10658475" cy="9525"/>
          </a:xfrm>
          <a:prstGeom prst="rect">
            <a:avLst/>
          </a:prstGeom>
          <a:solidFill>
            <a:srgbClr val="D9D3E2"/>
          </a:solidFill>
          <a:ln w="0">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7" name="footer-deck-name"/>
          <p:cNvSpPr/>
          <p:nvPr/>
        </p:nvSpPr>
        <p:spPr>
          <a:xfrm>
            <a:off x="552450" y="6477000"/>
            <a:ext cx="5905500" cy="266700"/>
          </a:xfrm>
          <a:prstGeom prst="rect">
            <a:avLst/>
          </a:prstGeom>
        </p:spPr>
        <p:txBody>
          <a:bodyPr lIns="0" tIns="0" rIns="0" bIns="0" anchor="t"/>
          <a:lstStyle/>
          <a:p>
            <a:pPr marL="0" marR="0" lvl="0" indent="0" algn="l"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rPr>
              <a:t>STAR: Decode-Phase Rescheduling for LLM Inference</a:t>
            </a:r>
          </a:p>
        </p:txBody>
      </p:sp>
      <p:sp>
        <p:nvSpPr>
          <p:cNvPr id="37" name="footer-page-number"/>
          <p:cNvSpPr/>
          <p:nvPr/>
        </p:nvSpPr>
        <p:spPr>
          <a:xfrm>
            <a:off x="10829925" y="6477000"/>
            <a:ext cx="381000" cy="266700"/>
          </a:xfrm>
          <a:prstGeom prst="rect">
            <a:avLst/>
          </a:prstGeom>
        </p:spPr>
        <p:txBody>
          <a:bodyPr lIns="0" tIns="0" rIns="0" bIns="0" anchor="t"/>
          <a:lstStyle/>
          <a:p>
            <a:pPr marL="0" marR="0" lvl="0" indent="0" algn="r" defTabSz="914400" eaLnBrk="1" fontAlgn="auto" latinLnBrk="0" hangingPunct="1">
              <a:lnSpc>
                <a:spcPct val="100000"/>
              </a:lnSpc>
              <a:spcBef>
                <a:spcPts val="0"/>
              </a:spcBef>
              <a:spcAft>
                <a:spcPts val="0"/>
              </a:spcAft>
              <a:buClrTx/>
              <a:buSzTx/>
              <a:buFontTx/>
              <a:buNone/>
              <a:tabLst/>
              <a:defRPr sz="1050">
                <a:solidFill>
                  <a:srgbClr val="7A7387"/>
                </a:solidFill>
                <a:latin typeface="Arial" panose="020B0604020202090204"/>
                <a:ea typeface="Arial" panose="020B0604020202090204"/>
                <a:cs typeface="Arial" panose="020B0604020202090204"/>
              </a:defRPr>
            </a:pPr>
            <a:r>
              <a:rPr kumimoji="0" lang="en-US" sz="1050" b="0" i="0" u="none" strike="noStrike" kern="1200" cap="none" spc="0" normalizeH="0" baseline="0" noProof="0" dirty="0">
                <a:ln>
                  <a:noFill/>
                </a:ln>
                <a:solidFill>
                  <a:srgbClr val="7A7387"/>
                </a:solidFill>
                <a:effectLst/>
                <a:uLnTx/>
                <a:uFillTx/>
                <a:latin typeface="Arial" panose="020B0604020202090204"/>
                <a:cs typeface="Arial" panose="020B0604020202090204"/>
              </a:rPr>
              <a:t>56</a:t>
            </a:r>
            <a:endParaRPr kumimoji="0" sz="1050" b="0" i="0" u="none" strike="noStrike" kern="1200" cap="none" spc="0" normalizeH="0" baseline="0" noProof="0" dirty="0">
              <a:ln>
                <a:noFill/>
              </a:ln>
              <a:solidFill>
                <a:srgbClr val="7A7387"/>
              </a:solidFill>
              <a:effectLst/>
              <a:uLnTx/>
              <a:uFillTx/>
              <a:latin typeface="Arial" panose="020B0604020202090204"/>
              <a:cs typeface="Arial" panose="020B0604020202090204"/>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465</TotalTime>
  <Words>5696</Words>
  <Application>Microsoft Office PowerPoint</Application>
  <DocSecurity>0</DocSecurity>
  <PresentationFormat>宽屏</PresentationFormat>
  <Paragraphs>1217</Paragraphs>
  <Slides>56</Slides>
  <Notes>50</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56</vt:i4>
      </vt:variant>
    </vt:vector>
  </HeadingPairs>
  <TitlesOfParts>
    <vt:vector size="71" baseType="lpstr">
      <vt:lpstr>"PingFang SC", Arial</vt:lpstr>
      <vt:lpstr>"PingFang SC", Calibri</vt:lpstr>
      <vt:lpstr>Aptos</vt:lpstr>
      <vt:lpstr>Aptos Display</vt:lpstr>
      <vt:lpstr>CMSY9</vt:lpstr>
      <vt:lpstr>NimbusRomNo9L-Medi</vt:lpstr>
      <vt:lpstr>PingFang SC</vt:lpstr>
      <vt:lpstr>Arial</vt:lpstr>
      <vt:lpstr>Calibri</vt:lpstr>
      <vt:lpstr>Calibri Light</vt:lpstr>
      <vt:lpstr>Garamond</vt:lpstr>
      <vt:lpstr>Trebuchet MS</vt:lpstr>
      <vt:lpstr>ChatGPT</vt:lpstr>
      <vt:lpstr>Office Theme</vt:lpstr>
      <vt:lpstr>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LLM Serving Trends</vt:lpstr>
      <vt:lpstr>Prefix Sharing Workloads</vt:lpstr>
      <vt:lpstr>Prefix Sharing Workloads: Prefill Stage</vt:lpstr>
      <vt:lpstr>Prefix Sharing Workloads: Decode Stage</vt:lpstr>
      <vt:lpstr>PowerPoint 演示文稿</vt:lpstr>
      <vt:lpstr>Our Insight</vt:lpstr>
      <vt:lpstr>Our Insight</vt:lpstr>
      <vt:lpstr>Challenge: Organize Dependency</vt:lpstr>
      <vt:lpstr>Challenge: Organize Dependency</vt:lpstr>
      <vt:lpstr>Challenge: Organize Dependency</vt:lpstr>
      <vt:lpstr>Challenge: Organize Dependency</vt:lpstr>
      <vt:lpstr>Challenge: Organize Dependency</vt:lpstr>
      <vt:lpstr>Challenge: Organize Dependency</vt:lpstr>
      <vt:lpstr>Challenge: Workload Imbalance</vt:lpstr>
      <vt:lpstr>Challenge: Workload Imbalance</vt:lpstr>
      <vt:lpstr>PowerPoint 演示文稿</vt:lpstr>
      <vt:lpstr>CoDec: Efficient Prefix-Aware Attention</vt:lpstr>
      <vt:lpstr>CoDec: Efficient Prefix-Aware Attention</vt:lpstr>
      <vt:lpstr>CoDec: Efficient Prefix-Aware Attention</vt:lpstr>
      <vt:lpstr>CoDec: Efficient Prefix-Aware Attention</vt:lpstr>
      <vt:lpstr>PowerPoint 演示文稿</vt:lpstr>
      <vt:lpstr>Evaluation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TIANCHEN</cp:lastModifiedBy>
  <cp:revision>257</cp:revision>
  <dcterms:created xsi:type="dcterms:W3CDTF">2026-05-26T14:55:46Z</dcterms:created>
  <dcterms:modified xsi:type="dcterms:W3CDTF">2026-06-03T23:57:27Z</dcterms:modified>
</cp:coreProperties>
</file>